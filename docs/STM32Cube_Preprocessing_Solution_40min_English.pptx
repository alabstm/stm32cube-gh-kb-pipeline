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50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25" d="100"/>
          <a:sy n="125" d="100"/>
        </p:scale>
        <p:origin x="2814" y="13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bir GHARBI" userId="ef92528f-00ab-4d87-966c-386bca485bd0" providerId="ADAL" clId="{F3D16DED-CAA7-4BF5-81E4-89DEDE7057F7}"/>
    <pc:docChg chg="undo custSel modSld">
      <pc:chgData name="Abir GHARBI" userId="ef92528f-00ab-4d87-966c-386bca485bd0" providerId="ADAL" clId="{F3D16DED-CAA7-4BF5-81E4-89DEDE7057F7}" dt="2026-07-06T15:37:18.722" v="6" actId="1076"/>
      <pc:docMkLst>
        <pc:docMk/>
      </pc:docMkLst>
      <pc:sldChg chg="modSp mod">
        <pc:chgData name="Abir GHARBI" userId="ef92528f-00ab-4d87-966c-386bca485bd0" providerId="ADAL" clId="{F3D16DED-CAA7-4BF5-81E4-89DEDE7057F7}" dt="2026-07-06T15:35:49.226" v="5" actId="14100"/>
        <pc:sldMkLst>
          <pc:docMk/>
          <pc:sldMk cId="0" sldId="262"/>
        </pc:sldMkLst>
        <pc:spChg chg="mod">
          <ac:chgData name="Abir GHARBI" userId="ef92528f-00ab-4d87-966c-386bca485bd0" providerId="ADAL" clId="{F3D16DED-CAA7-4BF5-81E4-89DEDE7057F7}" dt="2026-07-06T15:35:34.807" v="4" actId="27636"/>
          <ac:spMkLst>
            <pc:docMk/>
            <pc:sldMk cId="0" sldId="262"/>
            <ac:spMk id="12" creationId="{00000000-0000-0000-0000-000000000000}"/>
          </ac:spMkLst>
        </pc:spChg>
        <pc:cxnChg chg="mod">
          <ac:chgData name="Abir GHARBI" userId="ef92528f-00ab-4d87-966c-386bca485bd0" providerId="ADAL" clId="{F3D16DED-CAA7-4BF5-81E4-89DEDE7057F7}" dt="2026-07-06T15:35:49.226" v="5" actId="14100"/>
          <ac:cxnSpMkLst>
            <pc:docMk/>
            <pc:sldMk cId="0" sldId="262"/>
            <ac:cxnSpMk id="17" creationId="{00000000-0000-0000-0000-000000000000}"/>
          </ac:cxnSpMkLst>
        </pc:cxnChg>
      </pc:sldChg>
      <pc:sldChg chg="modSp mod">
        <pc:chgData name="Abir GHARBI" userId="ef92528f-00ab-4d87-966c-386bca485bd0" providerId="ADAL" clId="{F3D16DED-CAA7-4BF5-81E4-89DEDE7057F7}" dt="2026-07-06T15:37:18.722" v="6" actId="1076"/>
        <pc:sldMkLst>
          <pc:docMk/>
          <pc:sldMk cId="0" sldId="264"/>
        </pc:sldMkLst>
        <pc:spChg chg="mod">
          <ac:chgData name="Abir GHARBI" userId="ef92528f-00ab-4d87-966c-386bca485bd0" providerId="ADAL" clId="{F3D16DED-CAA7-4BF5-81E4-89DEDE7057F7}" dt="2026-07-06T15:37:18.722" v="6" actId="1076"/>
          <ac:spMkLst>
            <pc:docMk/>
            <pc:sldMk cId="0" sldId="264"/>
            <ac:spMk id="19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53888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Timing: 1 min. Open with the objective: this is not a generic RAG talk, it is about adapting preprocessing to the existing ST ChatGPT / KB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Timing: 2 min. Give the audience the full story before entering details.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Timing: 1 min. Tell the audience exactly where the presentation goes.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Timing: 2 min. Anchor the project in the support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Timing: 2 min. Explain the high-level flow and the four output artifact types.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Timing: 2 min. Stress that these were platform parameters, not project inventions.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Timing: 2 min. This is the central platform adaptation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Timing: 2 min. Explain why four artifact types are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Timing: 2 min. Show that the project is an implemented pipeline, not just a concept.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Timing: 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Timing: 2 min. Tie cleaning directly to AdaV2 embedding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Timing: 2 min. Explain board coverage as source-data limitation.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Timing: 1.5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Timing: 2.5 min. This replaces separate detailed slides when time is limited.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Timing: 2 min. Make the distinction between API success and contextual confidence.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Timing: 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Timing: 1.5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Timing: 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Timing: 2 min. Show that every stage had a metric.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Timing: 2 min. Clarify what was configurable and what was imposed.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Timing: 2 min. Explain that prompt engineering here is operational routing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Timing: 2 min. Use the QI jump to make added value obvious.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Timing: 1.5 min. Keep this short and evidence-focused.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Timing: 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Timing: 1 min. Summarize with confidence.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Backup. Use if asked what structured output actually looks like.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Backup. Use if asked how the pipeline is executed.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800"/>
          </a:xfrm>
          <a:prstGeom prst="rect">
            <a:avLst/>
          </a:prstGeom>
          <a:solidFill>
            <a:srgbClr val="1A237E"/>
          </a:solidFill>
          <a:ln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0000" y="151200"/>
            <a:ext cx="8640000" cy="32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A237E"/>
                </a:solidFill>
              </a:defRPr>
            </a:pPr>
            <a:r>
              <a:t>STM32Cube Preprocessing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450000"/>
            <a:ext cx="8496000" cy="2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5C6069"/>
                </a:solidFill>
              </a:defRPr>
            </a:pPr>
            <a:r>
              <a:t>From raw GitHub evidence to a retrieval-ready knowledge 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270000" y="4770000"/>
            <a:ext cx="8604000" cy="7200"/>
          </a:xfrm>
          <a:prstGeom prst="rect">
            <a:avLst/>
          </a:prstGeom>
          <a:solidFill>
            <a:srgbClr val="DCE1E8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06000" y="4802400"/>
            <a:ext cx="8460000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defRPr sz="750" b="0">
                <a:solidFill>
                  <a:srgbClr val="5C6069"/>
                </a:solidFill>
              </a:defRPr>
            </a:pPr>
            <a:r>
              <a:t>STM32Cube Preprocessing Pipeline | 40-minute technical presentation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1080000"/>
            <a:ext cx="8352000" cy="36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800" b="1">
                <a:solidFill>
                  <a:srgbClr val="1A237E"/>
                </a:solidFill>
              </a:defRPr>
            </a:pPr>
            <a:r>
              <a:t>40-minute technical presentation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52000" y="1800000"/>
            <a:ext cx="1800000" cy="503999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5C6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400" b="1">
                <a:solidFill>
                  <a:srgbClr val="16181D"/>
                </a:solidFill>
              </a:defRPr>
            </a:pPr>
            <a:r>
              <a:t>GitHub data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24000" y="2052000"/>
            <a:ext cx="396000" cy="0"/>
          </a:xfrm>
          <a:prstGeom prst="line">
            <a:avLst/>
          </a:prstGeom>
          <a:ln w="25400">
            <a:solidFill>
              <a:srgbClr val="1A2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491999" y="1800000"/>
            <a:ext cx="1800000" cy="503999"/>
          </a:xfrm>
          <a:prstGeom prst="roundRect">
            <a:avLst/>
          </a:prstGeom>
          <a:solidFill>
            <a:srgbClr val="DAE5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400" b="1">
                <a:solidFill>
                  <a:srgbClr val="16181D"/>
                </a:solidFill>
              </a:defRPr>
            </a:pPr>
            <a:r>
              <a:t>Python pipeline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64000" y="2052000"/>
            <a:ext cx="396000" cy="0"/>
          </a:xfrm>
          <a:prstGeom prst="line">
            <a:avLst/>
          </a:prstGeom>
          <a:ln w="25400">
            <a:solidFill>
              <a:srgbClr val="1A2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832000" y="1800000"/>
            <a:ext cx="1800000" cy="503999"/>
          </a:xfrm>
          <a:prstGeom prst="roundRect">
            <a:avLst/>
          </a:prstGeom>
          <a:solidFill>
            <a:srgbClr val="E1F5EB"/>
          </a:solidFill>
          <a:ln w="1524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400" b="1">
                <a:solidFill>
                  <a:srgbClr val="16181D"/>
                </a:solidFill>
              </a:defRPr>
            </a:pPr>
            <a:r>
              <a:t>KB #793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00" y="3096000"/>
            <a:ext cx="7703999" cy="54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400" b="0">
                <a:solidFill>
                  <a:srgbClr val="16181D"/>
                </a:solidFill>
              </a:defRPr>
            </a:pPr>
            <a:r>
              <a:t>Focus: the solution developed, the data structuring choices, the Python scripts, and the main technical challenges around Alfred, NovaX, and image processing.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800"/>
          </a:xfrm>
          <a:prstGeom prst="rect">
            <a:avLst/>
          </a:prstGeom>
          <a:solidFill>
            <a:srgbClr val="1A237E"/>
          </a:solidFill>
          <a:ln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0000" y="151200"/>
            <a:ext cx="8640000" cy="32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A237E"/>
                </a:solidFill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450000"/>
            <a:ext cx="8496000" cy="2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5C6069"/>
                </a:solidFill>
              </a:defRPr>
            </a:pPr>
            <a:r>
              <a:t>A preprocessing solution built to make ST GitHub knowledge usable by an industrial RAG</a:t>
            </a:r>
          </a:p>
        </p:txBody>
      </p:sp>
      <p:sp>
        <p:nvSpPr>
          <p:cNvPr id="5" name="Rectangle 4"/>
          <p:cNvSpPr/>
          <p:nvPr/>
        </p:nvSpPr>
        <p:spPr>
          <a:xfrm>
            <a:off x="270000" y="4770000"/>
            <a:ext cx="8604000" cy="7200"/>
          </a:xfrm>
          <a:prstGeom prst="rect">
            <a:avLst/>
          </a:prstGeom>
          <a:solidFill>
            <a:srgbClr val="DCE1E8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06000" y="4802400"/>
            <a:ext cx="8460000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defRPr sz="750" b="0">
                <a:solidFill>
                  <a:srgbClr val="5C6069"/>
                </a:solidFill>
              </a:defRPr>
            </a:pPr>
            <a:r>
              <a:t>STM32Cube Preprocessing Pipeline | 40-minute technical presentation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0000" y="792000"/>
            <a:ext cx="1872000" cy="522000"/>
          </a:xfrm>
          <a:prstGeom prst="roundRect">
            <a:avLst/>
          </a:prstGeom>
          <a:solidFill>
            <a:srgbClr val="FFEBEB"/>
          </a:solidFill>
          <a:ln w="15240">
            <a:solidFill>
              <a:srgbClr val="D2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200" b="1">
                <a:solidFill>
                  <a:srgbClr val="16181D"/>
                </a:solidFill>
              </a:defRPr>
            </a:pPr>
            <a:r>
              <a:t>Problem</a:t>
            </a:r>
            <a:br/>
            <a:r>
              <a:t>Raw GitHub content is noisy, scattered, and weakly structured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304000" y="1062000"/>
            <a:ext cx="360000" cy="0"/>
          </a:xfrm>
          <a:prstGeom prst="line">
            <a:avLst/>
          </a:prstGeom>
          <a:ln w="25400">
            <a:solidFill>
              <a:srgbClr val="FF98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736000" y="792000"/>
            <a:ext cx="1872000" cy="522000"/>
          </a:xfrm>
          <a:prstGeom prst="roundRect">
            <a:avLst/>
          </a:prstGeom>
          <a:solidFill>
            <a:srgbClr val="DAE5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200" b="1">
                <a:solidFill>
                  <a:srgbClr val="16181D"/>
                </a:solidFill>
              </a:defRPr>
            </a:pPr>
            <a:r>
              <a:t>Solution</a:t>
            </a:r>
            <a:br/>
            <a:r>
              <a:t>Python pipeline creates ST-ready structured artifacts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680000" y="1062000"/>
            <a:ext cx="360000" cy="0"/>
          </a:xfrm>
          <a:prstGeom prst="line">
            <a:avLst/>
          </a:prstGeom>
          <a:ln w="25400">
            <a:solidFill>
              <a:srgbClr val="FF98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112000" y="792000"/>
            <a:ext cx="1872000" cy="522000"/>
          </a:xfrm>
          <a:prstGeom prst="roundRect">
            <a:avLst/>
          </a:prstGeom>
          <a:solidFill>
            <a:srgbClr val="EBE8FF"/>
          </a:solidFill>
          <a:ln w="15240">
            <a:solidFill>
              <a:srgbClr val="5C5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200" b="1">
                <a:solidFill>
                  <a:srgbClr val="16181D"/>
                </a:solidFill>
              </a:defRPr>
            </a:pPr>
            <a:r>
              <a:t>Platform</a:t>
            </a:r>
            <a:br/>
            <a:r>
              <a:t>Artifacts are adapted to ST ChatGPT RAG constraints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56000" y="1062000"/>
            <a:ext cx="360000" cy="0"/>
          </a:xfrm>
          <a:prstGeom prst="line">
            <a:avLst/>
          </a:prstGeom>
          <a:ln w="25400">
            <a:solidFill>
              <a:srgbClr val="FF98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88000" y="792000"/>
            <a:ext cx="1260000" cy="522000"/>
          </a:xfrm>
          <a:prstGeom prst="roundRect">
            <a:avLst/>
          </a:prstGeom>
          <a:solidFill>
            <a:srgbClr val="E6F8EB"/>
          </a:solidFill>
          <a:ln w="1524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200" b="1">
                <a:solidFill>
                  <a:srgbClr val="16181D"/>
                </a:solidFill>
              </a:defRPr>
            </a:pPr>
            <a:r>
              <a:t>Impact</a:t>
            </a:r>
            <a:br/>
            <a:r>
              <a:t>QI up to 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" y="1944000"/>
            <a:ext cx="3888000" cy="19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500" b="1">
                <a:solidFill>
                  <a:srgbClr val="1A237E"/>
                </a:solidFill>
              </a:defRPr>
            </a:pPr>
            <a:r>
              <a:t>What was delivered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5999" y="22248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1A237E"/>
                </a:solidFill>
              </a:defRPr>
            </a:pPr>
            <a:r>
              <a:t>-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00" y="2217600"/>
            <a:ext cx="3690000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End-to-end pipeline: ingestion, cleaning, enrichment, similarity, validation, delivery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5999" y="24480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1A237E"/>
                </a:solidFill>
              </a:defRPr>
            </a:pPr>
            <a:r>
              <a:t>-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00" y="2440800"/>
            <a:ext cx="3690000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Resolver cases and diagnostic cards for support-oriented retrieval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999" y="26712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1A237E"/>
                </a:solidFill>
              </a:defRPr>
            </a:pPr>
            <a:r>
              <a:t>-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00" y="2664000"/>
            <a:ext cx="3690000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ALFRED Vision enrichment for issue images and PDF figures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5999" y="28944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1A237E"/>
                </a:solidFill>
              </a:defRPr>
            </a:pPr>
            <a:r>
              <a:t>-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00" y="2887200"/>
            <a:ext cx="3690000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Upload workflow for KB #793 with schema gates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80000" y="1944000"/>
            <a:ext cx="3888000" cy="19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500" b="1">
                <a:solidFill>
                  <a:srgbClr val="4CAF50"/>
                </a:solidFill>
              </a:defRPr>
            </a:pPr>
            <a:r>
              <a:t>What was evaluated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4000" y="22248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4CAF50"/>
                </a:solidFill>
              </a:defRPr>
            </a:pPr>
            <a:r>
              <a:t>-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8000" y="2217600"/>
            <a:ext cx="3690000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Each stage has quality metrics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34000" y="24480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4CAF50"/>
                </a:solidFill>
              </a:defRPr>
            </a:pPr>
            <a:r>
              <a:t>-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78000" y="2440800"/>
            <a:ext cx="3690000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RAG configuration was tested: hybrid search, thresholds, retrieved docs, prompts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34000" y="26712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4CAF50"/>
                </a:solidFill>
              </a:defRPr>
            </a:pPr>
            <a:r>
              <a:t>-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78000" y="2664000"/>
            <a:ext cx="3690000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Diagnostic cards + resolver cases produced the largest gain: +33 QI points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34000" y="28944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4CAF50"/>
                </a:solidFill>
              </a:defRPr>
            </a:pPr>
            <a:r>
              <a:t>-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78000" y="2887200"/>
            <a:ext cx="3690000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Fallback routing was restricted to keep answers grounded in KB evidence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800"/>
          </a:xfrm>
          <a:prstGeom prst="rect">
            <a:avLst/>
          </a:prstGeom>
          <a:solidFill>
            <a:srgbClr val="1A237E"/>
          </a:solidFill>
          <a:ln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0000" y="151200"/>
            <a:ext cx="8640000" cy="32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A237E"/>
                </a:solidFill>
              </a:defRPr>
            </a:pPr>
            <a:r>
              <a:t>Talk Plan and Timing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450000"/>
            <a:ext cx="8496000" cy="2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5C6069"/>
                </a:solidFill>
              </a:defRPr>
            </a:pPr>
            <a:r>
              <a:t>A compact 40-minute path: solution first, then technical challenges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0000" y="4770000"/>
            <a:ext cx="8604000" cy="7200"/>
          </a:xfrm>
          <a:prstGeom prst="rect">
            <a:avLst/>
          </a:prstGeom>
          <a:solidFill>
            <a:srgbClr val="DCE1E8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06000" y="4802400"/>
            <a:ext cx="8460000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defRPr sz="750" b="0">
                <a:solidFill>
                  <a:srgbClr val="5C6069"/>
                </a:solidFill>
              </a:defRPr>
            </a:pPr>
            <a:r>
              <a:t>STM32Cube Preprocessing Pipeline | 40-minute technical presentation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1080000"/>
            <a:ext cx="1260000" cy="864000"/>
          </a:xfrm>
          <a:prstGeom prst="roundRect">
            <a:avLst/>
          </a:prstGeom>
          <a:solidFill>
            <a:srgbClr val="EBF0FC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00" b="1">
                <a:solidFill>
                  <a:srgbClr val="16181D"/>
                </a:solidFill>
              </a:defRPr>
            </a:pPr>
            <a:r>
              <a:t>1</a:t>
            </a:r>
            <a:br/>
            <a:r>
              <a:t>Business need</a:t>
            </a:r>
            <a:br/>
            <a:r>
              <a:t>4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35999" y="1080000"/>
            <a:ext cx="1260000" cy="864000"/>
          </a:xfrm>
          <a:prstGeom prst="roundRect">
            <a:avLst/>
          </a:prstGeom>
          <a:solidFill>
            <a:srgbClr val="EBF0FC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00" b="1">
                <a:solidFill>
                  <a:srgbClr val="16181D"/>
                </a:solidFill>
              </a:defRPr>
            </a:pPr>
            <a:r>
              <a:t>2</a:t>
            </a:r>
            <a:br/>
            <a:r>
              <a:t>Architecture</a:t>
            </a:r>
            <a:br/>
            <a:r>
              <a:t>5 min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0000" y="1080000"/>
            <a:ext cx="1260000" cy="864000"/>
          </a:xfrm>
          <a:prstGeom prst="roundRect">
            <a:avLst/>
          </a:prstGeom>
          <a:solidFill>
            <a:srgbClr val="EBF0FC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00" b="1">
                <a:solidFill>
                  <a:srgbClr val="16181D"/>
                </a:solidFill>
              </a:defRPr>
            </a:pPr>
            <a:r>
              <a:t>3</a:t>
            </a:r>
            <a:br/>
            <a:r>
              <a:t>Pipeline</a:t>
            </a:r>
            <a:br/>
            <a:r>
              <a:t>8 min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44000" y="1080000"/>
            <a:ext cx="1260000" cy="864000"/>
          </a:xfrm>
          <a:prstGeom prst="roundRect">
            <a:avLst/>
          </a:prstGeom>
          <a:solidFill>
            <a:srgbClr val="EBF0FC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00" b="1">
                <a:solidFill>
                  <a:srgbClr val="16181D"/>
                </a:solidFill>
              </a:defRPr>
            </a:pPr>
            <a:r>
              <a:t>4</a:t>
            </a:r>
            <a:br/>
            <a:r>
              <a:t>Preprocessing logic</a:t>
            </a:r>
            <a:br/>
            <a:r>
              <a:t>10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48000" y="1080000"/>
            <a:ext cx="1260000" cy="864000"/>
          </a:xfrm>
          <a:prstGeom prst="roundRect">
            <a:avLst/>
          </a:prstGeom>
          <a:solidFill>
            <a:srgbClr val="EBF0FC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00" b="1">
                <a:solidFill>
                  <a:srgbClr val="16181D"/>
                </a:solidFill>
              </a:defRPr>
            </a:pPr>
            <a:r>
              <a:rPr dirty="0"/>
              <a:t>5</a:t>
            </a:r>
            <a:br>
              <a:rPr dirty="0"/>
            </a:br>
            <a:r>
              <a:rPr dirty="0"/>
              <a:t>Evaluation + config</a:t>
            </a:r>
            <a:br>
              <a:rPr dirty="0"/>
            </a:br>
            <a:r>
              <a:rPr dirty="0"/>
              <a:t>8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52000" y="1080000"/>
            <a:ext cx="1260000" cy="864000"/>
          </a:xfrm>
          <a:prstGeom prst="roundRect">
            <a:avLst/>
          </a:prstGeom>
          <a:solidFill>
            <a:srgbClr val="EBF0FC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00" b="1">
                <a:solidFill>
                  <a:srgbClr val="16181D"/>
                </a:solidFill>
              </a:defRPr>
            </a:pPr>
            <a:r>
              <a:t>6</a:t>
            </a:r>
            <a:br/>
            <a:r>
              <a:t>Impact + demo</a:t>
            </a:r>
            <a:br/>
            <a:r>
              <a:t>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3999" y="2592000"/>
            <a:ext cx="7920000" cy="4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400" b="1">
                <a:solidFill>
                  <a:srgbClr val="1A237E"/>
                </a:solidFill>
              </a:defRPr>
            </a:pPr>
            <a:r>
              <a:t>Short version: business need -&gt; architecture -&gt; pipeline -&gt; intelligent artifacts -&gt; evaluation -&gt; operational use.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800"/>
          </a:xfrm>
          <a:prstGeom prst="rect">
            <a:avLst/>
          </a:prstGeom>
          <a:solidFill>
            <a:srgbClr val="1A237E"/>
          </a:solidFill>
          <a:ln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0000" y="151200"/>
            <a:ext cx="8640000" cy="32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A237E"/>
                </a:solidFill>
              </a:defRPr>
            </a:pPr>
            <a:r>
              <a:t>Why This Solution Was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450000"/>
            <a:ext cx="8496000" cy="2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5C6069"/>
                </a:solidFill>
              </a:defRPr>
            </a:pPr>
            <a:r>
              <a:t>STM32Cube knowledge is rich, but scattered, noisy, and partly invisible to retrieval</a:t>
            </a:r>
          </a:p>
        </p:txBody>
      </p:sp>
      <p:sp>
        <p:nvSpPr>
          <p:cNvPr id="5" name="Rectangle 4"/>
          <p:cNvSpPr/>
          <p:nvPr/>
        </p:nvSpPr>
        <p:spPr>
          <a:xfrm>
            <a:off x="270000" y="4770000"/>
            <a:ext cx="8604000" cy="7200"/>
          </a:xfrm>
          <a:prstGeom prst="rect">
            <a:avLst/>
          </a:prstGeom>
          <a:solidFill>
            <a:srgbClr val="DCE1E8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06000" y="4802400"/>
            <a:ext cx="8460000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defRPr sz="750" b="0">
                <a:solidFill>
                  <a:srgbClr val="5C6069"/>
                </a:solidFill>
              </a:defRPr>
            </a:pPr>
            <a:r>
              <a:t>STM32Cube Preprocessing Pipeline | 40-minute technical presentation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864000"/>
            <a:ext cx="3780000" cy="19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500" b="1">
                <a:solidFill>
                  <a:srgbClr val="1A237E"/>
                </a:solidFill>
              </a:defRPr>
            </a:pPr>
            <a:r>
              <a:t>Industrial support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5999" y="11448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1A237E"/>
                </a:solidFill>
              </a:defRPr>
            </a:pPr>
            <a:r>
              <a:t>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000" y="1137600"/>
            <a:ext cx="3581999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STM32 engineers need fast access to known bugs, fixes, versions, and workarounds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5999" y="13680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1A237E"/>
                </a:solidFill>
              </a:defRPr>
            </a:pPr>
            <a:r>
              <a:t>-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000" y="1360800"/>
            <a:ext cx="3581999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Knowledge is distributed across GitHub issues, PRs, commits, files, release notes, screenshots, and PDFs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999" y="15912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1A237E"/>
                </a:solidFill>
              </a:defRPr>
            </a:pPr>
            <a:r>
              <a:t>-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000" y="1584000"/>
            <a:ext cx="3581999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Manual search is slow and weakly traceable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2000" y="864000"/>
            <a:ext cx="3780000" cy="19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500" b="1">
                <a:solidFill>
                  <a:srgbClr val="1A237E"/>
                </a:solidFill>
              </a:defRPr>
            </a:pPr>
            <a:r>
              <a:t>Pipeline objective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6000" y="11448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1A237E"/>
                </a:solidFill>
              </a:defRPr>
            </a:pPr>
            <a:r>
              <a:t>-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0000" y="1137600"/>
            <a:ext cx="3581999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Convert raw GitHub evidence into KB-ready structured documents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6000" y="13680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1A237E"/>
                </a:solidFill>
              </a:defRPr>
            </a:pPr>
            <a:r>
              <a:t>-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0000" y="1360800"/>
            <a:ext cx="3581999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Preserve source traceability: repo, issue, URL, PR, commit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6000" y="15912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1A237E"/>
                </a:solidFill>
              </a:defRPr>
            </a:pPr>
            <a:r>
              <a:t>-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0000" y="1584000"/>
            <a:ext cx="3581999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Improve retrieval quality without redesigning the ST platform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2000" y="3528000"/>
            <a:ext cx="7488000" cy="522000"/>
          </a:xfrm>
          <a:prstGeom prst="roundRect">
            <a:avLst/>
          </a:prstGeom>
          <a:solidFill>
            <a:srgbClr val="FFF1DA"/>
          </a:solidFill>
          <a:ln w="1524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500" b="1">
                <a:solidFill>
                  <a:srgbClr val="16181D"/>
                </a:solidFill>
              </a:defRPr>
            </a:pPr>
            <a:r>
              <a:t>The project is a preprocessing and knowledge-structuring solution, not a supervised ML model.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800"/>
          </a:xfrm>
          <a:prstGeom prst="rect">
            <a:avLst/>
          </a:prstGeom>
          <a:solidFill>
            <a:srgbClr val="4CAF50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0000" y="151200"/>
            <a:ext cx="8640000" cy="32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A237E"/>
                </a:solidFill>
              </a:defRPr>
            </a:pPr>
            <a:r>
              <a:t>Solution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450000"/>
            <a:ext cx="8496000" cy="2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5C6069"/>
                </a:solidFill>
              </a:defRPr>
            </a:pPr>
            <a:r>
              <a:t>A 7-stage Python pipeline that feeds KB #793 with structured technical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270000" y="4770000"/>
            <a:ext cx="8604000" cy="7200"/>
          </a:xfrm>
          <a:prstGeom prst="rect">
            <a:avLst/>
          </a:prstGeom>
          <a:solidFill>
            <a:srgbClr val="DCE1E8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06000" y="4802400"/>
            <a:ext cx="8460000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defRPr sz="750" b="0">
                <a:solidFill>
                  <a:srgbClr val="5C6069"/>
                </a:solidFill>
              </a:defRPr>
            </a:pPr>
            <a:r>
              <a:t>STM32Cube Preprocessing Pipeline | 40-minute technical presentation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8000" y="1080000"/>
            <a:ext cx="1080000" cy="413999"/>
          </a:xfrm>
          <a:prstGeom prst="roundRect">
            <a:avLst/>
          </a:prstGeom>
          <a:solidFill>
            <a:srgbClr val="DAE5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050" b="1">
                <a:solidFill>
                  <a:srgbClr val="16181D"/>
                </a:solidFill>
              </a:defRPr>
            </a:pPr>
            <a:r>
              <a:t>1. Ingestion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385999" y="1278000"/>
            <a:ext cx="180000" cy="0"/>
          </a:xfrm>
          <a:prstGeom prst="line">
            <a:avLst/>
          </a:prstGeom>
          <a:ln w="25400">
            <a:solidFill>
              <a:srgbClr val="1A2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530000" y="1080000"/>
            <a:ext cx="1080000" cy="413999"/>
          </a:xfrm>
          <a:prstGeom prst="roundRect">
            <a:avLst/>
          </a:prstGeom>
          <a:solidFill>
            <a:srgbClr val="E1F5EB"/>
          </a:solidFill>
          <a:ln w="1524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050" b="1">
                <a:solidFill>
                  <a:srgbClr val="16181D"/>
                </a:solidFill>
              </a:defRPr>
            </a:pPr>
            <a:r>
              <a:t>2. Cleaning V1/V3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28000" y="1278000"/>
            <a:ext cx="180000" cy="0"/>
          </a:xfrm>
          <a:prstGeom prst="line">
            <a:avLst/>
          </a:prstGeom>
          <a:ln w="25400">
            <a:solidFill>
              <a:srgbClr val="1A2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772000" y="1080000"/>
            <a:ext cx="1080000" cy="413999"/>
          </a:xfrm>
          <a:prstGeom prst="roundRect">
            <a:avLst/>
          </a:prstGeom>
          <a:solidFill>
            <a:srgbClr val="DAE5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050" b="1">
                <a:solidFill>
                  <a:srgbClr val="16181D"/>
                </a:solidFill>
              </a:defRPr>
            </a:pPr>
            <a:r>
              <a:t>3. Enrichment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870000" y="1278000"/>
            <a:ext cx="180000" cy="0"/>
          </a:xfrm>
          <a:prstGeom prst="line">
            <a:avLst/>
          </a:prstGeom>
          <a:ln w="25400">
            <a:solidFill>
              <a:srgbClr val="1A2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014000" y="1080000"/>
            <a:ext cx="1080000" cy="413999"/>
          </a:xfrm>
          <a:prstGeom prst="roundRect">
            <a:avLst/>
          </a:prstGeom>
          <a:solidFill>
            <a:srgbClr val="DAE5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050" b="1">
                <a:solidFill>
                  <a:srgbClr val="16181D"/>
                </a:solidFill>
              </a:defRPr>
            </a:pPr>
            <a:r>
              <a:t>4. Similarity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112000" y="1278000"/>
            <a:ext cx="180000" cy="0"/>
          </a:xfrm>
          <a:prstGeom prst="line">
            <a:avLst/>
          </a:prstGeom>
          <a:ln w="25400">
            <a:solidFill>
              <a:srgbClr val="1A2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256000" y="1080000"/>
            <a:ext cx="1080000" cy="413999"/>
          </a:xfrm>
          <a:prstGeom prst="roundRect">
            <a:avLst/>
          </a:prstGeom>
          <a:solidFill>
            <a:srgbClr val="DAE5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050" b="1">
                <a:solidFill>
                  <a:srgbClr val="16181D"/>
                </a:solidFill>
              </a:defRPr>
            </a:pPr>
            <a:r>
              <a:t>5. Chunking tests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354000" y="1278000"/>
            <a:ext cx="180000" cy="0"/>
          </a:xfrm>
          <a:prstGeom prst="line">
            <a:avLst/>
          </a:prstGeom>
          <a:ln w="25400">
            <a:solidFill>
              <a:srgbClr val="1A2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498000" y="1080000"/>
            <a:ext cx="1080000" cy="413999"/>
          </a:xfrm>
          <a:prstGeom prst="roundRect">
            <a:avLst/>
          </a:prstGeom>
          <a:solidFill>
            <a:srgbClr val="DAE5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050" b="1">
                <a:solidFill>
                  <a:srgbClr val="16181D"/>
                </a:solidFill>
              </a:defRPr>
            </a:pPr>
            <a:r>
              <a:t>6. Validation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596000" y="1278000"/>
            <a:ext cx="180000" cy="0"/>
          </a:xfrm>
          <a:prstGeom prst="line">
            <a:avLst/>
          </a:prstGeom>
          <a:ln w="25400">
            <a:solidFill>
              <a:srgbClr val="1A2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40000" y="1080000"/>
            <a:ext cx="1080000" cy="413999"/>
          </a:xfrm>
          <a:prstGeom prst="roundRect">
            <a:avLst/>
          </a:prstGeom>
          <a:solidFill>
            <a:srgbClr val="E1F5EB"/>
          </a:solidFill>
          <a:ln w="1524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050" b="1">
                <a:solidFill>
                  <a:srgbClr val="16181D"/>
                </a:solidFill>
              </a:defRPr>
            </a:pPr>
            <a:r>
              <a:t>7. 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2088000"/>
            <a:ext cx="3851999" cy="19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500" b="1">
                <a:solidFill>
                  <a:srgbClr val="4CAF50"/>
                </a:solidFill>
              </a:defRPr>
            </a:pPr>
            <a:r>
              <a:t>What the pipeline produces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5999" y="23688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4CAF50"/>
                </a:solidFill>
              </a:defRPr>
            </a:pPr>
            <a:r>
              <a:t>-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00" y="2361600"/>
            <a:ext cx="3653999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Issues structured for troubleshooting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5999" y="25920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4CAF50"/>
                </a:solidFill>
              </a:defRPr>
            </a:pPr>
            <a:r>
              <a:t>-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00" y="2584800"/>
            <a:ext cx="3653999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Files cleaned and documented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5999" y="28152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4CAF50"/>
                </a:solidFill>
              </a:defRPr>
            </a:pPr>
            <a:r>
              <a:t>-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000" y="2808000"/>
            <a:ext cx="3653999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Resolver cases with Issue -&gt; PR -&gt; Commit evidence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5999" y="30384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4CAF50"/>
                </a:solidFill>
              </a:defRPr>
            </a:pPr>
            <a:r>
              <a:t>-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00" y="3031200"/>
            <a:ext cx="3653999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Diagnostic cards for recurring support cases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2000" y="2088000"/>
            <a:ext cx="3851999" cy="19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500" b="1">
                <a:solidFill>
                  <a:srgbClr val="1A237E"/>
                </a:solidFill>
              </a:defRPr>
            </a:pPr>
            <a:r>
              <a:t>Why it adds value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6000" y="23688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1A237E"/>
                </a:solidFill>
              </a:defRPr>
            </a:pPr>
            <a:r>
              <a:t>-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50000" y="2361600"/>
            <a:ext cx="3653999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rPr dirty="0"/>
              <a:t>Improves signal density before embedding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06000" y="25920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1A237E"/>
                </a:solidFill>
              </a:defRPr>
            </a:pPr>
            <a:r>
              <a:t>-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50000" y="2584800"/>
            <a:ext cx="3653999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Keeps documents compatible with PARENT_CHILD chunking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06000" y="28152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1A237E"/>
                </a:solidFill>
              </a:defRPr>
            </a:pPr>
            <a:r>
              <a:t>-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50000" y="2808000"/>
            <a:ext cx="3653999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Makes images and PDF figures searchable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06000" y="30384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1A237E"/>
                </a:solidFill>
              </a:defRPr>
            </a:pPr>
            <a:r>
              <a:t>-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50000" y="3031200"/>
            <a:ext cx="3653999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Blocks malformed data before upload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800"/>
          </a:xfrm>
          <a:prstGeom prst="rect">
            <a:avLst/>
          </a:prstGeom>
          <a:solidFill>
            <a:srgbClr val="5C52B4"/>
          </a:solidFill>
          <a:ln>
            <a:solidFill>
              <a:srgbClr val="5C5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0000" y="151200"/>
            <a:ext cx="8640000" cy="32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A237E"/>
                </a:solidFill>
              </a:defRPr>
            </a:pPr>
            <a:r>
              <a:rPr dirty="0"/>
              <a:t>Existing Platform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450000"/>
            <a:ext cx="8496000" cy="2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5C6069"/>
                </a:solidFill>
              </a:defRPr>
            </a:pPr>
            <a:r>
              <a:rPr dirty="0"/>
              <a:t>The pipeline was adapted to the ST retrieval platform; it did not redesign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270000" y="4770000"/>
            <a:ext cx="8604000" cy="7200"/>
          </a:xfrm>
          <a:prstGeom prst="rect">
            <a:avLst/>
          </a:prstGeom>
          <a:solidFill>
            <a:srgbClr val="DCE1E8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06000" y="4802400"/>
            <a:ext cx="8460000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defRPr sz="750" b="0">
                <a:solidFill>
                  <a:srgbClr val="5C6069"/>
                </a:solidFill>
              </a:defRPr>
            </a:pPr>
            <a:r>
              <a:t>STM32Cube Preprocessing Pipeline | 40-minute technical presentation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0000" y="792000"/>
            <a:ext cx="1800000" cy="468000"/>
          </a:xfrm>
          <a:prstGeom prst="roundRect">
            <a:avLst/>
          </a:prstGeom>
          <a:solidFill>
            <a:srgbClr val="EBE8FF"/>
          </a:solidFill>
          <a:ln w="15240">
            <a:solidFill>
              <a:srgbClr val="5C5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300" b="1">
                <a:solidFill>
                  <a:srgbClr val="16181D"/>
                </a:solidFill>
              </a:defRPr>
            </a:pPr>
            <a:r>
              <a:t>chunkStrategy</a:t>
            </a:r>
            <a:br/>
            <a:r>
              <a:t>PARENT_CHILD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12000" y="792000"/>
            <a:ext cx="1800000" cy="468000"/>
          </a:xfrm>
          <a:prstGeom prst="roundRect">
            <a:avLst/>
          </a:prstGeom>
          <a:solidFill>
            <a:srgbClr val="EBE8FF"/>
          </a:solidFill>
          <a:ln w="15240">
            <a:solidFill>
              <a:srgbClr val="5C5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300" b="1">
                <a:solidFill>
                  <a:srgbClr val="16181D"/>
                </a:solidFill>
              </a:defRPr>
            </a:pPr>
            <a:r>
              <a:t>childChunkSize</a:t>
            </a:r>
            <a:br/>
            <a:r>
              <a:t>1000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64000" y="792000"/>
            <a:ext cx="1800000" cy="468000"/>
          </a:xfrm>
          <a:prstGeom prst="roundRect">
            <a:avLst/>
          </a:prstGeom>
          <a:solidFill>
            <a:srgbClr val="EBE8FF"/>
          </a:solidFill>
          <a:ln w="15240">
            <a:solidFill>
              <a:srgbClr val="5C5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300" b="1">
                <a:solidFill>
                  <a:srgbClr val="16181D"/>
                </a:solidFill>
              </a:defRPr>
            </a:pPr>
            <a:r>
              <a:t>parentChunkSize</a:t>
            </a:r>
            <a:br/>
            <a:r>
              <a:t>3000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16000" y="792000"/>
            <a:ext cx="1800000" cy="468000"/>
          </a:xfrm>
          <a:prstGeom prst="roundRect">
            <a:avLst/>
          </a:prstGeom>
          <a:solidFill>
            <a:srgbClr val="EBE8FF"/>
          </a:solidFill>
          <a:ln w="15240">
            <a:solidFill>
              <a:srgbClr val="5C5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300" b="1">
                <a:solidFill>
                  <a:srgbClr val="16181D"/>
                </a:solidFill>
              </a:defRPr>
            </a:pPr>
            <a:r>
              <a:t>embedding model</a:t>
            </a:r>
            <a:br/>
            <a:r>
              <a:t>AdaV2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40000" y="1872000"/>
            <a:ext cx="2592000" cy="45000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5C6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200" b="1">
                <a:solidFill>
                  <a:srgbClr val="16181D"/>
                </a:solidFill>
              </a:defRPr>
            </a:pPr>
            <a:r>
              <a:t>jobBatchSize = 60</a:t>
            </a:r>
            <a:br/>
            <a:r>
              <a:t>indexing throughput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40000" y="1872000"/>
            <a:ext cx="2592000" cy="45000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5C6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200" b="1">
                <a:solidFill>
                  <a:srgbClr val="16181D"/>
                </a:solidFill>
              </a:defRPr>
            </a:pPr>
            <a:r>
              <a:t>embeddingsBatchSize = 20</a:t>
            </a:r>
            <a:br/>
            <a:r>
              <a:t>embedding API throughput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00" y="2951999"/>
            <a:ext cx="7920000" cy="4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500" b="1">
                <a:solidFill>
                  <a:srgbClr val="1A237E"/>
                </a:solidFill>
              </a:defRPr>
            </a:pPr>
            <a:r>
              <a:rPr dirty="0"/>
              <a:t>Design consequence: every exported document must be clean, compact, semantically dense, traceable, and stable under platform-side PARENT_CHILD chunking.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800"/>
          </a:xfrm>
          <a:prstGeom prst="rect">
            <a:avLst/>
          </a:prstGeom>
          <a:solidFill>
            <a:srgbClr val="5C52B4"/>
          </a:solidFill>
          <a:ln>
            <a:solidFill>
              <a:srgbClr val="5C5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0000" y="151200"/>
            <a:ext cx="8640000" cy="32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A237E"/>
                </a:solidFill>
              </a:defRPr>
            </a:pPr>
            <a:r>
              <a:t>PARENT_CHILD Retrieval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450000"/>
            <a:ext cx="8496000" cy="2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5C6069"/>
                </a:solidFill>
              </a:defRPr>
            </a:pPr>
            <a:r>
              <a:t>Child chunks are indexed; parent chunks are returned as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270000" y="4770000"/>
            <a:ext cx="8604000" cy="7200"/>
          </a:xfrm>
          <a:prstGeom prst="rect">
            <a:avLst/>
          </a:prstGeom>
          <a:solidFill>
            <a:srgbClr val="DCE1E8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06000" y="4802400"/>
            <a:ext cx="8460000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defRPr sz="750" b="0">
                <a:solidFill>
                  <a:srgbClr val="5C6069"/>
                </a:solidFill>
              </a:defRPr>
            </a:pPr>
            <a:r>
              <a:t>STM32Cube Preprocessing Pipeline | 40-minute technical presentation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0000" y="900000"/>
            <a:ext cx="1440000" cy="43200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5C6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00" b="1">
                <a:solidFill>
                  <a:srgbClr val="16181D"/>
                </a:solidFill>
              </a:defRPr>
            </a:pPr>
            <a:r>
              <a:t>ST-ready document</a:t>
            </a:r>
            <a:br/>
            <a:r>
              <a:t>issue / file / card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1116000"/>
            <a:ext cx="432000" cy="0"/>
          </a:xfrm>
          <a:prstGeom prst="line">
            <a:avLst/>
          </a:prstGeom>
          <a:ln w="25400">
            <a:solidFill>
              <a:srgbClr val="1A2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376000" y="648000"/>
            <a:ext cx="1620000" cy="936000"/>
          </a:xfrm>
          <a:prstGeom prst="roundRect">
            <a:avLst/>
          </a:prstGeom>
          <a:solidFill>
            <a:srgbClr val="FFF1DA"/>
          </a:solidFill>
          <a:ln w="1524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200" b="1">
                <a:solidFill>
                  <a:srgbClr val="16181D"/>
                </a:solidFill>
              </a:defRPr>
            </a:pPr>
            <a:r>
              <a:t>Parent chunk</a:t>
            </a:r>
            <a:br/>
            <a:r>
              <a:t>3000 chars</a:t>
            </a:r>
            <a:br/>
            <a:r>
              <a:t>context window unit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20000" y="792000"/>
            <a:ext cx="1332000" cy="198000"/>
          </a:xfrm>
          <a:prstGeom prst="roundRect">
            <a:avLst/>
          </a:prstGeom>
          <a:solidFill>
            <a:srgbClr val="E1F5EB"/>
          </a:solidFill>
          <a:ln w="1524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900" b="1">
                <a:solidFill>
                  <a:srgbClr val="16181D"/>
                </a:solidFill>
              </a:defRPr>
            </a:pPr>
            <a:r>
              <a:t>Child 1 - 1000 chars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20000" y="1044000"/>
            <a:ext cx="1332000" cy="198000"/>
          </a:xfrm>
          <a:prstGeom prst="roundRect">
            <a:avLst/>
          </a:prstGeom>
          <a:solidFill>
            <a:srgbClr val="E1F5EB"/>
          </a:solidFill>
          <a:ln w="1524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900" b="1">
                <a:solidFill>
                  <a:srgbClr val="16181D"/>
                </a:solidFill>
              </a:defRPr>
            </a:pPr>
            <a:r>
              <a:t>Child 2 - 1000 chars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0" y="1296000"/>
            <a:ext cx="1332000" cy="198000"/>
          </a:xfrm>
          <a:prstGeom prst="roundRect">
            <a:avLst/>
          </a:prstGeom>
          <a:solidFill>
            <a:srgbClr val="E1F5EB"/>
          </a:solidFill>
          <a:ln w="1524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900" b="1">
                <a:solidFill>
                  <a:srgbClr val="16181D"/>
                </a:solidFill>
              </a:defRPr>
            </a:pPr>
            <a:r>
              <a:rPr dirty="0"/>
              <a:t>Child 3 - 1000 chars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04000" y="1116000"/>
            <a:ext cx="648000" cy="0"/>
          </a:xfrm>
          <a:prstGeom prst="line">
            <a:avLst/>
          </a:prstGeom>
          <a:ln w="25400">
            <a:solidFill>
              <a:srgbClr val="1A2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824000" y="900000"/>
            <a:ext cx="1620000" cy="432000"/>
          </a:xfrm>
          <a:prstGeom prst="roundRect">
            <a:avLst/>
          </a:prstGeom>
          <a:solidFill>
            <a:srgbClr val="DAE5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200" b="1">
                <a:solidFill>
                  <a:srgbClr val="16181D"/>
                </a:solidFill>
              </a:defRPr>
            </a:pPr>
            <a:r>
              <a:t>Vector index</a:t>
            </a:r>
            <a:br/>
            <a:r>
              <a:t>AdaV2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03999" y="900000"/>
            <a:ext cx="1512000" cy="43200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5C6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00" b="1">
                <a:solidFill>
                  <a:srgbClr val="16181D"/>
                </a:solidFill>
              </a:defRPr>
            </a:pPr>
            <a:r>
              <a:t>User query</a:t>
            </a:r>
            <a:br/>
            <a:r>
              <a:t>matched to child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6480000" y="1116000"/>
            <a:ext cx="288000" cy="0"/>
          </a:xfrm>
          <a:prstGeom prst="line">
            <a:avLst/>
          </a:prstGeom>
          <a:ln w="25400">
            <a:solidFill>
              <a:srgbClr val="FF98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cxnSpLocks/>
            <a:stCxn id="14" idx="2"/>
          </p:cNvCxnSpPr>
          <p:nvPr/>
        </p:nvCxnSpPr>
        <p:spPr>
          <a:xfrm flipH="1">
            <a:off x="4031999" y="1332000"/>
            <a:ext cx="1602001" cy="900000"/>
          </a:xfrm>
          <a:prstGeom prst="line">
            <a:avLst/>
          </a:prstGeom>
          <a:ln w="25400">
            <a:solidFill>
              <a:srgbClr val="FF98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376000" y="2196000"/>
            <a:ext cx="1620000" cy="450000"/>
          </a:xfrm>
          <a:prstGeom prst="roundRect">
            <a:avLst/>
          </a:prstGeom>
          <a:solidFill>
            <a:srgbClr val="FFF1DA"/>
          </a:solidFill>
          <a:ln w="1524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200" b="1">
                <a:solidFill>
                  <a:srgbClr val="16181D"/>
                </a:solidFill>
              </a:defRPr>
            </a:pPr>
            <a:r>
              <a:rPr dirty="0"/>
              <a:t>Parent returned</a:t>
            </a:r>
            <a:br>
              <a:rPr dirty="0"/>
            </a:br>
            <a:r>
              <a:rPr dirty="0"/>
              <a:t>to GPT-5.1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068000" y="2412000"/>
            <a:ext cx="648000" cy="0"/>
          </a:xfrm>
          <a:prstGeom prst="line">
            <a:avLst/>
          </a:prstGeom>
          <a:ln w="25400">
            <a:solidFill>
              <a:srgbClr val="FF98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788000" y="2196000"/>
            <a:ext cx="1692000" cy="450000"/>
          </a:xfrm>
          <a:prstGeom prst="roundRect">
            <a:avLst/>
          </a:prstGeom>
          <a:solidFill>
            <a:srgbClr val="E1F5EB"/>
          </a:solidFill>
          <a:ln w="1524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200" b="1">
                <a:solidFill>
                  <a:srgbClr val="16181D"/>
                </a:solidFill>
              </a:defRPr>
            </a:pPr>
            <a:r>
              <a:t>Grounded answer</a:t>
            </a:r>
            <a:br/>
            <a:r>
              <a:t>with citations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000" y="3384000"/>
            <a:ext cx="8208000" cy="503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400" b="1">
                <a:solidFill>
                  <a:srgbClr val="1A237E"/>
                </a:solidFill>
              </a:defRPr>
            </a:pPr>
            <a:r>
              <a:rPr dirty="0"/>
              <a:t>Pipeline implication: each document must stay coherent when split into 1000-char child chunks and 3000-char parent context blocks.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800"/>
          </a:xfrm>
          <a:prstGeom prst="rect">
            <a:avLst/>
          </a:prstGeom>
          <a:solidFill>
            <a:srgbClr val="4CAF50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0000" y="151200"/>
            <a:ext cx="8640000" cy="32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A237E"/>
                </a:solidFill>
              </a:defRPr>
            </a:pPr>
            <a:r>
              <a:t>How GitHub Data Is Structured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450000"/>
            <a:ext cx="8496000" cy="2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5C6069"/>
                </a:solidFill>
              </a:defRPr>
            </a:pPr>
            <a:r>
              <a:t>Raw GitHub material is transformed into four complementary knowledge artifacts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0000" y="4770000"/>
            <a:ext cx="8604000" cy="7200"/>
          </a:xfrm>
          <a:prstGeom prst="rect">
            <a:avLst/>
          </a:prstGeom>
          <a:solidFill>
            <a:srgbClr val="DCE1E8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06000" y="4802400"/>
            <a:ext cx="8460000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defRPr sz="750" b="0">
                <a:solidFill>
                  <a:srgbClr val="5C6069"/>
                </a:solidFill>
              </a:defRPr>
            </a:pPr>
            <a:r>
              <a:t>STM32Cube Preprocessing Pipeline | 40-minute technical presentation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0000" y="864000"/>
            <a:ext cx="1800000" cy="360000"/>
          </a:xfrm>
          <a:prstGeom prst="roundRect">
            <a:avLst/>
          </a:prstGeom>
          <a:solidFill>
            <a:srgbClr val="EBF0FC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200" b="1">
                <a:solidFill>
                  <a:srgbClr val="16181D"/>
                </a:solidFill>
              </a:defRPr>
            </a:pPr>
            <a:r>
              <a:t>Structured issues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04000" y="928800"/>
            <a:ext cx="6120000" cy="18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250" b="0">
                <a:solidFill>
                  <a:srgbClr val="16181D"/>
                </a:solidFill>
              </a:defRPr>
            </a:pPr>
            <a:r>
              <a:t>Symptom, root cause hint, metadata, source URL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0000" y="1475999"/>
            <a:ext cx="1800000" cy="360000"/>
          </a:xfrm>
          <a:prstGeom prst="roundRect">
            <a:avLst/>
          </a:prstGeom>
          <a:solidFill>
            <a:srgbClr val="EBF0FC"/>
          </a:solidFill>
          <a:ln w="15240">
            <a:solidFill>
              <a:srgbClr val="008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200" b="1">
                <a:solidFill>
                  <a:srgbClr val="16181D"/>
                </a:solidFill>
              </a:defRPr>
            </a:pPr>
            <a:r>
              <a:t>Documented files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04000" y="1540799"/>
            <a:ext cx="6120000" cy="18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250" b="0">
                <a:solidFill>
                  <a:srgbClr val="16181D"/>
                </a:solidFill>
              </a:defRPr>
            </a:pPr>
            <a:r>
              <a:t>HAL/BSP/CMSIS/README/PDF text, cleaned by type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0000" y="2088000"/>
            <a:ext cx="1800000" cy="360000"/>
          </a:xfrm>
          <a:prstGeom prst="roundRect">
            <a:avLst/>
          </a:prstGeom>
          <a:solidFill>
            <a:srgbClr val="EBF0FC"/>
          </a:solidFill>
          <a:ln w="1524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200" b="1">
                <a:solidFill>
                  <a:srgbClr val="16181D"/>
                </a:solidFill>
              </a:defRPr>
            </a:pPr>
            <a:r>
              <a:t>Resolver cases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04000" y="2152800"/>
            <a:ext cx="6120000" cy="18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250" b="0">
                <a:solidFill>
                  <a:srgbClr val="16181D"/>
                </a:solidFill>
              </a:defRPr>
            </a:pPr>
            <a:r>
              <a:t>Issue -&gt; PR -&gt; Commit proof chain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0000" y="2700000"/>
            <a:ext cx="1800000" cy="360000"/>
          </a:xfrm>
          <a:prstGeom prst="roundRect">
            <a:avLst/>
          </a:prstGeom>
          <a:solidFill>
            <a:srgbClr val="EBF0FC"/>
          </a:solidFill>
          <a:ln w="1524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200" b="1">
                <a:solidFill>
                  <a:srgbClr val="16181D"/>
                </a:solidFill>
              </a:defRPr>
            </a:pPr>
            <a:r>
              <a:t>Diagnostic cards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04000" y="2764800"/>
            <a:ext cx="6120000" cy="18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250" b="0">
                <a:solidFill>
                  <a:srgbClr val="16181D"/>
                </a:solidFill>
              </a:defRPr>
            </a:pPr>
            <a:r>
              <a:t>Symptom -&gt; root cause -&gt; fix -&gt; prevention + aliases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000" y="3671999"/>
            <a:ext cx="7488000" cy="413999"/>
          </a:xfrm>
          <a:prstGeom prst="roundRect">
            <a:avLst/>
          </a:prstGeom>
          <a:solidFill>
            <a:srgbClr val="FFF1DA"/>
          </a:solidFill>
          <a:ln w="1524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500" b="1">
                <a:solidFill>
                  <a:srgbClr val="16181D"/>
                </a:solidFill>
              </a:defRPr>
            </a:pPr>
            <a:r>
              <a:t>The artifacts are not generic chunks: they are retrieval-oriented support evidence units.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800"/>
          </a:xfrm>
          <a:prstGeom prst="rect">
            <a:avLst/>
          </a:prstGeom>
          <a:solidFill>
            <a:srgbClr val="4CAF50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0000" y="151200"/>
            <a:ext cx="8640000" cy="32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A237E"/>
                </a:solidFill>
              </a:defRPr>
            </a:pPr>
            <a:r>
              <a:t>Python Scripts Developed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450000"/>
            <a:ext cx="8496000" cy="2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5C6069"/>
                </a:solidFill>
              </a:defRPr>
            </a:pPr>
            <a:r>
              <a:t>Each stage is isolated, replayable, and produces inspectable JSON artifacts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0000" y="4770000"/>
            <a:ext cx="8604000" cy="7200"/>
          </a:xfrm>
          <a:prstGeom prst="rect">
            <a:avLst/>
          </a:prstGeom>
          <a:solidFill>
            <a:srgbClr val="DCE1E8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06000" y="4802400"/>
            <a:ext cx="8460000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defRPr sz="750" b="0">
                <a:solidFill>
                  <a:srgbClr val="5C6069"/>
                </a:solidFill>
              </a:defRPr>
            </a:pPr>
            <a:r>
              <a:t>STM32Cube Preprocessing Pipeline | 40-minute technical presentation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0000" y="792000"/>
            <a:ext cx="1512000" cy="288000"/>
          </a:xfrm>
          <a:prstGeom prst="roundRect">
            <a:avLst/>
          </a:prstGeom>
          <a:solidFill>
            <a:srgbClr val="E8F0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50" b="1">
                <a:solidFill>
                  <a:srgbClr val="16181D"/>
                </a:solidFill>
              </a:defRPr>
            </a:pPr>
            <a:r>
              <a:t>Ingestion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5999" y="835200"/>
            <a:ext cx="6588000" cy="18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80" b="0">
                <a:solidFill>
                  <a:srgbClr val="16181D"/>
                </a:solidFill>
              </a:defRPr>
            </a:pPr>
            <a:r>
              <a:t>fetch_issues.py, fetch_files.py, fetch_prs.py, fetch_commits.py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0000" y="1170000"/>
            <a:ext cx="1512000" cy="288000"/>
          </a:xfrm>
          <a:prstGeom prst="roundRect">
            <a:avLst/>
          </a:prstGeom>
          <a:solidFill>
            <a:srgbClr val="E8F0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50" b="1">
                <a:solidFill>
                  <a:srgbClr val="16181D"/>
                </a:solidFill>
              </a:defRPr>
            </a:pPr>
            <a:r>
              <a:t>Cleaning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5999" y="1213200"/>
            <a:ext cx="6588000" cy="18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80" b="0">
                <a:solidFill>
                  <a:srgbClr val="16181D"/>
                </a:solidFill>
              </a:defRPr>
            </a:pPr>
            <a:r>
              <a:t>clean_issues.py, clean_files.py, clean_files_v3.py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0000" y="1548000"/>
            <a:ext cx="1512000" cy="288000"/>
          </a:xfrm>
          <a:prstGeom prst="roundRect">
            <a:avLst/>
          </a:prstGeom>
          <a:solidFill>
            <a:srgbClr val="E8F0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50" b="1">
                <a:solidFill>
                  <a:srgbClr val="16181D"/>
                </a:solidFill>
              </a:defRPr>
            </a:pPr>
            <a:r>
              <a:t>Enrichment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5999" y="1591200"/>
            <a:ext cx="6588000" cy="18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80" b="0">
                <a:solidFill>
                  <a:srgbClr val="16181D"/>
                </a:solidFill>
              </a:defRPr>
            </a:pPr>
            <a:r>
              <a:t>issues_to_docs_v2.py, files_to_docs_v2.py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0000" y="1925999"/>
            <a:ext cx="1512000" cy="288000"/>
          </a:xfrm>
          <a:prstGeom prst="roundRect">
            <a:avLst/>
          </a:prstGeom>
          <a:solidFill>
            <a:srgbClr val="E8F0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50" b="1">
                <a:solidFill>
                  <a:srgbClr val="16181D"/>
                </a:solidFill>
              </a:defRPr>
            </a:pPr>
            <a:r>
              <a:t>Similarity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5999" y="1969200"/>
            <a:ext cx="6588000" cy="18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80" b="0">
                <a:solidFill>
                  <a:srgbClr val="16181D"/>
                </a:solidFill>
              </a:defRPr>
            </a:pPr>
            <a:r>
              <a:t>compute_issue_similarity_v2.py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0000" y="2304000"/>
            <a:ext cx="1512000" cy="288000"/>
          </a:xfrm>
          <a:prstGeom prst="roundRect">
            <a:avLst/>
          </a:prstGeom>
          <a:solidFill>
            <a:srgbClr val="E8F0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50" b="1">
                <a:solidFill>
                  <a:srgbClr val="16181D"/>
                </a:solidFill>
              </a:defRPr>
            </a:pPr>
            <a:r>
              <a:t>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5999" y="2347200"/>
            <a:ext cx="6588000" cy="18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80" b="0">
                <a:solidFill>
                  <a:srgbClr val="16181D"/>
                </a:solidFill>
              </a:defRPr>
            </a:pPr>
            <a:r>
              <a:t>export_st_ready_issues.py, export_st_ready_files.py, resolver/diagnostic exporters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0000" y="2681999"/>
            <a:ext cx="1512000" cy="288000"/>
          </a:xfrm>
          <a:prstGeom prst="roundRect">
            <a:avLst/>
          </a:prstGeom>
          <a:solidFill>
            <a:srgbClr val="E8F0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50" b="1">
                <a:solidFill>
                  <a:srgbClr val="16181D"/>
                </a:solidFill>
              </a:defRPr>
            </a:pPr>
            <a:r>
              <a:t>Automation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5999" y="2725200"/>
            <a:ext cx="6588000" cy="18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80" b="0">
                <a:solidFill>
                  <a:srgbClr val="16181D"/>
                </a:solidFill>
              </a:defRPr>
            </a:pPr>
            <a:r>
              <a:t>run_full_workflow.py, upload scripts, Alfred enrichment scripts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" y="3567600"/>
            <a:ext cx="7920000" cy="503999"/>
          </a:xfrm>
          <a:prstGeom prst="roundRect">
            <a:avLst/>
          </a:prstGeom>
          <a:solidFill>
            <a:srgbClr val="222730"/>
          </a:solidFill>
          <a:ln>
            <a:solidFill>
              <a:srgbClr val="2227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919">
                <a:solidFill>
                  <a:srgbClr val="FFFFFF"/>
                </a:solidFill>
                <a:latin typeface="Consolas"/>
              </a:defRPr>
            </a:pPr>
            <a:r>
              <a:t>python -m pipeline.run_full_workflow --export-st-ready --skip-chunking --continue-on-error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3211200"/>
            <a:ext cx="7920000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1">
                <a:solidFill>
                  <a:srgbClr val="5C6069"/>
                </a:solidFill>
              </a:defRPr>
            </a:pPr>
            <a:r>
              <a:t>Main execution command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800"/>
          </a:xfrm>
          <a:prstGeom prst="rect">
            <a:avLst/>
          </a:prstGeom>
          <a:solidFill>
            <a:srgbClr val="4CAF50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0000" y="151200"/>
            <a:ext cx="8640000" cy="32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A237E"/>
                </a:solidFill>
              </a:defRPr>
            </a:pPr>
            <a:r>
              <a:t>Delivery: KB-Ready Outputs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450000"/>
            <a:ext cx="8496000" cy="2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5C6069"/>
                </a:solidFill>
              </a:defRPr>
            </a:pPr>
            <a:r>
              <a:t>The final stage converts enriched documents into platform-ready JSON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0000" y="4770000"/>
            <a:ext cx="8604000" cy="7200"/>
          </a:xfrm>
          <a:prstGeom prst="rect">
            <a:avLst/>
          </a:prstGeom>
          <a:solidFill>
            <a:srgbClr val="DCE1E8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06000" y="4802400"/>
            <a:ext cx="8460000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defRPr sz="750" b="0">
                <a:solidFill>
                  <a:srgbClr val="5C6069"/>
                </a:solidFill>
              </a:defRPr>
            </a:pPr>
            <a:r>
              <a:t>STM32Cube Preprocessing Pipeline | 40-minute technical presentation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0000" y="827999"/>
            <a:ext cx="1872000" cy="450000"/>
          </a:xfrm>
          <a:prstGeom prst="roundRect">
            <a:avLst/>
          </a:prstGeom>
          <a:solidFill>
            <a:srgbClr val="E8F0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200" b="1">
                <a:solidFill>
                  <a:srgbClr val="16181D"/>
                </a:solidFill>
              </a:defRPr>
            </a:pPr>
            <a:r>
              <a:t>Issues JSON</a:t>
            </a:r>
            <a:br/>
            <a:r>
              <a:t>problem evidence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20000" y="827999"/>
            <a:ext cx="1872000" cy="450000"/>
          </a:xfrm>
          <a:prstGeom prst="roundRect">
            <a:avLst/>
          </a:prstGeom>
          <a:solidFill>
            <a:srgbClr val="E8F0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200" b="1">
                <a:solidFill>
                  <a:srgbClr val="16181D"/>
                </a:solidFill>
              </a:defRPr>
            </a:pPr>
            <a:r>
              <a:t>Files JSON</a:t>
            </a:r>
            <a:br/>
            <a:r>
              <a:t>clean technical content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80000" y="827999"/>
            <a:ext cx="1872000" cy="450000"/>
          </a:xfrm>
          <a:prstGeom prst="roundRect">
            <a:avLst/>
          </a:prstGeom>
          <a:solidFill>
            <a:srgbClr val="FFF1DA"/>
          </a:solidFill>
          <a:ln w="1524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200" b="1">
                <a:solidFill>
                  <a:srgbClr val="16181D"/>
                </a:solidFill>
              </a:defRPr>
            </a:pPr>
            <a:r>
              <a:t>Resolver cases</a:t>
            </a:r>
            <a:br/>
            <a:r>
              <a:t>Issue -&gt; PR -&gt; Commit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40000" y="827999"/>
            <a:ext cx="1872000" cy="450000"/>
          </a:xfrm>
          <a:prstGeom prst="roundRect">
            <a:avLst/>
          </a:prstGeom>
          <a:solidFill>
            <a:srgbClr val="E1F5EB"/>
          </a:solidFill>
          <a:ln w="1524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200" b="1">
                <a:solidFill>
                  <a:srgbClr val="16181D"/>
                </a:solidFill>
              </a:defRPr>
            </a:pPr>
            <a:r>
              <a:t>Diagnostic cards</a:t>
            </a:r>
            <a:br/>
            <a:r>
              <a:t>troubleshooting logic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1908000"/>
            <a:ext cx="3780000" cy="19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500" b="1">
                <a:solidFill>
                  <a:srgbClr val="1A237E"/>
                </a:solidFill>
              </a:defRPr>
            </a:pPr>
            <a:r>
              <a:t>Compatibility with KB #793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999" y="21888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1A237E"/>
                </a:solidFill>
              </a:defRPr>
            </a:pPr>
            <a:r>
              <a:t>-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000" y="2181600"/>
            <a:ext cx="3581999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One datasource per series and artifact type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5999" y="24120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1A237E"/>
                </a:solidFill>
              </a:defRPr>
            </a:pPr>
            <a:r>
              <a:t>-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000" y="2404800"/>
            <a:ext cx="3581999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JSON Schema validation gates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5999" y="26352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1A237E"/>
                </a:solidFill>
              </a:defRPr>
            </a:pPr>
            <a:r>
              <a:t>-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00" y="2628000"/>
            <a:ext cx="3581999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Upload scripts reuse datasource IDs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5999" y="28584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1A237E"/>
                </a:solidFill>
              </a:defRPr>
            </a:pPr>
            <a:r>
              <a:t>-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00" y="2851200"/>
            <a:ext cx="3581999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Delete+Add workflow avoids naming conflicts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0000" y="1908000"/>
            <a:ext cx="3780000" cy="19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500" b="1">
                <a:solidFill>
                  <a:srgbClr val="4CAF50"/>
                </a:solidFill>
              </a:defRPr>
            </a:pPr>
            <a:r>
              <a:t>Retrieval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34000" y="21888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4CAF50"/>
                </a:solidFill>
              </a:defRPr>
            </a:pPr>
            <a:r>
              <a:t>-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8000" y="2181600"/>
            <a:ext cx="3581999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More entry points for user formulations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4000" y="24120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4CAF50"/>
                </a:solidFill>
              </a:defRPr>
            </a:pPr>
            <a:r>
              <a:t>-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78000" y="2404800"/>
            <a:ext cx="3581999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Evidence chains for traceability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34000" y="26352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4CAF50"/>
                </a:solidFill>
              </a:defRPr>
            </a:pPr>
            <a:r>
              <a:t>-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78000" y="2628000"/>
            <a:ext cx="3581999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Structured support-oriented answers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34000" y="28584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4CAF50"/>
                </a:solidFill>
              </a:defRPr>
            </a:pPr>
            <a:r>
              <a:t>-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78000" y="2851200"/>
            <a:ext cx="3581999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Less dependence on raw text chunks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800"/>
          </a:xfrm>
          <a:prstGeom prst="rect">
            <a:avLst/>
          </a:prstGeom>
          <a:solidFill>
            <a:srgbClr val="4CAF50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0000" y="151200"/>
            <a:ext cx="8640000" cy="32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A237E"/>
                </a:solidFill>
              </a:defRPr>
            </a:pPr>
            <a:r>
              <a:t>Cleaning V3: Making Content Embedding-Friendly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450000"/>
            <a:ext cx="8496000" cy="2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5C6069"/>
                </a:solidFill>
              </a:defRPr>
            </a:pPr>
            <a:r>
              <a:t>The goal is not only to remove noise, but to improve semantic indexing quality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270000" y="4770000"/>
            <a:ext cx="8604000" cy="7200"/>
          </a:xfrm>
          <a:prstGeom prst="rect">
            <a:avLst/>
          </a:prstGeom>
          <a:solidFill>
            <a:srgbClr val="DCE1E8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06000" y="4802400"/>
            <a:ext cx="8460000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defRPr sz="750" b="0">
                <a:solidFill>
                  <a:srgbClr val="5C6069"/>
                </a:solidFill>
              </a:defRPr>
            </a:pPr>
            <a:r>
              <a:t>STM32Cube Preprocessing Pipeline | 40-minute technical presentation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0000" y="792000"/>
            <a:ext cx="1512000" cy="36000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5C6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00" b="1">
                <a:solidFill>
                  <a:srgbClr val="16181D"/>
                </a:solidFill>
              </a:defRPr>
            </a:pPr>
            <a:r>
              <a:t>Release Notes</a:t>
            </a:r>
            <a:br/>
            <a:r>
              <a:t>HTML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60000" y="792000"/>
            <a:ext cx="1512000" cy="36000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5C6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00" b="1">
                <a:solidFill>
                  <a:srgbClr val="16181D"/>
                </a:solidFill>
              </a:defRPr>
            </a:pPr>
            <a:r>
              <a:t>README</a:t>
            </a:r>
            <a:br/>
            <a:r>
              <a:t>Markdown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60000" y="792000"/>
            <a:ext cx="1512000" cy="36000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5C6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00" b="1">
                <a:solidFill>
                  <a:srgbClr val="16181D"/>
                </a:solidFill>
              </a:defRPr>
            </a:pPr>
            <a:r>
              <a:t>Source code</a:t>
            </a:r>
            <a:br/>
            <a:r>
              <a:t>.c / .h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0" y="792000"/>
            <a:ext cx="1512000" cy="36000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5C6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00" b="1">
                <a:solidFill>
                  <a:srgbClr val="16181D"/>
                </a:solidFill>
              </a:defRPr>
            </a:pPr>
            <a:r>
              <a:t>CMSIS header</a:t>
            </a:r>
            <a:br/>
            <a:r>
              <a:t>&gt;100 KB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16000" y="1206000"/>
            <a:ext cx="0" cy="378000"/>
          </a:xfrm>
          <a:prstGeom prst="line">
            <a:avLst/>
          </a:prstGeom>
          <a:ln w="25400">
            <a:solidFill>
              <a:srgbClr val="1A2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60000" y="1638000"/>
            <a:ext cx="1512000" cy="360000"/>
          </a:xfrm>
          <a:prstGeom prst="roundRect">
            <a:avLst/>
          </a:prstGeom>
          <a:solidFill>
            <a:srgbClr val="E1F5EB"/>
          </a:solidFill>
          <a:ln w="1524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00" b="1">
                <a:solidFill>
                  <a:srgbClr val="16181D"/>
                </a:solidFill>
              </a:defRPr>
            </a:pPr>
            <a:r>
              <a:t>strip_html()</a:t>
            </a:r>
            <a:br/>
            <a:r>
              <a:t>-33%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916000" y="1206000"/>
            <a:ext cx="0" cy="378000"/>
          </a:xfrm>
          <a:prstGeom prst="line">
            <a:avLst/>
          </a:prstGeom>
          <a:ln w="25400">
            <a:solidFill>
              <a:srgbClr val="1A2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160000" y="1638000"/>
            <a:ext cx="1512000" cy="360000"/>
          </a:xfrm>
          <a:prstGeom prst="roundRect">
            <a:avLst/>
          </a:prstGeom>
          <a:solidFill>
            <a:srgbClr val="E1F5EB"/>
          </a:solidFill>
          <a:ln w="1524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00" b="1">
                <a:solidFill>
                  <a:srgbClr val="16181D"/>
                </a:solidFill>
              </a:defRPr>
            </a:pPr>
            <a:r>
              <a:t>clean_markdown()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16000" y="1206000"/>
            <a:ext cx="0" cy="378000"/>
          </a:xfrm>
          <a:prstGeom prst="line">
            <a:avLst/>
          </a:prstGeom>
          <a:ln w="25400">
            <a:solidFill>
              <a:srgbClr val="1A2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960000" y="1638000"/>
            <a:ext cx="1512000" cy="360000"/>
          </a:xfrm>
          <a:prstGeom prst="roundRect">
            <a:avLst/>
          </a:prstGeom>
          <a:solidFill>
            <a:srgbClr val="E1F5EB"/>
          </a:solidFill>
          <a:ln w="1524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00" b="1">
                <a:solidFill>
                  <a:srgbClr val="16181D"/>
                </a:solidFill>
              </a:defRPr>
            </a:pPr>
            <a:r>
              <a:t>strip_license()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16000" y="1206000"/>
            <a:ext cx="0" cy="378000"/>
          </a:xfrm>
          <a:prstGeom prst="line">
            <a:avLst/>
          </a:prstGeom>
          <a:ln w="25400">
            <a:solidFill>
              <a:srgbClr val="1A2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760000" y="1638000"/>
            <a:ext cx="1512000" cy="360000"/>
          </a:xfrm>
          <a:prstGeom prst="roundRect">
            <a:avLst/>
          </a:prstGeom>
          <a:solidFill>
            <a:srgbClr val="E1F5EB"/>
          </a:solidFill>
          <a:ln w="1524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00" b="1">
                <a:solidFill>
                  <a:srgbClr val="16181D"/>
                </a:solidFill>
              </a:defRPr>
            </a:pPr>
            <a:r>
              <a:t>filter_cmsis()</a:t>
            </a:r>
            <a:br/>
            <a:r>
              <a:t>-96%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2682000"/>
            <a:ext cx="1620000" cy="14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1">
                <a:solidFill>
                  <a:srgbClr val="16181D"/>
                </a:solidFill>
              </a:defRPr>
            </a:pPr>
            <a:r>
              <a:t>CMSIS reduction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84000" y="2700000"/>
            <a:ext cx="3960000" cy="136800"/>
          </a:xfrm>
          <a:prstGeom prst="rect">
            <a:avLst/>
          </a:prstGeom>
          <a:solidFill>
            <a:srgbClr val="E8ECF2"/>
          </a:solidFill>
          <a:ln>
            <a:solidFill>
              <a:srgbClr val="E8E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484000" y="2700000"/>
            <a:ext cx="3817440" cy="136800"/>
          </a:xfrm>
          <a:prstGeom prst="rect">
            <a:avLst/>
          </a:prstGeom>
          <a:solidFill>
            <a:srgbClr val="4CAF50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33999" y="2674800"/>
            <a:ext cx="648000" cy="151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19" b="1">
                <a:solidFill>
                  <a:srgbClr val="4CAF50"/>
                </a:solidFill>
              </a:defRPr>
            </a:pPr>
            <a:r>
              <a:t>96.4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0000" y="3113999"/>
            <a:ext cx="1620000" cy="14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1">
                <a:solidFill>
                  <a:srgbClr val="16181D"/>
                </a:solidFill>
              </a:defRPr>
            </a:pPr>
            <a:r>
              <a:t>Corpus H7 reduction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84000" y="3131999"/>
            <a:ext cx="3960000" cy="136800"/>
          </a:xfrm>
          <a:prstGeom prst="rect">
            <a:avLst/>
          </a:prstGeom>
          <a:solidFill>
            <a:srgbClr val="E8ECF2"/>
          </a:solidFill>
          <a:ln>
            <a:solidFill>
              <a:srgbClr val="E8E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484000" y="3131999"/>
            <a:ext cx="1504800" cy="136800"/>
          </a:xfrm>
          <a:prstGeom prst="rect">
            <a:avLst/>
          </a:prstGeom>
          <a:solidFill>
            <a:srgbClr val="FF9800"/>
          </a:solidFill>
          <a:ln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33999" y="3106799"/>
            <a:ext cx="648000" cy="151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19" b="1">
                <a:solidFill>
                  <a:srgbClr val="FF9800"/>
                </a:solidFill>
              </a:defRPr>
            </a:pPr>
            <a:r>
              <a:t>38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0000" y="3546000"/>
            <a:ext cx="1620000" cy="14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1">
                <a:solidFill>
                  <a:srgbClr val="16181D"/>
                </a:solidFill>
              </a:defRPr>
            </a:pPr>
            <a:r>
              <a:t>Signal density gain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484000" y="3564000"/>
            <a:ext cx="3960000" cy="136800"/>
          </a:xfrm>
          <a:prstGeom prst="rect">
            <a:avLst/>
          </a:prstGeom>
          <a:solidFill>
            <a:srgbClr val="E8ECF2"/>
          </a:solidFill>
          <a:ln>
            <a:solidFill>
              <a:srgbClr val="E8E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484000" y="3564000"/>
            <a:ext cx="1227600" cy="136800"/>
          </a:xfrm>
          <a:prstGeom prst="rect">
            <a:avLst/>
          </a:prstGeom>
          <a:solidFill>
            <a:srgbClr val="0087AA"/>
          </a:solidFill>
          <a:ln>
            <a:solidFill>
              <a:srgbClr val="008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33999" y="3538800"/>
            <a:ext cx="648000" cy="151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19" b="1">
                <a:solidFill>
                  <a:srgbClr val="0087AA"/>
                </a:solidFill>
              </a:defRPr>
            </a:pPr>
            <a:r>
              <a:t>31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800"/>
          </a:xfrm>
          <a:prstGeom prst="rect">
            <a:avLst/>
          </a:prstGeom>
          <a:solidFill>
            <a:srgbClr val="4CAF50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0000" y="151200"/>
            <a:ext cx="8640000" cy="32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A237E"/>
                </a:solidFill>
              </a:defRPr>
            </a:pPr>
            <a:r>
              <a:t>Enrichment: From Text to Searchable Metadata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450000"/>
            <a:ext cx="8496000" cy="2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5C6069"/>
                </a:solidFill>
              </a:defRPr>
            </a:pPr>
            <a:r>
              <a:t>Heuristics add structure without supervised training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270000" y="4770000"/>
            <a:ext cx="8604000" cy="7200"/>
          </a:xfrm>
          <a:prstGeom prst="rect">
            <a:avLst/>
          </a:prstGeom>
          <a:solidFill>
            <a:srgbClr val="DCE1E8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06000" y="4802400"/>
            <a:ext cx="8460000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defRPr sz="750" b="0">
                <a:solidFill>
                  <a:srgbClr val="5C6069"/>
                </a:solidFill>
              </a:defRPr>
            </a:pPr>
            <a:r>
              <a:t>STM32Cube Preprocessing Pipeline | 40-minute technical presentation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6000" y="827999"/>
            <a:ext cx="3816000" cy="19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500" b="1">
                <a:solidFill>
                  <a:srgbClr val="1A237E"/>
                </a:solidFill>
              </a:defRPr>
            </a:pPr>
            <a:r>
              <a:t>Fields added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0000" y="11088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1A237E"/>
                </a:solidFill>
              </a:defRPr>
            </a:pPr>
            <a:r>
              <a:t>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000" y="1101600"/>
            <a:ext cx="3617999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layer: HAL, BSP, CMSIS, Middleware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000" y="13320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1A237E"/>
                </a:solidFill>
              </a:defRPr>
            </a:pPr>
            <a:r>
              <a:t>-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000" y="1324800"/>
            <a:ext cx="3617999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component: SPI, I2C, DMA, USB, etc.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000" y="15552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1A237E"/>
                </a:solidFill>
              </a:defRPr>
            </a:pPr>
            <a:r>
              <a:t>-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000" y="1548000"/>
            <a:ext cx="3617999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board: NUCLEO, Discovery, Eval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000" y="17784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1A237E"/>
                </a:solidFill>
              </a:defRPr>
            </a:pPr>
            <a:r>
              <a:t>-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000" y="1771200"/>
            <a:ext cx="3617999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severity and issue kind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000" y="20016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1A237E"/>
                </a:solidFill>
              </a:defRPr>
            </a:pPr>
            <a:r>
              <a:t>-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000" y="1994400"/>
            <a:ext cx="3617999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evidence strength and validity flags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0000" y="827999"/>
            <a:ext cx="3816000" cy="19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500" b="1">
                <a:solidFill>
                  <a:srgbClr val="4CAF50"/>
                </a:solidFill>
              </a:defRPr>
            </a:pPr>
            <a:r>
              <a:t>Why it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34000" y="11088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4CAF50"/>
                </a:solidFill>
              </a:defRPr>
            </a:pPr>
            <a:r>
              <a:t>-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8000" y="1101600"/>
            <a:ext cx="3617999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Faceted filtering and re-ranking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34000" y="13320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4CAF50"/>
                </a:solidFill>
              </a:defRPr>
            </a:pPr>
            <a:r>
              <a:t>-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8000" y="1324800"/>
            <a:ext cx="3617999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Better query matching under hybrid 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4000" y="15552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4CAF50"/>
                </a:solidFill>
              </a:defRPr>
            </a:pPr>
            <a:r>
              <a:t>-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78000" y="1548000"/>
            <a:ext cx="3617999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Cleaner answers with domain anchors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34000" y="17784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4CAF50"/>
                </a:solidFill>
              </a:defRPr>
            </a:pPr>
            <a:r>
              <a:t>-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78000" y="1771200"/>
            <a:ext cx="3617999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Avoids pretending that a supervised ML model exists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2000" y="3293999"/>
            <a:ext cx="1620000" cy="14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1">
                <a:solidFill>
                  <a:srgbClr val="16181D"/>
                </a:solidFill>
              </a:defRPr>
            </a:pPr>
            <a:r>
              <a:t>Layer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56000" y="3311999"/>
            <a:ext cx="3960000" cy="136800"/>
          </a:xfrm>
          <a:prstGeom prst="rect">
            <a:avLst/>
          </a:prstGeom>
          <a:solidFill>
            <a:srgbClr val="E8ECF2"/>
          </a:solidFill>
          <a:ln>
            <a:solidFill>
              <a:srgbClr val="E8E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556000" y="3311999"/>
            <a:ext cx="3492720" cy="136800"/>
          </a:xfrm>
          <a:prstGeom prst="rect">
            <a:avLst/>
          </a:prstGeom>
          <a:solidFill>
            <a:srgbClr val="4CAF50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606000" y="3286799"/>
            <a:ext cx="648000" cy="151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19" b="1">
                <a:solidFill>
                  <a:srgbClr val="4CAF50"/>
                </a:solidFill>
              </a:defRPr>
            </a:pPr>
            <a:r>
              <a:t>88.2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2000" y="3636000"/>
            <a:ext cx="1620000" cy="14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1">
                <a:solidFill>
                  <a:srgbClr val="16181D"/>
                </a:solidFill>
              </a:defRPr>
            </a:pPr>
            <a:r>
              <a:t>Component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56000" y="3654000"/>
            <a:ext cx="3960000" cy="136800"/>
          </a:xfrm>
          <a:prstGeom prst="rect">
            <a:avLst/>
          </a:prstGeom>
          <a:solidFill>
            <a:srgbClr val="E8ECF2"/>
          </a:solidFill>
          <a:ln>
            <a:solidFill>
              <a:srgbClr val="E8E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2556000" y="3654000"/>
            <a:ext cx="2874959" cy="136800"/>
          </a:xfrm>
          <a:prstGeom prst="rect">
            <a:avLst/>
          </a:prstGeom>
          <a:solidFill>
            <a:srgbClr val="FF9800"/>
          </a:solidFill>
          <a:ln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06000" y="3628800"/>
            <a:ext cx="648000" cy="151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19" b="1">
                <a:solidFill>
                  <a:srgbClr val="FF9800"/>
                </a:solidFill>
              </a:defRPr>
            </a:pPr>
            <a:r>
              <a:t>72.6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2000" y="3977999"/>
            <a:ext cx="1620000" cy="14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1">
                <a:solidFill>
                  <a:srgbClr val="16181D"/>
                </a:solidFill>
              </a:defRPr>
            </a:pPr>
            <a:r>
              <a:t>Board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56000" y="3996000"/>
            <a:ext cx="3960000" cy="136800"/>
          </a:xfrm>
          <a:prstGeom prst="rect">
            <a:avLst/>
          </a:prstGeom>
          <a:solidFill>
            <a:srgbClr val="E8ECF2"/>
          </a:solidFill>
          <a:ln>
            <a:solidFill>
              <a:srgbClr val="E8E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2556000" y="3996000"/>
            <a:ext cx="1793879" cy="136800"/>
          </a:xfrm>
          <a:prstGeom prst="rect">
            <a:avLst/>
          </a:prstGeom>
          <a:solidFill>
            <a:srgbClr val="D23C3C"/>
          </a:solidFill>
          <a:ln>
            <a:solidFill>
              <a:srgbClr val="D2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606000" y="3970800"/>
            <a:ext cx="648000" cy="151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19" b="1">
                <a:solidFill>
                  <a:srgbClr val="D23C3C"/>
                </a:solidFill>
              </a:defRPr>
            </a:pPr>
            <a:r>
              <a:t>45.3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800"/>
          </a:xfrm>
          <a:prstGeom prst="rect">
            <a:avLst/>
          </a:prstGeom>
          <a:solidFill>
            <a:srgbClr val="4CAF50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0000" y="151200"/>
            <a:ext cx="8640000" cy="32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A237E"/>
                </a:solidFill>
              </a:defRPr>
            </a:pPr>
            <a:r>
              <a:t>Similarity and Linking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450000"/>
            <a:ext cx="8496000" cy="2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5C6069"/>
                </a:solidFill>
              </a:defRPr>
            </a:pPr>
            <a:r>
              <a:t>TF-IDF cosine links related issues without training a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270000" y="4770000"/>
            <a:ext cx="8604000" cy="7200"/>
          </a:xfrm>
          <a:prstGeom prst="rect">
            <a:avLst/>
          </a:prstGeom>
          <a:solidFill>
            <a:srgbClr val="DCE1E8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06000" y="4802400"/>
            <a:ext cx="8460000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defRPr sz="750" b="0">
                <a:solidFill>
                  <a:srgbClr val="5C6069"/>
                </a:solidFill>
              </a:defRPr>
            </a:pPr>
            <a:r>
              <a:t>STM32Cube Preprocessing Pipeline | 40-minute technical presentation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792000"/>
            <a:ext cx="1872000" cy="413999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5C6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00" b="1">
                <a:solidFill>
                  <a:srgbClr val="16181D"/>
                </a:solidFill>
              </a:defRPr>
            </a:pPr>
            <a:r>
              <a:t>Issue text</a:t>
            </a:r>
            <a:br/>
            <a:r>
              <a:t>title + body + comments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12000" y="1007999"/>
            <a:ext cx="468000" cy="0"/>
          </a:xfrm>
          <a:prstGeom prst="line">
            <a:avLst/>
          </a:prstGeom>
          <a:ln w="25400">
            <a:solidFill>
              <a:srgbClr val="1A2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951999" y="792000"/>
            <a:ext cx="1620000" cy="413999"/>
          </a:xfrm>
          <a:prstGeom prst="roundRect">
            <a:avLst/>
          </a:prstGeom>
          <a:solidFill>
            <a:srgbClr val="DAE5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00" b="1">
                <a:solidFill>
                  <a:srgbClr val="16181D"/>
                </a:solidFill>
              </a:defRPr>
            </a:pPr>
            <a:r>
              <a:t>TF-IDF</a:t>
            </a:r>
            <a:br/>
            <a:r>
              <a:t>vectorization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644000" y="1007999"/>
            <a:ext cx="468000" cy="0"/>
          </a:xfrm>
          <a:prstGeom prst="line">
            <a:avLst/>
          </a:prstGeom>
          <a:ln w="25400">
            <a:solidFill>
              <a:srgbClr val="1A2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184000" y="792000"/>
            <a:ext cx="1620000" cy="413999"/>
          </a:xfrm>
          <a:prstGeom prst="roundRect">
            <a:avLst/>
          </a:prstGeom>
          <a:solidFill>
            <a:srgbClr val="DAE5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00" b="1">
                <a:solidFill>
                  <a:srgbClr val="16181D"/>
                </a:solidFill>
              </a:defRPr>
            </a:pPr>
            <a:r>
              <a:t>Cosine</a:t>
            </a:r>
            <a:br/>
            <a:r>
              <a:t>similarity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76000" y="1007999"/>
            <a:ext cx="467999" cy="0"/>
          </a:xfrm>
          <a:prstGeom prst="line">
            <a:avLst/>
          </a:prstGeom>
          <a:ln w="25400">
            <a:solidFill>
              <a:srgbClr val="1A2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16000" y="792000"/>
            <a:ext cx="1260000" cy="413999"/>
          </a:xfrm>
          <a:prstGeom prst="roundRect">
            <a:avLst/>
          </a:prstGeom>
          <a:solidFill>
            <a:srgbClr val="E1F5EB"/>
          </a:solidFill>
          <a:ln w="1524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00" b="1">
                <a:solidFill>
                  <a:srgbClr val="16181D"/>
                </a:solidFill>
              </a:defRPr>
            </a:pPr>
            <a:r>
              <a:t>related</a:t>
            </a:r>
            <a:br/>
            <a:r>
              <a:t>issues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0000" y="1980000"/>
            <a:ext cx="7920000" cy="39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400" b="1">
                <a:solidFill>
                  <a:srgbClr val="1A237E"/>
                </a:solidFill>
              </a:defRPr>
            </a:pPr>
            <a:r>
              <a:t>Threshold: cosine similarity &gt;= 0.3. Strict enough to avoid noisy links; H7 coverage is 22%, reflecting issue diversity rather than a pipeline failure.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000" y="2880000"/>
            <a:ext cx="7488000" cy="612000"/>
          </a:xfrm>
          <a:prstGeom prst="roundRect">
            <a:avLst/>
          </a:prstGeom>
          <a:solidFill>
            <a:srgbClr val="222730"/>
          </a:solidFill>
          <a:ln>
            <a:solidFill>
              <a:srgbClr val="2227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919">
                <a:solidFill>
                  <a:srgbClr val="FFFFFF"/>
                </a:solidFill>
                <a:latin typeface="Consolas"/>
              </a:defRPr>
            </a:pPr>
            <a:r>
              <a:t>sim(d_i, d_j) = (v_i . v_j) / (||v_i|| ||v_j||)</a:t>
            </a:r>
            <a:br/>
            <a:r>
              <a:t>related(d_i) = { d_j | sim(d_i, d_j) &gt;= 0.3 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000" y="2707200"/>
            <a:ext cx="7488000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1">
                <a:solidFill>
                  <a:srgbClr val="5C6069"/>
                </a:solidFill>
              </a:defRPr>
            </a:pPr>
            <a:r>
              <a:t>Simplified formula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800"/>
          </a:xfrm>
          <a:prstGeom prst="rect">
            <a:avLst/>
          </a:prstGeom>
          <a:solidFill>
            <a:srgbClr val="4CAF50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0000" y="151200"/>
            <a:ext cx="8640000" cy="32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A237E"/>
                </a:solidFill>
              </a:defRPr>
            </a:pPr>
            <a:r>
              <a:t>Resolver Cases + Diagnostic Cards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450000"/>
            <a:ext cx="8496000" cy="2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5C6069"/>
                </a:solidFill>
              </a:defRPr>
            </a:pPr>
            <a:r>
              <a:t>The added intelligence layer between raw GitHub data and ST ChatGPT retrieval</a:t>
            </a:r>
          </a:p>
        </p:txBody>
      </p:sp>
      <p:sp>
        <p:nvSpPr>
          <p:cNvPr id="5" name="Rectangle 4"/>
          <p:cNvSpPr/>
          <p:nvPr/>
        </p:nvSpPr>
        <p:spPr>
          <a:xfrm>
            <a:off x="270000" y="4770000"/>
            <a:ext cx="8604000" cy="7200"/>
          </a:xfrm>
          <a:prstGeom prst="rect">
            <a:avLst/>
          </a:prstGeom>
          <a:solidFill>
            <a:srgbClr val="DCE1E8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06000" y="4802400"/>
            <a:ext cx="8460000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defRPr sz="750" b="0">
                <a:solidFill>
                  <a:srgbClr val="5C6069"/>
                </a:solidFill>
              </a:defRPr>
            </a:pPr>
            <a:r>
              <a:t>STM32Cube Preprocessing Pipeline | 40-minute technical presentation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0000" y="792000"/>
            <a:ext cx="3816000" cy="936000"/>
          </a:xfrm>
          <a:prstGeom prst="roundRect">
            <a:avLst/>
          </a:prstGeom>
          <a:solidFill>
            <a:srgbClr val="FFF1DA"/>
          </a:solidFill>
          <a:ln w="1524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300" b="1">
                <a:solidFill>
                  <a:srgbClr val="16181D"/>
                </a:solidFill>
              </a:defRPr>
            </a:pPr>
            <a:r>
              <a:t>Resolver Case</a:t>
            </a:r>
            <a:br/>
            <a:br/>
            <a:r>
              <a:t>Issue -&gt; PR -&gt; Commit -&gt; Changed file</a:t>
            </a:r>
            <a:br/>
            <a:br/>
            <a:r>
              <a:t>Purpose: prove how a reported problem was fixed in code.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80000" y="792000"/>
            <a:ext cx="3816000" cy="936000"/>
          </a:xfrm>
          <a:prstGeom prst="roundRect">
            <a:avLst/>
          </a:prstGeom>
          <a:solidFill>
            <a:srgbClr val="E6F8EB"/>
          </a:solidFill>
          <a:ln w="1524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300" b="1">
                <a:solidFill>
                  <a:srgbClr val="16181D"/>
                </a:solidFill>
              </a:defRPr>
            </a:pPr>
            <a:r>
              <a:t>Diagnostic Card</a:t>
            </a:r>
            <a:br/>
            <a:br/>
            <a:r>
              <a:t>Symptom -&gt; Hypotheses -&gt; Validation -&gt; Root cause -&gt; Fix</a:t>
            </a:r>
            <a:br/>
            <a:br/>
            <a:r>
              <a:t>Purpose: make support reasoning directly retrievable.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2160000"/>
            <a:ext cx="1224000" cy="36000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5C6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50" b="1">
                <a:solidFill>
                  <a:srgbClr val="16181D"/>
                </a:solidFill>
              </a:defRPr>
            </a:pPr>
            <a:r>
              <a:t>Raw issue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800000" y="2340000"/>
            <a:ext cx="432000" cy="0"/>
          </a:xfrm>
          <a:prstGeom prst="line">
            <a:avLst/>
          </a:prstGeom>
          <a:ln w="25400">
            <a:solidFill>
              <a:srgbClr val="FF98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304000" y="2160000"/>
            <a:ext cx="1548000" cy="360000"/>
          </a:xfrm>
          <a:prstGeom prst="roundRect">
            <a:avLst/>
          </a:prstGeom>
          <a:solidFill>
            <a:srgbClr val="FFF1DA"/>
          </a:solidFill>
          <a:ln w="1524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50" b="1">
                <a:solidFill>
                  <a:srgbClr val="16181D"/>
                </a:solidFill>
              </a:defRPr>
            </a:pPr>
            <a:r>
              <a:t>Evidence chain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924000" y="2340000"/>
            <a:ext cx="432000" cy="0"/>
          </a:xfrm>
          <a:prstGeom prst="line">
            <a:avLst/>
          </a:prstGeom>
          <a:ln w="25400">
            <a:solidFill>
              <a:srgbClr val="4CAF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428000" y="2160000"/>
            <a:ext cx="1584000" cy="360000"/>
          </a:xfrm>
          <a:prstGeom prst="roundRect">
            <a:avLst/>
          </a:prstGeom>
          <a:solidFill>
            <a:srgbClr val="E6F8EB"/>
          </a:solidFill>
          <a:ln w="1524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50" b="1">
                <a:solidFill>
                  <a:srgbClr val="16181D"/>
                </a:solidFill>
              </a:defRPr>
            </a:pPr>
            <a:r>
              <a:t>Reasoning card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83999" y="2340000"/>
            <a:ext cx="432001" cy="0"/>
          </a:xfrm>
          <a:prstGeom prst="line">
            <a:avLst/>
          </a:prstGeom>
          <a:ln w="25400">
            <a:solidFill>
              <a:srgbClr val="1A2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588000" y="2160000"/>
            <a:ext cx="1728000" cy="360000"/>
          </a:xfrm>
          <a:prstGeom prst="roundRect">
            <a:avLst/>
          </a:prstGeom>
          <a:solidFill>
            <a:srgbClr val="DAE5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50" b="1">
                <a:solidFill>
                  <a:srgbClr val="16181D"/>
                </a:solidFill>
              </a:defRPr>
            </a:pPr>
            <a:r>
              <a:t>Better answer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2916000"/>
            <a:ext cx="3888000" cy="19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500" b="1">
                <a:solidFill>
                  <a:srgbClr val="1A237E"/>
                </a:solidFill>
              </a:defRPr>
            </a:pPr>
            <a:r>
              <a:t>Simple example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5999" y="3196799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1A237E"/>
                </a:solidFill>
              </a:defRPr>
            </a:pPr>
            <a:r>
              <a:t>-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00" y="3189600"/>
            <a:ext cx="3690000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Question: 'My SPI DMA crashes on STM32H7'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999" y="3419999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1A237E"/>
                </a:solidFill>
              </a:defRPr>
            </a:pPr>
            <a:r>
              <a:t>-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00" y="3412799"/>
            <a:ext cx="3690000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Resolver: points to PR/commit/changed HAL file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5999" y="3643199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1A237E"/>
                </a:solidFill>
              </a:defRPr>
            </a:pPr>
            <a:r>
              <a:t>-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00" y="3635999"/>
            <a:ext cx="3690000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Diagnostic card: explains cache coherency, validation, and fix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80000" y="2916000"/>
            <a:ext cx="3888000" cy="19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500" b="1">
                <a:solidFill>
                  <a:srgbClr val="4CAF50"/>
                </a:solidFill>
              </a:defRPr>
            </a:pPr>
            <a:r>
              <a:t>Measured value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4000" y="3196799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4CAF50"/>
                </a:solidFill>
              </a:defRPr>
            </a:pPr>
            <a:r>
              <a:t>-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8000" y="3189600"/>
            <a:ext cx="3690000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Largest improvement in the evaluation loop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34000" y="3419999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4CAF50"/>
                </a:solidFill>
              </a:defRPr>
            </a:pPr>
            <a:r>
              <a:t>-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78000" y="3412799"/>
            <a:ext cx="3690000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+33 Quality Index points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34000" y="3643199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4CAF50"/>
                </a:solidFill>
              </a:defRPr>
            </a:pPr>
            <a:r>
              <a:t>-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78000" y="3635999"/>
            <a:ext cx="3690000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Answers become more traceable and more actionable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800"/>
          </a:xfrm>
          <a:prstGeom prst="rect">
            <a:avLst/>
          </a:prstGeom>
          <a:solidFill>
            <a:srgbClr val="FF9800"/>
          </a:solidFill>
          <a:ln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0000" y="151200"/>
            <a:ext cx="8640000" cy="32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A237E"/>
                </a:solidFill>
              </a:defRPr>
            </a:pPr>
            <a:r>
              <a:t>Challenge 2: Image Content Is Invisible to Text 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450000"/>
            <a:ext cx="8496000" cy="2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5C6069"/>
                </a:solidFill>
              </a:defRPr>
            </a:pPr>
            <a:r>
              <a:t>Screenshots and PDF figures carry support evidence that embeddings cannot see directly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270000" y="4770000"/>
            <a:ext cx="8604000" cy="7200"/>
          </a:xfrm>
          <a:prstGeom prst="rect">
            <a:avLst/>
          </a:prstGeom>
          <a:solidFill>
            <a:srgbClr val="DCE1E8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06000" y="4802400"/>
            <a:ext cx="8460000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defRPr sz="750" b="0">
                <a:solidFill>
                  <a:srgbClr val="5C6069"/>
                </a:solidFill>
              </a:defRPr>
            </a:pPr>
            <a:r>
              <a:t>STM32Cube Preprocessing Pipeline | 40-minute technical presentation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792000"/>
            <a:ext cx="3528000" cy="864000"/>
          </a:xfrm>
          <a:prstGeom prst="roundRect">
            <a:avLst/>
          </a:prstGeom>
          <a:solidFill>
            <a:srgbClr val="FFEBEB"/>
          </a:solidFill>
          <a:ln w="15240">
            <a:solidFill>
              <a:srgbClr val="D2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200" b="1">
                <a:solidFill>
                  <a:srgbClr val="16181D"/>
                </a:solidFill>
              </a:defRPr>
            </a:pPr>
            <a:r>
              <a:t>Before</a:t>
            </a:r>
            <a:br/>
            <a:r>
              <a:t>[IMAGE ATTACHED]</a:t>
            </a:r>
            <a:br/>
            <a:r>
              <a:t>The KB sees only a placeholder, not the error dialog, IDE log, waveform, or configuration screen.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68000" y="1224000"/>
            <a:ext cx="684000" cy="0"/>
          </a:xfrm>
          <a:prstGeom prst="line">
            <a:avLst/>
          </a:prstGeom>
          <a:ln w="25400">
            <a:solidFill>
              <a:srgbClr val="FF98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860000" y="792000"/>
            <a:ext cx="3528000" cy="864000"/>
          </a:xfrm>
          <a:prstGeom prst="roundRect">
            <a:avLst/>
          </a:prstGeom>
          <a:solidFill>
            <a:srgbClr val="E6F8EB"/>
          </a:solidFill>
          <a:ln w="1524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200" b="1">
                <a:solidFill>
                  <a:srgbClr val="16181D"/>
                </a:solidFill>
              </a:defRPr>
            </a:pPr>
            <a:r>
              <a:t>After Alfred Vision</a:t>
            </a:r>
            <a:br/>
            <a:r>
              <a:t>[IMAGE DESCRIPTION]</a:t>
            </a:r>
            <a:br/>
            <a:r>
              <a:t>The screenshot becomes searchable text with STM32-specific diagnostic anchors.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3999" y="2340000"/>
            <a:ext cx="3888000" cy="19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500" b="1">
                <a:solidFill>
                  <a:srgbClr val="4CAF50"/>
                </a:solidFill>
              </a:defRPr>
            </a:pPr>
            <a:r>
              <a:t>Issue images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999" y="26208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4CAF50"/>
                </a:solidFill>
              </a:defRPr>
            </a:pPr>
            <a:r>
              <a:t>-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2000" y="2613600"/>
            <a:ext cx="3690000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Usually grounded in issue 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999" y="28440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4CAF50"/>
                </a:solidFill>
              </a:defRPr>
            </a:pPr>
            <a:r>
              <a:t>-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2000" y="2836800"/>
            <a:ext cx="3690000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Often include IDE logs, error strings, config screens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999" y="30672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4CAF50"/>
                </a:solidFill>
              </a:defRPr>
            </a:pPr>
            <a:r>
              <a:t>-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2000" y="3060000"/>
            <a:ext cx="3690000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High contextual trust: 98.5%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2000" y="2340000"/>
            <a:ext cx="3888000" cy="19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500" b="1">
                <a:solidFill>
                  <a:srgbClr val="FF9800"/>
                </a:solidFill>
              </a:defRPr>
            </a:pPr>
            <a:r>
              <a:t>PDF figures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6000" y="26208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FF9800"/>
                </a:solidFill>
              </a:defRPr>
            </a:pPr>
            <a:r>
              <a:t>-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0000" y="2613600"/>
            <a:ext cx="3690000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Useful for recall but harder to validate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6000" y="28440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FF9800"/>
                </a:solidFill>
              </a:defRPr>
            </a:pPr>
            <a:r>
              <a:t>-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0000" y="2836800"/>
            <a:ext cx="3690000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Page text may not repeat figure labels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6000" y="30672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FF9800"/>
                </a:solidFill>
              </a:defRPr>
            </a:pPr>
            <a:r>
              <a:t>-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50000" y="3060000"/>
            <a:ext cx="3690000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Contextual trust: 41.7%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800"/>
          </a:xfrm>
          <a:prstGeom prst="rect">
            <a:avLst/>
          </a:prstGeom>
          <a:solidFill>
            <a:srgbClr val="FF9800"/>
          </a:solidFill>
          <a:ln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0000" y="151200"/>
            <a:ext cx="8640000" cy="32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A237E"/>
                </a:solidFill>
              </a:defRPr>
            </a:pPr>
            <a:r>
              <a:t>Alfred Vision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450000"/>
            <a:ext cx="8496000" cy="2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5C6069"/>
                </a:solidFill>
              </a:defRPr>
            </a:pPr>
            <a:r>
              <a:t>From image URLs and PDF crops to searchable descriptions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0000" y="4770000"/>
            <a:ext cx="8604000" cy="7200"/>
          </a:xfrm>
          <a:prstGeom prst="rect">
            <a:avLst/>
          </a:prstGeom>
          <a:solidFill>
            <a:srgbClr val="DCE1E8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06000" y="4802400"/>
            <a:ext cx="8460000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defRPr sz="750" b="0">
                <a:solidFill>
                  <a:srgbClr val="5C6069"/>
                </a:solidFill>
              </a:defRPr>
            </a:pPr>
            <a:r>
              <a:t>STM32Cube Preprocessing Pipeline | 40-minute technical presentation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0000" y="1080000"/>
            <a:ext cx="1296000" cy="432000"/>
          </a:xfrm>
          <a:prstGeom prst="roundRect">
            <a:avLst/>
          </a:prstGeom>
          <a:solidFill>
            <a:srgbClr val="FFF1DA"/>
          </a:solidFill>
          <a:ln w="1524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00" b="1">
                <a:solidFill>
                  <a:srgbClr val="16181D"/>
                </a:solidFill>
              </a:defRPr>
            </a:pPr>
            <a:r>
              <a:t>Image marker</a:t>
            </a:r>
            <a:br/>
            <a:r>
              <a:t>[IMAGE ATTACHED]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5999" y="1080000"/>
            <a:ext cx="1296000" cy="432000"/>
          </a:xfrm>
          <a:prstGeom prst="roundRect">
            <a:avLst/>
          </a:prstGeom>
          <a:solidFill>
            <a:srgbClr val="FFF1DA"/>
          </a:solidFill>
          <a:ln w="1524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00" b="1">
                <a:solidFill>
                  <a:srgbClr val="16181D"/>
                </a:solidFill>
              </a:defRPr>
            </a:pPr>
            <a:r>
              <a:t>URL / crop</a:t>
            </a:r>
            <a:br/>
            <a:r>
              <a:t>extraction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71999" y="1080000"/>
            <a:ext cx="1296000" cy="432000"/>
          </a:xfrm>
          <a:prstGeom prst="roundRect">
            <a:avLst/>
          </a:prstGeom>
          <a:solidFill>
            <a:srgbClr val="FFF1DA"/>
          </a:solidFill>
          <a:ln w="1524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00" b="1">
                <a:solidFill>
                  <a:srgbClr val="16181D"/>
                </a:solidFill>
              </a:defRPr>
            </a:pPr>
            <a:r>
              <a:t>Alfred Vision</a:t>
            </a:r>
            <a:br/>
            <a:r>
              <a:t>API call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28000" y="1080000"/>
            <a:ext cx="1296000" cy="432000"/>
          </a:xfrm>
          <a:prstGeom prst="roundRect">
            <a:avLst/>
          </a:prstGeom>
          <a:solidFill>
            <a:srgbClr val="FFF1DA"/>
          </a:solidFill>
          <a:ln w="1524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00" b="1">
                <a:solidFill>
                  <a:srgbClr val="16181D"/>
                </a:solidFill>
              </a:defRPr>
            </a:pPr>
            <a:r>
              <a:t>Description</a:t>
            </a:r>
            <a:br/>
            <a:r>
              <a:t>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83999" y="1080000"/>
            <a:ext cx="1296000" cy="432000"/>
          </a:xfrm>
          <a:prstGeom prst="roundRect">
            <a:avLst/>
          </a:prstGeom>
          <a:solidFill>
            <a:srgbClr val="FFF1DA"/>
          </a:solidFill>
          <a:ln w="1524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00" b="1">
                <a:solidFill>
                  <a:srgbClr val="16181D"/>
                </a:solidFill>
              </a:defRPr>
            </a:pPr>
            <a:r>
              <a:t>ST-ready</a:t>
            </a:r>
            <a:br/>
            <a:r>
              <a:t>injection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692000" y="1296000"/>
            <a:ext cx="252000" cy="0"/>
          </a:xfrm>
          <a:prstGeom prst="line">
            <a:avLst/>
          </a:prstGeom>
          <a:ln w="25400">
            <a:solidFill>
              <a:srgbClr val="FF98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348000" y="1296000"/>
            <a:ext cx="252000" cy="0"/>
          </a:xfrm>
          <a:prstGeom prst="line">
            <a:avLst/>
          </a:prstGeom>
          <a:ln w="25400">
            <a:solidFill>
              <a:srgbClr val="FF98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004000" y="1296000"/>
            <a:ext cx="252000" cy="0"/>
          </a:xfrm>
          <a:prstGeom prst="line">
            <a:avLst/>
          </a:prstGeom>
          <a:ln w="25400">
            <a:solidFill>
              <a:srgbClr val="FF98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660000" y="1296000"/>
            <a:ext cx="252000" cy="0"/>
          </a:xfrm>
          <a:prstGeom prst="line">
            <a:avLst/>
          </a:prstGeom>
          <a:ln w="25400">
            <a:solidFill>
              <a:srgbClr val="FF98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32000" y="2268000"/>
            <a:ext cx="7920000" cy="612000"/>
          </a:xfrm>
          <a:prstGeom prst="roundRect">
            <a:avLst/>
          </a:prstGeom>
          <a:solidFill>
            <a:srgbClr val="222730"/>
          </a:solidFill>
          <a:ln>
            <a:solidFill>
              <a:srgbClr val="2227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919">
                <a:solidFill>
                  <a:srgbClr val="FFFFFF"/>
                </a:solidFill>
                <a:latin typeface="Consolas"/>
              </a:defRPr>
            </a:pPr>
            <a:r>
              <a:t>python pipeline_Automation/alfred/enrich_json_images_with_alfred.py --input &lt;issues_with_images.json&gt; --inplace</a:t>
            </a:r>
            <a:br/>
            <a:r>
              <a:t>python pipeline_Automation/alfred/enrich_pdf_figures_with_alfred.py --repo STM32CubeU5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00" y="2095200"/>
            <a:ext cx="7920000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1">
                <a:solidFill>
                  <a:srgbClr val="5C6069"/>
                </a:solidFill>
              </a:defRPr>
            </a:pPr>
            <a:r>
              <a:t>Representative commands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3999" y="3348000"/>
            <a:ext cx="7560000" cy="19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500" b="1">
                <a:solidFill>
                  <a:srgbClr val="1A237E"/>
                </a:solidFill>
              </a:defRPr>
            </a:pPr>
            <a:r>
              <a:t>Technical safeguards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999" y="36288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1A237E"/>
                </a:solidFill>
              </a:defRPr>
            </a:pPr>
            <a:r>
              <a:t>-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2000" y="3621600"/>
            <a:ext cx="7362000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Avoid duplicate image markers in root cause summaries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999" y="3851999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1A237E"/>
                </a:solidFill>
              </a:defRPr>
            </a:pPr>
            <a:r>
              <a:t>-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2000" y="3844800"/>
            <a:ext cx="7362000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Track image_urls to prevent URL exhaustion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7999" y="4075199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1A237E"/>
                </a:solidFill>
              </a:defRPr>
            </a:pPr>
            <a:r>
              <a:t>-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2000" y="4067999"/>
            <a:ext cx="7362000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Evaluate contextual trust after enrichment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800"/>
          </a:xfrm>
          <a:prstGeom prst="rect">
            <a:avLst/>
          </a:prstGeom>
          <a:solidFill>
            <a:srgbClr val="FF9800"/>
          </a:solidFill>
          <a:ln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0000" y="151200"/>
            <a:ext cx="8640000" cy="32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A237E"/>
                </a:solidFill>
              </a:defRPr>
            </a:pPr>
            <a:r>
              <a:t>Alfred Evaluation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450000"/>
            <a:ext cx="8496000" cy="2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5C6069"/>
                </a:solidFill>
              </a:defRPr>
            </a:pPr>
            <a:r>
              <a:t>Measured confidence, not just API success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0000" y="4770000"/>
            <a:ext cx="8604000" cy="7200"/>
          </a:xfrm>
          <a:prstGeom prst="rect">
            <a:avLst/>
          </a:prstGeom>
          <a:solidFill>
            <a:srgbClr val="DCE1E8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06000" y="4802400"/>
            <a:ext cx="8460000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defRPr sz="750" b="0">
                <a:solidFill>
                  <a:srgbClr val="5C6069"/>
                </a:solidFill>
              </a:defRPr>
            </a:pPr>
            <a:r>
              <a:t>STM32Cube Preprocessing Pipeline | 40-minute technical presentation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1062000"/>
            <a:ext cx="1620000" cy="14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1">
                <a:solidFill>
                  <a:srgbClr val="16181D"/>
                </a:solidFill>
              </a:defRPr>
            </a:pPr>
            <a:r>
              <a:t>Issue images contextual trust</a:t>
            </a:r>
          </a:p>
        </p:txBody>
      </p:sp>
      <p:sp>
        <p:nvSpPr>
          <p:cNvPr id="8" name="Rectangle 7"/>
          <p:cNvSpPr/>
          <p:nvPr/>
        </p:nvSpPr>
        <p:spPr>
          <a:xfrm>
            <a:off x="2484000" y="1080000"/>
            <a:ext cx="4500000" cy="136800"/>
          </a:xfrm>
          <a:prstGeom prst="rect">
            <a:avLst/>
          </a:prstGeom>
          <a:solidFill>
            <a:srgbClr val="E8ECF2"/>
          </a:solidFill>
          <a:ln>
            <a:solidFill>
              <a:srgbClr val="E8E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484000" y="1080000"/>
            <a:ext cx="4432500" cy="136800"/>
          </a:xfrm>
          <a:prstGeom prst="rect">
            <a:avLst/>
          </a:prstGeom>
          <a:solidFill>
            <a:srgbClr val="4CAF50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073999" y="1054800"/>
            <a:ext cx="648000" cy="151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19" b="1">
                <a:solidFill>
                  <a:srgbClr val="4CAF50"/>
                </a:solidFill>
              </a:defRPr>
            </a:pPr>
            <a:r>
              <a:t>98.5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1530000"/>
            <a:ext cx="1620000" cy="14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1">
                <a:solidFill>
                  <a:srgbClr val="16181D"/>
                </a:solidFill>
              </a:defRPr>
            </a:pPr>
            <a:r>
              <a:t>PDF figures contextual trust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84000" y="1548000"/>
            <a:ext cx="4500000" cy="136800"/>
          </a:xfrm>
          <a:prstGeom prst="rect">
            <a:avLst/>
          </a:prstGeom>
          <a:solidFill>
            <a:srgbClr val="E8ECF2"/>
          </a:solidFill>
          <a:ln>
            <a:solidFill>
              <a:srgbClr val="E8E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484000" y="1548000"/>
            <a:ext cx="1876500" cy="136800"/>
          </a:xfrm>
          <a:prstGeom prst="rect">
            <a:avLst/>
          </a:prstGeom>
          <a:solidFill>
            <a:srgbClr val="FF9800"/>
          </a:solidFill>
          <a:ln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073999" y="1522799"/>
            <a:ext cx="648000" cy="151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19" b="1">
                <a:solidFill>
                  <a:srgbClr val="FF9800"/>
                </a:solidFill>
              </a:defRPr>
            </a:pPr>
            <a:r>
              <a:t>41.7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000" y="1998000"/>
            <a:ext cx="1620000" cy="14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1">
                <a:solidFill>
                  <a:srgbClr val="16181D"/>
                </a:solidFill>
              </a:defRPr>
            </a:pPr>
            <a:r>
              <a:t>Total Alfred contextual trust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84000" y="2015999"/>
            <a:ext cx="4500000" cy="136800"/>
          </a:xfrm>
          <a:prstGeom prst="rect">
            <a:avLst/>
          </a:prstGeom>
          <a:solidFill>
            <a:srgbClr val="E8ECF2"/>
          </a:solidFill>
          <a:ln>
            <a:solidFill>
              <a:srgbClr val="E8E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484000" y="2015999"/>
            <a:ext cx="3033000" cy="136800"/>
          </a:xfrm>
          <a:prstGeom prst="rect">
            <a:avLst/>
          </a:prstGeom>
          <a:solidFill>
            <a:srgbClr val="0087AA"/>
          </a:solidFill>
          <a:ln>
            <a:solidFill>
              <a:srgbClr val="008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073999" y="1990799"/>
            <a:ext cx="648000" cy="151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19" b="1">
                <a:solidFill>
                  <a:srgbClr val="0087AA"/>
                </a:solidFill>
              </a:defRPr>
            </a:pPr>
            <a:r>
              <a:t>67.4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0000" y="2880000"/>
            <a:ext cx="3528000" cy="720000"/>
          </a:xfrm>
          <a:prstGeom prst="roundRect">
            <a:avLst/>
          </a:prstGeom>
          <a:solidFill>
            <a:srgbClr val="E6F8EB"/>
          </a:solidFill>
          <a:ln w="1524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300" b="1">
                <a:solidFill>
                  <a:srgbClr val="16181D"/>
                </a:solidFill>
              </a:defRPr>
            </a:pPr>
            <a:r>
              <a:t>Issue images</a:t>
            </a:r>
            <a:br/>
            <a:r>
              <a:t>200 evaluated</a:t>
            </a:r>
            <a:br/>
            <a:r>
              <a:t>3 low coherence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88000" y="2880000"/>
            <a:ext cx="3528000" cy="720000"/>
          </a:xfrm>
          <a:prstGeom prst="roundRect">
            <a:avLst/>
          </a:prstGeom>
          <a:solidFill>
            <a:srgbClr val="FFF1DA"/>
          </a:solidFill>
          <a:ln w="1524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300" b="1">
                <a:solidFill>
                  <a:srgbClr val="16181D"/>
                </a:solidFill>
              </a:defRPr>
            </a:pPr>
            <a:r>
              <a:t>PDF figures</a:t>
            </a:r>
            <a:br/>
            <a:r>
              <a:t>242 evaluated</a:t>
            </a:r>
            <a:br/>
            <a:r>
              <a:t>141 low coherence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0000" y="4068000"/>
            <a:ext cx="7560000" cy="28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250" b="1">
                <a:solidFill>
                  <a:srgbClr val="5C6069"/>
                </a:solidFill>
              </a:defRPr>
            </a:pPr>
            <a:r>
              <a:t>Interpretation: PDF figure descriptions are kept for multimodal recall, but the report clearly separates them from the mature issue-image pipeline.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800"/>
          </a:xfrm>
          <a:prstGeom prst="rect">
            <a:avLst/>
          </a:prstGeom>
          <a:solidFill>
            <a:srgbClr val="0087AA"/>
          </a:solidFill>
          <a:ln>
            <a:solidFill>
              <a:srgbClr val="008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0000" y="151200"/>
            <a:ext cx="8640000" cy="32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A237E"/>
                </a:solidFill>
              </a:defRPr>
            </a:pPr>
            <a:r>
              <a:t>KB Upload and Indexing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450000"/>
            <a:ext cx="8496000" cy="2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5C6069"/>
                </a:solidFill>
              </a:defRPr>
            </a:pPr>
            <a:r>
              <a:t>Delivery is part of the solution, not an afterthought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270000" y="4770000"/>
            <a:ext cx="8604000" cy="7200"/>
          </a:xfrm>
          <a:prstGeom prst="rect">
            <a:avLst/>
          </a:prstGeom>
          <a:solidFill>
            <a:srgbClr val="DCE1E8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06000" y="4802400"/>
            <a:ext cx="8460000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defRPr sz="750" b="0">
                <a:solidFill>
                  <a:srgbClr val="5C6069"/>
                </a:solidFill>
              </a:defRPr>
            </a:pPr>
            <a:r>
              <a:t>STM32Cube Preprocessing Pipeline | 40-minute technical presentation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0000" y="864000"/>
            <a:ext cx="1512000" cy="43200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5C6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200" b="1">
                <a:solidFill>
                  <a:srgbClr val="16181D"/>
                </a:solidFill>
              </a:defRPr>
            </a:pPr>
            <a:r>
              <a:t>ST-ready JSON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44000" y="1080000"/>
            <a:ext cx="432000" cy="0"/>
          </a:xfrm>
          <a:prstGeom prst="line">
            <a:avLst/>
          </a:prstGeom>
          <a:ln w="25400">
            <a:solidFill>
              <a:srgbClr val="0087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448000" y="864000"/>
            <a:ext cx="1512000" cy="432000"/>
          </a:xfrm>
          <a:prstGeom prst="roundRect">
            <a:avLst/>
          </a:prstGeom>
          <a:solidFill>
            <a:srgbClr val="E1F5EB"/>
          </a:solidFill>
          <a:ln w="1524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200" b="1">
                <a:solidFill>
                  <a:srgbClr val="16181D"/>
                </a:solidFill>
              </a:defRPr>
            </a:pPr>
            <a:r>
              <a:t>Schema gate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31999" y="1080000"/>
            <a:ext cx="432001" cy="0"/>
          </a:xfrm>
          <a:prstGeom prst="line">
            <a:avLst/>
          </a:prstGeom>
          <a:ln w="25400">
            <a:solidFill>
              <a:srgbClr val="0087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536000" y="864000"/>
            <a:ext cx="1512000" cy="432000"/>
          </a:xfrm>
          <a:prstGeom prst="roundRect">
            <a:avLst/>
          </a:prstGeom>
          <a:solidFill>
            <a:srgbClr val="DAE5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200" b="1">
                <a:solidFill>
                  <a:srgbClr val="16181D"/>
                </a:solidFill>
              </a:defRPr>
            </a:pPr>
            <a:r>
              <a:t>Upload script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0000" y="1080000"/>
            <a:ext cx="432000" cy="0"/>
          </a:xfrm>
          <a:prstGeom prst="line">
            <a:avLst/>
          </a:prstGeom>
          <a:ln w="25400">
            <a:solidFill>
              <a:srgbClr val="0087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623999" y="864000"/>
            <a:ext cx="1512000" cy="432000"/>
          </a:xfrm>
          <a:prstGeom prst="roundRect">
            <a:avLst/>
          </a:prstGeom>
          <a:solidFill>
            <a:srgbClr val="FFF1DA"/>
          </a:solidFill>
          <a:ln w="1524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200" b="1">
                <a:solidFill>
                  <a:srgbClr val="16181D"/>
                </a:solidFill>
              </a:defRPr>
            </a:pPr>
            <a:r>
              <a:t>KB #793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1980000"/>
            <a:ext cx="7920000" cy="792000"/>
          </a:xfrm>
          <a:prstGeom prst="roundRect">
            <a:avLst/>
          </a:prstGeom>
          <a:solidFill>
            <a:srgbClr val="222730"/>
          </a:solidFill>
          <a:ln>
            <a:solidFill>
              <a:srgbClr val="2227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919">
                <a:solidFill>
                  <a:srgbClr val="FFFFFF"/>
                </a:solidFill>
                <a:latin typeface="Consolas"/>
              </a:defRPr>
            </a:pPr>
            <a:r>
              <a:t>python pipeline_Automation/upload/Add_Data_Source_Files.py --kb 793 --operation add \</a:t>
            </a:r>
            <a:br/>
            <a:r>
              <a:t>  --datasource-id &lt;ID&gt; --processor JSON --processor-params base64:&lt;b64&gt; \</a:t>
            </a:r>
            <a:br/>
            <a:r>
              <a:t>  --json-split-size 1000 --files &lt;file.json&gt;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1807199"/>
            <a:ext cx="7920000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1">
                <a:solidFill>
                  <a:srgbClr val="5C6069"/>
                </a:solidFill>
              </a:defRPr>
            </a:pPr>
            <a:r>
              <a:t>Upload command shape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3999" y="3311999"/>
            <a:ext cx="7560000" cy="19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500" b="1">
                <a:solidFill>
                  <a:srgbClr val="0087AA"/>
                </a:solidFill>
              </a:defRPr>
            </a:pPr>
            <a:r>
              <a:t>Why upload engineering matters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999" y="3592799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0087AA"/>
                </a:solidFill>
              </a:defRPr>
            </a:pPr>
            <a:r>
              <a:t>-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000" y="3585599"/>
            <a:ext cx="7362000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Stable datasource IDs per series and artifact type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999" y="3815999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0087AA"/>
                </a:solidFill>
              </a:defRPr>
            </a:pPr>
            <a:r>
              <a:t>-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2000" y="3808799"/>
            <a:ext cx="7362000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Base64 processor params avoid PowerShell parsing problems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999" y="4039199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0087AA"/>
                </a:solidFill>
              </a:defRPr>
            </a:pPr>
            <a:r>
              <a:t>-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2000" y="4031999"/>
            <a:ext cx="7362000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Delete+Add avoids duplicate filename conflicts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7999" y="4262399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0087AA"/>
                </a:solidFill>
              </a:defRPr>
            </a:pPr>
            <a:r>
              <a:t>-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2000" y="4255199"/>
            <a:ext cx="7362000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Validation gates prevent corrupted data from reaching the KB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800"/>
          </a:xfrm>
          <a:prstGeom prst="rect">
            <a:avLst/>
          </a:prstGeom>
          <a:solidFill>
            <a:srgbClr val="0087AA"/>
          </a:solidFill>
          <a:ln>
            <a:solidFill>
              <a:srgbClr val="008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0000" y="151200"/>
            <a:ext cx="8640000" cy="32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A237E"/>
                </a:solidFill>
              </a:defRPr>
            </a:pPr>
            <a:r>
              <a:t>Each Pipeline Stage Was Evaluated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450000"/>
            <a:ext cx="8496000" cy="2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5C6069"/>
                </a:solidFill>
              </a:defRPr>
            </a:pPr>
            <a:r>
              <a:t>Evaluation is not only the final chatbot score; every stage has quality gates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0000" y="4770000"/>
            <a:ext cx="8604000" cy="7200"/>
          </a:xfrm>
          <a:prstGeom prst="rect">
            <a:avLst/>
          </a:prstGeom>
          <a:solidFill>
            <a:srgbClr val="DCE1E8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06000" y="4802400"/>
            <a:ext cx="8460000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defRPr sz="750" b="0">
                <a:solidFill>
                  <a:srgbClr val="5C6069"/>
                </a:solidFill>
              </a:defRPr>
            </a:pPr>
            <a:r>
              <a:t>STM32Cube Preprocessing Pipeline | 40-minute technical presentation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0000" y="792000"/>
            <a:ext cx="1475999" cy="259200"/>
          </a:xfrm>
          <a:prstGeom prst="roundRect">
            <a:avLst/>
          </a:prstGeom>
          <a:solidFill>
            <a:srgbClr val="E8F0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050" b="1">
                <a:solidFill>
                  <a:srgbClr val="16181D"/>
                </a:solidFill>
              </a:defRPr>
            </a:pPr>
            <a:r>
              <a:t>Ingestion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80000" y="792000"/>
            <a:ext cx="1872000" cy="25920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5C6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050" b="1">
                <a:solidFill>
                  <a:srgbClr val="16181D"/>
                </a:solidFill>
              </a:defRPr>
            </a:pPr>
            <a:r>
              <a:t>Completeness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828000"/>
            <a:ext cx="4320000" cy="151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16181D"/>
                </a:solidFill>
              </a:defRPr>
            </a:pPr>
            <a:r>
              <a:t>99.7% body / 100% title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0000" y="1123200"/>
            <a:ext cx="1475999" cy="259200"/>
          </a:xfrm>
          <a:prstGeom prst="roundRect">
            <a:avLst/>
          </a:prstGeom>
          <a:solidFill>
            <a:srgbClr val="E8F0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050" b="1">
                <a:solidFill>
                  <a:srgbClr val="16181D"/>
                </a:solidFill>
              </a:defRPr>
            </a:pPr>
            <a:r>
              <a:t>Cleaning V3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80000" y="1123200"/>
            <a:ext cx="1872000" cy="25920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5C6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050" b="1">
                <a:solidFill>
                  <a:srgbClr val="16181D"/>
                </a:solidFill>
              </a:defRPr>
            </a:pPr>
            <a:r>
              <a:t>Noise reduction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31999" y="1159200"/>
            <a:ext cx="4320000" cy="151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16181D"/>
                </a:solidFill>
              </a:defRPr>
            </a:pPr>
            <a:r>
              <a:t>-96.4% CMSIS / -38% corpus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0000" y="1454400"/>
            <a:ext cx="1475999" cy="259200"/>
          </a:xfrm>
          <a:prstGeom prst="roundRect">
            <a:avLst/>
          </a:prstGeom>
          <a:solidFill>
            <a:srgbClr val="E8F0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050" b="1">
                <a:solidFill>
                  <a:srgbClr val="16181D"/>
                </a:solidFill>
              </a:defRPr>
            </a:pPr>
            <a:r>
              <a:t>Enrichment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80000" y="1454400"/>
            <a:ext cx="1872000" cy="25920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5C6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050" b="1">
                <a:solidFill>
                  <a:srgbClr val="16181D"/>
                </a:solidFill>
              </a:defRPr>
            </a:pPr>
            <a:r>
              <a:t>Metadata coverage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31999" y="1490400"/>
            <a:ext cx="4320000" cy="151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16181D"/>
                </a:solidFill>
              </a:defRPr>
            </a:pPr>
            <a:r>
              <a:t>Layer 88.2%, component 72.6%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0000" y="1785600"/>
            <a:ext cx="1475999" cy="259200"/>
          </a:xfrm>
          <a:prstGeom prst="roundRect">
            <a:avLst/>
          </a:prstGeom>
          <a:solidFill>
            <a:srgbClr val="E8F0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050" b="1">
                <a:solidFill>
                  <a:srgbClr val="16181D"/>
                </a:solidFill>
              </a:defRPr>
            </a:pPr>
            <a:r>
              <a:t>Alfred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80000" y="1785600"/>
            <a:ext cx="1872000" cy="25920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5C6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050" b="1">
                <a:solidFill>
                  <a:srgbClr val="16181D"/>
                </a:solidFill>
              </a:defRPr>
            </a:pPr>
            <a:r>
              <a:t>Contextual trust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31999" y="1821599"/>
            <a:ext cx="4320000" cy="151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16181D"/>
                </a:solidFill>
              </a:defRPr>
            </a:pPr>
            <a:r>
              <a:t>Issue images 98.5%, PDF figures 41.7%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0000" y="2116800"/>
            <a:ext cx="1475999" cy="259200"/>
          </a:xfrm>
          <a:prstGeom prst="roundRect">
            <a:avLst/>
          </a:prstGeom>
          <a:solidFill>
            <a:srgbClr val="E8F0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050" b="1">
                <a:solidFill>
                  <a:srgbClr val="16181D"/>
                </a:solidFill>
              </a:defRPr>
            </a:pPr>
            <a:r>
              <a:t>Similarity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80000" y="2116800"/>
            <a:ext cx="1872000" cy="25920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5C6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050" b="1">
                <a:solidFill>
                  <a:srgbClr val="16181D"/>
                </a:solidFill>
              </a:defRPr>
            </a:pPr>
            <a:r>
              <a:t>Related issue coverage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31999" y="2152800"/>
            <a:ext cx="4320000" cy="151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16181D"/>
                </a:solidFill>
              </a:defRPr>
            </a:pPr>
            <a:r>
              <a:t>22% on H7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0000" y="2448000"/>
            <a:ext cx="1475999" cy="259200"/>
          </a:xfrm>
          <a:prstGeom prst="roundRect">
            <a:avLst/>
          </a:prstGeom>
          <a:solidFill>
            <a:srgbClr val="E8F0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050" b="1">
                <a:solidFill>
                  <a:srgbClr val="16181D"/>
                </a:solidFill>
              </a:defRPr>
            </a:pPr>
            <a:r>
              <a:t>Delivery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80000" y="2448000"/>
            <a:ext cx="1872000" cy="25920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5C6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050" b="1">
                <a:solidFill>
                  <a:srgbClr val="16181D"/>
                </a:solidFill>
              </a:defRPr>
            </a:pPr>
            <a:r>
              <a:t>Schema validity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31999" y="2484000"/>
            <a:ext cx="4320000" cy="151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16181D"/>
                </a:solidFill>
              </a:defRPr>
            </a:pPr>
            <a:r>
              <a:t>100% eligible exports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0000" y="3491999"/>
            <a:ext cx="7488000" cy="432000"/>
          </a:xfrm>
          <a:prstGeom prst="roundRect">
            <a:avLst/>
          </a:prstGeom>
          <a:solidFill>
            <a:srgbClr val="FFF1DA"/>
          </a:solidFill>
          <a:ln w="1524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300" b="1">
                <a:solidFill>
                  <a:srgbClr val="16181D"/>
                </a:solidFill>
              </a:defRPr>
            </a:pPr>
            <a:r>
              <a:t>This evaluation helped distinguish pipeline defects from source-data limitations, for example the low board coverage caused by missing board mentions in issues.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800"/>
          </a:xfrm>
          <a:prstGeom prst="rect">
            <a:avLst/>
          </a:prstGeom>
          <a:solidFill>
            <a:srgbClr val="5C52B4"/>
          </a:solidFill>
          <a:ln>
            <a:solidFill>
              <a:srgbClr val="5C5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0000" y="151200"/>
            <a:ext cx="8640000" cy="32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A237E"/>
                </a:solidFill>
              </a:defRPr>
            </a:pPr>
            <a:r>
              <a:t>ST ChatGPT / RAG Configuration I Could Tune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450000"/>
            <a:ext cx="8496000" cy="2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5C6069"/>
                </a:solidFill>
              </a:defRPr>
            </a:pPr>
            <a:r>
              <a:t>The pipeline covered not only data preparation but also platform configuration experiments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0000" y="4770000"/>
            <a:ext cx="8604000" cy="7200"/>
          </a:xfrm>
          <a:prstGeom prst="rect">
            <a:avLst/>
          </a:prstGeom>
          <a:solidFill>
            <a:srgbClr val="DCE1E8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06000" y="4802400"/>
            <a:ext cx="8460000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defRPr sz="750" b="0">
                <a:solidFill>
                  <a:srgbClr val="5C6069"/>
                </a:solidFill>
              </a:defRPr>
            </a:pPr>
            <a:r>
              <a:t>STM32Cube Preprocessing Pipeline | 40-minute technical presentation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0000" y="756000"/>
            <a:ext cx="1548000" cy="270000"/>
          </a:xfrm>
          <a:prstGeom prst="roundRect">
            <a:avLst/>
          </a:prstGeom>
          <a:solidFill>
            <a:srgbClr val="EBE8FF"/>
          </a:solidFill>
          <a:ln w="15240">
            <a:solidFill>
              <a:srgbClr val="5C5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050" b="1">
                <a:solidFill>
                  <a:srgbClr val="16181D"/>
                </a:solidFill>
              </a:defRPr>
            </a:pPr>
            <a:r>
              <a:t>Search 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2000" y="792000"/>
            <a:ext cx="2880000" cy="151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16181D"/>
                </a:solidFill>
              </a:defRPr>
            </a:pPr>
            <a:r>
              <a:t>Semantic / Full-text / Hybrid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4000" y="792000"/>
            <a:ext cx="3096000" cy="151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1">
                <a:solidFill>
                  <a:srgbClr val="1A237E"/>
                </a:solidFill>
              </a:defRPr>
            </a:pPr>
            <a:r>
              <a:t>Hybrid retained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0000" y="1098000"/>
            <a:ext cx="1548000" cy="270000"/>
          </a:xfrm>
          <a:prstGeom prst="roundRect">
            <a:avLst/>
          </a:prstGeom>
          <a:solidFill>
            <a:srgbClr val="EBE8FF"/>
          </a:solidFill>
          <a:ln w="15240">
            <a:solidFill>
              <a:srgbClr val="5C5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050" b="1">
                <a:solidFill>
                  <a:srgbClr val="16181D"/>
                </a:solidFill>
              </a:defRPr>
            </a:pPr>
            <a:r>
              <a:t>Semantic threshold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2000" y="1134000"/>
            <a:ext cx="2880000" cy="151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16181D"/>
                </a:solidFill>
              </a:defRPr>
            </a:pPr>
            <a:r>
              <a:t>0.45 / 0.55 / 0.65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4000" y="1134000"/>
            <a:ext cx="3096000" cy="151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1">
                <a:solidFill>
                  <a:srgbClr val="1A237E"/>
                </a:solidFill>
              </a:defRPr>
            </a:pPr>
            <a:r>
              <a:t>S0=0.55, S1=0.45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0000" y="1440000"/>
            <a:ext cx="1548000" cy="270000"/>
          </a:xfrm>
          <a:prstGeom prst="roundRect">
            <a:avLst/>
          </a:prstGeom>
          <a:solidFill>
            <a:srgbClr val="EBE8FF"/>
          </a:solidFill>
          <a:ln w="15240">
            <a:solidFill>
              <a:srgbClr val="5C5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050" b="1">
                <a:solidFill>
                  <a:srgbClr val="16181D"/>
                </a:solidFill>
              </a:defRPr>
            </a:pPr>
            <a:r>
              <a:t>Semantic doc count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2000" y="1475999"/>
            <a:ext cx="2880000" cy="151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16181D"/>
                </a:solidFill>
              </a:defRPr>
            </a:pPr>
            <a:r>
              <a:t>18 / 25 / 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4000" y="1475999"/>
            <a:ext cx="3096000" cy="151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1">
                <a:solidFill>
                  <a:srgbClr val="1A237E"/>
                </a:solidFill>
              </a:defRPr>
            </a:pPr>
            <a:r>
              <a:t>25 stable, 35 recall+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0000" y="1782000"/>
            <a:ext cx="1548000" cy="270000"/>
          </a:xfrm>
          <a:prstGeom prst="roundRect">
            <a:avLst/>
          </a:prstGeom>
          <a:solidFill>
            <a:srgbClr val="EBE8FF"/>
          </a:solidFill>
          <a:ln w="15240">
            <a:solidFill>
              <a:srgbClr val="5C5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050" b="1">
                <a:solidFill>
                  <a:srgbClr val="16181D"/>
                </a:solidFill>
              </a:defRPr>
            </a:pPr>
            <a:r>
              <a:t>Full-text doc count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2000" y="1818000"/>
            <a:ext cx="2880000" cy="151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16181D"/>
                </a:solidFill>
              </a:defRPr>
            </a:pPr>
            <a:r>
              <a:t>8 / 12 / 15 / 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84000" y="1818000"/>
            <a:ext cx="3096000" cy="151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1">
                <a:solidFill>
                  <a:srgbClr val="1A237E"/>
                </a:solidFill>
              </a:defRPr>
            </a:pPr>
            <a:r>
              <a:t>12 stable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0000" y="2124000"/>
            <a:ext cx="1548000" cy="270000"/>
          </a:xfrm>
          <a:prstGeom prst="roundRect">
            <a:avLst/>
          </a:prstGeom>
          <a:solidFill>
            <a:srgbClr val="EBE8FF"/>
          </a:solidFill>
          <a:ln w="15240">
            <a:solidFill>
              <a:srgbClr val="5C5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050" b="1">
                <a:solidFill>
                  <a:srgbClr val="16181D"/>
                </a:solidFill>
              </a:defRPr>
            </a:pPr>
            <a:r>
              <a:t>System prompt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2000" y="2160000"/>
            <a:ext cx="2880000" cy="151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16181D"/>
                </a:solidFill>
              </a:defRPr>
            </a:pPr>
            <a:r>
              <a:t>KB-first behavior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4000" y="2160000"/>
            <a:ext cx="3096000" cy="151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1">
                <a:solidFill>
                  <a:srgbClr val="1A237E"/>
                </a:solidFill>
              </a:defRPr>
            </a:pPr>
            <a:r>
              <a:t>+3 QI points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0000" y="2466000"/>
            <a:ext cx="1548000" cy="270000"/>
          </a:xfrm>
          <a:prstGeom prst="roundRect">
            <a:avLst/>
          </a:prstGeom>
          <a:solidFill>
            <a:srgbClr val="EBE8FF"/>
          </a:solidFill>
          <a:ln w="15240">
            <a:solidFill>
              <a:srgbClr val="5C5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050" b="1">
                <a:solidFill>
                  <a:srgbClr val="16181D"/>
                </a:solidFill>
              </a:defRPr>
            </a:pPr>
            <a:r>
              <a:t>Tool description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2000" y="2502000"/>
            <a:ext cx="2880000" cy="151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16181D"/>
                </a:solidFill>
              </a:defRPr>
            </a:pPr>
            <a:r>
              <a:t>NovaX fallback strictness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84000" y="2502000"/>
            <a:ext cx="3096000" cy="151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1">
                <a:solidFill>
                  <a:srgbClr val="1A237E"/>
                </a:solidFill>
              </a:defRPr>
            </a:pPr>
            <a:r>
              <a:t>Prevents KB bypass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0000" y="3384000"/>
            <a:ext cx="7488000" cy="486000"/>
          </a:xfrm>
          <a:prstGeom prst="roundRect">
            <a:avLst/>
          </a:prstGeom>
          <a:solidFill>
            <a:srgbClr val="FFF1DA"/>
          </a:solidFill>
          <a:ln w="1524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300" b="1">
                <a:solidFill>
                  <a:srgbClr val="16181D"/>
                </a:solidFill>
              </a:defRPr>
            </a:pPr>
            <a:r>
              <a:t>Important: these are platform configuration parameters. The project did not redesign the RAG architecture; it adapted preprocessing and tested safe settings around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800"/>
          </a:xfrm>
          <a:prstGeom prst="rect">
            <a:avLst/>
          </a:prstGeom>
          <a:solidFill>
            <a:srgbClr val="5C52B4"/>
          </a:solidFill>
          <a:ln>
            <a:solidFill>
              <a:srgbClr val="5C5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0000" y="151200"/>
            <a:ext cx="8640000" cy="32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A237E"/>
                </a:solidFill>
              </a:defRPr>
            </a:pPr>
            <a:r>
              <a:t>System Prompt and Tool Descriptions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450000"/>
            <a:ext cx="8496000" cy="2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5C6069"/>
                </a:solidFill>
              </a:defRPr>
            </a:pPr>
            <a:r>
              <a:t>Small text changes can strongly affect routing behavior</a:t>
            </a:r>
          </a:p>
        </p:txBody>
      </p:sp>
      <p:sp>
        <p:nvSpPr>
          <p:cNvPr id="5" name="Rectangle 4"/>
          <p:cNvSpPr/>
          <p:nvPr/>
        </p:nvSpPr>
        <p:spPr>
          <a:xfrm>
            <a:off x="270000" y="4770000"/>
            <a:ext cx="8604000" cy="7200"/>
          </a:xfrm>
          <a:prstGeom prst="rect">
            <a:avLst/>
          </a:prstGeom>
          <a:solidFill>
            <a:srgbClr val="DCE1E8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06000" y="4802400"/>
            <a:ext cx="8460000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defRPr sz="750" b="0">
                <a:solidFill>
                  <a:srgbClr val="5C6069"/>
                </a:solidFill>
              </a:defRPr>
            </a:pPr>
            <a:r>
              <a:t>STM32Cube Preprocessing Pipeline | 40-minute technical presentation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0000" y="792000"/>
            <a:ext cx="3744000" cy="900000"/>
          </a:xfrm>
          <a:prstGeom prst="roundRect">
            <a:avLst/>
          </a:prstGeom>
          <a:solidFill>
            <a:srgbClr val="DAE5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200" b="1">
                <a:solidFill>
                  <a:srgbClr val="16181D"/>
                </a:solidFill>
              </a:defRPr>
            </a:pPr>
            <a:r>
              <a:t>System prompt</a:t>
            </a:r>
            <a:br/>
            <a:br/>
            <a:r>
              <a:t>- Always search KB first</a:t>
            </a:r>
            <a:br/>
            <a:r>
              <a:t>- Cite GitHub evidence</a:t>
            </a:r>
            <a:br/>
            <a:r>
              <a:t>- Prefer concrete fixes</a:t>
            </a:r>
            <a:br/>
            <a:r>
              <a:t>- Avoid unsupported generic answers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80000" y="792000"/>
            <a:ext cx="3744000" cy="900000"/>
          </a:xfrm>
          <a:prstGeom prst="roundRect">
            <a:avLst/>
          </a:prstGeom>
          <a:solidFill>
            <a:srgbClr val="FFF1DA"/>
          </a:solidFill>
          <a:ln w="1524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200" b="1">
                <a:solidFill>
                  <a:srgbClr val="16181D"/>
                </a:solidFill>
              </a:defRPr>
            </a:pPr>
            <a:r>
              <a:t>NovaX tool description</a:t>
            </a:r>
            <a:br/>
            <a:br/>
            <a:r>
              <a:t>- Use only if KB has no relevant answer</a:t>
            </a:r>
            <a:br/>
            <a:r>
              <a:t>- Forward the exact question</a:t>
            </a:r>
            <a:br/>
            <a:r>
              <a:t>- Do not bypass KB evidence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0000" y="2304000"/>
            <a:ext cx="3528000" cy="792000"/>
          </a:xfrm>
          <a:prstGeom prst="roundRect">
            <a:avLst/>
          </a:prstGeom>
          <a:solidFill>
            <a:srgbClr val="FFEBEB"/>
          </a:solidFill>
          <a:ln w="15240">
            <a:solidFill>
              <a:srgbClr val="D2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300" b="1">
                <a:solidFill>
                  <a:srgbClr val="16181D"/>
                </a:solidFill>
              </a:defRPr>
            </a:pPr>
            <a:r>
              <a:t>Before</a:t>
            </a:r>
            <a:br/>
            <a:r>
              <a:t>Fallback too permissive</a:t>
            </a:r>
            <a:br/>
            <a:r>
              <a:t>Quality drops because answers become less traceable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320000" y="2700000"/>
            <a:ext cx="396000" cy="0"/>
          </a:xfrm>
          <a:prstGeom prst="line">
            <a:avLst/>
          </a:prstGeom>
          <a:ln w="25400">
            <a:solidFill>
              <a:srgbClr val="FF98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824000" y="2304000"/>
            <a:ext cx="3528000" cy="792000"/>
          </a:xfrm>
          <a:prstGeom prst="roundRect">
            <a:avLst/>
          </a:prstGeom>
          <a:solidFill>
            <a:srgbClr val="E6F8EB"/>
          </a:solidFill>
          <a:ln w="1524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300" b="1">
                <a:solidFill>
                  <a:srgbClr val="16181D"/>
                </a:solidFill>
              </a:defRPr>
            </a:pPr>
            <a:r>
              <a:t>After</a:t>
            </a:r>
            <a:br/>
            <a:r>
              <a:t>KB-first routing</a:t>
            </a:r>
            <a:br/>
            <a:r>
              <a:t>Answers stay grounded in issues, files, resolver cases and diagnostic cards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800"/>
          </a:xfrm>
          <a:prstGeom prst="rect">
            <a:avLst/>
          </a:prstGeom>
          <a:solidFill>
            <a:srgbClr val="4CAF50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0000" y="151200"/>
            <a:ext cx="8640000" cy="32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A237E"/>
                </a:solidFill>
              </a:defRPr>
            </a:pPr>
            <a:r>
              <a:t>Why Resolver Cases and Diagnostic Cards Changed the Game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450000"/>
            <a:ext cx="8496000" cy="2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5C6069"/>
                </a:solidFill>
              </a:defRPr>
            </a:pPr>
            <a:r>
              <a:t>The main gain came from structure, not from a bigger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270000" y="4770000"/>
            <a:ext cx="8604000" cy="7200"/>
          </a:xfrm>
          <a:prstGeom prst="rect">
            <a:avLst/>
          </a:prstGeom>
          <a:solidFill>
            <a:srgbClr val="DCE1E8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06000" y="4802400"/>
            <a:ext cx="8460000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defRPr sz="750" b="0">
                <a:solidFill>
                  <a:srgbClr val="5C6069"/>
                </a:solidFill>
              </a:defRPr>
            </a:pPr>
            <a:r>
              <a:t>STM32Cube Preprocessing Pipeline | 40-minute technical presentation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0000" y="827999"/>
            <a:ext cx="2448000" cy="827999"/>
          </a:xfrm>
          <a:prstGeom prst="roundRect">
            <a:avLst/>
          </a:prstGeom>
          <a:solidFill>
            <a:srgbClr val="FFEBEB"/>
          </a:solidFill>
          <a:ln w="15240">
            <a:solidFill>
              <a:srgbClr val="D2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300" b="1">
                <a:solidFill>
                  <a:srgbClr val="16181D"/>
                </a:solidFill>
              </a:defRPr>
            </a:pPr>
            <a:r>
              <a:t>Raw issue</a:t>
            </a:r>
            <a:br/>
            <a:r>
              <a:t>Long thread, mixed context, comments, screenshots, partial fixes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0" y="1260000"/>
            <a:ext cx="431999" cy="0"/>
          </a:xfrm>
          <a:prstGeom prst="line">
            <a:avLst/>
          </a:prstGeom>
          <a:ln w="25400">
            <a:solidFill>
              <a:srgbClr val="FF98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384000" y="827999"/>
            <a:ext cx="2448000" cy="827999"/>
          </a:xfrm>
          <a:prstGeom prst="roundRect">
            <a:avLst/>
          </a:prstGeom>
          <a:solidFill>
            <a:srgbClr val="FFF1DA"/>
          </a:solidFill>
          <a:ln w="1524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300" b="1">
                <a:solidFill>
                  <a:srgbClr val="16181D"/>
                </a:solidFill>
              </a:defRPr>
            </a:pPr>
            <a:r>
              <a:t>Resolver case</a:t>
            </a:r>
            <a:br/>
            <a:r>
              <a:t>Proof chain: issue -&gt; PR -&gt; commit -&gt; changed file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03999" y="1260000"/>
            <a:ext cx="432001" cy="0"/>
          </a:xfrm>
          <a:prstGeom prst="line">
            <a:avLst/>
          </a:prstGeom>
          <a:ln w="25400">
            <a:solidFill>
              <a:srgbClr val="4CAF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408000" y="827999"/>
            <a:ext cx="2304000" cy="827999"/>
          </a:xfrm>
          <a:prstGeom prst="roundRect">
            <a:avLst/>
          </a:prstGeom>
          <a:solidFill>
            <a:srgbClr val="E6F8EB"/>
          </a:solidFill>
          <a:ln w="1524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300" b="1">
                <a:solidFill>
                  <a:srgbClr val="16181D"/>
                </a:solidFill>
              </a:defRPr>
            </a:pPr>
            <a:r>
              <a:t>Diagnostic card</a:t>
            </a:r>
            <a:br/>
            <a:r>
              <a:t>Reasoning path: symptom -&gt; root cause -&gt; fix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000" y="2574000"/>
            <a:ext cx="1620000" cy="14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1">
                <a:solidFill>
                  <a:srgbClr val="16181D"/>
                </a:solidFill>
              </a:defRPr>
            </a:pPr>
            <a:r>
              <a:t>Issues only baseline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84000" y="2592000"/>
            <a:ext cx="4320000" cy="136800"/>
          </a:xfrm>
          <a:prstGeom prst="rect">
            <a:avLst/>
          </a:prstGeom>
          <a:solidFill>
            <a:srgbClr val="E8ECF2"/>
          </a:solidFill>
          <a:ln>
            <a:solidFill>
              <a:srgbClr val="E8E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484000" y="2592000"/>
            <a:ext cx="2332800" cy="136800"/>
          </a:xfrm>
          <a:prstGeom prst="rect">
            <a:avLst/>
          </a:prstGeom>
          <a:solidFill>
            <a:srgbClr val="D23C3C"/>
          </a:solidFill>
          <a:ln>
            <a:solidFill>
              <a:srgbClr val="D2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93999" y="2566800"/>
            <a:ext cx="648000" cy="151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19" b="1">
                <a:solidFill>
                  <a:srgbClr val="D23C3C"/>
                </a:solidFill>
              </a:defRPr>
            </a:pPr>
            <a:r>
              <a:t>54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000" y="3041999"/>
            <a:ext cx="1620000" cy="14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1">
                <a:solidFill>
                  <a:srgbClr val="16181D"/>
                </a:solidFill>
              </a:defRPr>
            </a:pPr>
            <a:r>
              <a:t>After prompt + hybrid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84000" y="3060000"/>
            <a:ext cx="4320000" cy="136800"/>
          </a:xfrm>
          <a:prstGeom prst="rect">
            <a:avLst/>
          </a:prstGeom>
          <a:solidFill>
            <a:srgbClr val="E8ECF2"/>
          </a:solidFill>
          <a:ln>
            <a:solidFill>
              <a:srgbClr val="E8E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484000" y="3060000"/>
            <a:ext cx="2635200" cy="136800"/>
          </a:xfrm>
          <a:prstGeom prst="rect">
            <a:avLst/>
          </a:prstGeom>
          <a:solidFill>
            <a:srgbClr val="FF9800"/>
          </a:solidFill>
          <a:ln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93999" y="3034800"/>
            <a:ext cx="648000" cy="151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19" b="1">
                <a:solidFill>
                  <a:srgbClr val="FF9800"/>
                </a:solidFill>
              </a:defRPr>
            </a:pPr>
            <a:r>
              <a:t>61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000" y="3510000"/>
            <a:ext cx="1620000" cy="14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1">
                <a:solidFill>
                  <a:srgbClr val="16181D"/>
                </a:solidFill>
              </a:defRPr>
            </a:pPr>
            <a:r>
              <a:t>With diagnostic cards + resolver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84000" y="3528000"/>
            <a:ext cx="4320000" cy="136800"/>
          </a:xfrm>
          <a:prstGeom prst="rect">
            <a:avLst/>
          </a:prstGeom>
          <a:solidFill>
            <a:srgbClr val="E8ECF2"/>
          </a:solidFill>
          <a:ln>
            <a:solidFill>
              <a:srgbClr val="E8E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484000" y="3528000"/>
            <a:ext cx="4060800" cy="136800"/>
          </a:xfrm>
          <a:prstGeom prst="rect">
            <a:avLst/>
          </a:prstGeom>
          <a:solidFill>
            <a:srgbClr val="4CAF50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93999" y="3502800"/>
            <a:ext cx="648000" cy="151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19" b="1">
                <a:solidFill>
                  <a:srgbClr val="4CAF50"/>
                </a:solidFill>
              </a:defRPr>
            </a:pPr>
            <a:r>
              <a:t>94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0000" y="4068000"/>
            <a:ext cx="7560000" cy="28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300" b="1">
                <a:solidFill>
                  <a:srgbClr val="1A237E"/>
                </a:solidFill>
              </a:defRPr>
            </a:pPr>
            <a:r>
              <a:t>Takeaway: the best improvement was making the knowledge easier to retrieve and easier for the LLM to reason over.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800"/>
          </a:xfrm>
          <a:prstGeom prst="rect">
            <a:avLst/>
          </a:prstGeom>
          <a:solidFill>
            <a:srgbClr val="0087AA"/>
          </a:solidFill>
          <a:ln>
            <a:solidFill>
              <a:srgbClr val="008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0000" y="151200"/>
            <a:ext cx="8640000" cy="32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A237E"/>
                </a:solidFill>
              </a:defRPr>
            </a:pPr>
            <a:r>
              <a:t>Results and Measured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450000"/>
            <a:ext cx="8496000" cy="2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5C6069"/>
                </a:solidFill>
              </a:defRPr>
            </a:pPr>
            <a:r>
              <a:t>The system improves answer quality by adding structured, traceable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270000" y="4770000"/>
            <a:ext cx="8604000" cy="7200"/>
          </a:xfrm>
          <a:prstGeom prst="rect">
            <a:avLst/>
          </a:prstGeom>
          <a:solidFill>
            <a:srgbClr val="DCE1E8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06000" y="4802400"/>
            <a:ext cx="8460000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defRPr sz="750" b="0">
                <a:solidFill>
                  <a:srgbClr val="5C6069"/>
                </a:solidFill>
              </a:defRPr>
            </a:pPr>
            <a:r>
              <a:t>STM32Cube Preprocessing Pipeline | 40-minute technical presentation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990000"/>
            <a:ext cx="1620000" cy="14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1">
                <a:solidFill>
                  <a:srgbClr val="16181D"/>
                </a:solidFill>
              </a:defRPr>
            </a:pPr>
            <a:r>
              <a:t>Alfred baseline score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2484000" y="1007999"/>
            <a:ext cx="4320000" cy="136800"/>
          </a:xfrm>
          <a:prstGeom prst="rect">
            <a:avLst/>
          </a:prstGeom>
          <a:solidFill>
            <a:srgbClr val="E8ECF2"/>
          </a:solidFill>
          <a:ln>
            <a:solidFill>
              <a:srgbClr val="E8E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484000" y="1007999"/>
            <a:ext cx="2505600" cy="136800"/>
          </a:xfrm>
          <a:prstGeom prst="rect">
            <a:avLst/>
          </a:prstGeom>
          <a:solidFill>
            <a:srgbClr val="D23C3C"/>
          </a:solidFill>
          <a:ln>
            <a:solidFill>
              <a:srgbClr val="D2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93999" y="982800"/>
            <a:ext cx="648000" cy="151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19" b="1">
                <a:solidFill>
                  <a:srgbClr val="D23C3C"/>
                </a:solidFill>
              </a:defRPr>
            </a:pPr>
            <a:r>
              <a:t>58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1458000"/>
            <a:ext cx="1620000" cy="14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1">
                <a:solidFill>
                  <a:srgbClr val="16181D"/>
                </a:solidFill>
              </a:defRPr>
            </a:pPr>
            <a:r>
              <a:t>Persona KB score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84000" y="1475999"/>
            <a:ext cx="4320000" cy="136800"/>
          </a:xfrm>
          <a:prstGeom prst="rect">
            <a:avLst/>
          </a:prstGeom>
          <a:solidFill>
            <a:srgbClr val="E8ECF2"/>
          </a:solidFill>
          <a:ln>
            <a:solidFill>
              <a:srgbClr val="E8E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484000" y="1475999"/>
            <a:ext cx="3477600" cy="136800"/>
          </a:xfrm>
          <a:prstGeom prst="rect">
            <a:avLst/>
          </a:prstGeom>
          <a:solidFill>
            <a:srgbClr val="4CAF50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93999" y="1450799"/>
            <a:ext cx="648000" cy="151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19" b="1">
                <a:solidFill>
                  <a:srgbClr val="4CAF50"/>
                </a:solidFill>
              </a:defRPr>
            </a:pPr>
            <a:r>
              <a:t>80.5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000" y="1926000"/>
            <a:ext cx="1620000" cy="14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1">
                <a:solidFill>
                  <a:srgbClr val="16181D"/>
                </a:solidFill>
              </a:defRPr>
            </a:pPr>
            <a:r>
              <a:t>H7 Quality Index with Diagnostic Cards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84000" y="1944000"/>
            <a:ext cx="4320000" cy="136800"/>
          </a:xfrm>
          <a:prstGeom prst="rect">
            <a:avLst/>
          </a:prstGeom>
          <a:solidFill>
            <a:srgbClr val="E8ECF2"/>
          </a:solidFill>
          <a:ln>
            <a:solidFill>
              <a:srgbClr val="E8E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484000" y="1944000"/>
            <a:ext cx="4060800" cy="136800"/>
          </a:xfrm>
          <a:prstGeom prst="rect">
            <a:avLst/>
          </a:prstGeom>
          <a:solidFill>
            <a:srgbClr val="4CAF50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93999" y="1918800"/>
            <a:ext cx="648000" cy="151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19" b="1">
                <a:solidFill>
                  <a:srgbClr val="4CAF50"/>
                </a:solidFill>
              </a:defRPr>
            </a:pPr>
            <a:r>
              <a:t>94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0000" y="2880000"/>
            <a:ext cx="2232000" cy="612000"/>
          </a:xfrm>
          <a:prstGeom prst="roundRect">
            <a:avLst/>
          </a:prstGeom>
          <a:solidFill>
            <a:srgbClr val="E6F8EB"/>
          </a:solidFill>
          <a:ln w="1524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400" b="1">
                <a:solidFill>
                  <a:srgbClr val="16181D"/>
                </a:solidFill>
              </a:defRPr>
            </a:pPr>
            <a:r>
              <a:t>+39%</a:t>
            </a:r>
            <a:br/>
            <a:r>
              <a:t>quality gain vs generic Alfred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0000" y="2880000"/>
            <a:ext cx="2232000" cy="612000"/>
          </a:xfrm>
          <a:prstGeom prst="roundRect">
            <a:avLst/>
          </a:prstGeom>
          <a:solidFill>
            <a:srgbClr val="FFF1DA"/>
          </a:solidFill>
          <a:ln w="1524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400" b="1">
                <a:solidFill>
                  <a:srgbClr val="16181D"/>
                </a:solidFill>
              </a:defRPr>
            </a:pPr>
            <a:r>
              <a:t>+33 pts</a:t>
            </a:r>
            <a:br/>
            <a:r>
              <a:t>Diagnostic Cards impact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20000" y="2880000"/>
            <a:ext cx="2232000" cy="612000"/>
          </a:xfrm>
          <a:prstGeom prst="roundRect">
            <a:avLst/>
          </a:prstGeom>
          <a:solidFill>
            <a:srgbClr val="DAE5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400" b="1">
                <a:solidFill>
                  <a:srgbClr val="16181D"/>
                </a:solidFill>
              </a:defRPr>
            </a:pPr>
            <a:r>
              <a:t>87%</a:t>
            </a:r>
            <a:br/>
            <a:r>
              <a:t>verifiable citations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800"/>
          </a:xfrm>
          <a:prstGeom prst="rect">
            <a:avLst/>
          </a:prstGeom>
          <a:solidFill>
            <a:srgbClr val="0087AA"/>
          </a:solidFill>
          <a:ln>
            <a:solidFill>
              <a:srgbClr val="008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0000" y="151200"/>
            <a:ext cx="8640000" cy="32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A237E"/>
                </a:solidFill>
              </a:defRPr>
            </a:pPr>
            <a:r>
              <a:t>Automation and Operational Robustness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450000"/>
            <a:ext cx="8496000" cy="2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5C6069"/>
                </a:solidFill>
              </a:defRPr>
            </a:pPr>
            <a:r>
              <a:t>The pipeline must survive partial data, missing linked repositories, and repeated runs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0000" y="4770000"/>
            <a:ext cx="8604000" cy="7200"/>
          </a:xfrm>
          <a:prstGeom prst="rect">
            <a:avLst/>
          </a:prstGeom>
          <a:solidFill>
            <a:srgbClr val="DCE1E8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06000" y="4802400"/>
            <a:ext cx="8460000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defRPr sz="750" b="0">
                <a:solidFill>
                  <a:srgbClr val="5C6069"/>
                </a:solidFill>
              </a:defRPr>
            </a:pPr>
            <a:r>
              <a:t>STM32Cube Preprocessing Pipeline | 40-minute technical presentation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6000" y="864000"/>
            <a:ext cx="3888000" cy="19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500" b="1">
                <a:solidFill>
                  <a:srgbClr val="1A237E"/>
                </a:solidFill>
              </a:defRPr>
            </a:pPr>
            <a:r>
              <a:t>Robustness fixes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0000" y="11448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1A237E"/>
                </a:solidFill>
              </a:defRPr>
            </a:pPr>
            <a:r>
              <a:t>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000" y="1137600"/>
            <a:ext cx="3690000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Skip missing raw issue files instead of crashing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000" y="13680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1A237E"/>
                </a:solidFill>
              </a:defRPr>
            </a:pPr>
            <a:r>
              <a:t>-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000" y="1360800"/>
            <a:ext cx="3690000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Skip unavailable delivery inputs with warnings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000" y="15912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1A237E"/>
                </a:solidFill>
              </a:defRPr>
            </a:pPr>
            <a:r>
              <a:t>-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000" y="1584000"/>
            <a:ext cx="3690000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Scope Alfred enrichment to the active series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000" y="18144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1A237E"/>
                </a:solidFill>
              </a:defRPr>
            </a:pPr>
            <a:r>
              <a:t>-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000" y="1807200"/>
            <a:ext cx="3690000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Refresh file/PDF detection without full Git sync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0000" y="864000"/>
            <a:ext cx="3888000" cy="19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500" b="1">
                <a:solidFill>
                  <a:srgbClr val="0087AA"/>
                </a:solidFill>
              </a:defRPr>
            </a:pPr>
            <a:r>
              <a:t>Automation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4000" y="11448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0087AA"/>
                </a:solidFill>
              </a:defRPr>
            </a:pPr>
            <a:r>
              <a:t>-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8000" y="1137600"/>
            <a:ext cx="3690000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run_full_workflow orchestrates the stages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34000" y="13680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0087AA"/>
                </a:solidFill>
              </a:defRPr>
            </a:pPr>
            <a:r>
              <a:t>-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8000" y="1360800"/>
            <a:ext cx="3690000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--continue-on-error keeps other series running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34000" y="15912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0087AA"/>
                </a:solidFill>
              </a:defRPr>
            </a:pPr>
            <a:r>
              <a:t>-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8000" y="1584000"/>
            <a:ext cx="3690000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--skip-ingestion reuses cached artifacts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4000" y="1814400"/>
            <a:ext cx="125999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50" b="1">
                <a:solidFill>
                  <a:srgbClr val="0087AA"/>
                </a:solidFill>
              </a:defRPr>
            </a:pPr>
            <a:r>
              <a:t>-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78000" y="1807200"/>
            <a:ext cx="3690000" cy="16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6181D"/>
                </a:solidFill>
              </a:defRPr>
            </a:pPr>
            <a:r>
              <a:t>Schema validation gates before upload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0000" y="3456000"/>
            <a:ext cx="7488000" cy="432000"/>
          </a:xfrm>
          <a:prstGeom prst="roundRect">
            <a:avLst/>
          </a:prstGeom>
          <a:solidFill>
            <a:srgbClr val="FFF1DA"/>
          </a:solidFill>
          <a:ln w="1524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400" b="1">
                <a:solidFill>
                  <a:srgbClr val="16181D"/>
                </a:solidFill>
              </a:defRPr>
            </a:pPr>
            <a:r>
              <a:t>Operational lesson: automation quality is not only successful runs; it is predictable behavior when a repo or artifact is missing.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800"/>
          </a:xfrm>
          <a:prstGeom prst="rect">
            <a:avLst/>
          </a:prstGeom>
          <a:solidFill>
            <a:srgbClr val="1A237E"/>
          </a:solidFill>
          <a:ln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0000" y="151200"/>
            <a:ext cx="8640000" cy="32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A237E"/>
                </a:solidFill>
              </a:defRPr>
            </a:pPr>
            <a:r>
              <a:t>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450000"/>
            <a:ext cx="8496000" cy="2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5C6069"/>
                </a:solidFill>
              </a:defRPr>
            </a:pPr>
            <a:r>
              <a:t>What the audience should remember</a:t>
            </a:r>
          </a:p>
        </p:txBody>
      </p:sp>
      <p:sp>
        <p:nvSpPr>
          <p:cNvPr id="5" name="Rectangle 4"/>
          <p:cNvSpPr/>
          <p:nvPr/>
        </p:nvSpPr>
        <p:spPr>
          <a:xfrm>
            <a:off x="270000" y="4770000"/>
            <a:ext cx="8604000" cy="7200"/>
          </a:xfrm>
          <a:prstGeom prst="rect">
            <a:avLst/>
          </a:prstGeom>
          <a:solidFill>
            <a:srgbClr val="DCE1E8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06000" y="4802400"/>
            <a:ext cx="8460000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defRPr sz="750" b="0">
                <a:solidFill>
                  <a:srgbClr val="5C6069"/>
                </a:solidFill>
              </a:defRPr>
            </a:pPr>
            <a:r>
              <a:t>STM32Cube Preprocessing Pipeline | 40-minute technical presentation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864000"/>
            <a:ext cx="7920000" cy="432000"/>
          </a:xfrm>
          <a:prstGeom prst="roundRect">
            <a:avLst/>
          </a:prstGeom>
          <a:solidFill>
            <a:srgbClr val="DAE5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500" b="1">
                <a:solidFill>
                  <a:srgbClr val="16181D"/>
                </a:solidFill>
              </a:defRPr>
            </a:pPr>
            <a:r>
              <a:t>The platform architecture was given; the pipeline was designed to make high-quality, traceable knowledge fit that architecture.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0000" y="1584000"/>
            <a:ext cx="7920000" cy="432000"/>
          </a:xfrm>
          <a:prstGeom prst="roundRect">
            <a:avLst/>
          </a:prstGeom>
          <a:solidFill>
            <a:srgbClr val="E1F5EB"/>
          </a:solidFill>
          <a:ln w="1524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500" b="1">
                <a:solidFill>
                  <a:srgbClr val="16181D"/>
                </a:solidFill>
              </a:defRPr>
            </a:pPr>
            <a:r>
              <a:t>Structured artifacts are the main value: issues, files, resolver cases, and diagnostic cards are retrieval-ready support evidence.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0000" y="2304000"/>
            <a:ext cx="7920000" cy="432000"/>
          </a:xfrm>
          <a:prstGeom prst="roundRect">
            <a:avLst/>
          </a:prstGeom>
          <a:solidFill>
            <a:srgbClr val="FFF1DA"/>
          </a:solidFill>
          <a:ln w="1524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500" b="1">
                <a:solidFill>
                  <a:srgbClr val="16181D"/>
                </a:solidFill>
              </a:defRPr>
            </a:pPr>
            <a:r>
              <a:t>The hardest parts were not only NLP: image enrichment, persona routing, schema validation, and KB upload stability were equally critical.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0000" y="3024000"/>
            <a:ext cx="7920000" cy="43200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5C6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500" b="1">
                <a:solidFill>
                  <a:srgbClr val="16181D"/>
                </a:solidFill>
              </a:defRPr>
            </a:pPr>
            <a:r>
              <a:t>The result is a reproducible, multi-series, KB-ready preprocessing workflow for STM32Cube technical support.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800"/>
          </a:xfrm>
          <a:prstGeom prst="rect">
            <a:avLst/>
          </a:prstGeom>
          <a:solidFill>
            <a:srgbClr val="5C6069"/>
          </a:solidFill>
          <a:ln>
            <a:solidFill>
              <a:srgbClr val="5C6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0000" y="151200"/>
            <a:ext cx="8640000" cy="32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A237E"/>
                </a:solidFill>
              </a:defRPr>
            </a:pPr>
            <a:r>
              <a:t>Backup: Representative JSON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450000"/>
            <a:ext cx="8496000" cy="2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5C6069"/>
                </a:solidFill>
              </a:defRPr>
            </a:pPr>
            <a:r>
              <a:t>Example of a diagnostic card produced by the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270000" y="4770000"/>
            <a:ext cx="8604000" cy="7200"/>
          </a:xfrm>
          <a:prstGeom prst="rect">
            <a:avLst/>
          </a:prstGeom>
          <a:solidFill>
            <a:srgbClr val="DCE1E8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06000" y="4802400"/>
            <a:ext cx="8460000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defRPr sz="750" b="0">
                <a:solidFill>
                  <a:srgbClr val="5C6069"/>
                </a:solidFill>
              </a:defRPr>
            </a:pPr>
            <a:r>
              <a:t>STM32Cube Preprocessing Pipeline | 40-minute technical presentation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0000" y="792000"/>
            <a:ext cx="8280000" cy="3168000"/>
          </a:xfrm>
          <a:prstGeom prst="roundRect">
            <a:avLst/>
          </a:prstGeom>
          <a:solidFill>
            <a:srgbClr val="222730"/>
          </a:solidFill>
          <a:ln>
            <a:solidFill>
              <a:srgbClr val="2227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919">
                <a:solidFill>
                  <a:srgbClr val="FFFFFF"/>
                </a:solidFill>
                <a:latin typeface="Consolas"/>
              </a:defRPr>
            </a:pPr>
            <a:r>
              <a:t>{</a:t>
            </a:r>
            <a:br/>
            <a:r>
              <a:t>  "diagnostic_id": "DIAG-H7-042",</a:t>
            </a:r>
            <a:br/>
            <a:r>
              <a:t>  "repo": "stm32cubeh7",</a:t>
            </a:r>
            <a:br/>
            <a:r>
              <a:t>  "symptom": "Hard fault after second SPI DMA transfer",</a:t>
            </a:r>
            <a:br/>
            <a:r>
              <a:t>  "root_cause": "D-cache not invalidated before DMA reception",</a:t>
            </a:r>
            <a:br/>
            <a:r>
              <a:t>  "resolution": "Call SCB_InvalidateDCache_by_Addr() or use non-cacheable SRAM",</a:t>
            </a:r>
            <a:br/>
            <a:r>
              <a:t>  "query_aliases": [</a:t>
            </a:r>
            <a:br/>
            <a:r>
              <a:t>    "SPI DMA hard fault STM32H7",</a:t>
            </a:r>
            <a:br/>
            <a:r>
              <a:t>    "cache coherency SPI circular mode",</a:t>
            </a:r>
            <a:br/>
            <a:r>
              <a:t>    "HAL_SPI_TransmitReceive_DMA crash"</a:t>
            </a:r>
            <a:br/>
            <a:r>
              <a:t>  ],</a:t>
            </a:r>
            <a:br/>
            <a:r>
              <a:t>  "evidence_strength": "high"</a:t>
            </a:r>
            <a:br/>
            <a: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000" y="619200"/>
            <a:ext cx="8280000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1">
                <a:solidFill>
                  <a:srgbClr val="5C6069"/>
                </a:solidFill>
              </a:defRPr>
            </a:pPr>
            <a:r>
              <a:t>Diagnostic card excerpt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800"/>
          </a:xfrm>
          <a:prstGeom prst="rect">
            <a:avLst/>
          </a:prstGeom>
          <a:solidFill>
            <a:srgbClr val="5C6069"/>
          </a:solidFill>
          <a:ln>
            <a:solidFill>
              <a:srgbClr val="5C6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0000" y="151200"/>
            <a:ext cx="8640000" cy="32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A237E"/>
                </a:solidFill>
              </a:defRPr>
            </a:pPr>
            <a:r>
              <a:t>Backup: Main Commands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450000"/>
            <a:ext cx="8496000" cy="2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5C6069"/>
                </a:solidFill>
              </a:defRPr>
            </a:pPr>
            <a:r>
              <a:t>Operational entry points used during development and validation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0000" y="4770000"/>
            <a:ext cx="8604000" cy="7200"/>
          </a:xfrm>
          <a:prstGeom prst="rect">
            <a:avLst/>
          </a:prstGeom>
          <a:solidFill>
            <a:srgbClr val="DCE1E8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06000" y="4802400"/>
            <a:ext cx="8460000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defRPr sz="750" b="0">
                <a:solidFill>
                  <a:srgbClr val="5C6069"/>
                </a:solidFill>
              </a:defRPr>
            </a:pPr>
            <a:r>
              <a:t>STM32Cube Preprocessing Pipeline | 40-minute technical presentation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0000" y="792000"/>
            <a:ext cx="8280000" cy="2808000"/>
          </a:xfrm>
          <a:prstGeom prst="roundRect">
            <a:avLst/>
          </a:prstGeom>
          <a:solidFill>
            <a:srgbClr val="222730"/>
          </a:solidFill>
          <a:ln>
            <a:solidFill>
              <a:srgbClr val="2227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919">
                <a:solidFill>
                  <a:srgbClr val="FFFFFF"/>
                </a:solidFill>
                <a:latin typeface="Consolas"/>
              </a:defRPr>
            </a:pPr>
            <a:r>
              <a:t># Full pipeline with ST-ready export</a:t>
            </a:r>
            <a:br/>
            <a:r>
              <a:t>python -m pipeline.run_full_workflow --export-st-ready --skip-chunking --continue-on-error</a:t>
            </a:r>
            <a:br/>
            <a:br/>
            <a:r>
              <a:t># Schema validation gate</a:t>
            </a:r>
            <a:br/>
            <a:r>
              <a:t>python -m pipeline.evaluation.validate_schemas</a:t>
            </a:r>
            <a:br/>
            <a:br/>
            <a:r>
              <a:t># Alfred image enrichment</a:t>
            </a:r>
            <a:br/>
            <a:r>
              <a:t>python pipeline_Automation/alfred/enrich_json_images_with_alfred.py --input &lt;file&gt; --inplace</a:t>
            </a:r>
            <a:br/>
            <a:br/>
            <a:r>
              <a:t># Upload to KB #793</a:t>
            </a:r>
            <a:br/>
            <a:r>
              <a:t>python pipeline_Automation/upload/Add_Data_Source_Files.py --kb 793 --operation add --datasource-id &lt;ID&gt; --processor JSON --files &lt;file.json&gt;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000" y="619200"/>
            <a:ext cx="8280000" cy="125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1">
                <a:solidFill>
                  <a:srgbClr val="5C6069"/>
                </a:solidFill>
              </a:defRPr>
            </a:pPr>
            <a:r>
              <a:t>Commands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cf8c7287-838c-46dd-b281-b1140229e67a}" enabled="1" method="Privileged" siteId="{75e027c9-20d5-47d5-b82f-77d7cd041e8f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179</TotalTime>
  <Words>3263</Words>
  <Application>Microsoft Office PowerPoint</Application>
  <PresentationFormat>Custom</PresentationFormat>
  <Paragraphs>453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Abir GHARBI</cp:lastModifiedBy>
  <cp:revision>1</cp:revision>
  <dcterms:created xsi:type="dcterms:W3CDTF">2013-01-27T09:14:16Z</dcterms:created>
  <dcterms:modified xsi:type="dcterms:W3CDTF">2026-07-06T15:37:28Z</dcterms:modified>
  <cp:category/>
</cp:coreProperties>
</file>