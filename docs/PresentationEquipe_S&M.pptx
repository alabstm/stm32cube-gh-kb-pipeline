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2" r:id="rId2"/>
    <p:sldId id="290" r:id="rId3"/>
    <p:sldId id="289" r:id="rId4"/>
    <p:sldId id="291" r:id="rId5"/>
    <p:sldId id="293" r:id="rId6"/>
    <p:sldId id="292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89"/>
            <p14:sldId id="291"/>
            <p14:sldId id="293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6256" autoAdjust="0"/>
  </p:normalViewPr>
  <p:slideViewPr>
    <p:cSldViewPr snapToGrid="0">
      <p:cViewPr>
        <p:scale>
          <a:sx n="100" d="100"/>
          <a:sy n="100" d="100"/>
        </p:scale>
        <p:origin x="254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Constat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L’information technique utile existe souvent déjà, mais elle est dispersée 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les issues GitHub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la documentation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les release notes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différents repositories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Difficulté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quand l’information existe, elle n’est pas toujours facile à retrouver rapidement.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Mieux exploiter ces données pour faciliter 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recherche d’information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support technique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l’investigation sur les problèmes récurrents ou nouveaux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dire à l’oral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besoin de départ est simple : en support technique, une partie de l’information utile existe déjà, mais elle est répartie dans plusieurs sources et pas toujours facile à retrouver.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L’objectif du projet est donc de mieux exploiter ces données pour aider à l’assistance technique.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0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85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40606-A92C-9DA9-E548-546C26371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17030-47B5-125F-05DA-6C4B33DBD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CE993-5849-3E4A-A583-07C70CCC3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Constat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L’information technique utile existe souvent déjà, mais elle est dispersée 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les issues GitHub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la documentation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les release notes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différents repositories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Difficulté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quand l’information existe, elle n’est pas toujours facile à retrouver rapidement.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Mieux exploiter ces données pour faciliter 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recherche d’information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support technique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l’investigation sur les problèmes récurrents ou nouveaux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dire à l’oral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besoin de départ est simple : en support technique, une partie de l’information utile existe déjà, mais elle est répartie dans plusieurs sources et pas toujours facile à retrouver.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L’objectif du projet est donc de mieux exploiter ces données pour aider à l’assistance technique.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C4878-3CE2-9A42-A99B-CD3943C32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38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793" y="1518497"/>
            <a:ext cx="5795963" cy="2702071"/>
          </a:xfrm>
        </p:spPr>
        <p:txBody>
          <a:bodyPr/>
          <a:lstStyle/>
          <a:p>
            <a:r>
              <a:rPr lang="fr-FR" sz="3200" dirty="0"/>
              <a:t>De la donnée STM32Cube à l’assistance technique : apport de l’outil AI ST</a:t>
            </a:r>
            <a:br>
              <a:rPr lang="fr-FR" b="0" dirty="0"/>
            </a:br>
            <a:br>
              <a:rPr lang="fr-FR" dirty="0"/>
            </a:br>
            <a:r>
              <a:rPr lang="fr-FR" sz="1400" b="0" dirty="0">
                <a:solidFill>
                  <a:srgbClr val="FFD200"/>
                </a:solidFill>
              </a:rPr>
              <a:t>Présentation à l’équipe Support &amp; Maintenance</a:t>
            </a:r>
            <a:br>
              <a:rPr lang="fr-FR" b="0" dirty="0"/>
            </a:br>
            <a:endParaRPr lang="en-US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43562"/>
            <a:ext cx="5795963" cy="1077764"/>
          </a:xfrm>
        </p:spPr>
        <p:txBody>
          <a:bodyPr/>
          <a:lstStyle/>
          <a:p>
            <a:r>
              <a:rPr lang="en-US" sz="1600" dirty="0"/>
              <a:t>Abir GHARBI </a:t>
            </a:r>
          </a:p>
          <a:p>
            <a:r>
              <a:rPr lang="en-US" sz="1600" dirty="0"/>
              <a:t>PFE - 2026 | STMicroelectronics Tunis</a:t>
            </a:r>
          </a:p>
          <a:p>
            <a:endParaRPr lang="en-US" sz="16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B9452C-A8F1-3392-EFC2-16469AF87D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1" r="9931"/>
          <a:stretch>
            <a:fillRect/>
          </a:stretch>
        </p:blipFill>
        <p:spPr>
          <a:xfrm>
            <a:off x="1509964" y="945499"/>
            <a:ext cx="4163410" cy="5195603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FF1"/>
          </a:solidFill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006ACC-E987-C7A7-3422-103A76A40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sz="2400" dirty="0"/>
              <a:t>1</a:t>
            </a:r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B3432E-AE69-5F85-0FC5-BB84AD77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b="1" dirty="0"/>
              <a:t>Plan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BE283-3F05-E017-3083-62357D85A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1648" y="1487433"/>
            <a:ext cx="5706193" cy="731520"/>
          </a:xfrm>
        </p:spPr>
        <p:txBody>
          <a:bodyPr/>
          <a:lstStyle/>
          <a:p>
            <a:r>
              <a:rPr lang="fr-FR" sz="2400" dirty="0"/>
              <a:t>L’outil AI ST : principe et usage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CEAB7B2-18FF-0F8A-4F0E-13BCDDA0C8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sz="2400" dirty="0"/>
              <a:t>2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25ABBE-4D09-483B-5C21-E45ACF14AB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1649" y="2624425"/>
            <a:ext cx="4754880" cy="731520"/>
          </a:xfrm>
        </p:spPr>
        <p:txBody>
          <a:bodyPr/>
          <a:lstStyle/>
          <a:p>
            <a:r>
              <a:rPr lang="fr-FR" sz="2400" dirty="0"/>
              <a:t>Petit aperçu de l’IA et du fonctionnement en arrière-plan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9F1601A-C562-E0EB-4DA5-35272C971F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sz="2400" dirty="0"/>
              <a:t>3</a:t>
            </a:r>
            <a:endParaRPr lang="en-US" sz="2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A4DC94-3104-7B9D-1C3F-226D735233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91649" y="3761417"/>
            <a:ext cx="4754880" cy="731520"/>
          </a:xfrm>
        </p:spPr>
        <p:txBody>
          <a:bodyPr/>
          <a:lstStyle/>
          <a:p>
            <a:r>
              <a:rPr lang="fr-FR" sz="2400" dirty="0"/>
              <a:t>En quoi consiste le travail réalisé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E17351-FECB-90FB-FC8B-21FE515491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fr-FR" sz="2400" dirty="0"/>
              <a:t>4</a:t>
            </a:r>
            <a:endParaRPr lang="en-US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B923B5-21FB-5D6E-C8AF-C55874717F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1649" y="5169118"/>
            <a:ext cx="4754880" cy="731520"/>
          </a:xfrm>
        </p:spPr>
        <p:txBody>
          <a:bodyPr/>
          <a:lstStyle/>
          <a:p>
            <a:r>
              <a:rPr lang="fr-FR" sz="2400" dirty="0"/>
              <a:t>Les agents spécialisés utilisés dans le projet</a:t>
            </a:r>
          </a:p>
          <a:p>
            <a:endParaRPr lang="en-US" sz="2400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A796A7-59BA-96DB-B4E2-051CD044BD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92908" y="2258665"/>
            <a:ext cx="731520" cy="731520"/>
          </a:xfrm>
        </p:spPr>
        <p:txBody>
          <a:bodyPr/>
          <a:lstStyle/>
          <a:p>
            <a:r>
              <a:rPr lang="fr-FR" sz="2400" dirty="0"/>
              <a:t>5</a:t>
            </a:r>
            <a:endParaRPr lang="en-US" sz="24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0EDDEC-C159-3CA4-8580-ED598064B3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84519" y="2258665"/>
            <a:ext cx="4754880" cy="731520"/>
          </a:xfrm>
        </p:spPr>
        <p:txBody>
          <a:bodyPr/>
          <a:lstStyle/>
          <a:p>
            <a:r>
              <a:rPr lang="en-US" sz="2400" dirty="0" err="1"/>
              <a:t>Avancement</a:t>
            </a:r>
            <a:r>
              <a:rPr lang="en-US" sz="2400" dirty="0"/>
              <a:t> </a:t>
            </a:r>
            <a:r>
              <a:rPr lang="en-US" sz="2400" dirty="0" err="1"/>
              <a:t>actuel</a:t>
            </a:r>
            <a:endParaRPr lang="en-US" sz="2400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E3F8495-6BFB-B003-7D8D-06A0F6B6E5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92908" y="3395657"/>
            <a:ext cx="731520" cy="731520"/>
          </a:xfrm>
        </p:spPr>
        <p:txBody>
          <a:bodyPr/>
          <a:lstStyle/>
          <a:p>
            <a:r>
              <a:rPr lang="fr-FR" sz="2400" dirty="0"/>
              <a:t>6</a:t>
            </a:r>
            <a:endParaRPr lang="en-US" sz="2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409FD5-92A9-6C0D-B523-BE46615AB5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84519" y="3395657"/>
            <a:ext cx="4754880" cy="731520"/>
          </a:xfrm>
        </p:spPr>
        <p:txBody>
          <a:bodyPr/>
          <a:lstStyle/>
          <a:p>
            <a:r>
              <a:rPr lang="fr-FR" sz="2400" dirty="0"/>
              <a:t>Ce qu’il reste à faire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5812348-DC9C-298C-78E8-778E568C3C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892908" y="4532649"/>
            <a:ext cx="731520" cy="731520"/>
          </a:xfrm>
        </p:spPr>
        <p:txBody>
          <a:bodyPr/>
          <a:lstStyle/>
          <a:p>
            <a:r>
              <a:rPr lang="fr-FR" sz="2400" dirty="0"/>
              <a:t>7</a:t>
            </a:r>
            <a:endParaRPr lang="en-US" sz="240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553CA5-37D8-ED06-91E8-F0CCB01920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684519" y="4532649"/>
            <a:ext cx="4754880" cy="731520"/>
          </a:xfrm>
        </p:spPr>
        <p:txBody>
          <a:bodyPr/>
          <a:lstStyle/>
          <a:p>
            <a:r>
              <a:rPr lang="en-US" sz="2400" dirty="0"/>
              <a:t>Questions / </a:t>
            </a:r>
            <a:r>
              <a:rPr lang="en-US" sz="2400" dirty="0" err="1"/>
              <a:t>réponses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31CF57-50F6-B88D-C92B-12D10152C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4330" y="976312"/>
            <a:ext cx="11690484" cy="5051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Pourquoi</a:t>
            </a:r>
            <a:r>
              <a:rPr lang="en-US" b="1" dirty="0"/>
              <a:t> </a:t>
            </a:r>
            <a:r>
              <a:rPr lang="en-US" b="1" dirty="0" err="1"/>
              <a:t>ce</a:t>
            </a:r>
            <a:r>
              <a:rPr lang="en-US" b="1" dirty="0"/>
              <a:t> </a:t>
            </a:r>
            <a:r>
              <a:rPr lang="en-US" b="1" dirty="0" err="1"/>
              <a:t>projet</a:t>
            </a:r>
            <a:r>
              <a:rPr lang="en-US" b="1" dirty="0"/>
              <a:t> ?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09CB46-868A-7DEC-6273-E25C99452DB3}"/>
              </a:ext>
            </a:extLst>
          </p:cNvPr>
          <p:cNvSpPr/>
          <p:nvPr/>
        </p:nvSpPr>
        <p:spPr>
          <a:xfrm>
            <a:off x="5510079" y="2179798"/>
            <a:ext cx="929640" cy="708660"/>
          </a:xfrm>
          <a:prstGeom prst="ellipse">
            <a:avLst/>
          </a:prstGeom>
          <a:noFill/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7D2688-4C62-8D5B-138B-B5130B0DC9CB}"/>
              </a:ext>
            </a:extLst>
          </p:cNvPr>
          <p:cNvSpPr/>
          <p:nvPr/>
        </p:nvSpPr>
        <p:spPr>
          <a:xfrm>
            <a:off x="8457749" y="2446020"/>
            <a:ext cx="929640" cy="708660"/>
          </a:xfrm>
          <a:prstGeom prst="ellipse">
            <a:avLst/>
          </a:prstGeom>
          <a:noFill/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2AFE33-850E-6113-4AEB-2BA9AD5D0B92}"/>
              </a:ext>
            </a:extLst>
          </p:cNvPr>
          <p:cNvSpPr/>
          <p:nvPr/>
        </p:nvSpPr>
        <p:spPr>
          <a:xfrm>
            <a:off x="10604049" y="3645694"/>
            <a:ext cx="929640" cy="708660"/>
          </a:xfrm>
          <a:prstGeom prst="ellipse">
            <a:avLst/>
          </a:prstGeom>
          <a:noFill/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pic>
        <p:nvPicPr>
          <p:cNvPr id="10" name="Graphic 9" descr="Exclamation mark with solid fill">
            <a:extLst>
              <a:ext uri="{FF2B5EF4-FFF2-40B4-BE49-F238E27FC236}">
                <a16:creationId xmlns:a16="http://schemas.microsoft.com/office/drawing/2014/main" id="{6E025697-549E-1EC9-45F7-2C183EAB08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4293" y="2446020"/>
            <a:ext cx="708660" cy="708660"/>
          </a:xfrm>
          <a:prstGeom prst="rect">
            <a:avLst/>
          </a:prstGeom>
        </p:spPr>
      </p:pic>
      <p:pic>
        <p:nvPicPr>
          <p:cNvPr id="12" name="Graphic 11" descr="Magnifying glass outline">
            <a:extLst>
              <a:ext uri="{FF2B5EF4-FFF2-40B4-BE49-F238E27FC236}">
                <a16:creationId xmlns:a16="http://schemas.microsoft.com/office/drawing/2014/main" id="{F126B6AF-DED7-6B0E-F83A-9EFBA77C8F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1201" y="3376614"/>
            <a:ext cx="538161" cy="53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6F1A30-1F85-0487-1A9C-F26878D0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2577415"/>
            <a:ext cx="9372601" cy="1484312"/>
          </a:xfrm>
        </p:spPr>
        <p:txBody>
          <a:bodyPr/>
          <a:lstStyle/>
          <a:p>
            <a:r>
              <a:rPr lang="fr-FR" dirty="0"/>
              <a:t> L’outil AI ST : à quoi il sert</a:t>
            </a:r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83F73-A95E-CF08-6FFD-922EB506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E929-D89A-5A7D-5250-BD4591F6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L’outil</a:t>
            </a:r>
            <a:r>
              <a:rPr lang="en-US" b="1" dirty="0"/>
              <a:t> AI ST : </a:t>
            </a:r>
            <a:r>
              <a:rPr lang="en-US" b="1" dirty="0" err="1"/>
              <a:t>objectif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13F232-DFB1-A9D8-4766-C79F5F8A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8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96</TotalTime>
  <Words>380</Words>
  <Application>Microsoft Office PowerPoint</Application>
  <PresentationFormat>Widescreen</PresentationFormat>
  <Paragraphs>59</Paragraphs>
  <Slides>7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ST PowerPoint Template 16x9</vt:lpstr>
      <vt:lpstr>De la donnée STM32Cube à l’assistance technique : apport de l’outil AI ST  Présentation à l’équipe Support &amp; Maintenance </vt:lpstr>
      <vt:lpstr>Plan</vt:lpstr>
      <vt:lpstr>Pourquoi ce projet ?</vt:lpstr>
      <vt:lpstr> L’outil AI ST : à quoi il sert</vt:lpstr>
      <vt:lpstr>L’outil AI ST : objectif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 GHARBI</cp:lastModifiedBy>
  <cp:revision>1</cp:revision>
  <dcterms:created xsi:type="dcterms:W3CDTF">2026-04-28T15:20:14Z</dcterms:created>
  <dcterms:modified xsi:type="dcterms:W3CDTF">2026-04-28T16:56:17Z</dcterms:modified>
</cp:coreProperties>
</file>