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62" r:id="rId2"/>
    <p:sldId id="290" r:id="rId3"/>
    <p:sldId id="291" r:id="rId4"/>
    <p:sldId id="289" r:id="rId5"/>
    <p:sldId id="320" r:id="rId6"/>
    <p:sldId id="322" r:id="rId7"/>
    <p:sldId id="321" r:id="rId8"/>
    <p:sldId id="294" r:id="rId9"/>
    <p:sldId id="295" r:id="rId10"/>
    <p:sldId id="306" r:id="rId11"/>
    <p:sldId id="307" r:id="rId12"/>
    <p:sldId id="317" r:id="rId13"/>
    <p:sldId id="296" r:id="rId14"/>
    <p:sldId id="314" r:id="rId15"/>
    <p:sldId id="297" r:id="rId16"/>
    <p:sldId id="299" r:id="rId17"/>
    <p:sldId id="302" r:id="rId18"/>
    <p:sldId id="303" r:id="rId19"/>
    <p:sldId id="308" r:id="rId20"/>
    <p:sldId id="309" r:id="rId21"/>
    <p:sldId id="312" r:id="rId22"/>
    <p:sldId id="313" r:id="rId23"/>
    <p:sldId id="301" r:id="rId24"/>
    <p:sldId id="304" r:id="rId25"/>
    <p:sldId id="316" r:id="rId26"/>
    <p:sldId id="310" r:id="rId27"/>
    <p:sldId id="311" r:id="rId28"/>
    <p:sldId id="318" r:id="rId29"/>
    <p:sldId id="319" r:id="rId30"/>
    <p:sldId id="315" r:id="rId31"/>
    <p:sldId id="305" r:id="rId32"/>
    <p:sldId id="292" r:id="rId33"/>
    <p:sldId id="26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CC9DB1F-F246-422E-9D69-5E2B0FB7BEA5}">
          <p14:sldIdLst>
            <p14:sldId id="262"/>
            <p14:sldId id="290"/>
            <p14:sldId id="291"/>
            <p14:sldId id="289"/>
            <p14:sldId id="320"/>
            <p14:sldId id="322"/>
            <p14:sldId id="321"/>
            <p14:sldId id="294"/>
            <p14:sldId id="295"/>
            <p14:sldId id="306"/>
            <p14:sldId id="307"/>
            <p14:sldId id="317"/>
            <p14:sldId id="296"/>
            <p14:sldId id="314"/>
            <p14:sldId id="297"/>
            <p14:sldId id="299"/>
            <p14:sldId id="302"/>
            <p14:sldId id="303"/>
            <p14:sldId id="308"/>
            <p14:sldId id="309"/>
            <p14:sldId id="312"/>
            <p14:sldId id="313"/>
            <p14:sldId id="301"/>
            <p14:sldId id="304"/>
            <p14:sldId id="316"/>
            <p14:sldId id="310"/>
            <p14:sldId id="311"/>
            <p14:sldId id="318"/>
            <p14:sldId id="319"/>
            <p14:sldId id="315"/>
            <p14:sldId id="305"/>
            <p14:sldId id="292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4E6"/>
    <a:srgbClr val="1B2A3B"/>
    <a:srgbClr val="0D9589"/>
    <a:srgbClr val="0D9488"/>
    <a:srgbClr val="FFFFFF"/>
    <a:srgbClr val="425A78"/>
    <a:srgbClr val="F59E0B"/>
    <a:srgbClr val="FFD200"/>
    <a:srgbClr val="FFDD40"/>
    <a:srgbClr val="FFE8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A887A8-CB88-4CF8-ADFA-BAC2DD67FF5E}" v="178" dt="2026-05-07T15:36:57.666"/>
    <p1510:client id="{A3544ED3-C770-4C5A-86DF-56F7CE7184AE}" v="8" dt="2026-05-08T14:21:55.5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0" autoAdjust="0"/>
    <p:restoredTop sz="91821" autoAdjust="0"/>
  </p:normalViewPr>
  <p:slideViewPr>
    <p:cSldViewPr snapToGrid="0">
      <p:cViewPr varScale="1">
        <p:scale>
          <a:sx n="146" d="100"/>
          <a:sy n="146" d="100"/>
        </p:scale>
        <p:origin x="59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43B43-F286-48C1-BBED-D571E17C6AE3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37A20C-0A41-4975-BF38-102D39C809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2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8E59B-3326-4FD4-8806-9EAC0DB7D60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441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485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704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83A70-72D3-4073-A5D5-79871D78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FAA2C-F37D-C4AE-A83E-6A23A445B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655CD1-F958-EDAE-944E-27A1C6997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C022F0-235A-C533-9BE6-BD81B643D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3490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2F487-0165-1430-961C-56707813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5D3909-DFEE-B301-0E47-5EB9E39FB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C3387-B538-4A38-2EC0-E8625A1B94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A1215-216F-305F-891A-BA5DCF8EF1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960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BDE27-C231-CD00-E509-E3F32DBC2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F3C50-8CDB-2B2C-AABC-CB6BC7869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A05FFF-CC3F-2606-970E-CD632801F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C1489-D248-D67E-E4AD-6137FFB790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42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7D570-E399-D10A-557D-F8437A75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1981F-D793-376F-3C90-7F83FF0D2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194583-72AC-46F3-8DF5-05D2C40B77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658B9A-F898-F291-8667-C9674CF77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367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823B-FD8B-730F-F404-AD1DFE016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C94C3-1E39-40A6-FD49-A7F50A634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B93A51-1BA1-63EC-B621-8CC7AB8BB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87150-D2B2-EED4-7359-B6944E126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1353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34D88-403A-B72F-F51E-076635A7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89011-22A9-F37A-8C20-F3BC62CC2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D003E-FE44-9202-EF36-5C2EBFFA7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1B2A3B"/>
                </a:solidFill>
              </a:rPr>
              <a:t>Data Sources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B18C9-1251-4476-A9AE-8AFDAB53D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916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155BB-2E0D-CA24-94B8-3A453994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5DC85A-339B-4BEF-347C-C3B286D0D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0C564-8A93-DFED-C099-287188D5C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1B2A3B"/>
                </a:solidFill>
              </a:rPr>
              <a:t>Data Sources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C5650-B236-2BE4-54F0-309106F7FF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566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A135-2108-F847-C2E3-C39B241C1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D500E-AF6D-CF71-064B-179673102E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D8E7A1-AD2A-0152-4D52-BA4419A685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1B2A3B"/>
                </a:solidFill>
              </a:rPr>
              <a:t>Data Sources</a:t>
            </a:r>
          </a:p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BEA6A-6C02-C260-C42A-081901C0C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8178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D76C0-7C46-9275-43CA-404C92B13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D2D46A-6EC9-3F0C-FCC4-836E086C4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9761A-484F-F951-D041-D5251E9EC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9DF06-031E-A262-D37F-932FFFDDC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9558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76FFF-38B4-FEE2-0890-236FF240A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368667-0DE3-DCDD-2946-50E8D155D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D3E11-1F39-D872-F9EC-AB55CE9F39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1E162-5708-F6BF-3822-2BFCBA767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057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B369D-E199-06D4-7814-3BFCE8017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BB910-24C5-F603-2DDE-E2C4E1855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7C9D7-4734-911E-1955-476ED9171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BC481-9C57-B0B8-EB39-A9FC13E6A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327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3D3D-EEEE-A0F2-806C-BE31BDBA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EF0D7-E3B2-A2E3-1315-48196B4DD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E74A9-0579-9149-07A9-B35D43A2E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8A016-CE0D-E186-2D4D-F7CF7CB5D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811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EDBE-CE08-F91B-4A09-352D1CE3D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6F313-31A9-32D1-F532-672D9FEC3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6D578C-8484-DD5B-3114-B3620054A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12728-78C7-7679-A6BF-99DB3B92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711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91417-907A-67A0-77CE-A17CDEA8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BFA1FC-FDE1-A1E7-87C3-409E76049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91EDF-DFC2-91DD-A475-ECB31FE2D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E1E0C-4183-5204-56CE-11A697C63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57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21160-5DBB-EA70-8752-A378C1E80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2BB72-F5B9-7713-E0EB-DCDE016942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91302-77CA-1971-2A7B-48F1D35B61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4BCE8-6C8A-D7CC-4494-560044645D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6812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C4B3-47E6-F3EB-68D6-139726A0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C3212-4A66-1526-0145-1ED2CFD0E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4D01F-E4DC-5107-EA04-264C388EC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Cleaning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rend les données lisibles. L’</a:t>
            </a:r>
            <a:r>
              <a:rPr lang="fr-F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Enrichment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les rend intelligentes pour la décision technique.</a:t>
            </a:r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7EE80-DF28-62AD-19D3-EE025693F9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5293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20BBC-0986-574C-9CD7-40A9D1465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580DD5-F4EE-E4DE-F29B-C061F473C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425AC3-DF6C-073F-370E-691835985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62E69-39D2-38B2-2BF2-CB13F8219C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4213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E1CEB-7531-66C5-3A24-FF7BAAA30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CBDBAA-0E29-4589-C183-7F9D75A2C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6160C0-8FEA-5E62-A695-185B3A209D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6F52F-5944-F1E0-9EA9-BB24B728BA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7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587CD-017E-F979-B34C-EC9E4B91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D0A41-E2EB-0701-98C8-E4ECE72D3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4E765-359D-86F2-3361-2ACA2BBC7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EC70EE-F816-6146-8359-1C9E11F0F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3158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9E204-3E95-E0A1-838C-BFF09A92F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99E412-9F26-9AB0-14DA-429CB3FB1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7FCC2-98CE-A715-6404-875E434F7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5DB2C-8D82-02BD-9329-CB4417131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638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C833-F237-3800-4DB6-0E9788CD7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787B9E-9869-28E5-B966-45725849E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D3004-E6AE-89F5-DD12-2622C61D1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8F543-413D-E697-2BF9-8063DA796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4575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7B855-7CCC-33C7-9CBF-299690CC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48001E-E9BA-111E-2C3A-F02B64B43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8A619-D052-510B-ED14-8B55C695C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80CA9-E0E0-643D-2F03-178DB0C2D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0706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93FB7-835B-3D96-FEE1-C4BF681A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62C57-1E03-7026-9743-C0833842E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F3DC4-3750-208A-7A47-6BC24BBFE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4CD15-6DD7-149B-291F-7FF4B7E45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946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33D8-32FE-74CA-3CCA-BC262613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CFE11-F6BC-87D5-3EC5-4605430FC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DD177-609D-A6B8-9455-DF78BB460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0FC9E-0D1F-3EB1-91E0-B109A7E0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797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1E73-4B52-235A-0305-0F524B63A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ECD25-4A04-1A6D-4CE9-936C1D625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FDB37-EC91-CBF6-088F-2283912CA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7584D-EBDF-5C3B-5579-C79F94687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405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93388-651D-EF78-4C77-8341716B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53E477-5EC5-93CB-A91D-A6E0A9C69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FD860-031C-47AD-F03E-65BDAAFDF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76C46-C83C-C20D-0646-3C1A76C937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5542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7F87-A6B9-974F-49D7-63956B2D5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8791-C636-8306-A397-400330786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B037C0-AF0D-E800-791B-163F86BF6E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E4157-FCF8-9DFD-8D45-8FE5A7DBE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37A20C-0A41-4975-BF38-102D39C809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700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58E59B-3326-4FD4-8806-9EAC0DB7D60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501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t.com/trademarks" TargetMode="External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 title">
    <p:bg>
      <p:bgPr>
        <a:solidFill>
          <a:srgbClr val="0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  <p:pic>
        <p:nvPicPr>
          <p:cNvPr id="6" name="Graphic 7">
            <a:extLst>
              <a:ext uri="{FF2B5EF4-FFF2-40B4-BE49-F238E27FC236}">
                <a16:creationId xmlns:a16="http://schemas.microsoft.com/office/drawing/2014/main" id="{0A935D2C-8C8E-184B-D8FC-8FF74926C0C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6242" y="47623"/>
            <a:ext cx="1857226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79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rgbClr val="00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pic>
        <p:nvPicPr>
          <p:cNvPr id="4" name="Graphic 14">
            <a:extLst>
              <a:ext uri="{FF2B5EF4-FFF2-40B4-BE49-F238E27FC236}">
                <a16:creationId xmlns:a16="http://schemas.microsoft.com/office/drawing/2014/main" id="{70CC30A6-5943-4618-79CD-9E122FDCAE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86242" y="47623"/>
            <a:ext cx="1857226" cy="128016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9F09FF-C8AF-EE46-958B-11187A34AAE5}"/>
              </a:ext>
            </a:extLst>
          </p:cNvPr>
          <p:cNvSpPr/>
          <p:nvPr userDrawn="1"/>
        </p:nvSpPr>
        <p:spPr>
          <a:xfrm>
            <a:off x="-228" y="0"/>
            <a:ext cx="300266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95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52DD4-CDE3-4E33-AB80-AED4CE4AC39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28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accent4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7B0BAF98-BF01-8628-815D-6C637563DA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974" y="6155372"/>
            <a:ext cx="928614" cy="640080"/>
          </a:xfrm>
          <a:prstGeom prst="rect">
            <a:avLst/>
          </a:prstGeom>
        </p:spPr>
      </p:pic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686472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52DD4-CDE3-4E33-AB80-AED4CE4AC39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52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52DD4-CDE3-4E33-AB80-AED4CE4AC39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055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52DD4-CDE3-4E33-AB80-AED4CE4AC39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206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33052DD4-CDE3-4E33-AB80-AED4CE4AC39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solidFill>
            <a:schemeClr val="accent4"/>
          </a:solidFill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661350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F8E72F1-E261-A4D3-03FD-FCC351987924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53E3-FC79-490F-927D-EDA5C06E681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4862"/>
            </a:xfrm>
            <a:prstGeom prst="rect">
              <a:avLst/>
            </a:prstGeom>
            <a:solidFill>
              <a:srgbClr val="0023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7C8CE8D-FE25-40F5-A966-5717F85ACF9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2959336" y="1565049"/>
              <a:ext cx="6273328" cy="228010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994F7AD-3707-136B-D04F-5BE5160AF4A4}"/>
                </a:ext>
              </a:extLst>
            </p:cNvPr>
            <p:cNvSpPr/>
            <p:nvPr userDrawn="1"/>
          </p:nvSpPr>
          <p:spPr>
            <a:xfrm>
              <a:off x="0" y="5580993"/>
              <a:ext cx="12192000" cy="1277007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970C644-A64B-B0FF-7271-99A256079D04}"/>
                </a:ext>
              </a:extLst>
            </p:cNvPr>
            <p:cNvSpPr/>
            <p:nvPr userDrawn="1"/>
          </p:nvSpPr>
          <p:spPr>
            <a:xfrm>
              <a:off x="219558" y="5822714"/>
              <a:ext cx="9395219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rgbClr val="00234B"/>
                  </a:solidFill>
                  <a:latin typeface="Arial" panose="020B0604020202020204" pitchFamily="34" charset="0"/>
                </a:rPr>
                <a:t>© STMicroelectronics - All rights reserved.</a:t>
              </a:r>
              <a:br>
                <a:rPr lang="en-US" sz="1200" dirty="0">
                  <a:solidFill>
                    <a:srgbClr val="00234B"/>
                  </a:solidFill>
                  <a:latin typeface="Arial" panose="020B0604020202020204" pitchFamily="34" charset="0"/>
                </a:rPr>
              </a:b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ST logo is a trademark or a registered trademark of STMicroelectronics International NV or its affiliates in the EU and/or other countries. For additional information about ST trademarks, please refer to </a:t>
              </a: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www.st.com/trademarks</a:t>
              </a: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. </a:t>
              </a:r>
              <a:b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</a:br>
              <a:r>
                <a:rPr lang="en-US" sz="1200" kern="1200" dirty="0">
                  <a:solidFill>
                    <a:srgbClr val="00234B"/>
                  </a:solidFill>
                  <a:latin typeface="Arial" panose="020B0604020202020204" pitchFamily="34" charset="0"/>
                  <a:ea typeface="+mn-ea"/>
                  <a:cs typeface="+mn-cs"/>
                </a:rPr>
                <a:t>All other product or service names are the property of their respective owners.</a:t>
              </a: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DF6297DC-F8E9-1EA8-8CF6-587BC0B48C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66753" y="5668010"/>
              <a:ext cx="1591910" cy="109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000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33052DD4-CDE3-4E33-AB80-AED4CE4AC39A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CD4E90-0AD7-41F7-BEF4-B339EC998E49}"/>
              </a:ext>
            </a:extLst>
          </p:cNvPr>
          <p:cNvSpPr/>
          <p:nvPr/>
        </p:nvSpPr>
        <p:spPr>
          <a:xfrm>
            <a:off x="12004894" y="0"/>
            <a:ext cx="187105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C1749DD-5CB4-BAFF-5C24-97F0F00F15F6}"/>
              </a:ext>
            </a:extLst>
          </p:cNvPr>
          <p:cNvGrpSpPr/>
          <p:nvPr userDrawn="1"/>
        </p:nvGrpSpPr>
        <p:grpSpPr>
          <a:xfrm>
            <a:off x="-350520" y="4319928"/>
            <a:ext cx="317500" cy="952500"/>
            <a:chOff x="-342900" y="4319928"/>
            <a:chExt cx="317500" cy="952500"/>
          </a:xfrm>
        </p:grpSpPr>
        <p:sp>
          <p:nvSpPr>
            <p:cNvPr id="43" name="ColorPatch">
              <a:extLst>
                <a:ext uri="{FF2B5EF4-FFF2-40B4-BE49-F238E27FC236}">
                  <a16:creationId xmlns:a16="http://schemas.microsoft.com/office/drawing/2014/main" id="{A2E2F886-C330-51CE-B5C9-AB46F1404BB1}"/>
                </a:ext>
              </a:extLst>
            </p:cNvPr>
            <p:cNvSpPr/>
            <p:nvPr userDrawn="1"/>
          </p:nvSpPr>
          <p:spPr>
            <a:xfrm>
              <a:off x="-342900" y="4954928"/>
              <a:ext cx="317500" cy="317500"/>
            </a:xfrm>
            <a:prstGeom prst="rect">
              <a:avLst/>
            </a:prstGeom>
            <a:solidFill>
              <a:srgbClr val="EEEFF1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44" name="ColorPatch">
              <a:extLst>
                <a:ext uri="{FF2B5EF4-FFF2-40B4-BE49-F238E27FC236}">
                  <a16:creationId xmlns:a16="http://schemas.microsoft.com/office/drawing/2014/main" id="{FDB36328-023C-D8C1-7E6B-A648091D0ED0}"/>
                </a:ext>
              </a:extLst>
            </p:cNvPr>
            <p:cNvSpPr/>
            <p:nvPr userDrawn="1"/>
          </p:nvSpPr>
          <p:spPr>
            <a:xfrm>
              <a:off x="-342900" y="4637428"/>
              <a:ext cx="317500" cy="317500"/>
            </a:xfrm>
            <a:prstGeom prst="rect">
              <a:avLst/>
            </a:prstGeom>
            <a:solidFill>
              <a:srgbClr val="A6ADB5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45" name="ColorPatch">
              <a:extLst>
                <a:ext uri="{FF2B5EF4-FFF2-40B4-BE49-F238E27FC236}">
                  <a16:creationId xmlns:a16="http://schemas.microsoft.com/office/drawing/2014/main" id="{9F8E65A1-0412-05F6-3F82-8EB79873A102}"/>
                </a:ext>
              </a:extLst>
            </p:cNvPr>
            <p:cNvSpPr/>
            <p:nvPr userDrawn="1"/>
          </p:nvSpPr>
          <p:spPr>
            <a:xfrm>
              <a:off x="-342900" y="4319928"/>
              <a:ext cx="317500" cy="317500"/>
            </a:xfrm>
            <a:prstGeom prst="rect">
              <a:avLst/>
            </a:prstGeom>
            <a:solidFill>
              <a:srgbClr val="525A63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732C244-0C14-30D0-0478-36AA2A9F0B44}"/>
              </a:ext>
            </a:extLst>
          </p:cNvPr>
          <p:cNvGrpSpPr/>
          <p:nvPr userDrawn="1"/>
        </p:nvGrpSpPr>
        <p:grpSpPr>
          <a:xfrm>
            <a:off x="-350520" y="2879952"/>
            <a:ext cx="317500" cy="1270000"/>
            <a:chOff x="-342900" y="2879952"/>
            <a:chExt cx="317500" cy="1270000"/>
          </a:xfrm>
        </p:grpSpPr>
        <p:sp>
          <p:nvSpPr>
            <p:cNvPr id="50" name="ColorPatch">
              <a:extLst>
                <a:ext uri="{FF2B5EF4-FFF2-40B4-BE49-F238E27FC236}">
                  <a16:creationId xmlns:a16="http://schemas.microsoft.com/office/drawing/2014/main" id="{31E1361B-325C-EE46-1B21-F5A3ABF1D2F3}"/>
                </a:ext>
              </a:extLst>
            </p:cNvPr>
            <p:cNvSpPr/>
            <p:nvPr userDrawn="1"/>
          </p:nvSpPr>
          <p:spPr>
            <a:xfrm>
              <a:off x="-342900" y="3832452"/>
              <a:ext cx="317500" cy="317500"/>
            </a:xfrm>
            <a:prstGeom prst="rect">
              <a:avLst/>
            </a:prstGeom>
            <a:solidFill>
              <a:srgbClr val="FFF4BF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1" name="ColorPatch">
              <a:extLst>
                <a:ext uri="{FF2B5EF4-FFF2-40B4-BE49-F238E27FC236}">
                  <a16:creationId xmlns:a16="http://schemas.microsoft.com/office/drawing/2014/main" id="{721D0BC2-53DB-3884-688A-247574811D85}"/>
                </a:ext>
              </a:extLst>
            </p:cNvPr>
            <p:cNvSpPr/>
            <p:nvPr userDrawn="1"/>
          </p:nvSpPr>
          <p:spPr>
            <a:xfrm>
              <a:off x="-342900" y="3515520"/>
              <a:ext cx="317500" cy="317500"/>
            </a:xfrm>
            <a:prstGeom prst="rect">
              <a:avLst/>
            </a:prstGeom>
            <a:solidFill>
              <a:srgbClr val="FFE87F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2" name="ColorPatch">
              <a:extLst>
                <a:ext uri="{FF2B5EF4-FFF2-40B4-BE49-F238E27FC236}">
                  <a16:creationId xmlns:a16="http://schemas.microsoft.com/office/drawing/2014/main" id="{3D10437D-D613-EB33-523B-3A294D6295FE}"/>
                </a:ext>
              </a:extLst>
            </p:cNvPr>
            <p:cNvSpPr/>
            <p:nvPr userDrawn="1"/>
          </p:nvSpPr>
          <p:spPr>
            <a:xfrm>
              <a:off x="-342900" y="3197452"/>
              <a:ext cx="317500" cy="317500"/>
            </a:xfrm>
            <a:prstGeom prst="rect">
              <a:avLst/>
            </a:prstGeom>
            <a:solidFill>
              <a:srgbClr val="FFDD4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3" name="ColorPatch">
              <a:extLst>
                <a:ext uri="{FF2B5EF4-FFF2-40B4-BE49-F238E27FC236}">
                  <a16:creationId xmlns:a16="http://schemas.microsoft.com/office/drawing/2014/main" id="{7605F83F-A2B9-B477-973E-B28376961D98}"/>
                </a:ext>
              </a:extLst>
            </p:cNvPr>
            <p:cNvSpPr/>
            <p:nvPr userDrawn="1"/>
          </p:nvSpPr>
          <p:spPr>
            <a:xfrm>
              <a:off x="-342900" y="2879952"/>
              <a:ext cx="317500" cy="317500"/>
            </a:xfrm>
            <a:prstGeom prst="rect">
              <a:avLst/>
            </a:prstGeom>
            <a:solidFill>
              <a:srgbClr val="FFD20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75168C8-3C72-052F-C7C0-7CD4B023E7F9}"/>
              </a:ext>
            </a:extLst>
          </p:cNvPr>
          <p:cNvGrpSpPr/>
          <p:nvPr userDrawn="1"/>
        </p:nvGrpSpPr>
        <p:grpSpPr>
          <a:xfrm>
            <a:off x="-350520" y="1439976"/>
            <a:ext cx="317500" cy="1270000"/>
            <a:chOff x="-342900" y="1439976"/>
            <a:chExt cx="317500" cy="1270000"/>
          </a:xfrm>
        </p:grpSpPr>
        <p:sp>
          <p:nvSpPr>
            <p:cNvPr id="55" name="ColorPatch">
              <a:extLst>
                <a:ext uri="{FF2B5EF4-FFF2-40B4-BE49-F238E27FC236}">
                  <a16:creationId xmlns:a16="http://schemas.microsoft.com/office/drawing/2014/main" id="{4A6E12F2-EF64-A2CC-1E25-B6F6B23289F8}"/>
                </a:ext>
              </a:extLst>
            </p:cNvPr>
            <p:cNvSpPr/>
            <p:nvPr userDrawn="1"/>
          </p:nvSpPr>
          <p:spPr>
            <a:xfrm>
              <a:off x="-342900" y="2392476"/>
              <a:ext cx="317500" cy="317500"/>
            </a:xfrm>
            <a:prstGeom prst="rect">
              <a:avLst/>
            </a:prstGeom>
            <a:solidFill>
              <a:srgbClr val="CEECF9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6" name="ColorPatch">
              <a:extLst>
                <a:ext uri="{FF2B5EF4-FFF2-40B4-BE49-F238E27FC236}">
                  <a16:creationId xmlns:a16="http://schemas.microsoft.com/office/drawing/2014/main" id="{DF4090A9-80E3-4F93-64FD-1A4F5C9704A1}"/>
                </a:ext>
              </a:extLst>
            </p:cNvPr>
            <p:cNvSpPr/>
            <p:nvPr userDrawn="1"/>
          </p:nvSpPr>
          <p:spPr>
            <a:xfrm>
              <a:off x="-342900" y="2074976"/>
              <a:ext cx="317500" cy="317500"/>
            </a:xfrm>
            <a:prstGeom prst="rect">
              <a:avLst/>
            </a:prstGeom>
            <a:solidFill>
              <a:srgbClr val="9DD9F2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7" name="ColorPatch">
              <a:extLst>
                <a:ext uri="{FF2B5EF4-FFF2-40B4-BE49-F238E27FC236}">
                  <a16:creationId xmlns:a16="http://schemas.microsoft.com/office/drawing/2014/main" id="{383C7A3C-7DEE-3289-0A64-6DC893E895F6}"/>
                </a:ext>
              </a:extLst>
            </p:cNvPr>
            <p:cNvSpPr/>
            <p:nvPr userDrawn="1"/>
          </p:nvSpPr>
          <p:spPr>
            <a:xfrm>
              <a:off x="-342900" y="1757476"/>
              <a:ext cx="317500" cy="317500"/>
            </a:xfrm>
            <a:prstGeom prst="rect">
              <a:avLst/>
            </a:prstGeom>
            <a:solidFill>
              <a:srgbClr val="6DC7EC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58" name="ColorPatch">
              <a:extLst>
                <a:ext uri="{FF2B5EF4-FFF2-40B4-BE49-F238E27FC236}">
                  <a16:creationId xmlns:a16="http://schemas.microsoft.com/office/drawing/2014/main" id="{199B6E69-48B5-574D-A56E-8532B8036346}"/>
                </a:ext>
              </a:extLst>
            </p:cNvPr>
            <p:cNvSpPr/>
            <p:nvPr userDrawn="1"/>
          </p:nvSpPr>
          <p:spPr>
            <a:xfrm>
              <a:off x="-342900" y="1439976"/>
              <a:ext cx="317500" cy="317500"/>
            </a:xfrm>
            <a:prstGeom prst="rect">
              <a:avLst/>
            </a:prstGeom>
            <a:solidFill>
              <a:srgbClr val="3CB4E6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76E4B5F-4E90-DA3A-7C84-81947655F1ED}"/>
              </a:ext>
            </a:extLst>
          </p:cNvPr>
          <p:cNvGrpSpPr/>
          <p:nvPr userDrawn="1"/>
        </p:nvGrpSpPr>
        <p:grpSpPr>
          <a:xfrm>
            <a:off x="-350520" y="0"/>
            <a:ext cx="317500" cy="1271047"/>
            <a:chOff x="-342900" y="0"/>
            <a:chExt cx="317500" cy="1271047"/>
          </a:xfrm>
        </p:grpSpPr>
        <p:sp>
          <p:nvSpPr>
            <p:cNvPr id="60" name="ColorPatch">
              <a:extLst>
                <a:ext uri="{FF2B5EF4-FFF2-40B4-BE49-F238E27FC236}">
                  <a16:creationId xmlns:a16="http://schemas.microsoft.com/office/drawing/2014/main" id="{E8CC3E9E-61E4-65A9-2FB7-B210351E32AB}"/>
                </a:ext>
              </a:extLst>
            </p:cNvPr>
            <p:cNvSpPr/>
            <p:nvPr userDrawn="1"/>
          </p:nvSpPr>
          <p:spPr>
            <a:xfrm>
              <a:off x="-342900" y="953547"/>
              <a:ext cx="317500" cy="317500"/>
            </a:xfrm>
            <a:prstGeom prst="rect">
              <a:avLst/>
            </a:prstGeom>
            <a:solidFill>
              <a:srgbClr val="C0C8D2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1" name="ColorPatch">
              <a:extLst>
                <a:ext uri="{FF2B5EF4-FFF2-40B4-BE49-F238E27FC236}">
                  <a16:creationId xmlns:a16="http://schemas.microsoft.com/office/drawing/2014/main" id="{52979BF7-37B7-C9E0-012F-AF2421299EA0}"/>
                </a:ext>
              </a:extLst>
            </p:cNvPr>
            <p:cNvSpPr/>
            <p:nvPr userDrawn="1"/>
          </p:nvSpPr>
          <p:spPr>
            <a:xfrm>
              <a:off x="-342900" y="635000"/>
              <a:ext cx="317500" cy="317500"/>
            </a:xfrm>
            <a:prstGeom prst="rect">
              <a:avLst/>
            </a:prstGeom>
            <a:solidFill>
              <a:srgbClr val="8191A5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2" name="ColorPatch">
              <a:extLst>
                <a:ext uri="{FF2B5EF4-FFF2-40B4-BE49-F238E27FC236}">
                  <a16:creationId xmlns:a16="http://schemas.microsoft.com/office/drawing/2014/main" id="{4F93A17E-06C6-9F0F-291B-C51A93E99B57}"/>
                </a:ext>
              </a:extLst>
            </p:cNvPr>
            <p:cNvSpPr/>
            <p:nvPr userDrawn="1"/>
          </p:nvSpPr>
          <p:spPr>
            <a:xfrm>
              <a:off x="-342900" y="317500"/>
              <a:ext cx="317500" cy="317500"/>
            </a:xfrm>
            <a:prstGeom prst="rect">
              <a:avLst/>
            </a:prstGeom>
            <a:solidFill>
              <a:srgbClr val="425A78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  <p:sp>
          <p:nvSpPr>
            <p:cNvPr id="63" name="ColorPatch">
              <a:extLst>
                <a:ext uri="{FF2B5EF4-FFF2-40B4-BE49-F238E27FC236}">
                  <a16:creationId xmlns:a16="http://schemas.microsoft.com/office/drawing/2014/main" id="{435540DC-615B-FEFF-859B-65830CAC8FD4}"/>
                </a:ext>
              </a:extLst>
            </p:cNvPr>
            <p:cNvSpPr/>
            <p:nvPr userDrawn="1"/>
          </p:nvSpPr>
          <p:spPr>
            <a:xfrm>
              <a:off x="-342900" y="0"/>
              <a:ext cx="317500" cy="317500"/>
            </a:xfrm>
            <a:prstGeom prst="rect">
              <a:avLst/>
            </a:prstGeom>
            <a:solidFill>
              <a:srgbClr val="03234B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25AE6E-5128-CFAA-FFCC-CE0BB6C809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1974" y="6155372"/>
            <a:ext cx="928614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31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9" r:id="rId8"/>
    <p:sldLayoutId id="2147483671" r:id="rId9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hyperlink" Target="https://st.service-now.com/hub?id=support_details&amp;topic=d0a6002b1b53d2d0aaf48553604bcb1b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st.service-now.com/hub?id=sc_cat_item&amp;sys_id=b7e4acc9fb1d66103949f4bbaeefdc7b" TargetMode="Externa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t.service-now.com/hub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2.png"/><Relationship Id="rId10" Type="http://schemas.openxmlformats.org/officeDocument/2006/relationships/image" Target="../media/image13.svg"/><Relationship Id="rId4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4.png"/><Relationship Id="rId3" Type="http://schemas.openxmlformats.org/officeDocument/2006/relationships/image" Target="../media/image23.png"/><Relationship Id="rId7" Type="http://schemas.openxmlformats.org/officeDocument/2006/relationships/image" Target="../media/image2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11" Type="http://schemas.openxmlformats.org/officeDocument/2006/relationships/image" Target="../media/image14.png"/><Relationship Id="rId5" Type="http://schemas.openxmlformats.org/officeDocument/2006/relationships/image" Target="../media/image22.png"/><Relationship Id="rId10" Type="http://schemas.openxmlformats.org/officeDocument/2006/relationships/image" Target="../media/image13.svg"/><Relationship Id="rId4" Type="http://schemas.openxmlformats.org/officeDocument/2006/relationships/image" Target="../media/image11.png"/><Relationship Id="rId9" Type="http://schemas.openxmlformats.org/officeDocument/2006/relationships/image" Target="../media/image12.png"/><Relationship Id="rId1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4.png"/><Relationship Id="rId3" Type="http://schemas.openxmlformats.org/officeDocument/2006/relationships/image" Target="../media/image23.png"/><Relationship Id="rId7" Type="http://schemas.openxmlformats.org/officeDocument/2006/relationships/image" Target="../media/image2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11" Type="http://schemas.openxmlformats.org/officeDocument/2006/relationships/image" Target="../media/image14.png"/><Relationship Id="rId5" Type="http://schemas.openxmlformats.org/officeDocument/2006/relationships/image" Target="../media/image22.png"/><Relationship Id="rId10" Type="http://schemas.openxmlformats.org/officeDocument/2006/relationships/image" Target="../media/image13.svg"/><Relationship Id="rId4" Type="http://schemas.openxmlformats.org/officeDocument/2006/relationships/image" Target="../media/image11.png"/><Relationship Id="rId9" Type="http://schemas.openxmlformats.org/officeDocument/2006/relationships/image" Target="../media/image12.png"/><Relationship Id="rId1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4.png"/><Relationship Id="rId3" Type="http://schemas.openxmlformats.org/officeDocument/2006/relationships/image" Target="../media/image23.png"/><Relationship Id="rId7" Type="http://schemas.openxmlformats.org/officeDocument/2006/relationships/image" Target="../media/image2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11" Type="http://schemas.openxmlformats.org/officeDocument/2006/relationships/image" Target="../media/image14.png"/><Relationship Id="rId5" Type="http://schemas.openxmlformats.org/officeDocument/2006/relationships/image" Target="../media/image22.png"/><Relationship Id="rId10" Type="http://schemas.openxmlformats.org/officeDocument/2006/relationships/image" Target="../media/image13.svg"/><Relationship Id="rId4" Type="http://schemas.openxmlformats.org/officeDocument/2006/relationships/image" Target="../media/image11.png"/><Relationship Id="rId9" Type="http://schemas.openxmlformats.org/officeDocument/2006/relationships/image" Target="../media/image12.png"/><Relationship Id="rId14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7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36.png"/><Relationship Id="rId5" Type="http://schemas.openxmlformats.org/officeDocument/2006/relationships/image" Target="../media/image31.png"/><Relationship Id="rId10" Type="http://schemas.openxmlformats.org/officeDocument/2006/relationships/image" Target="../media/image35.svg"/><Relationship Id="rId4" Type="http://schemas.openxmlformats.org/officeDocument/2006/relationships/image" Target="../media/image11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sv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svg"/><Relationship Id="rId1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8.pn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7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36.png"/><Relationship Id="rId5" Type="http://schemas.openxmlformats.org/officeDocument/2006/relationships/image" Target="../media/image31.png"/><Relationship Id="rId10" Type="http://schemas.openxmlformats.org/officeDocument/2006/relationships/image" Target="../media/image35.svg"/><Relationship Id="rId4" Type="http://schemas.openxmlformats.org/officeDocument/2006/relationships/image" Target="../media/image11.png"/><Relationship Id="rId9" Type="http://schemas.openxmlformats.org/officeDocument/2006/relationships/image" Target="../media/image34.png"/><Relationship Id="rId14" Type="http://schemas.openxmlformats.org/officeDocument/2006/relationships/image" Target="../media/image39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8.pn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36.png"/><Relationship Id="rId5" Type="http://schemas.openxmlformats.org/officeDocument/2006/relationships/image" Target="../media/image31.png"/><Relationship Id="rId10" Type="http://schemas.openxmlformats.org/officeDocument/2006/relationships/image" Target="../media/image35.svg"/><Relationship Id="rId4" Type="http://schemas.openxmlformats.org/officeDocument/2006/relationships/image" Target="../media/image11.png"/><Relationship Id="rId9" Type="http://schemas.openxmlformats.org/officeDocument/2006/relationships/image" Target="../media/image34.png"/><Relationship Id="rId14" Type="http://schemas.openxmlformats.org/officeDocument/2006/relationships/image" Target="../media/image3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13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sv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svg"/><Relationship Id="rId1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10.png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svg"/><Relationship Id="rId3" Type="http://schemas.openxmlformats.org/officeDocument/2006/relationships/image" Target="../media/image21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svg"/><Relationship Id="rId1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://www.st.com/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brandportal.s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FB49D3ED-12A5-44AC-B654-9458A5FBEC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793" y="1741491"/>
            <a:ext cx="5795963" cy="2702071"/>
          </a:xfrm>
        </p:spPr>
        <p:txBody>
          <a:bodyPr/>
          <a:lstStyle/>
          <a:p>
            <a:r>
              <a:rPr lang="fr-FR" sz="3200" noProof="0" dirty="0"/>
              <a:t>Un outil IA pour l'assistance</a:t>
            </a:r>
            <a:br>
              <a:rPr lang="fr-FR" sz="3200" noProof="0" dirty="0"/>
            </a:br>
            <a:r>
              <a:rPr lang="fr-FR" sz="3200" noProof="0" dirty="0"/>
              <a:t>technique STM32</a:t>
            </a:r>
            <a:br>
              <a:rPr lang="fr-FR" sz="3200" noProof="0" dirty="0"/>
            </a:br>
            <a:br>
              <a:rPr lang="fr-FR" noProof="0" dirty="0"/>
            </a:br>
            <a:r>
              <a:rPr lang="fr-FR" sz="1400" b="0" noProof="0" dirty="0">
                <a:solidFill>
                  <a:srgbClr val="FFD200"/>
                </a:solidFill>
              </a:rPr>
              <a:t>De la donnée GitHub brute à une réponse technique précise :</a:t>
            </a:r>
            <a:br>
              <a:rPr lang="fr-FR" sz="1400" b="0" noProof="0" dirty="0">
                <a:solidFill>
                  <a:srgbClr val="FFD200"/>
                </a:solidFill>
              </a:rPr>
            </a:br>
            <a:r>
              <a:rPr lang="fr-FR" sz="1400" b="0" noProof="0" dirty="0">
                <a:solidFill>
                  <a:srgbClr val="FFD200"/>
                </a:solidFill>
              </a:rPr>
              <a:t>comprendre comment ça marche, étape par étape.</a:t>
            </a:r>
            <a:br>
              <a:rPr lang="fr-FR" sz="1400" b="0" noProof="0" dirty="0">
                <a:solidFill>
                  <a:srgbClr val="FFD200"/>
                </a:solidFill>
              </a:rPr>
            </a:br>
            <a:br>
              <a:rPr lang="fr-FR" b="0" noProof="0" dirty="0"/>
            </a:br>
            <a:endParaRPr lang="fr-FR" noProof="0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12613E07-DCF2-4461-AFF5-7A705127F6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443562"/>
            <a:ext cx="6614858" cy="1077764"/>
          </a:xfrm>
        </p:spPr>
        <p:txBody>
          <a:bodyPr/>
          <a:lstStyle/>
          <a:p>
            <a:r>
              <a:rPr lang="fr-FR" sz="1400" noProof="0" dirty="0"/>
              <a:t>Présenté par : Abir GHARBI</a:t>
            </a:r>
          </a:p>
          <a:p>
            <a:r>
              <a:rPr lang="fr-FR" sz="1400" noProof="0" dirty="0"/>
              <a:t>Encadré par : Ali LABBENE et Omar SAKET</a:t>
            </a:r>
          </a:p>
          <a:p>
            <a:r>
              <a:rPr lang="fr-FR" sz="1400" noProof="0" dirty="0"/>
              <a:t>PFE - 2026 | STMicroelectronics Tunis | </a:t>
            </a:r>
            <a:r>
              <a:rPr lang="fr-FR" sz="1400" noProof="0" dirty="0">
                <a:solidFill>
                  <a:srgbClr val="3CB4E6"/>
                </a:solidFill>
              </a:rPr>
              <a:t>Equipe Support &amp; Maintenance</a:t>
            </a:r>
          </a:p>
          <a:p>
            <a:endParaRPr lang="fr-FR" sz="1600" noProof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CB9452C-A8F1-3392-EFC2-16469AF87DEE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1" r="9931"/>
          <a:stretch>
            <a:fillRect/>
          </a:stretch>
        </p:blipFill>
        <p:spPr>
          <a:xfrm>
            <a:off x="1509964" y="945499"/>
            <a:ext cx="4163410" cy="5195603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FF1"/>
          </a:solidFill>
        </p:spPr>
      </p:pic>
    </p:spTree>
    <p:extLst>
      <p:ext uri="{BB962C8B-B14F-4D97-AF65-F5344CB8AC3E}">
        <p14:creationId xmlns:p14="http://schemas.microsoft.com/office/powerpoint/2010/main" val="193982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>
            <a:extLst>
              <a:ext uri="{FF2B5EF4-FFF2-40B4-BE49-F238E27FC236}">
                <a16:creationId xmlns:a16="http://schemas.microsoft.com/office/drawing/2014/main" id="{C0053C2B-298B-93D9-97F2-9203DCE5CF0F}"/>
              </a:ext>
            </a:extLst>
          </p:cNvPr>
          <p:cNvSpPr/>
          <p:nvPr/>
        </p:nvSpPr>
        <p:spPr>
          <a:xfrm>
            <a:off x="7316402" y="374141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2600" b="1" dirty="0">
                <a:solidFill>
                  <a:srgbClr val="1B2A3B"/>
                </a:solidFill>
              </a:rPr>
              <a:t>P</a:t>
            </a:r>
            <a:r>
              <a:rPr lang="fr-FR" sz="2600" b="1" noProof="0" dirty="0" err="1">
                <a:solidFill>
                  <a:srgbClr val="1B2A3B"/>
                </a:solidFill>
              </a:rPr>
              <a:t>rogramme</a:t>
            </a:r>
            <a:r>
              <a:rPr lang="fr-FR" sz="2600" b="1" noProof="0" dirty="0">
                <a:solidFill>
                  <a:srgbClr val="1B2A3B"/>
                </a:solidFill>
              </a:rPr>
              <a:t> d’aujourd'hui</a:t>
            </a:r>
            <a:endParaRPr lang="fr-FR" sz="2600" noProof="0" dirty="0"/>
          </a:p>
        </p:txBody>
      </p:sp>
      <p:sp>
        <p:nvSpPr>
          <p:cNvPr id="89" name="Text 1">
            <a:extLst>
              <a:ext uri="{FF2B5EF4-FFF2-40B4-BE49-F238E27FC236}">
                <a16:creationId xmlns:a16="http://schemas.microsoft.com/office/drawing/2014/main" id="{FA5C86C0-D4E8-DF25-8871-83A58B5D3F54}"/>
              </a:ext>
            </a:extLst>
          </p:cNvPr>
          <p:cNvSpPr/>
          <p:nvPr/>
        </p:nvSpPr>
        <p:spPr>
          <a:xfrm>
            <a:off x="7316402" y="877061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8 étapes pour comprendre l'outil de A à Z</a:t>
            </a:r>
            <a:endParaRPr lang="fr-FR" sz="1200" noProof="0" dirty="0"/>
          </a:p>
        </p:txBody>
      </p:sp>
      <p:sp>
        <p:nvSpPr>
          <p:cNvPr id="90" name="Shape 2">
            <a:extLst>
              <a:ext uri="{FF2B5EF4-FFF2-40B4-BE49-F238E27FC236}">
                <a16:creationId xmlns:a16="http://schemas.microsoft.com/office/drawing/2014/main" id="{5308CD81-8CD9-4091-B6EB-D8BEBF0F41EF}"/>
              </a:ext>
            </a:extLst>
          </p:cNvPr>
          <p:cNvSpPr/>
          <p:nvPr/>
        </p:nvSpPr>
        <p:spPr>
          <a:xfrm>
            <a:off x="3660007" y="1286892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1" name="Shape 3">
            <a:extLst>
              <a:ext uri="{FF2B5EF4-FFF2-40B4-BE49-F238E27FC236}">
                <a16:creationId xmlns:a16="http://schemas.microsoft.com/office/drawing/2014/main" id="{53934799-B40F-4D42-B2C0-7094A4754C29}"/>
              </a:ext>
            </a:extLst>
          </p:cNvPr>
          <p:cNvSpPr/>
          <p:nvPr/>
        </p:nvSpPr>
        <p:spPr>
          <a:xfrm>
            <a:off x="1201051" y="192404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3" name="Text 5">
            <a:extLst>
              <a:ext uri="{FF2B5EF4-FFF2-40B4-BE49-F238E27FC236}">
                <a16:creationId xmlns:a16="http://schemas.microsoft.com/office/drawing/2014/main" id="{6CA5BEBA-A1A5-0B7A-D552-E2C13E044A80}"/>
              </a:ext>
            </a:extLst>
          </p:cNvPr>
          <p:cNvSpPr/>
          <p:nvPr/>
        </p:nvSpPr>
        <p:spPr>
          <a:xfrm>
            <a:off x="1205443" y="1924049"/>
            <a:ext cx="384048" cy="749808"/>
          </a:xfrm>
          <a:prstGeom prst="rect">
            <a:avLst/>
          </a:prstGeom>
          <a:solidFill>
            <a:srgbClr val="3CB4E6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01</a:t>
            </a:r>
            <a:endParaRPr lang="fr-FR" sz="1300" noProof="0" dirty="0"/>
          </a:p>
        </p:txBody>
      </p:sp>
      <p:sp>
        <p:nvSpPr>
          <p:cNvPr id="94" name="Text 6">
            <a:extLst>
              <a:ext uri="{FF2B5EF4-FFF2-40B4-BE49-F238E27FC236}">
                <a16:creationId xmlns:a16="http://schemas.microsoft.com/office/drawing/2014/main" id="{30924A1A-7560-AA40-3D09-15658A9F5156}"/>
              </a:ext>
            </a:extLst>
          </p:cNvPr>
          <p:cNvSpPr/>
          <p:nvPr/>
        </p:nvSpPr>
        <p:spPr>
          <a:xfrm>
            <a:off x="1676539" y="19972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Pourquoi cet outil ?</a:t>
            </a:r>
            <a:endParaRPr lang="fr-FR" sz="1200" noProof="0" dirty="0"/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18E80990-CA75-1843-212E-AB9262C2DEDF}"/>
              </a:ext>
            </a:extLst>
          </p:cNvPr>
          <p:cNvSpPr/>
          <p:nvPr/>
        </p:nvSpPr>
        <p:spPr>
          <a:xfrm>
            <a:off x="1676539" y="232638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Le problème que ça résout au quotidien</a:t>
            </a:r>
            <a:endParaRPr lang="fr-FR" sz="900" noProof="0" dirty="0"/>
          </a:p>
        </p:txBody>
      </p:sp>
      <p:sp>
        <p:nvSpPr>
          <p:cNvPr id="96" name="Shape 8">
            <a:extLst>
              <a:ext uri="{FF2B5EF4-FFF2-40B4-BE49-F238E27FC236}">
                <a16:creationId xmlns:a16="http://schemas.microsoft.com/office/drawing/2014/main" id="{3CB200B6-E899-4954-2A0F-ED520DD6A6F6}"/>
              </a:ext>
            </a:extLst>
          </p:cNvPr>
          <p:cNvSpPr/>
          <p:nvPr/>
        </p:nvSpPr>
        <p:spPr>
          <a:xfrm>
            <a:off x="1201051" y="2820161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7" name="Shape 9">
            <a:extLst>
              <a:ext uri="{FF2B5EF4-FFF2-40B4-BE49-F238E27FC236}">
                <a16:creationId xmlns:a16="http://schemas.microsoft.com/office/drawing/2014/main" id="{B0771FB9-284C-8FE1-243A-D16FE18B32CD}"/>
              </a:ext>
            </a:extLst>
          </p:cNvPr>
          <p:cNvSpPr/>
          <p:nvPr/>
        </p:nvSpPr>
        <p:spPr>
          <a:xfrm>
            <a:off x="1201051" y="2820161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8" name="Text 10">
            <a:extLst>
              <a:ext uri="{FF2B5EF4-FFF2-40B4-BE49-F238E27FC236}">
                <a16:creationId xmlns:a16="http://schemas.microsoft.com/office/drawing/2014/main" id="{AA98F3B6-0863-41FB-62FE-9582C2B7A465}"/>
              </a:ext>
            </a:extLst>
          </p:cNvPr>
          <p:cNvSpPr/>
          <p:nvPr/>
        </p:nvSpPr>
        <p:spPr>
          <a:xfrm>
            <a:off x="1201051" y="282016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02</a:t>
            </a:r>
            <a:endParaRPr lang="fr-FR" sz="1300" noProof="0" dirty="0"/>
          </a:p>
        </p:txBody>
      </p:sp>
      <p:sp>
        <p:nvSpPr>
          <p:cNvPr id="99" name="Text 11">
            <a:extLst>
              <a:ext uri="{FF2B5EF4-FFF2-40B4-BE49-F238E27FC236}">
                <a16:creationId xmlns:a16="http://schemas.microsoft.com/office/drawing/2014/main" id="{6389ED17-84E7-C63D-FACE-53F8696A9581}"/>
              </a:ext>
            </a:extLst>
          </p:cNvPr>
          <p:cNvSpPr/>
          <p:nvPr/>
        </p:nvSpPr>
        <p:spPr>
          <a:xfrm>
            <a:off x="1676539" y="2893313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C'est quoi l'IA ici ?</a:t>
            </a:r>
            <a:endParaRPr lang="fr-FR" sz="1200" noProof="0" dirty="0"/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07A81C4F-635A-7B98-3835-6B9DD17D7C7F}"/>
              </a:ext>
            </a:extLst>
          </p:cNvPr>
          <p:cNvSpPr/>
          <p:nvPr/>
        </p:nvSpPr>
        <p:spPr>
          <a:xfrm>
            <a:off x="1676539" y="322249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Explication simple : pas de magie, juste de la logique</a:t>
            </a:r>
            <a:endParaRPr lang="fr-FR" sz="900" noProof="0" dirty="0"/>
          </a:p>
        </p:txBody>
      </p:sp>
      <p:sp>
        <p:nvSpPr>
          <p:cNvPr id="101" name="Shape 13">
            <a:extLst>
              <a:ext uri="{FF2B5EF4-FFF2-40B4-BE49-F238E27FC236}">
                <a16:creationId xmlns:a16="http://schemas.microsoft.com/office/drawing/2014/main" id="{CB7097AA-F97E-84E6-C9A4-878757911C7D}"/>
              </a:ext>
            </a:extLst>
          </p:cNvPr>
          <p:cNvSpPr/>
          <p:nvPr/>
        </p:nvSpPr>
        <p:spPr>
          <a:xfrm>
            <a:off x="1201051" y="3716273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2" name="Shape 14">
            <a:extLst>
              <a:ext uri="{FF2B5EF4-FFF2-40B4-BE49-F238E27FC236}">
                <a16:creationId xmlns:a16="http://schemas.microsoft.com/office/drawing/2014/main" id="{92FEC86C-BB5A-1D91-6A7E-49118EA970C4}"/>
              </a:ext>
            </a:extLst>
          </p:cNvPr>
          <p:cNvSpPr/>
          <p:nvPr/>
        </p:nvSpPr>
        <p:spPr>
          <a:xfrm>
            <a:off x="1201051" y="3716273"/>
            <a:ext cx="384048" cy="749808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D86D891C-C1F5-A692-9DC9-D94D77D39BB6}"/>
              </a:ext>
            </a:extLst>
          </p:cNvPr>
          <p:cNvSpPr/>
          <p:nvPr/>
        </p:nvSpPr>
        <p:spPr>
          <a:xfrm>
            <a:off x="1201051" y="3716273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03</a:t>
            </a:r>
            <a:endParaRPr lang="fr-FR" sz="1300" noProof="0" dirty="0"/>
          </a:p>
        </p:txBody>
      </p:sp>
      <p:sp>
        <p:nvSpPr>
          <p:cNvPr id="104" name="Text 16">
            <a:extLst>
              <a:ext uri="{FF2B5EF4-FFF2-40B4-BE49-F238E27FC236}">
                <a16:creationId xmlns:a16="http://schemas.microsoft.com/office/drawing/2014/main" id="{BCA273A2-EEA0-311D-5453-77990BADD877}"/>
              </a:ext>
            </a:extLst>
          </p:cNvPr>
          <p:cNvSpPr/>
          <p:nvPr/>
        </p:nvSpPr>
        <p:spPr>
          <a:xfrm>
            <a:off x="1676539" y="3789425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Les données utilisées</a:t>
            </a:r>
            <a:endParaRPr lang="fr-FR" sz="1200" noProof="0" dirty="0"/>
          </a:p>
        </p:txBody>
      </p:sp>
      <p:sp>
        <p:nvSpPr>
          <p:cNvPr id="105" name="Text 17">
            <a:extLst>
              <a:ext uri="{FF2B5EF4-FFF2-40B4-BE49-F238E27FC236}">
                <a16:creationId xmlns:a16="http://schemas.microsoft.com/office/drawing/2014/main" id="{F12DB912-11D5-2F77-C6B4-5F4842A2A505}"/>
              </a:ext>
            </a:extLst>
          </p:cNvPr>
          <p:cNvSpPr/>
          <p:nvPr/>
        </p:nvSpPr>
        <p:spPr>
          <a:xfrm>
            <a:off x="1676539" y="4118609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D'où vient l'information, comment elle est organisée</a:t>
            </a:r>
            <a:endParaRPr lang="fr-FR" sz="900" noProof="0" dirty="0"/>
          </a:p>
        </p:txBody>
      </p:sp>
      <p:sp>
        <p:nvSpPr>
          <p:cNvPr id="106" name="Shape 18">
            <a:extLst>
              <a:ext uri="{FF2B5EF4-FFF2-40B4-BE49-F238E27FC236}">
                <a16:creationId xmlns:a16="http://schemas.microsoft.com/office/drawing/2014/main" id="{4BF11FD2-AB41-C7D0-421D-73076609D7CE}"/>
              </a:ext>
            </a:extLst>
          </p:cNvPr>
          <p:cNvSpPr/>
          <p:nvPr/>
        </p:nvSpPr>
        <p:spPr>
          <a:xfrm>
            <a:off x="1201051" y="4612385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7" name="Shape 19">
            <a:extLst>
              <a:ext uri="{FF2B5EF4-FFF2-40B4-BE49-F238E27FC236}">
                <a16:creationId xmlns:a16="http://schemas.microsoft.com/office/drawing/2014/main" id="{BEC9AEC7-C1BF-07CE-B9C8-93043C5AA7BD}"/>
              </a:ext>
            </a:extLst>
          </p:cNvPr>
          <p:cNvSpPr/>
          <p:nvPr/>
        </p:nvSpPr>
        <p:spPr>
          <a:xfrm>
            <a:off x="1201051" y="4612385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8" name="Text 20">
            <a:extLst>
              <a:ext uri="{FF2B5EF4-FFF2-40B4-BE49-F238E27FC236}">
                <a16:creationId xmlns:a16="http://schemas.microsoft.com/office/drawing/2014/main" id="{412D407E-3894-F323-668C-AAFE8362F062}"/>
              </a:ext>
            </a:extLst>
          </p:cNvPr>
          <p:cNvSpPr/>
          <p:nvPr/>
        </p:nvSpPr>
        <p:spPr>
          <a:xfrm>
            <a:off x="1201051" y="461238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04</a:t>
            </a:r>
            <a:endParaRPr lang="fr-FR" sz="1300" noProof="0" dirty="0"/>
          </a:p>
        </p:txBody>
      </p:sp>
      <p:sp>
        <p:nvSpPr>
          <p:cNvPr id="109" name="Text 21">
            <a:extLst>
              <a:ext uri="{FF2B5EF4-FFF2-40B4-BE49-F238E27FC236}">
                <a16:creationId xmlns:a16="http://schemas.microsoft.com/office/drawing/2014/main" id="{6CD3CD78-7441-6A5A-F2C1-7A0EE7E38B72}"/>
              </a:ext>
            </a:extLst>
          </p:cNvPr>
          <p:cNvSpPr/>
          <p:nvPr/>
        </p:nvSpPr>
        <p:spPr>
          <a:xfrm>
            <a:off x="1676539" y="4685537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Le pipeline étape par étape</a:t>
            </a:r>
            <a:endParaRPr lang="fr-FR" sz="1200" noProof="0" dirty="0"/>
          </a:p>
        </p:txBody>
      </p:sp>
      <p:sp>
        <p:nvSpPr>
          <p:cNvPr id="110" name="Text 22">
            <a:extLst>
              <a:ext uri="{FF2B5EF4-FFF2-40B4-BE49-F238E27FC236}">
                <a16:creationId xmlns:a16="http://schemas.microsoft.com/office/drawing/2014/main" id="{C59B4263-7F56-055A-76C2-71CECE0214D9}"/>
              </a:ext>
            </a:extLst>
          </p:cNvPr>
          <p:cNvSpPr/>
          <p:nvPr/>
        </p:nvSpPr>
        <p:spPr>
          <a:xfrm>
            <a:off x="1676539" y="501472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Nettoyer → Enrichir → Découper → Indexer</a:t>
            </a:r>
            <a:endParaRPr lang="fr-FR" sz="900" noProof="0" dirty="0"/>
          </a:p>
        </p:txBody>
      </p:sp>
      <p:sp>
        <p:nvSpPr>
          <p:cNvPr id="111" name="Shape 23">
            <a:extLst>
              <a:ext uri="{FF2B5EF4-FFF2-40B4-BE49-F238E27FC236}">
                <a16:creationId xmlns:a16="http://schemas.microsoft.com/office/drawing/2014/main" id="{6DEED9C1-E6EF-67F3-2799-203EBC915CEA}"/>
              </a:ext>
            </a:extLst>
          </p:cNvPr>
          <p:cNvSpPr/>
          <p:nvPr/>
        </p:nvSpPr>
        <p:spPr>
          <a:xfrm>
            <a:off x="6840914" y="1924049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2" name="Shape 24">
            <a:extLst>
              <a:ext uri="{FF2B5EF4-FFF2-40B4-BE49-F238E27FC236}">
                <a16:creationId xmlns:a16="http://schemas.microsoft.com/office/drawing/2014/main" id="{A4ECB424-14EF-5603-1CAB-D6AEFB60BF98}"/>
              </a:ext>
            </a:extLst>
          </p:cNvPr>
          <p:cNvSpPr/>
          <p:nvPr/>
        </p:nvSpPr>
        <p:spPr>
          <a:xfrm>
            <a:off x="6840914" y="1924049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3" name="Text 25">
            <a:extLst>
              <a:ext uri="{FF2B5EF4-FFF2-40B4-BE49-F238E27FC236}">
                <a16:creationId xmlns:a16="http://schemas.microsoft.com/office/drawing/2014/main" id="{457AD473-4FF8-7C87-441F-BF313FC30029}"/>
              </a:ext>
            </a:extLst>
          </p:cNvPr>
          <p:cNvSpPr/>
          <p:nvPr/>
        </p:nvSpPr>
        <p:spPr>
          <a:xfrm>
            <a:off x="6840914" y="1924049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05</a:t>
            </a:r>
            <a:endParaRPr lang="fr-FR" sz="1300" noProof="0" dirty="0"/>
          </a:p>
        </p:txBody>
      </p:sp>
      <p:sp>
        <p:nvSpPr>
          <p:cNvPr id="114" name="Text 26">
            <a:extLst>
              <a:ext uri="{FF2B5EF4-FFF2-40B4-BE49-F238E27FC236}">
                <a16:creationId xmlns:a16="http://schemas.microsoft.com/office/drawing/2014/main" id="{CA0625CB-51A9-BDD7-3454-C87247F5FC06}"/>
              </a:ext>
            </a:extLst>
          </p:cNvPr>
          <p:cNvSpPr/>
          <p:nvPr/>
        </p:nvSpPr>
        <p:spPr>
          <a:xfrm>
            <a:off x="7316402" y="1997201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Les résultats mesurés</a:t>
            </a:r>
            <a:endParaRPr lang="fr-FR" sz="1200" noProof="0" dirty="0"/>
          </a:p>
        </p:txBody>
      </p:sp>
      <p:sp>
        <p:nvSpPr>
          <p:cNvPr id="115" name="Text 27">
            <a:extLst>
              <a:ext uri="{FF2B5EF4-FFF2-40B4-BE49-F238E27FC236}">
                <a16:creationId xmlns:a16="http://schemas.microsoft.com/office/drawing/2014/main" id="{0F05D51A-E891-4135-9FF9-4FC027ED26C2}"/>
              </a:ext>
            </a:extLst>
          </p:cNvPr>
          <p:cNvSpPr/>
          <p:nvPr/>
        </p:nvSpPr>
        <p:spPr>
          <a:xfrm>
            <a:off x="7316402" y="2326385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50 questions, 26 réponses — ce que ça nous dit</a:t>
            </a:r>
            <a:endParaRPr lang="fr-FR" sz="900" noProof="0" dirty="0"/>
          </a:p>
        </p:txBody>
      </p:sp>
      <p:sp>
        <p:nvSpPr>
          <p:cNvPr id="116" name="Shape 28">
            <a:extLst>
              <a:ext uri="{FF2B5EF4-FFF2-40B4-BE49-F238E27FC236}">
                <a16:creationId xmlns:a16="http://schemas.microsoft.com/office/drawing/2014/main" id="{DBED9F42-2E84-D4B5-0E07-B7B918E9ED73}"/>
              </a:ext>
            </a:extLst>
          </p:cNvPr>
          <p:cNvSpPr/>
          <p:nvPr/>
        </p:nvSpPr>
        <p:spPr>
          <a:xfrm>
            <a:off x="6840914" y="2820161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7" name="Shape 29">
            <a:extLst>
              <a:ext uri="{FF2B5EF4-FFF2-40B4-BE49-F238E27FC236}">
                <a16:creationId xmlns:a16="http://schemas.microsoft.com/office/drawing/2014/main" id="{1B45B85D-5445-6805-E625-C804E78658F2}"/>
              </a:ext>
            </a:extLst>
          </p:cNvPr>
          <p:cNvSpPr/>
          <p:nvPr/>
        </p:nvSpPr>
        <p:spPr>
          <a:xfrm>
            <a:off x="6840914" y="2820161"/>
            <a:ext cx="384048" cy="749808"/>
          </a:xfrm>
          <a:prstGeom prst="rect">
            <a:avLst/>
          </a:prstGeom>
          <a:solidFill>
            <a:srgbClr val="FFD200"/>
          </a:solidFill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8" name="Text 30">
            <a:extLst>
              <a:ext uri="{FF2B5EF4-FFF2-40B4-BE49-F238E27FC236}">
                <a16:creationId xmlns:a16="http://schemas.microsoft.com/office/drawing/2014/main" id="{12857F2F-D73B-1325-5B12-DD9F761B7F97}"/>
              </a:ext>
            </a:extLst>
          </p:cNvPr>
          <p:cNvSpPr/>
          <p:nvPr/>
        </p:nvSpPr>
        <p:spPr>
          <a:xfrm>
            <a:off x="6840914" y="2820161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06</a:t>
            </a:r>
            <a:endParaRPr lang="fr-FR" sz="1300" noProof="0" dirty="0"/>
          </a:p>
        </p:txBody>
      </p:sp>
      <p:sp>
        <p:nvSpPr>
          <p:cNvPr id="119" name="Text 31">
            <a:extLst>
              <a:ext uri="{FF2B5EF4-FFF2-40B4-BE49-F238E27FC236}">
                <a16:creationId xmlns:a16="http://schemas.microsoft.com/office/drawing/2014/main" id="{5BFD3B2A-D775-5FAD-3140-FA567962A59B}"/>
              </a:ext>
            </a:extLst>
          </p:cNvPr>
          <p:cNvSpPr/>
          <p:nvPr/>
        </p:nvSpPr>
        <p:spPr>
          <a:xfrm>
            <a:off x="7316402" y="2893313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Config A vs Config B</a:t>
            </a:r>
            <a:endParaRPr lang="fr-FR" sz="1200" noProof="0" dirty="0"/>
          </a:p>
        </p:txBody>
      </p:sp>
      <p:sp>
        <p:nvSpPr>
          <p:cNvPr id="120" name="Text 32">
            <a:extLst>
              <a:ext uri="{FF2B5EF4-FFF2-40B4-BE49-F238E27FC236}">
                <a16:creationId xmlns:a16="http://schemas.microsoft.com/office/drawing/2014/main" id="{D3BA0ECD-EF32-7AC6-A8F4-55CC5B328536}"/>
              </a:ext>
            </a:extLst>
          </p:cNvPr>
          <p:cNvSpPr/>
          <p:nvPr/>
        </p:nvSpPr>
        <p:spPr>
          <a:xfrm>
            <a:off x="7316402" y="3222497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Tester deux versions — laquelle répond mieux ?</a:t>
            </a:r>
            <a:endParaRPr lang="fr-FR" sz="900" noProof="0" dirty="0"/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ABEA4CCD-294C-5D42-1C7F-C13A3707DF42}"/>
              </a:ext>
            </a:extLst>
          </p:cNvPr>
          <p:cNvSpPr/>
          <p:nvPr/>
        </p:nvSpPr>
        <p:spPr>
          <a:xfrm>
            <a:off x="6840914" y="3716273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2" name="Shape 34">
            <a:extLst>
              <a:ext uri="{FF2B5EF4-FFF2-40B4-BE49-F238E27FC236}">
                <a16:creationId xmlns:a16="http://schemas.microsoft.com/office/drawing/2014/main" id="{DAF4469C-1D88-46C2-9ABB-CE13F8065E70}"/>
              </a:ext>
            </a:extLst>
          </p:cNvPr>
          <p:cNvSpPr/>
          <p:nvPr/>
        </p:nvSpPr>
        <p:spPr>
          <a:xfrm>
            <a:off x="6840914" y="3716273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3" name="Text 35">
            <a:extLst>
              <a:ext uri="{FF2B5EF4-FFF2-40B4-BE49-F238E27FC236}">
                <a16:creationId xmlns:a16="http://schemas.microsoft.com/office/drawing/2014/main" id="{A0F470A6-D7E4-61E3-A3D7-21D6A1BB6BC9}"/>
              </a:ext>
            </a:extLst>
          </p:cNvPr>
          <p:cNvSpPr/>
          <p:nvPr/>
        </p:nvSpPr>
        <p:spPr>
          <a:xfrm>
            <a:off x="6840914" y="3716273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07</a:t>
            </a:r>
            <a:endParaRPr lang="fr-FR" sz="1300" noProof="0" dirty="0"/>
          </a:p>
        </p:txBody>
      </p:sp>
      <p:sp>
        <p:nvSpPr>
          <p:cNvPr id="124" name="Text 36">
            <a:extLst>
              <a:ext uri="{FF2B5EF4-FFF2-40B4-BE49-F238E27FC236}">
                <a16:creationId xmlns:a16="http://schemas.microsoft.com/office/drawing/2014/main" id="{E9A0CB5E-5CE0-5BC3-049A-D87BFB67E2AA}"/>
              </a:ext>
            </a:extLst>
          </p:cNvPr>
          <p:cNvSpPr/>
          <p:nvPr/>
        </p:nvSpPr>
        <p:spPr>
          <a:xfrm>
            <a:off x="7316402" y="3789425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Ce qu'il reste à faire</a:t>
            </a:r>
            <a:endParaRPr lang="fr-FR" sz="1200" noProof="0" dirty="0"/>
          </a:p>
        </p:txBody>
      </p:sp>
      <p:sp>
        <p:nvSpPr>
          <p:cNvPr id="125" name="Text 37">
            <a:extLst>
              <a:ext uri="{FF2B5EF4-FFF2-40B4-BE49-F238E27FC236}">
                <a16:creationId xmlns:a16="http://schemas.microsoft.com/office/drawing/2014/main" id="{8B3F7385-CCB0-ACFA-530C-38CE6169DD63}"/>
              </a:ext>
            </a:extLst>
          </p:cNvPr>
          <p:cNvSpPr/>
          <p:nvPr/>
        </p:nvSpPr>
        <p:spPr>
          <a:xfrm>
            <a:off x="7316402" y="4118609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Actions concrètes et priorités</a:t>
            </a:r>
            <a:endParaRPr lang="fr-FR" sz="900" noProof="0" dirty="0"/>
          </a:p>
        </p:txBody>
      </p:sp>
      <p:sp>
        <p:nvSpPr>
          <p:cNvPr id="126" name="Shape 38">
            <a:extLst>
              <a:ext uri="{FF2B5EF4-FFF2-40B4-BE49-F238E27FC236}">
                <a16:creationId xmlns:a16="http://schemas.microsoft.com/office/drawing/2014/main" id="{68D0FC41-5B41-AAE6-D851-F18DC7C3091D}"/>
              </a:ext>
            </a:extLst>
          </p:cNvPr>
          <p:cNvSpPr/>
          <p:nvPr/>
        </p:nvSpPr>
        <p:spPr>
          <a:xfrm>
            <a:off x="6840914" y="4612385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7" name="Shape 39">
            <a:extLst>
              <a:ext uri="{FF2B5EF4-FFF2-40B4-BE49-F238E27FC236}">
                <a16:creationId xmlns:a16="http://schemas.microsoft.com/office/drawing/2014/main" id="{7720CA3F-9378-E779-087C-8CFD216E1858}"/>
              </a:ext>
            </a:extLst>
          </p:cNvPr>
          <p:cNvSpPr/>
          <p:nvPr/>
        </p:nvSpPr>
        <p:spPr>
          <a:xfrm>
            <a:off x="6840914" y="4612385"/>
            <a:ext cx="384048" cy="749808"/>
          </a:xfrm>
          <a:prstGeom prst="rect">
            <a:avLst/>
          </a:prstGeom>
          <a:solidFill>
            <a:srgbClr val="425A78"/>
          </a:solidFill>
          <a:ln w="12700">
            <a:solidFill>
              <a:srgbClr val="425A7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8" name="Text 40">
            <a:extLst>
              <a:ext uri="{FF2B5EF4-FFF2-40B4-BE49-F238E27FC236}">
                <a16:creationId xmlns:a16="http://schemas.microsoft.com/office/drawing/2014/main" id="{1D6E690E-946F-58E5-581A-AC65A697C4FB}"/>
              </a:ext>
            </a:extLst>
          </p:cNvPr>
          <p:cNvSpPr/>
          <p:nvPr/>
        </p:nvSpPr>
        <p:spPr>
          <a:xfrm>
            <a:off x="6840914" y="461238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08</a:t>
            </a:r>
            <a:endParaRPr lang="fr-FR" sz="1300" noProof="0" dirty="0"/>
          </a:p>
        </p:txBody>
      </p:sp>
      <p:sp>
        <p:nvSpPr>
          <p:cNvPr id="129" name="Text 41">
            <a:extLst>
              <a:ext uri="{FF2B5EF4-FFF2-40B4-BE49-F238E27FC236}">
                <a16:creationId xmlns:a16="http://schemas.microsoft.com/office/drawing/2014/main" id="{713CDE8E-119E-4722-6293-44FE3115C20F}"/>
              </a:ext>
            </a:extLst>
          </p:cNvPr>
          <p:cNvSpPr/>
          <p:nvPr/>
        </p:nvSpPr>
        <p:spPr>
          <a:xfrm>
            <a:off x="7316402" y="4685537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Discussion</a:t>
            </a:r>
            <a:endParaRPr lang="fr-FR" sz="1200" noProof="0" dirty="0"/>
          </a:p>
        </p:txBody>
      </p:sp>
      <p:sp>
        <p:nvSpPr>
          <p:cNvPr id="130" name="Text 42">
            <a:extLst>
              <a:ext uri="{FF2B5EF4-FFF2-40B4-BE49-F238E27FC236}">
                <a16:creationId xmlns:a16="http://schemas.microsoft.com/office/drawing/2014/main" id="{E8EE5C7E-2B02-8D36-3BD9-E6AF8DC980B9}"/>
              </a:ext>
            </a:extLst>
          </p:cNvPr>
          <p:cNvSpPr/>
          <p:nvPr/>
        </p:nvSpPr>
        <p:spPr>
          <a:xfrm>
            <a:off x="7316402" y="501472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Vos questions, vos retours d'expérience</a:t>
            </a:r>
            <a:endParaRPr lang="fr-FR" sz="900" noProof="0" dirty="0"/>
          </a:p>
        </p:txBody>
      </p:sp>
    </p:spTree>
    <p:extLst>
      <p:ext uri="{BB962C8B-B14F-4D97-AF65-F5344CB8AC3E}">
        <p14:creationId xmlns:p14="http://schemas.microsoft.com/office/powerpoint/2010/main" val="155006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5">
            <a:extLst>
              <a:ext uri="{FF2B5EF4-FFF2-40B4-BE49-F238E27FC236}">
                <a16:creationId xmlns:a16="http://schemas.microsoft.com/office/drawing/2014/main" id="{513AAA9E-DB8B-6BC0-E2F8-99FB521B4AC4}"/>
              </a:ext>
            </a:extLst>
          </p:cNvPr>
          <p:cNvSpPr/>
          <p:nvPr/>
        </p:nvSpPr>
        <p:spPr>
          <a:xfrm>
            <a:off x="1640020" y="1568479"/>
            <a:ext cx="10551980" cy="3945841"/>
          </a:xfrm>
          <a:prstGeom prst="rect">
            <a:avLst/>
          </a:prstGeom>
          <a:solidFill>
            <a:srgbClr val="3CB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300" noProof="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8C16DE0E-4503-E3F3-F0C4-B36F653B340E}"/>
              </a:ext>
            </a:extLst>
          </p:cNvPr>
          <p:cNvSpPr/>
          <p:nvPr/>
        </p:nvSpPr>
        <p:spPr>
          <a:xfrm>
            <a:off x="2538913" y="2245136"/>
            <a:ext cx="7282161" cy="72180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5A9E8CE6-47D8-1492-6DB9-6F24AA719661}"/>
              </a:ext>
            </a:extLst>
          </p:cNvPr>
          <p:cNvSpPr/>
          <p:nvPr/>
        </p:nvSpPr>
        <p:spPr>
          <a:xfrm>
            <a:off x="2534522" y="2245136"/>
            <a:ext cx="392832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3CB4E6"/>
                </a:solidFill>
              </a:rPr>
              <a:t>01</a:t>
            </a:r>
            <a:endParaRPr lang="fr-FR" sz="1300" noProof="0" dirty="0">
              <a:solidFill>
                <a:srgbClr val="3CB4E6"/>
              </a:solidFill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D2153B8-612A-18BD-6EF7-177AF25B92BD}"/>
              </a:ext>
            </a:extLst>
          </p:cNvPr>
          <p:cNvSpPr/>
          <p:nvPr/>
        </p:nvSpPr>
        <p:spPr>
          <a:xfrm>
            <a:off x="3014402" y="2318288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Pourquoi cet outil ?</a:t>
            </a:r>
            <a:endParaRPr lang="fr-FR" sz="1200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4CB6C6C5-AD64-A445-B06D-E8086D196131}"/>
              </a:ext>
            </a:extLst>
          </p:cNvPr>
          <p:cNvSpPr/>
          <p:nvPr/>
        </p:nvSpPr>
        <p:spPr>
          <a:xfrm>
            <a:off x="3014402" y="264747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Le problème que ça résout au quotidien</a:t>
            </a:r>
            <a:endParaRPr lang="fr-FR" sz="900" noProof="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C920F671-3938-19D3-89E3-ECE60601649D}"/>
              </a:ext>
            </a:extLst>
          </p:cNvPr>
          <p:cNvSpPr/>
          <p:nvPr/>
        </p:nvSpPr>
        <p:spPr>
          <a:xfrm>
            <a:off x="2534522" y="3141248"/>
            <a:ext cx="7282160" cy="72180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F6823094-BF70-880E-1DA7-9E002A7230C3}"/>
              </a:ext>
            </a:extLst>
          </p:cNvPr>
          <p:cNvSpPr/>
          <p:nvPr/>
        </p:nvSpPr>
        <p:spPr>
          <a:xfrm>
            <a:off x="2538914" y="3141248"/>
            <a:ext cx="384048" cy="749808"/>
          </a:xfrm>
          <a:prstGeom prst="rect">
            <a:avLst/>
          </a:prstGeom>
          <a:noFill/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C151FE1D-207C-78C0-5CCA-EB2AB23E04FE}"/>
              </a:ext>
            </a:extLst>
          </p:cNvPr>
          <p:cNvSpPr/>
          <p:nvPr/>
        </p:nvSpPr>
        <p:spPr>
          <a:xfrm>
            <a:off x="2538914" y="3141248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3CB4E6"/>
                </a:solidFill>
              </a:rPr>
              <a:t>02</a:t>
            </a:r>
            <a:endParaRPr lang="fr-FR" sz="1300" noProof="0" dirty="0">
              <a:solidFill>
                <a:srgbClr val="3CB4E6"/>
              </a:solidFill>
            </a:endParaRPr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7DB5348A-F02A-7FC2-8321-7951EDBCEA3D}"/>
              </a:ext>
            </a:extLst>
          </p:cNvPr>
          <p:cNvSpPr/>
          <p:nvPr/>
        </p:nvSpPr>
        <p:spPr>
          <a:xfrm>
            <a:off x="3014402" y="321440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C'est quoi l'IA ici ?</a:t>
            </a:r>
            <a:endParaRPr lang="fr-FR" sz="1200" noProof="0" dirty="0"/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DA7B21B4-5984-B95A-6E70-BDA7F5B30E17}"/>
              </a:ext>
            </a:extLst>
          </p:cNvPr>
          <p:cNvSpPr/>
          <p:nvPr/>
        </p:nvSpPr>
        <p:spPr>
          <a:xfrm>
            <a:off x="3014402" y="354358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Explication simple : pas de magie, juste de la logique</a:t>
            </a:r>
            <a:endParaRPr lang="fr-FR" sz="900" noProof="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F3E78D2-0CD3-1745-DA6B-A5774AB4DCEC}"/>
              </a:ext>
            </a:extLst>
          </p:cNvPr>
          <p:cNvSpPr/>
          <p:nvPr/>
        </p:nvSpPr>
        <p:spPr>
          <a:xfrm>
            <a:off x="2538914" y="4037360"/>
            <a:ext cx="7282160" cy="72180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C7F08179-5F0F-D3FE-CB6A-4C1F328C0554}"/>
              </a:ext>
            </a:extLst>
          </p:cNvPr>
          <p:cNvSpPr/>
          <p:nvPr/>
        </p:nvSpPr>
        <p:spPr>
          <a:xfrm>
            <a:off x="2534522" y="4037360"/>
            <a:ext cx="388440" cy="749808"/>
          </a:xfrm>
          <a:prstGeom prst="rect">
            <a:avLst/>
          </a:prstGeom>
          <a:noFill/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1C79DE27-FA02-2FC9-DA7C-1998F59F624B}"/>
              </a:ext>
            </a:extLst>
          </p:cNvPr>
          <p:cNvSpPr/>
          <p:nvPr/>
        </p:nvSpPr>
        <p:spPr>
          <a:xfrm>
            <a:off x="2538914" y="4037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3CB4E6"/>
                </a:solidFill>
              </a:rPr>
              <a:t>03</a:t>
            </a:r>
            <a:endParaRPr lang="fr-FR" sz="1300" noProof="0" dirty="0">
              <a:solidFill>
                <a:srgbClr val="3CB4E6"/>
              </a:solidFill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66A6619B-8674-BA64-3CE5-896A0EFF018F}"/>
              </a:ext>
            </a:extLst>
          </p:cNvPr>
          <p:cNvSpPr/>
          <p:nvPr/>
        </p:nvSpPr>
        <p:spPr>
          <a:xfrm>
            <a:off x="3014402" y="41105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Les données utilisées</a:t>
            </a:r>
            <a:endParaRPr lang="fr-FR" sz="1200" noProof="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4B50D910-75A8-1AED-946D-B2B206AD6D9F}"/>
              </a:ext>
            </a:extLst>
          </p:cNvPr>
          <p:cNvSpPr/>
          <p:nvPr/>
        </p:nvSpPr>
        <p:spPr>
          <a:xfrm>
            <a:off x="3014402" y="443969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D'où vient l'information, comment elle est organisée</a:t>
            </a:r>
            <a:endParaRPr lang="fr-FR" sz="900" noProof="0" dirty="0"/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09C748F6-8BE4-78A2-1C71-100DE8CA8A16}"/>
              </a:ext>
            </a:extLst>
          </p:cNvPr>
          <p:cNvSpPr/>
          <p:nvPr/>
        </p:nvSpPr>
        <p:spPr>
          <a:xfrm>
            <a:off x="2547697" y="2245136"/>
            <a:ext cx="384048" cy="749808"/>
          </a:xfrm>
          <a:prstGeom prst="rect">
            <a:avLst/>
          </a:prstGeom>
          <a:noFill/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844948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59EE-04AF-02E3-73BF-9D0DB6BF2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Pourquoi cet outil ?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51962E-1811-D4DA-B3AD-57BB4B8BD207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Le problème du quotidien 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BE1E6DC5-0CC8-EA2E-99B1-16C6126DAF92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Avant cet outil, retrouver l'info technique prenait du temps</a:t>
            </a:r>
            <a:endParaRPr lang="fr-FR" sz="1200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BAE4DBE-2314-9AF0-2A70-5F77B01B4E1B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9" name="Shape 5">
            <a:extLst>
              <a:ext uri="{FF2B5EF4-FFF2-40B4-BE49-F238E27FC236}">
                <a16:creationId xmlns:a16="http://schemas.microsoft.com/office/drawing/2014/main" id="{CE2321E8-B480-DE44-A9C1-3638DF729EEF}"/>
              </a:ext>
            </a:extLst>
          </p:cNvPr>
          <p:cNvSpPr/>
          <p:nvPr/>
        </p:nvSpPr>
        <p:spPr>
          <a:xfrm>
            <a:off x="1381838" y="2154230"/>
            <a:ext cx="4114800" cy="34279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F59F360F-8217-809D-F8D4-1F31EE2F0915}"/>
              </a:ext>
            </a:extLst>
          </p:cNvPr>
          <p:cNvSpPr/>
          <p:nvPr/>
        </p:nvSpPr>
        <p:spPr>
          <a:xfrm>
            <a:off x="1381838" y="2154230"/>
            <a:ext cx="4114800" cy="36576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449FD0F9-3B86-88CD-15DE-A5760E1EBF5D}"/>
              </a:ext>
            </a:extLst>
          </p:cNvPr>
          <p:cNvSpPr/>
          <p:nvPr/>
        </p:nvSpPr>
        <p:spPr>
          <a:xfrm>
            <a:off x="1473278" y="215423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😓  La situation avant</a:t>
            </a:r>
            <a:endParaRPr lang="fr-FR" sz="1300" noProof="0" dirty="0"/>
          </a:p>
        </p:txBody>
      </p:sp>
      <p:pic>
        <p:nvPicPr>
          <p:cNvPr id="62" name="Image 0" descr="preencoded.png">
            <a:extLst>
              <a:ext uri="{FF2B5EF4-FFF2-40B4-BE49-F238E27FC236}">
                <a16:creationId xmlns:a16="http://schemas.microsoft.com/office/drawing/2014/main" id="{E09EF2AA-6019-6216-8690-C391DF9A4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138" y="2775409"/>
            <a:ext cx="188100" cy="188100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5CE6970-C09A-112B-F290-8FA1C5D1E463}"/>
              </a:ext>
            </a:extLst>
          </p:cNvPr>
          <p:cNvSpPr/>
          <p:nvPr/>
        </p:nvSpPr>
        <p:spPr>
          <a:xfrm>
            <a:off x="1857326" y="271961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Un client signale un bug DMA sur STM32H7</a:t>
            </a:r>
            <a:endParaRPr lang="fr-FR" sz="1100" noProof="0" dirty="0"/>
          </a:p>
        </p:txBody>
      </p:sp>
      <p:sp>
        <p:nvSpPr>
          <p:cNvPr id="65" name="Text 9">
            <a:extLst>
              <a:ext uri="{FF2B5EF4-FFF2-40B4-BE49-F238E27FC236}">
                <a16:creationId xmlns:a16="http://schemas.microsoft.com/office/drawing/2014/main" id="{261E1AB9-33F8-E435-B586-BD6B432D6BD1}"/>
              </a:ext>
            </a:extLst>
          </p:cNvPr>
          <p:cNvSpPr/>
          <p:nvPr/>
        </p:nvSpPr>
        <p:spPr>
          <a:xfrm>
            <a:off x="1857326" y="314938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L'ingénieur cherche dans GitHub : 300+ issues</a:t>
            </a:r>
            <a:endParaRPr lang="fr-FR" sz="1100" noProof="0" dirty="0"/>
          </a:p>
        </p:txBody>
      </p:sp>
      <p:sp>
        <p:nvSpPr>
          <p:cNvPr id="67" name="Text 10">
            <a:extLst>
              <a:ext uri="{FF2B5EF4-FFF2-40B4-BE49-F238E27FC236}">
                <a16:creationId xmlns:a16="http://schemas.microsoft.com/office/drawing/2014/main" id="{759AE009-20ED-ACC2-3D12-F10949A182EA}"/>
              </a:ext>
            </a:extLst>
          </p:cNvPr>
          <p:cNvSpPr/>
          <p:nvPr/>
        </p:nvSpPr>
        <p:spPr>
          <a:xfrm>
            <a:off x="1857326" y="357915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Il cherche dans la doc : 5 000+ fichiers</a:t>
            </a:r>
            <a:endParaRPr lang="fr-FR" sz="1100" noProof="0" dirty="0"/>
          </a:p>
        </p:txBody>
      </p:sp>
      <p:sp>
        <p:nvSpPr>
          <p:cNvPr id="69" name="Text 11">
            <a:extLst>
              <a:ext uri="{FF2B5EF4-FFF2-40B4-BE49-F238E27FC236}">
                <a16:creationId xmlns:a16="http://schemas.microsoft.com/office/drawing/2014/main" id="{CAEC0A41-E793-47FB-4EEF-29188F706E36}"/>
              </a:ext>
            </a:extLst>
          </p:cNvPr>
          <p:cNvSpPr/>
          <p:nvPr/>
        </p:nvSpPr>
        <p:spPr>
          <a:xfrm>
            <a:off x="1857326" y="400892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Il recoupe manuellement issues + release notes + </a:t>
            </a:r>
            <a:r>
              <a:rPr lang="fr-FR" sz="1100" noProof="0" dirty="0" err="1">
                <a:solidFill>
                  <a:srgbClr val="1B2A3B"/>
                </a:solidFill>
              </a:rPr>
              <a:t>PRs</a:t>
            </a:r>
            <a:endParaRPr lang="fr-FR" sz="1100" noProof="0" dirty="0"/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B1A57507-7451-C124-893D-F390BF379ED2}"/>
              </a:ext>
            </a:extLst>
          </p:cNvPr>
          <p:cNvSpPr/>
          <p:nvPr/>
        </p:nvSpPr>
        <p:spPr>
          <a:xfrm>
            <a:off x="1857326" y="443869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Il faut 30–60 min pour trouver si le bug est connu</a:t>
            </a:r>
            <a:endParaRPr lang="fr-FR" sz="1100" noProof="0" dirty="0"/>
          </a:p>
        </p:txBody>
      </p:sp>
      <p:pic>
        <p:nvPicPr>
          <p:cNvPr id="72" name="Image 5" descr="preencoded.png">
            <a:extLst>
              <a:ext uri="{FF2B5EF4-FFF2-40B4-BE49-F238E27FC236}">
                <a16:creationId xmlns:a16="http://schemas.microsoft.com/office/drawing/2014/main" id="{40A7689E-500B-7086-150D-0EA2D040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155" y="5042970"/>
            <a:ext cx="217157" cy="217157"/>
          </a:xfrm>
          <a:prstGeom prst="rect">
            <a:avLst/>
          </a:prstGeom>
        </p:spPr>
      </p:pic>
      <p:sp>
        <p:nvSpPr>
          <p:cNvPr id="73" name="Text 13">
            <a:extLst>
              <a:ext uri="{FF2B5EF4-FFF2-40B4-BE49-F238E27FC236}">
                <a16:creationId xmlns:a16="http://schemas.microsoft.com/office/drawing/2014/main" id="{959C12B6-6C0B-BA73-5AEA-AB5CCADA1424}"/>
              </a:ext>
            </a:extLst>
          </p:cNvPr>
          <p:cNvSpPr/>
          <p:nvPr/>
        </p:nvSpPr>
        <p:spPr>
          <a:xfrm>
            <a:off x="1877189" y="501044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L'info existait , elle était juste dispersée</a:t>
            </a:r>
            <a:endParaRPr lang="fr-FR" sz="1100" noProof="0" dirty="0"/>
          </a:p>
        </p:txBody>
      </p:sp>
      <p:sp>
        <p:nvSpPr>
          <p:cNvPr id="74" name="Shape 14">
            <a:extLst>
              <a:ext uri="{FF2B5EF4-FFF2-40B4-BE49-F238E27FC236}">
                <a16:creationId xmlns:a16="http://schemas.microsoft.com/office/drawing/2014/main" id="{49E4D46C-95D1-92F6-0A51-EFD9BFCB50B9}"/>
              </a:ext>
            </a:extLst>
          </p:cNvPr>
          <p:cNvSpPr/>
          <p:nvPr/>
        </p:nvSpPr>
        <p:spPr>
          <a:xfrm>
            <a:off x="6624863" y="2154230"/>
            <a:ext cx="4114800" cy="34279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5" name="Shape 15">
            <a:extLst>
              <a:ext uri="{FF2B5EF4-FFF2-40B4-BE49-F238E27FC236}">
                <a16:creationId xmlns:a16="http://schemas.microsoft.com/office/drawing/2014/main" id="{32CB3410-3C08-6723-2D6D-1849A4F16830}"/>
              </a:ext>
            </a:extLst>
          </p:cNvPr>
          <p:cNvSpPr/>
          <p:nvPr/>
        </p:nvSpPr>
        <p:spPr>
          <a:xfrm>
            <a:off x="6624863" y="2154230"/>
            <a:ext cx="4114800" cy="365760"/>
          </a:xfrm>
          <a:prstGeom prst="rect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6" name="Text 16">
            <a:extLst>
              <a:ext uri="{FF2B5EF4-FFF2-40B4-BE49-F238E27FC236}">
                <a16:creationId xmlns:a16="http://schemas.microsoft.com/office/drawing/2014/main" id="{91F2B24A-D069-BAFC-1582-75F32D2DE213}"/>
              </a:ext>
            </a:extLst>
          </p:cNvPr>
          <p:cNvSpPr/>
          <p:nvPr/>
        </p:nvSpPr>
        <p:spPr>
          <a:xfrm>
            <a:off x="6716303" y="215423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</a:rPr>
              <a:t>✅  L'objectif de cet outil</a:t>
            </a:r>
            <a:endParaRPr lang="fr-FR" sz="1300" noProof="0" dirty="0"/>
          </a:p>
        </p:txBody>
      </p:sp>
      <p:pic>
        <p:nvPicPr>
          <p:cNvPr id="77" name="Image 6" descr="preencoded.png">
            <a:extLst>
              <a:ext uri="{FF2B5EF4-FFF2-40B4-BE49-F238E27FC236}">
                <a16:creationId xmlns:a16="http://schemas.microsoft.com/office/drawing/2014/main" id="{BEAA2734-7DEC-CD7B-250D-FE7FFB000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312" y="2831697"/>
            <a:ext cx="188100" cy="188100"/>
          </a:xfrm>
          <a:prstGeom prst="rect">
            <a:avLst/>
          </a:prstGeom>
        </p:spPr>
      </p:pic>
      <p:sp>
        <p:nvSpPr>
          <p:cNvPr id="78" name="Text 17">
            <a:extLst>
              <a:ext uri="{FF2B5EF4-FFF2-40B4-BE49-F238E27FC236}">
                <a16:creationId xmlns:a16="http://schemas.microsoft.com/office/drawing/2014/main" id="{AB99C6E9-0C87-CB67-1DEF-FCA6EE704EF1}"/>
              </a:ext>
            </a:extLst>
          </p:cNvPr>
          <p:cNvSpPr/>
          <p:nvPr/>
        </p:nvSpPr>
        <p:spPr>
          <a:xfrm>
            <a:off x="7133125" y="275251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Centraliser : </a:t>
            </a:r>
            <a:r>
              <a:rPr lang="fr-FR" sz="1100" noProof="0" dirty="0">
                <a:solidFill>
                  <a:srgbClr val="1B2A3B"/>
                </a:solidFill>
              </a:rPr>
              <a:t>toute l'info STM32 en un seul endroit</a:t>
            </a:r>
            <a:endParaRPr lang="fr-FR" sz="1100" noProof="0" dirty="0"/>
          </a:p>
        </p:txBody>
      </p:sp>
      <p:sp>
        <p:nvSpPr>
          <p:cNvPr id="80" name="Text 18">
            <a:extLst>
              <a:ext uri="{FF2B5EF4-FFF2-40B4-BE49-F238E27FC236}">
                <a16:creationId xmlns:a16="http://schemas.microsoft.com/office/drawing/2014/main" id="{4F7D0392-091E-4A4F-6A6B-F4A313AB38FC}"/>
              </a:ext>
            </a:extLst>
          </p:cNvPr>
          <p:cNvSpPr/>
          <p:nvPr/>
        </p:nvSpPr>
        <p:spPr>
          <a:xfrm>
            <a:off x="7133125" y="327372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Structurer : </a:t>
            </a:r>
            <a:r>
              <a:rPr lang="fr-FR" sz="1100" noProof="0" dirty="0">
                <a:solidFill>
                  <a:srgbClr val="1B2A3B"/>
                </a:solidFill>
              </a:rPr>
              <a:t>les données pour qu'elles soient interrogeables</a:t>
            </a:r>
            <a:endParaRPr lang="fr-FR" sz="1100" noProof="0" dirty="0"/>
          </a:p>
        </p:txBody>
      </p:sp>
      <p:sp>
        <p:nvSpPr>
          <p:cNvPr id="82" name="Text 19">
            <a:extLst>
              <a:ext uri="{FF2B5EF4-FFF2-40B4-BE49-F238E27FC236}">
                <a16:creationId xmlns:a16="http://schemas.microsoft.com/office/drawing/2014/main" id="{F7DF7FD6-1AF9-0803-82EF-49404161512C}"/>
              </a:ext>
            </a:extLst>
          </p:cNvPr>
          <p:cNvSpPr/>
          <p:nvPr/>
        </p:nvSpPr>
        <p:spPr>
          <a:xfrm>
            <a:off x="7133125" y="379493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Répondre : </a:t>
            </a:r>
            <a:r>
              <a:rPr lang="fr-FR" sz="1100" noProof="0" dirty="0">
                <a:solidFill>
                  <a:srgbClr val="1B2A3B"/>
                </a:solidFill>
              </a:rPr>
              <a:t>à une question en quelques secondes</a:t>
            </a:r>
            <a:endParaRPr lang="fr-FR" sz="1100" noProof="0" dirty="0"/>
          </a:p>
        </p:txBody>
      </p:sp>
      <p:sp>
        <p:nvSpPr>
          <p:cNvPr id="84" name="Text 20">
            <a:extLst>
              <a:ext uri="{FF2B5EF4-FFF2-40B4-BE49-F238E27FC236}">
                <a16:creationId xmlns:a16="http://schemas.microsoft.com/office/drawing/2014/main" id="{271A2FE0-BE4E-CBB8-CBDC-4D50784DADD4}"/>
              </a:ext>
            </a:extLst>
          </p:cNvPr>
          <p:cNvSpPr/>
          <p:nvPr/>
        </p:nvSpPr>
        <p:spPr>
          <a:xfrm>
            <a:off x="7133125" y="431613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Sourcer : </a:t>
            </a:r>
            <a:r>
              <a:rPr lang="fr-FR" sz="1100" noProof="0" dirty="0">
                <a:solidFill>
                  <a:srgbClr val="1B2A3B"/>
                </a:solidFill>
              </a:rPr>
              <a:t>la réponse (issue, PR, doc liée)</a:t>
            </a:r>
            <a:endParaRPr lang="fr-FR" sz="1100" noProof="0" dirty="0"/>
          </a:p>
        </p:txBody>
      </p:sp>
      <p:sp>
        <p:nvSpPr>
          <p:cNvPr id="86" name="Text 21">
            <a:extLst>
              <a:ext uri="{FF2B5EF4-FFF2-40B4-BE49-F238E27FC236}">
                <a16:creationId xmlns:a16="http://schemas.microsoft.com/office/drawing/2014/main" id="{21FAAE04-24D4-9C0C-6E6D-FBA3DCC7598D}"/>
              </a:ext>
            </a:extLst>
          </p:cNvPr>
          <p:cNvSpPr/>
          <p:nvPr/>
        </p:nvSpPr>
        <p:spPr>
          <a:xfrm>
            <a:off x="7133125" y="483734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Apprendre : </a:t>
            </a:r>
            <a:r>
              <a:rPr lang="fr-FR" sz="1100" noProof="0" dirty="0">
                <a:solidFill>
                  <a:srgbClr val="1B2A3B"/>
                </a:solidFill>
              </a:rPr>
              <a:t>de chaque bug résolu pour les suivants</a:t>
            </a:r>
            <a:endParaRPr lang="fr-FR" sz="1100" noProof="0" dirty="0"/>
          </a:p>
        </p:txBody>
      </p:sp>
      <p:pic>
        <p:nvPicPr>
          <p:cNvPr id="88" name="Image 0" descr="preencoded.png">
            <a:extLst>
              <a:ext uri="{FF2B5EF4-FFF2-40B4-BE49-F238E27FC236}">
                <a16:creationId xmlns:a16="http://schemas.microsoft.com/office/drawing/2014/main" id="{F0F5C520-8175-6BCB-309F-42473962A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64" y="3199030"/>
            <a:ext cx="188100" cy="188100"/>
          </a:xfrm>
          <a:prstGeom prst="rect">
            <a:avLst/>
          </a:prstGeom>
        </p:spPr>
      </p:pic>
      <p:pic>
        <p:nvPicPr>
          <p:cNvPr id="89" name="Image 0" descr="preencoded.png">
            <a:extLst>
              <a:ext uri="{FF2B5EF4-FFF2-40B4-BE49-F238E27FC236}">
                <a16:creationId xmlns:a16="http://schemas.microsoft.com/office/drawing/2014/main" id="{85AB6958-8187-BF7C-D680-953188381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055" y="3631408"/>
            <a:ext cx="188100" cy="188100"/>
          </a:xfrm>
          <a:prstGeom prst="rect">
            <a:avLst/>
          </a:prstGeom>
        </p:spPr>
      </p:pic>
      <p:pic>
        <p:nvPicPr>
          <p:cNvPr id="90" name="Image 0" descr="preencoded.png">
            <a:extLst>
              <a:ext uri="{FF2B5EF4-FFF2-40B4-BE49-F238E27FC236}">
                <a16:creationId xmlns:a16="http://schemas.microsoft.com/office/drawing/2014/main" id="{93569755-4A69-D067-8818-4B7EDF869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87" y="4063786"/>
            <a:ext cx="188100" cy="188100"/>
          </a:xfrm>
          <a:prstGeom prst="rect">
            <a:avLst/>
          </a:prstGeom>
        </p:spPr>
      </p:pic>
      <p:pic>
        <p:nvPicPr>
          <p:cNvPr id="91" name="Image 0" descr="preencoded.png">
            <a:extLst>
              <a:ext uri="{FF2B5EF4-FFF2-40B4-BE49-F238E27FC236}">
                <a16:creationId xmlns:a16="http://schemas.microsoft.com/office/drawing/2014/main" id="{4681AAFC-B3ED-CD48-71A3-87262541A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138" y="4500088"/>
            <a:ext cx="188100" cy="188100"/>
          </a:xfrm>
          <a:prstGeom prst="rect">
            <a:avLst/>
          </a:prstGeom>
        </p:spPr>
      </p:pic>
      <p:pic>
        <p:nvPicPr>
          <p:cNvPr id="92" name="Image 6" descr="preencoded.png">
            <a:extLst>
              <a:ext uri="{FF2B5EF4-FFF2-40B4-BE49-F238E27FC236}">
                <a16:creationId xmlns:a16="http://schemas.microsoft.com/office/drawing/2014/main" id="{C88E6204-114F-EA45-87CE-5854EE0719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312" y="3295934"/>
            <a:ext cx="188100" cy="188100"/>
          </a:xfrm>
          <a:prstGeom prst="rect">
            <a:avLst/>
          </a:prstGeom>
        </p:spPr>
      </p:pic>
      <p:pic>
        <p:nvPicPr>
          <p:cNvPr id="93" name="Image 6" descr="preencoded.png">
            <a:extLst>
              <a:ext uri="{FF2B5EF4-FFF2-40B4-BE49-F238E27FC236}">
                <a16:creationId xmlns:a16="http://schemas.microsoft.com/office/drawing/2014/main" id="{71FE2A6F-75E9-BB12-6085-01EEA1DEB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312" y="3875651"/>
            <a:ext cx="188100" cy="188100"/>
          </a:xfrm>
          <a:prstGeom prst="rect">
            <a:avLst/>
          </a:prstGeom>
        </p:spPr>
      </p:pic>
      <p:pic>
        <p:nvPicPr>
          <p:cNvPr id="94" name="Image 6" descr="preencoded.png">
            <a:extLst>
              <a:ext uri="{FF2B5EF4-FFF2-40B4-BE49-F238E27FC236}">
                <a16:creationId xmlns:a16="http://schemas.microsoft.com/office/drawing/2014/main" id="{4CD603D9-6AA2-61E4-24E5-B5A359852D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312" y="4395824"/>
            <a:ext cx="188100" cy="188100"/>
          </a:xfrm>
          <a:prstGeom prst="rect">
            <a:avLst/>
          </a:prstGeom>
        </p:spPr>
      </p:pic>
      <p:pic>
        <p:nvPicPr>
          <p:cNvPr id="95" name="Image 6" descr="preencoded.png">
            <a:extLst>
              <a:ext uri="{FF2B5EF4-FFF2-40B4-BE49-F238E27FC236}">
                <a16:creationId xmlns:a16="http://schemas.microsoft.com/office/drawing/2014/main" id="{F03727D0-74A2-35CB-8952-508FB8AC6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312" y="4930324"/>
            <a:ext cx="188100" cy="18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287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E5437-2A60-92D3-AF6E-648E9F213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108B0-6056-7A16-BB88-427E07A5C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ST </a:t>
            </a:r>
            <a:r>
              <a:rPr lang="fr-FR" sz="1800" b="1" noProof="0" dirty="0" err="1"/>
              <a:t>ChatGPT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6EA42AF-3FDF-E06E-EEC6-894A32404A90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Processus de demande et d’accès — Persona &amp; API ST </a:t>
            </a:r>
            <a:r>
              <a:rPr lang="fr-FR" sz="1200" b="1" noProof="0" dirty="0" err="1">
                <a:solidFill>
                  <a:srgbClr val="425A78"/>
                </a:solidFill>
              </a:rPr>
              <a:t>ChatGPT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F8AE2511-5D50-A27E-35FC-1BA2E79EB2E7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 la demande métier à l’accès persona / API</a:t>
            </a:r>
            <a:endParaRPr lang="fr-FR" sz="1200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C49672B-8664-BDE8-388E-3FA796447C69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A58A60B2-2424-555D-E7A6-E8A5FADC1B45}"/>
              </a:ext>
            </a:extLst>
          </p:cNvPr>
          <p:cNvSpPr/>
          <p:nvPr/>
        </p:nvSpPr>
        <p:spPr>
          <a:xfrm>
            <a:off x="1852294" y="1477975"/>
            <a:ext cx="1106727" cy="934159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E1CB36EE-DC08-B980-02F2-66D6537AB423}"/>
              </a:ext>
            </a:extLst>
          </p:cNvPr>
          <p:cNvSpPr/>
          <p:nvPr/>
        </p:nvSpPr>
        <p:spPr>
          <a:xfrm>
            <a:off x="1742566" y="180183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chemeClr val="bg1"/>
                </a:solidFill>
              </a:rPr>
              <a:t>Besoin métier</a:t>
            </a:r>
            <a:endParaRPr lang="fr-FR" sz="1000" noProof="0" dirty="0">
              <a:solidFill>
                <a:schemeClr val="bg1"/>
              </a:solidFill>
            </a:endParaRPr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4BAE4E27-8BC7-5C02-ED2E-D186D97035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454" y="1935175"/>
            <a:ext cx="311267" cy="311267"/>
          </a:xfrm>
          <a:prstGeom prst="rect">
            <a:avLst/>
          </a:prstGeom>
        </p:spPr>
      </p:pic>
      <p:sp>
        <p:nvSpPr>
          <p:cNvPr id="7" name="Shape 8">
            <a:extLst>
              <a:ext uri="{FF2B5EF4-FFF2-40B4-BE49-F238E27FC236}">
                <a16:creationId xmlns:a16="http://schemas.microsoft.com/office/drawing/2014/main" id="{1C4B083C-9A50-2BF1-C45D-002EC4AF45F1}"/>
              </a:ext>
            </a:extLst>
          </p:cNvPr>
          <p:cNvSpPr/>
          <p:nvPr/>
        </p:nvSpPr>
        <p:spPr>
          <a:xfrm>
            <a:off x="3571366" y="1477975"/>
            <a:ext cx="1106727" cy="934159"/>
          </a:xfrm>
          <a:prstGeom prst="ellipse">
            <a:avLst/>
          </a:prstGeom>
          <a:solidFill>
            <a:srgbClr val="3CB4E6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C4BDF49E-43C9-0F50-683C-AAD10109F146}"/>
              </a:ext>
            </a:extLst>
          </p:cNvPr>
          <p:cNvSpPr/>
          <p:nvPr/>
        </p:nvSpPr>
        <p:spPr>
          <a:xfrm>
            <a:off x="3708360" y="1825703"/>
            <a:ext cx="850604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chemeClr val="bg1"/>
                </a:solidFill>
              </a:rPr>
              <a:t>Demande </a:t>
            </a:r>
            <a:r>
              <a:rPr lang="fr-FR" sz="1000" b="1" noProof="0" dirty="0" err="1">
                <a:solidFill>
                  <a:schemeClr val="bg1"/>
                </a:solidFill>
              </a:rPr>
              <a:t>ServiceNow</a:t>
            </a:r>
            <a:endParaRPr lang="fr-FR" sz="1000" noProof="0" dirty="0">
              <a:solidFill>
                <a:schemeClr val="bg1"/>
              </a:solidFill>
            </a:endParaRPr>
          </a:p>
        </p:txBody>
      </p:sp>
      <p:pic>
        <p:nvPicPr>
          <p:cNvPr id="10" name="Image 3" descr="preencoded.png">
            <a:extLst>
              <a:ext uri="{FF2B5EF4-FFF2-40B4-BE49-F238E27FC236}">
                <a16:creationId xmlns:a16="http://schemas.microsoft.com/office/drawing/2014/main" id="{0D37F65C-CD0D-7310-1532-769612693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526" y="1935175"/>
            <a:ext cx="311267" cy="311267"/>
          </a:xfrm>
          <a:prstGeom prst="rect">
            <a:avLst/>
          </a:prstGeom>
        </p:spPr>
      </p:pic>
      <p:sp>
        <p:nvSpPr>
          <p:cNvPr id="11" name="Shape 11">
            <a:extLst>
              <a:ext uri="{FF2B5EF4-FFF2-40B4-BE49-F238E27FC236}">
                <a16:creationId xmlns:a16="http://schemas.microsoft.com/office/drawing/2014/main" id="{12B1EC7B-ECDC-6728-077B-623E7C6900FC}"/>
              </a:ext>
            </a:extLst>
          </p:cNvPr>
          <p:cNvSpPr/>
          <p:nvPr/>
        </p:nvSpPr>
        <p:spPr>
          <a:xfrm>
            <a:off x="5290438" y="1477975"/>
            <a:ext cx="1106727" cy="934159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0CDB2753-4EA9-7ADE-9EBF-14352FEA19AD}"/>
              </a:ext>
            </a:extLst>
          </p:cNvPr>
          <p:cNvSpPr/>
          <p:nvPr/>
        </p:nvSpPr>
        <p:spPr>
          <a:xfrm>
            <a:off x="5186682" y="1842922"/>
            <a:ext cx="1314238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Validation</a:t>
            </a:r>
            <a:endParaRPr lang="fr-FR" sz="1000" noProof="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D9860403-7BF0-AAAE-B628-19AE70949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598" y="2061866"/>
            <a:ext cx="311267" cy="311267"/>
          </a:xfrm>
          <a:prstGeom prst="rect">
            <a:avLst/>
          </a:prstGeom>
        </p:spPr>
      </p:pic>
      <p:sp>
        <p:nvSpPr>
          <p:cNvPr id="15" name="Shape 14">
            <a:extLst>
              <a:ext uri="{FF2B5EF4-FFF2-40B4-BE49-F238E27FC236}">
                <a16:creationId xmlns:a16="http://schemas.microsoft.com/office/drawing/2014/main" id="{73BFB6B6-02F5-B91C-CD98-EB76B53A7E0B}"/>
              </a:ext>
            </a:extLst>
          </p:cNvPr>
          <p:cNvSpPr/>
          <p:nvPr/>
        </p:nvSpPr>
        <p:spPr>
          <a:xfrm>
            <a:off x="7009510" y="1477975"/>
            <a:ext cx="1106727" cy="934159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A834CBE-2B18-BEF4-888B-19BD37215040}"/>
              </a:ext>
            </a:extLst>
          </p:cNvPr>
          <p:cNvSpPr/>
          <p:nvPr/>
        </p:nvSpPr>
        <p:spPr>
          <a:xfrm>
            <a:off x="7102964" y="1825703"/>
            <a:ext cx="947675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Accès / Configuration</a:t>
            </a:r>
            <a:endParaRPr lang="fr-FR" sz="1000" noProof="0" dirty="0"/>
          </a:p>
        </p:txBody>
      </p:sp>
      <p:pic>
        <p:nvPicPr>
          <p:cNvPr id="18" name="Image 7" descr="preencoded.png">
            <a:extLst>
              <a:ext uri="{FF2B5EF4-FFF2-40B4-BE49-F238E27FC236}">
                <a16:creationId xmlns:a16="http://schemas.microsoft.com/office/drawing/2014/main" id="{51B521C0-AEDA-2D06-C3E6-20554495F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4318" y="1929941"/>
            <a:ext cx="311267" cy="311267"/>
          </a:xfrm>
          <a:prstGeom prst="rect">
            <a:avLst/>
          </a:prstGeom>
        </p:spPr>
      </p:pic>
      <p:sp>
        <p:nvSpPr>
          <p:cNvPr id="19" name="Shape 17">
            <a:extLst>
              <a:ext uri="{FF2B5EF4-FFF2-40B4-BE49-F238E27FC236}">
                <a16:creationId xmlns:a16="http://schemas.microsoft.com/office/drawing/2014/main" id="{5868BA7B-B6CD-366E-C5FE-3B73B84F94D8}"/>
              </a:ext>
            </a:extLst>
          </p:cNvPr>
          <p:cNvSpPr/>
          <p:nvPr/>
        </p:nvSpPr>
        <p:spPr>
          <a:xfrm>
            <a:off x="8728582" y="1477975"/>
            <a:ext cx="1106727" cy="934159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6C4DF73-64F5-E93C-6021-E450A4991D70}"/>
              </a:ext>
            </a:extLst>
          </p:cNvPr>
          <p:cNvSpPr/>
          <p:nvPr/>
        </p:nvSpPr>
        <p:spPr>
          <a:xfrm>
            <a:off x="8624827" y="1929723"/>
            <a:ext cx="1314238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Utilisation</a:t>
            </a:r>
          </a:p>
          <a:p>
            <a:pPr marL="0" indent="0" algn="ctr">
              <a:buNone/>
            </a:pPr>
            <a:endParaRPr lang="fr-FR" sz="1000" b="1" noProof="0" dirty="0">
              <a:solidFill>
                <a:srgbClr val="1B2A3B"/>
              </a:solidFill>
            </a:endParaRPr>
          </a:p>
        </p:txBody>
      </p:sp>
      <p:pic>
        <p:nvPicPr>
          <p:cNvPr id="22" name="Graphic 21" descr="Arrow Right with solid fill">
            <a:extLst>
              <a:ext uri="{FF2B5EF4-FFF2-40B4-BE49-F238E27FC236}">
                <a16:creationId xmlns:a16="http://schemas.microsoft.com/office/drawing/2014/main" id="{3CB45117-3E4C-60E4-8625-7B042B462B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17854" y="1829694"/>
            <a:ext cx="350483" cy="350483"/>
          </a:xfrm>
          <a:prstGeom prst="rect">
            <a:avLst/>
          </a:prstGeom>
        </p:spPr>
      </p:pic>
      <p:pic>
        <p:nvPicPr>
          <p:cNvPr id="23" name="Graphic 22" descr="Arrow Right with solid fill">
            <a:extLst>
              <a:ext uri="{FF2B5EF4-FFF2-40B4-BE49-F238E27FC236}">
                <a16:creationId xmlns:a16="http://schemas.microsoft.com/office/drawing/2014/main" id="{F35E1ACF-9E29-2F34-4D29-802C554BB4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16872" y="1850229"/>
            <a:ext cx="408047" cy="408047"/>
          </a:xfrm>
          <a:prstGeom prst="rect">
            <a:avLst/>
          </a:prstGeom>
        </p:spPr>
      </p:pic>
      <p:pic>
        <p:nvPicPr>
          <p:cNvPr id="24" name="Graphic 23" descr="Arrow Right with solid fill">
            <a:extLst>
              <a:ext uri="{FF2B5EF4-FFF2-40B4-BE49-F238E27FC236}">
                <a16:creationId xmlns:a16="http://schemas.microsoft.com/office/drawing/2014/main" id="{24892018-731F-FC88-63AD-2999733281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50116" y="1854172"/>
            <a:ext cx="394420" cy="394420"/>
          </a:xfrm>
          <a:prstGeom prst="rect">
            <a:avLst/>
          </a:prstGeom>
        </p:spPr>
      </p:pic>
      <p:pic>
        <p:nvPicPr>
          <p:cNvPr id="25" name="Graphic 24" descr="Arrow Right with solid fill">
            <a:extLst>
              <a:ext uri="{FF2B5EF4-FFF2-40B4-BE49-F238E27FC236}">
                <a16:creationId xmlns:a16="http://schemas.microsoft.com/office/drawing/2014/main" id="{3F4259A0-8EE8-2F0D-13B1-6CF26AB0F7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3576" y="1841969"/>
            <a:ext cx="394452" cy="394452"/>
          </a:xfrm>
          <a:prstGeom prst="rect">
            <a:avLst/>
          </a:prstGeom>
        </p:spPr>
      </p:pic>
      <p:sp>
        <p:nvSpPr>
          <p:cNvPr id="26" name="TextBox 2">
            <a:extLst>
              <a:ext uri="{FF2B5EF4-FFF2-40B4-BE49-F238E27FC236}">
                <a16:creationId xmlns:a16="http://schemas.microsoft.com/office/drawing/2014/main" id="{5294E190-DA49-72E6-75D7-7BEB820C7F9E}"/>
              </a:ext>
            </a:extLst>
          </p:cNvPr>
          <p:cNvSpPr txBox="1"/>
          <p:nvPr/>
        </p:nvSpPr>
        <p:spPr>
          <a:xfrm>
            <a:off x="9281946" y="3879015"/>
            <a:ext cx="256969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For existing persona updates, admin rights, system prompt updates.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Technical issues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Change requests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690731-E2B7-E5F2-E444-39FE174AC4E0}"/>
              </a:ext>
            </a:extLst>
          </p:cNvPr>
          <p:cNvSpPr/>
          <p:nvPr/>
        </p:nvSpPr>
        <p:spPr>
          <a:xfrm>
            <a:off x="4334634" y="3015976"/>
            <a:ext cx="3424843" cy="8949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b="1" dirty="0"/>
              <a:t>Is the request for </a:t>
            </a:r>
            <a:r>
              <a:rPr lang="en-US" b="1" dirty="0">
                <a:solidFill>
                  <a:schemeClr val="accent3"/>
                </a:solidFill>
              </a:rPr>
              <a:t>New</a:t>
            </a:r>
            <a:r>
              <a:rPr lang="en-US" b="1" dirty="0"/>
              <a:t> Persona / API?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71CBD59-00D5-8C29-2274-7EBB249A0035}"/>
              </a:ext>
            </a:extLst>
          </p:cNvPr>
          <p:cNvGrpSpPr/>
          <p:nvPr/>
        </p:nvGrpSpPr>
        <p:grpSpPr>
          <a:xfrm>
            <a:off x="1197092" y="5280745"/>
            <a:ext cx="3761738" cy="1275345"/>
            <a:chOff x="1854334" y="4313983"/>
            <a:chExt cx="3761738" cy="1275345"/>
          </a:xfrm>
        </p:grpSpPr>
        <p:sp>
          <p:nvSpPr>
            <p:cNvPr id="29" name="TextBox 21">
              <a:extLst>
                <a:ext uri="{FF2B5EF4-FFF2-40B4-BE49-F238E27FC236}">
                  <a16:creationId xmlns:a16="http://schemas.microsoft.com/office/drawing/2014/main" id="{5B88A518-4DC1-E756-D09D-66732BD45B11}"/>
                </a:ext>
              </a:extLst>
            </p:cNvPr>
            <p:cNvSpPr txBox="1"/>
            <p:nvPr/>
          </p:nvSpPr>
          <p:spPr>
            <a:xfrm>
              <a:off x="1907095" y="4795707"/>
              <a:ext cx="3708977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400" dirty="0">
                  <a:hlinkClick r:id="rId6"/>
                </a:rPr>
                <a:t>https://st.service-now.com/hub?id=sc_cat_item&amp;sys_id=b7e4acc9fb1d66103949f4bbaeefdc7b</a:t>
              </a:r>
              <a:endParaRPr lang="en-US" sz="1400" dirty="0"/>
            </a:p>
          </p:txBody>
        </p:sp>
        <p:sp>
          <p:nvSpPr>
            <p:cNvPr id="30" name="TextBox 9">
              <a:extLst>
                <a:ext uri="{FF2B5EF4-FFF2-40B4-BE49-F238E27FC236}">
                  <a16:creationId xmlns:a16="http://schemas.microsoft.com/office/drawing/2014/main" id="{C79AEA02-1797-B0CB-72B8-EBE98CD9FBCE}"/>
                </a:ext>
              </a:extLst>
            </p:cNvPr>
            <p:cNvSpPr txBox="1"/>
            <p:nvPr/>
          </p:nvSpPr>
          <p:spPr>
            <a:xfrm>
              <a:off x="1907095" y="4372473"/>
              <a:ext cx="16662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/>
                <a:t>Click on this link 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350BE6C-509D-66D3-509B-03416A5DB83A}"/>
                </a:ext>
              </a:extLst>
            </p:cNvPr>
            <p:cNvSpPr/>
            <p:nvPr/>
          </p:nvSpPr>
          <p:spPr>
            <a:xfrm>
              <a:off x="1854334" y="4313983"/>
              <a:ext cx="3761738" cy="1275345"/>
            </a:xfrm>
            <a:prstGeom prst="rect">
              <a:avLst/>
            </a:prstGeom>
            <a:noFill/>
            <a:ln w="19050">
              <a:solidFill>
                <a:srgbClr val="8191A5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D9FEF54-EF4C-14A4-34FD-C29A7AA6DFB0}"/>
              </a:ext>
            </a:extLst>
          </p:cNvPr>
          <p:cNvGrpSpPr/>
          <p:nvPr/>
        </p:nvGrpSpPr>
        <p:grpSpPr>
          <a:xfrm>
            <a:off x="7154983" y="5296079"/>
            <a:ext cx="3761738" cy="1275345"/>
            <a:chOff x="5931304" y="4300681"/>
            <a:chExt cx="3761738" cy="1275345"/>
          </a:xfrm>
        </p:grpSpPr>
        <p:sp>
          <p:nvSpPr>
            <p:cNvPr id="33" name="TextBox 23">
              <a:extLst>
                <a:ext uri="{FF2B5EF4-FFF2-40B4-BE49-F238E27FC236}">
                  <a16:creationId xmlns:a16="http://schemas.microsoft.com/office/drawing/2014/main" id="{D48473DF-47D1-F2ED-82E7-80F389C85027}"/>
                </a:ext>
              </a:extLst>
            </p:cNvPr>
            <p:cNvSpPr txBox="1"/>
            <p:nvPr/>
          </p:nvSpPr>
          <p:spPr>
            <a:xfrm>
              <a:off x="5984065" y="4795707"/>
              <a:ext cx="3427729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400" dirty="0">
                  <a:hlinkClick r:id="rId7"/>
                </a:rPr>
                <a:t>https://st.service-now.com/hub?id=support_details&amp;topic=d0a6002b1b53d2d0aaf48553604bcb1b</a:t>
              </a:r>
              <a:endParaRPr lang="en-US" sz="1400" dirty="0"/>
            </a:p>
          </p:txBody>
        </p:sp>
        <p:sp>
          <p:nvSpPr>
            <p:cNvPr id="34" name="TextBox 9">
              <a:extLst>
                <a:ext uri="{FF2B5EF4-FFF2-40B4-BE49-F238E27FC236}">
                  <a16:creationId xmlns:a16="http://schemas.microsoft.com/office/drawing/2014/main" id="{E06A95E8-9FEE-C22C-0BF5-4582B29B250B}"/>
                </a:ext>
              </a:extLst>
            </p:cNvPr>
            <p:cNvSpPr txBox="1"/>
            <p:nvPr/>
          </p:nvSpPr>
          <p:spPr>
            <a:xfrm>
              <a:off x="5984065" y="4359171"/>
              <a:ext cx="166623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/>
                <a:t>Click on this link 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6C3C324-5449-3438-3476-4191AD42838F}"/>
                </a:ext>
              </a:extLst>
            </p:cNvPr>
            <p:cNvSpPr/>
            <p:nvPr/>
          </p:nvSpPr>
          <p:spPr>
            <a:xfrm>
              <a:off x="5931304" y="4300681"/>
              <a:ext cx="3761738" cy="1275345"/>
            </a:xfrm>
            <a:prstGeom prst="rect">
              <a:avLst/>
            </a:prstGeom>
            <a:noFill/>
            <a:ln w="19050">
              <a:solidFill>
                <a:srgbClr val="8191A5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chemeClr val="bg1"/>
                </a:buClr>
              </a:pPr>
              <a:endParaRPr lang="en-US" dirty="0" err="1"/>
            </a:p>
          </p:txBody>
        </p:sp>
      </p:grp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334666FA-EE32-D6C8-B0DA-652808712A2F}"/>
              </a:ext>
            </a:extLst>
          </p:cNvPr>
          <p:cNvCxnSpPr>
            <a:cxnSpLocks/>
            <a:stCxn id="27" idx="1"/>
            <a:endCxn id="31" idx="0"/>
          </p:cNvCxnSpPr>
          <p:nvPr/>
        </p:nvCxnSpPr>
        <p:spPr>
          <a:xfrm rot="10800000" flipV="1">
            <a:off x="3077962" y="3463433"/>
            <a:ext cx="1256673" cy="181731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358D3748-048B-83FC-698B-44E475E8F39D}"/>
              </a:ext>
            </a:extLst>
          </p:cNvPr>
          <p:cNvSpPr/>
          <p:nvPr/>
        </p:nvSpPr>
        <p:spPr>
          <a:xfrm>
            <a:off x="2730222" y="3115693"/>
            <a:ext cx="695478" cy="69547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sz="1400" dirty="0"/>
              <a:t>Yes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59CFBA6-E175-6881-5AC4-77D3E7F40EB8}"/>
              </a:ext>
            </a:extLst>
          </p:cNvPr>
          <p:cNvCxnSpPr>
            <a:cxnSpLocks/>
            <a:stCxn id="27" idx="3"/>
            <a:endCxn id="35" idx="0"/>
          </p:cNvCxnSpPr>
          <p:nvPr/>
        </p:nvCxnSpPr>
        <p:spPr>
          <a:xfrm>
            <a:off x="7759477" y="3463433"/>
            <a:ext cx="1276375" cy="1832646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BF50B766-D1A9-2B81-A4DD-6313290304C6}"/>
              </a:ext>
            </a:extLst>
          </p:cNvPr>
          <p:cNvSpPr/>
          <p:nvPr/>
        </p:nvSpPr>
        <p:spPr>
          <a:xfrm>
            <a:off x="8668412" y="3115693"/>
            <a:ext cx="695478" cy="695478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sz="140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816274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B7D11-091B-98B9-062A-3EDFBBA7E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9C647-0D83-60C8-D2D9-03F711E23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ST </a:t>
            </a:r>
            <a:r>
              <a:rPr lang="fr-FR" sz="1800" b="1" noProof="0" dirty="0" err="1"/>
              <a:t>ChatGPT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7525C7-F65E-32C7-D3F1-8EBE0F8077E8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Processus de demande et d’accès — Persona &amp; API ST </a:t>
            </a:r>
            <a:r>
              <a:rPr lang="fr-FR" sz="1200" b="1" noProof="0" dirty="0" err="1">
                <a:solidFill>
                  <a:srgbClr val="425A78"/>
                </a:solidFill>
              </a:rPr>
              <a:t>ChatGPT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5F4954DE-A6BB-3765-3C8E-ABEAA80EEE77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 la demande métier à l’accès persona / API</a:t>
            </a:r>
            <a:endParaRPr lang="fr-FR" sz="1200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AEB5106-1D60-9411-284C-2C77394DB7CE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1A986712-54EA-854D-1627-E83C2F6DD218}"/>
              </a:ext>
            </a:extLst>
          </p:cNvPr>
          <p:cNvSpPr/>
          <p:nvPr/>
        </p:nvSpPr>
        <p:spPr>
          <a:xfrm>
            <a:off x="2226842" y="1675277"/>
            <a:ext cx="1106727" cy="934159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D2992F70-E30D-38AC-0672-D62DA21FA6DE}"/>
              </a:ext>
            </a:extLst>
          </p:cNvPr>
          <p:cNvSpPr/>
          <p:nvPr/>
        </p:nvSpPr>
        <p:spPr>
          <a:xfrm>
            <a:off x="2117114" y="199913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chemeClr val="bg1"/>
                </a:solidFill>
              </a:rPr>
              <a:t>Besoin métier</a:t>
            </a:r>
            <a:endParaRPr lang="fr-FR" sz="1000" noProof="0" dirty="0">
              <a:solidFill>
                <a:schemeClr val="bg1"/>
              </a:solidFill>
            </a:endParaRPr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F7065AD-F8F6-9437-74C4-E20D56B7D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002" y="2132477"/>
            <a:ext cx="311267" cy="311267"/>
          </a:xfrm>
          <a:prstGeom prst="rect">
            <a:avLst/>
          </a:prstGeom>
        </p:spPr>
      </p:pic>
      <p:sp>
        <p:nvSpPr>
          <p:cNvPr id="7" name="Shape 8">
            <a:extLst>
              <a:ext uri="{FF2B5EF4-FFF2-40B4-BE49-F238E27FC236}">
                <a16:creationId xmlns:a16="http://schemas.microsoft.com/office/drawing/2014/main" id="{05981594-B6F0-299E-8A18-EEC7E29CC60E}"/>
              </a:ext>
            </a:extLst>
          </p:cNvPr>
          <p:cNvSpPr/>
          <p:nvPr/>
        </p:nvSpPr>
        <p:spPr>
          <a:xfrm>
            <a:off x="3945914" y="1675277"/>
            <a:ext cx="1106727" cy="934159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6B6F58B5-DB23-B991-C0DD-45EF820C742C}"/>
              </a:ext>
            </a:extLst>
          </p:cNvPr>
          <p:cNvSpPr/>
          <p:nvPr/>
        </p:nvSpPr>
        <p:spPr>
          <a:xfrm>
            <a:off x="4082908" y="2023005"/>
            <a:ext cx="850604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Demande </a:t>
            </a:r>
            <a:r>
              <a:rPr lang="fr-FR" sz="1000" b="1" noProof="0" dirty="0" err="1">
                <a:solidFill>
                  <a:srgbClr val="1B2A3B"/>
                </a:solidFill>
              </a:rPr>
              <a:t>ServiceNow</a:t>
            </a:r>
            <a:endParaRPr lang="fr-FR" sz="1000" noProof="0" dirty="0">
              <a:solidFill>
                <a:srgbClr val="1B2A3B"/>
              </a:solidFill>
            </a:endParaRPr>
          </a:p>
        </p:txBody>
      </p:sp>
      <p:pic>
        <p:nvPicPr>
          <p:cNvPr id="10" name="Image 3" descr="preencoded.png">
            <a:extLst>
              <a:ext uri="{FF2B5EF4-FFF2-40B4-BE49-F238E27FC236}">
                <a16:creationId xmlns:a16="http://schemas.microsoft.com/office/drawing/2014/main" id="{82DC3A83-6F16-9A1D-B730-D0E7BD43C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6074" y="2132477"/>
            <a:ext cx="311267" cy="311267"/>
          </a:xfrm>
          <a:prstGeom prst="rect">
            <a:avLst/>
          </a:prstGeom>
        </p:spPr>
      </p:pic>
      <p:sp>
        <p:nvSpPr>
          <p:cNvPr id="11" name="Shape 11">
            <a:extLst>
              <a:ext uri="{FF2B5EF4-FFF2-40B4-BE49-F238E27FC236}">
                <a16:creationId xmlns:a16="http://schemas.microsoft.com/office/drawing/2014/main" id="{872D7B54-02DF-C0DB-3A51-66E9BEA9192E}"/>
              </a:ext>
            </a:extLst>
          </p:cNvPr>
          <p:cNvSpPr/>
          <p:nvPr/>
        </p:nvSpPr>
        <p:spPr>
          <a:xfrm>
            <a:off x="5664986" y="1675277"/>
            <a:ext cx="1106727" cy="934159"/>
          </a:xfrm>
          <a:prstGeom prst="ellipse">
            <a:avLst/>
          </a:prstGeom>
          <a:solidFill>
            <a:srgbClr val="3CB4E6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483D589-CD73-D144-78EE-78E9DE8642FE}"/>
              </a:ext>
            </a:extLst>
          </p:cNvPr>
          <p:cNvSpPr/>
          <p:nvPr/>
        </p:nvSpPr>
        <p:spPr>
          <a:xfrm>
            <a:off x="5561230" y="2040224"/>
            <a:ext cx="1314238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chemeClr val="bg1"/>
                </a:solidFill>
              </a:rPr>
              <a:t>Validation</a:t>
            </a:r>
            <a:endParaRPr lang="fr-FR" sz="1000" noProof="0" dirty="0">
              <a:solidFill>
                <a:schemeClr val="bg1"/>
              </a:solidFill>
            </a:endParaRPr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07069B6A-B18E-2059-B3E7-A563CB093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146" y="2259168"/>
            <a:ext cx="311267" cy="311267"/>
          </a:xfrm>
          <a:prstGeom prst="rect">
            <a:avLst/>
          </a:prstGeom>
        </p:spPr>
      </p:pic>
      <p:sp>
        <p:nvSpPr>
          <p:cNvPr id="15" name="Shape 14">
            <a:extLst>
              <a:ext uri="{FF2B5EF4-FFF2-40B4-BE49-F238E27FC236}">
                <a16:creationId xmlns:a16="http://schemas.microsoft.com/office/drawing/2014/main" id="{8B8F8995-C3F3-B25B-5577-8CD54C8583FD}"/>
              </a:ext>
            </a:extLst>
          </p:cNvPr>
          <p:cNvSpPr/>
          <p:nvPr/>
        </p:nvSpPr>
        <p:spPr>
          <a:xfrm>
            <a:off x="7384058" y="1675277"/>
            <a:ext cx="1106727" cy="934159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0B7A807-C029-7E24-649C-1CD53CCFFAA2}"/>
              </a:ext>
            </a:extLst>
          </p:cNvPr>
          <p:cNvSpPr/>
          <p:nvPr/>
        </p:nvSpPr>
        <p:spPr>
          <a:xfrm>
            <a:off x="7477512" y="2023005"/>
            <a:ext cx="947675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Accès / Configuration</a:t>
            </a:r>
            <a:endParaRPr lang="fr-FR" sz="1000" noProof="0" dirty="0"/>
          </a:p>
        </p:txBody>
      </p:sp>
      <p:pic>
        <p:nvPicPr>
          <p:cNvPr id="18" name="Image 7" descr="preencoded.png">
            <a:extLst>
              <a:ext uri="{FF2B5EF4-FFF2-40B4-BE49-F238E27FC236}">
                <a16:creationId xmlns:a16="http://schemas.microsoft.com/office/drawing/2014/main" id="{188DAB67-83C7-8073-FC9A-90BE21A62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866" y="2127243"/>
            <a:ext cx="311267" cy="311267"/>
          </a:xfrm>
          <a:prstGeom prst="rect">
            <a:avLst/>
          </a:prstGeom>
        </p:spPr>
      </p:pic>
      <p:sp>
        <p:nvSpPr>
          <p:cNvPr id="19" name="Shape 17">
            <a:extLst>
              <a:ext uri="{FF2B5EF4-FFF2-40B4-BE49-F238E27FC236}">
                <a16:creationId xmlns:a16="http://schemas.microsoft.com/office/drawing/2014/main" id="{FFCACCC6-E533-4E01-AD7F-5C72537584AA}"/>
              </a:ext>
            </a:extLst>
          </p:cNvPr>
          <p:cNvSpPr/>
          <p:nvPr/>
        </p:nvSpPr>
        <p:spPr>
          <a:xfrm>
            <a:off x="9103130" y="1675277"/>
            <a:ext cx="1106727" cy="934159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EB87576-0F8A-AF3A-D615-55D6DC422A5A}"/>
              </a:ext>
            </a:extLst>
          </p:cNvPr>
          <p:cNvSpPr/>
          <p:nvPr/>
        </p:nvSpPr>
        <p:spPr>
          <a:xfrm>
            <a:off x="8999375" y="2127025"/>
            <a:ext cx="1314238" cy="21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Utilisation</a:t>
            </a:r>
          </a:p>
          <a:p>
            <a:pPr marL="0" indent="0" algn="ctr">
              <a:buNone/>
            </a:pPr>
            <a:endParaRPr lang="fr-FR" sz="1000" b="1" noProof="0" dirty="0">
              <a:solidFill>
                <a:srgbClr val="1B2A3B"/>
              </a:solidFill>
            </a:endParaRPr>
          </a:p>
        </p:txBody>
      </p:sp>
      <p:pic>
        <p:nvPicPr>
          <p:cNvPr id="22" name="Graphic 21" descr="Arrow Right with solid fill">
            <a:extLst>
              <a:ext uri="{FF2B5EF4-FFF2-40B4-BE49-F238E27FC236}">
                <a16:creationId xmlns:a16="http://schemas.microsoft.com/office/drawing/2014/main" id="{B37B1D71-4FAB-9AAC-F323-E2C6204A06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2402" y="2026996"/>
            <a:ext cx="350483" cy="350483"/>
          </a:xfrm>
          <a:prstGeom prst="rect">
            <a:avLst/>
          </a:prstGeom>
        </p:spPr>
      </p:pic>
      <p:pic>
        <p:nvPicPr>
          <p:cNvPr id="23" name="Graphic 22" descr="Arrow Right with solid fill">
            <a:extLst>
              <a:ext uri="{FF2B5EF4-FFF2-40B4-BE49-F238E27FC236}">
                <a16:creationId xmlns:a16="http://schemas.microsoft.com/office/drawing/2014/main" id="{FDEB5BE9-6D63-3521-B9EA-E04A6BFC12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91420" y="2047531"/>
            <a:ext cx="408047" cy="408047"/>
          </a:xfrm>
          <a:prstGeom prst="rect">
            <a:avLst/>
          </a:prstGeom>
        </p:spPr>
      </p:pic>
      <p:pic>
        <p:nvPicPr>
          <p:cNvPr id="24" name="Graphic 23" descr="Arrow Right with solid fill">
            <a:extLst>
              <a:ext uri="{FF2B5EF4-FFF2-40B4-BE49-F238E27FC236}">
                <a16:creationId xmlns:a16="http://schemas.microsoft.com/office/drawing/2014/main" id="{714A8A86-E296-586C-7866-120AF24759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664" y="2051474"/>
            <a:ext cx="394420" cy="394420"/>
          </a:xfrm>
          <a:prstGeom prst="rect">
            <a:avLst/>
          </a:prstGeom>
        </p:spPr>
      </p:pic>
      <p:pic>
        <p:nvPicPr>
          <p:cNvPr id="25" name="Graphic 24" descr="Arrow Right with solid fill">
            <a:extLst>
              <a:ext uri="{FF2B5EF4-FFF2-40B4-BE49-F238E27FC236}">
                <a16:creationId xmlns:a16="http://schemas.microsoft.com/office/drawing/2014/main" id="{9258D2FA-ED8E-CCE5-9BD2-B250C5A88E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98124" y="2039271"/>
            <a:ext cx="394452" cy="39445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A3F14D-0B9E-7B6B-FC83-C6066CFD7467}"/>
              </a:ext>
            </a:extLst>
          </p:cNvPr>
          <p:cNvSpPr/>
          <p:nvPr/>
        </p:nvSpPr>
        <p:spPr>
          <a:xfrm>
            <a:off x="622206" y="3830563"/>
            <a:ext cx="5726213" cy="1931144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For each new persona / API: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</a:t>
            </a:r>
            <a:r>
              <a:rPr lang="en-US" sz="1200" baseline="30000" dirty="0">
                <a:solidFill>
                  <a:schemeClr val="tx1"/>
                </a:solidFill>
              </a:rPr>
              <a:t>st</a:t>
            </a:r>
            <a:r>
              <a:rPr lang="en-US" sz="1200" dirty="0">
                <a:solidFill>
                  <a:schemeClr val="tx1"/>
                </a:solidFill>
              </a:rPr>
              <a:t> level review and approval by Business Enterprise Architect ( BEA) as per above slide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</a:t>
            </a:r>
            <a:r>
              <a:rPr lang="en-US" sz="1200" baseline="30000" dirty="0">
                <a:solidFill>
                  <a:schemeClr val="tx1"/>
                </a:solidFill>
              </a:rPr>
              <a:t>nd</a:t>
            </a:r>
            <a:r>
              <a:rPr lang="en-US" sz="1200" dirty="0">
                <a:solidFill>
                  <a:schemeClr val="tx1"/>
                </a:solidFill>
              </a:rPr>
              <a:t> level approval by Global co-Ordinator (Loic </a:t>
            </a:r>
            <a:r>
              <a:rPr lang="en-US" sz="1200" dirty="0" err="1">
                <a:solidFill>
                  <a:schemeClr val="tx1"/>
                </a:solidFill>
              </a:rPr>
              <a:t>Echene</a:t>
            </a:r>
            <a:r>
              <a:rPr lang="en-US" sz="1200" dirty="0">
                <a:solidFill>
                  <a:schemeClr val="tx1"/>
                </a:solidFill>
              </a:rPr>
              <a:t> / Salvo CICIA)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806895-8751-EA14-BDEA-B3CAC9024E1D}"/>
              </a:ext>
            </a:extLst>
          </p:cNvPr>
          <p:cNvSpPr/>
          <p:nvPr/>
        </p:nvSpPr>
        <p:spPr>
          <a:xfrm>
            <a:off x="6918028" y="3841993"/>
            <a:ext cx="4556760" cy="1908284"/>
          </a:xfrm>
          <a:prstGeom prst="rect">
            <a:avLst/>
          </a:prstGeom>
          <a:solidFill>
            <a:srgbClr val="EEEF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For support of existing persona  review/approval is not applicable</a:t>
            </a:r>
          </a:p>
        </p:txBody>
      </p:sp>
      <p:pic>
        <p:nvPicPr>
          <p:cNvPr id="12" name="Graphic 11" descr="Back outline">
            <a:extLst>
              <a:ext uri="{FF2B5EF4-FFF2-40B4-BE49-F238E27FC236}">
                <a16:creationId xmlns:a16="http://schemas.microsoft.com/office/drawing/2014/main" id="{81323BAD-812E-7F9F-20B8-E6B02EE354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5400000" flipV="1">
            <a:off x="4455164" y="2681683"/>
            <a:ext cx="1004387" cy="1004387"/>
          </a:xfrm>
          <a:prstGeom prst="rect">
            <a:avLst/>
          </a:prstGeom>
        </p:spPr>
      </p:pic>
      <p:pic>
        <p:nvPicPr>
          <p:cNvPr id="16" name="Graphic 15" descr="Back outline">
            <a:extLst>
              <a:ext uri="{FF2B5EF4-FFF2-40B4-BE49-F238E27FC236}">
                <a16:creationId xmlns:a16="http://schemas.microsoft.com/office/drawing/2014/main" id="{0596F46E-2A0D-80E5-737C-4A0EE10CCB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 flipH="1" flipV="1">
            <a:off x="7057653" y="2677194"/>
            <a:ext cx="1004387" cy="100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127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E5D5E-D3A1-B250-4B3A-2F549F4F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99946-C5C4-ACB7-8F36-69F1516CA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ST </a:t>
            </a:r>
            <a:r>
              <a:rPr lang="fr-FR" sz="1800" b="1" noProof="0" dirty="0" err="1"/>
              <a:t>ChatGPT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42ED76-97D0-47D7-BAFF-FD83A367CF04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Processus de demande et d’accès — Persona &amp; API ST </a:t>
            </a:r>
            <a:r>
              <a:rPr lang="fr-FR" sz="1200" b="1" noProof="0" dirty="0" err="1">
                <a:solidFill>
                  <a:srgbClr val="425A78"/>
                </a:solidFill>
              </a:rPr>
              <a:t>ChatGPT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74918E13-CA91-7EBD-1BFD-3003A31A7D2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 la demande métier à l’accès persona / API</a:t>
            </a:r>
            <a:endParaRPr lang="fr-FR" sz="1200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38C4963-00F7-F27B-5C5A-2565F5199721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08A45B4-7EFB-2042-F006-90D735F2E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697" y="2008279"/>
            <a:ext cx="5613082" cy="4608512"/>
          </a:xfrm>
        </p:spPr>
        <p:txBody>
          <a:bodyPr/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Go to </a:t>
            </a:r>
            <a:r>
              <a:rPr lang="en-US" sz="1800" dirty="0">
                <a:hlinkClick r:id="rId3"/>
              </a:rPr>
              <a:t>https://st.service-now.com/hub</a:t>
            </a:r>
            <a:endParaRPr lang="en-US" sz="18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Click </a:t>
            </a:r>
            <a:r>
              <a:rPr lang="en-US" sz="1800" b="1" i="1" dirty="0"/>
              <a:t>Service Requests &amp; Apps </a:t>
            </a:r>
            <a:r>
              <a:rPr lang="en-US" sz="1800" dirty="0"/>
              <a:t>from in the left side menu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Click </a:t>
            </a:r>
            <a:r>
              <a:rPr lang="en-US" sz="1800" b="1" i="1" dirty="0"/>
              <a:t>Information Tech. </a:t>
            </a:r>
            <a:r>
              <a:rPr lang="en-US" sz="1800" dirty="0"/>
              <a:t>under categories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Click </a:t>
            </a:r>
            <a:r>
              <a:rPr lang="en-US" sz="1800" b="1" i="1" dirty="0"/>
              <a:t>Service Requests </a:t>
            </a:r>
            <a:r>
              <a:rPr lang="en-US" sz="1800" dirty="0"/>
              <a:t>tab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Find and click the card </a:t>
            </a:r>
            <a:r>
              <a:rPr lang="en-US" sz="1800" b="1" i="1" dirty="0" err="1"/>
              <a:t>STChatGP</a:t>
            </a:r>
            <a:r>
              <a:rPr lang="en-US" sz="1800" b="1" i="1" dirty="0"/>
              <a:t> (New Persona/API)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966F07DC-1B02-3C73-C4E0-8BB38C1FD1F1}"/>
              </a:ext>
            </a:extLst>
          </p:cNvPr>
          <p:cNvSpPr txBox="1">
            <a:spLocks/>
          </p:cNvSpPr>
          <p:nvPr/>
        </p:nvSpPr>
        <p:spPr>
          <a:xfrm>
            <a:off x="335284" y="385354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1DC14D-B1A7-E671-9B1A-3F852BAB67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154" y="1570980"/>
            <a:ext cx="2486153" cy="1971777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66E928A-7829-4C15-078A-2CD216C89F22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5831988" y="2556869"/>
            <a:ext cx="582166" cy="23912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3F3845E7-AB2F-3717-95F2-E9D221CF22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3180" y="1822359"/>
            <a:ext cx="1716492" cy="1971778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6D10219-E67E-1B67-498B-675E1D997CCF}"/>
              </a:ext>
            </a:extLst>
          </p:cNvPr>
          <p:cNvCxnSpPr>
            <a:cxnSpLocks/>
          </p:cNvCxnSpPr>
          <p:nvPr/>
        </p:nvCxnSpPr>
        <p:spPr>
          <a:xfrm flipV="1">
            <a:off x="5185954" y="3504208"/>
            <a:ext cx="5085493" cy="381992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46B0B9A3-ED74-8902-41D3-647F4007FF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9464" y="3989492"/>
            <a:ext cx="4260059" cy="1731806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9E1D17E-9918-9B4D-BDA0-C0A111FD17BC}"/>
              </a:ext>
            </a:extLst>
          </p:cNvPr>
          <p:cNvCxnSpPr>
            <a:cxnSpLocks/>
          </p:cNvCxnSpPr>
          <p:nvPr/>
        </p:nvCxnSpPr>
        <p:spPr>
          <a:xfrm>
            <a:off x="3559629" y="4415246"/>
            <a:ext cx="6955658" cy="349172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9093A704-DDD4-DDF9-7F0D-D695295914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0" y="4897428"/>
            <a:ext cx="2946207" cy="1889084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9F1FF56-2945-49A3-44B5-BF6EA7237DA4}"/>
              </a:ext>
            </a:extLst>
          </p:cNvPr>
          <p:cNvCxnSpPr>
            <a:cxnSpLocks/>
          </p:cNvCxnSpPr>
          <p:nvPr/>
        </p:nvCxnSpPr>
        <p:spPr>
          <a:xfrm>
            <a:off x="4402183" y="5205549"/>
            <a:ext cx="1084217" cy="72731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394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7E538-A456-35E0-F4D9-6FE9229F0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E993-A2E8-1465-209B-79CDBA610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C'est quoi l’IA ici ?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F5D0934-FC75-C263-F19E-E9546DA8293B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Pas de magie , de la logique organisée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C6C9AB0E-5BC5-29EC-6D9A-B00461F6249E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i="1" noProof="0" dirty="0">
                <a:solidFill>
                  <a:srgbClr val="64748B"/>
                </a:solidFill>
              </a:rPr>
              <a:t>Comprendre ce que fait vraiment l'outil</a:t>
            </a:r>
            <a:endParaRPr lang="fr-FR" sz="1200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B829B853-4C45-6953-1216-C7DF112C8840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EAD1D205-2676-8D4F-3EF7-AA1D88C3FF16}"/>
              </a:ext>
            </a:extLst>
          </p:cNvPr>
          <p:cNvSpPr/>
          <p:nvPr/>
        </p:nvSpPr>
        <p:spPr>
          <a:xfrm>
            <a:off x="1322971" y="1665975"/>
            <a:ext cx="9546057" cy="987552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218FC2E3-1F4F-64D5-FAEA-E6D31D39F812}"/>
              </a:ext>
            </a:extLst>
          </p:cNvPr>
          <p:cNvSpPr/>
          <p:nvPr/>
        </p:nvSpPr>
        <p:spPr>
          <a:xfrm>
            <a:off x="1322971" y="1665975"/>
            <a:ext cx="72633" cy="987552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CE865E9A-9BF3-4BF6-95ED-59F0EABD5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073" y="1715318"/>
            <a:ext cx="352789" cy="310896"/>
          </a:xfrm>
          <a:prstGeom prst="rect">
            <a:avLst/>
          </a:prstGeom>
        </p:spPr>
      </p:pic>
      <p:sp>
        <p:nvSpPr>
          <p:cNvPr id="7" name="Text 7">
            <a:extLst>
              <a:ext uri="{FF2B5EF4-FFF2-40B4-BE49-F238E27FC236}">
                <a16:creationId xmlns:a16="http://schemas.microsoft.com/office/drawing/2014/main" id="{5B252642-AC16-CA5C-A22D-04631076DE09}"/>
              </a:ext>
            </a:extLst>
          </p:cNvPr>
          <p:cNvSpPr/>
          <p:nvPr/>
        </p:nvSpPr>
        <p:spPr>
          <a:xfrm>
            <a:off x="1917332" y="1702551"/>
            <a:ext cx="20752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F59E0B"/>
                </a:solidFill>
              </a:rPr>
              <a:t>Analogie</a:t>
            </a:r>
            <a:endParaRPr lang="fr-FR" sz="1000" noProof="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463B47C-07B2-84D3-CA88-B6835A24BC01}"/>
              </a:ext>
            </a:extLst>
          </p:cNvPr>
          <p:cNvSpPr/>
          <p:nvPr/>
        </p:nvSpPr>
        <p:spPr>
          <a:xfrm>
            <a:off x="1623486" y="2014935"/>
            <a:ext cx="87159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Imaginez un ingénieur senior avec 10 ans d'expérience STM32. Il a lu toutes les issues, tous les fichiers, tous les </a:t>
            </a:r>
            <a:r>
              <a:rPr lang="fr-FR" sz="1100" noProof="0" dirty="0" err="1">
                <a:solidFill>
                  <a:srgbClr val="1B2A3B"/>
                </a:solidFill>
              </a:rPr>
              <a:t>PRs</a:t>
            </a:r>
            <a:r>
              <a:rPr lang="fr-FR" sz="1100" noProof="0" dirty="0">
                <a:solidFill>
                  <a:srgbClr val="1B2A3B"/>
                </a:solidFill>
              </a:rPr>
              <a:t>. Quand vous lui posez une question, il cherche dans sa mémoire et vous donne la réponse avec les sources. L'outil fait exactement ça , mais automatiquement.</a:t>
            </a:r>
            <a:endParaRPr lang="fr-FR" sz="1100" noProof="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4C28755-DB4F-27BD-5A17-CC1BB896987B}"/>
              </a:ext>
            </a:extLst>
          </p:cNvPr>
          <p:cNvSpPr/>
          <p:nvPr/>
        </p:nvSpPr>
        <p:spPr>
          <a:xfrm>
            <a:off x="1678959" y="3013165"/>
            <a:ext cx="2697480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82356146-53B7-73A4-C188-48A7922356BE}"/>
              </a:ext>
            </a:extLst>
          </p:cNvPr>
          <p:cNvSpPr/>
          <p:nvPr/>
        </p:nvSpPr>
        <p:spPr>
          <a:xfrm>
            <a:off x="1678959" y="3013164"/>
            <a:ext cx="2697480" cy="402337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FA58D1A5-84E6-2A9A-5A9A-E60361601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063" y="3105381"/>
            <a:ext cx="237744" cy="237744"/>
          </a:xfrm>
          <a:prstGeom prst="rect">
            <a:avLst/>
          </a:prstGeom>
        </p:spPr>
      </p:pic>
      <p:sp>
        <p:nvSpPr>
          <p:cNvPr id="12" name="Text 11">
            <a:extLst>
              <a:ext uri="{FF2B5EF4-FFF2-40B4-BE49-F238E27FC236}">
                <a16:creationId xmlns:a16="http://schemas.microsoft.com/office/drawing/2014/main" id="{745D125A-304A-F722-8E10-0C28EFDA21F1}"/>
              </a:ext>
            </a:extLst>
          </p:cNvPr>
          <p:cNvSpPr/>
          <p:nvPr/>
        </p:nvSpPr>
        <p:spPr>
          <a:xfrm>
            <a:off x="2127015" y="3049741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L'IA (LLM)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1431F647-8786-A6B7-09F9-72C2BD644C84}"/>
              </a:ext>
            </a:extLst>
          </p:cNvPr>
          <p:cNvSpPr/>
          <p:nvPr/>
        </p:nvSpPr>
        <p:spPr>
          <a:xfrm>
            <a:off x="2107703" y="3250909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750" i="1" noProof="0" dirty="0">
                <a:solidFill>
                  <a:srgbClr val="425A78"/>
                </a:solidFill>
              </a:rPr>
              <a:t>Large </a:t>
            </a:r>
            <a:r>
              <a:rPr lang="fr-FR" sz="750" i="1" noProof="0" dirty="0" err="1">
                <a:solidFill>
                  <a:srgbClr val="425A78"/>
                </a:solidFill>
              </a:rPr>
              <a:t>Language</a:t>
            </a:r>
            <a:r>
              <a:rPr lang="fr-FR" sz="750" i="1" noProof="0" dirty="0">
                <a:solidFill>
                  <a:srgbClr val="425A78"/>
                </a:solidFill>
              </a:rPr>
              <a:t> Model</a:t>
            </a:r>
            <a:endParaRPr lang="fr-FR" sz="750" noProof="0" dirty="0">
              <a:solidFill>
                <a:srgbClr val="425A78"/>
              </a:solidFill>
            </a:endParaRPr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D5864171-1F54-1688-BC2A-73043BA04CA1}"/>
              </a:ext>
            </a:extLst>
          </p:cNvPr>
          <p:cNvSpPr/>
          <p:nvPr/>
        </p:nvSpPr>
        <p:spPr>
          <a:xfrm>
            <a:off x="1788687" y="3415501"/>
            <a:ext cx="24871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1B2A3B"/>
                </a:solidFill>
              </a:rPr>
              <a:t>Un programme entraîné sur des milliards de textes. Il comprend le langage naturel et génère des réponses cohérentes. </a:t>
            </a:r>
          </a:p>
          <a:p>
            <a:pPr marL="0" indent="0">
              <a:buNone/>
            </a:pPr>
            <a:endParaRPr lang="fr-FR" sz="950" noProof="0" dirty="0">
              <a:solidFill>
                <a:srgbClr val="1B2A3B"/>
              </a:solidFill>
            </a:endParaRPr>
          </a:p>
          <a:p>
            <a:pPr marL="0" indent="0">
              <a:buNone/>
            </a:pPr>
            <a:r>
              <a:rPr lang="fr-FR" sz="950" noProof="0" dirty="0">
                <a:solidFill>
                  <a:srgbClr val="1B2A3B"/>
                </a:solidFill>
              </a:rPr>
              <a:t>Ici c'est le moteur de ST </a:t>
            </a:r>
            <a:r>
              <a:rPr lang="fr-FR" sz="950" noProof="0" dirty="0" err="1">
                <a:solidFill>
                  <a:srgbClr val="1B2A3B"/>
                </a:solidFill>
              </a:rPr>
              <a:t>ChatGPT</a:t>
            </a:r>
            <a:r>
              <a:rPr lang="fr-FR" sz="950" noProof="0" dirty="0">
                <a:solidFill>
                  <a:srgbClr val="1B2A3B"/>
                </a:solidFill>
              </a:rPr>
              <a:t>.</a:t>
            </a:r>
            <a:endParaRPr lang="fr-FR" sz="950" noProof="0" dirty="0"/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C0A64A0-5D01-652C-2536-82E2BF93C173}"/>
              </a:ext>
            </a:extLst>
          </p:cNvPr>
          <p:cNvSpPr/>
          <p:nvPr/>
        </p:nvSpPr>
        <p:spPr>
          <a:xfrm>
            <a:off x="1752111" y="5134573"/>
            <a:ext cx="2560320" cy="292608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DD082E55-DDCE-6C89-3AA4-77D224E5903E}"/>
              </a:ext>
            </a:extLst>
          </p:cNvPr>
          <p:cNvSpPr/>
          <p:nvPr/>
        </p:nvSpPr>
        <p:spPr>
          <a:xfrm>
            <a:off x="1770399" y="5143717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0D9488"/>
                </a:solidFill>
              </a:rPr>
              <a:t>Comme un cerveau qui comprend les questions</a:t>
            </a:r>
            <a:endParaRPr lang="fr-FR" sz="900" noProof="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8B5F5369-73EF-CCF0-81AD-DA1F8DC6777D}"/>
              </a:ext>
            </a:extLst>
          </p:cNvPr>
          <p:cNvSpPr/>
          <p:nvPr/>
        </p:nvSpPr>
        <p:spPr>
          <a:xfrm>
            <a:off x="4787919" y="3016593"/>
            <a:ext cx="2697480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E3031BB8-2A09-320F-D2E7-95FC1A35ED63}"/>
              </a:ext>
            </a:extLst>
          </p:cNvPr>
          <p:cNvSpPr/>
          <p:nvPr/>
        </p:nvSpPr>
        <p:spPr>
          <a:xfrm>
            <a:off x="4787919" y="3016593"/>
            <a:ext cx="2697480" cy="402336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95C22DF-1B16-48FB-038A-F1B733E249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7647" y="3080601"/>
            <a:ext cx="237744" cy="237744"/>
          </a:xfrm>
          <a:prstGeom prst="rect">
            <a:avLst/>
          </a:prstGeom>
        </p:spPr>
      </p:pic>
      <p:sp>
        <p:nvSpPr>
          <p:cNvPr id="20" name="Text 18">
            <a:extLst>
              <a:ext uri="{FF2B5EF4-FFF2-40B4-BE49-F238E27FC236}">
                <a16:creationId xmlns:a16="http://schemas.microsoft.com/office/drawing/2014/main" id="{A4CA894F-F916-6500-87F8-F55CD454FF72}"/>
              </a:ext>
            </a:extLst>
          </p:cNvPr>
          <p:cNvSpPr/>
          <p:nvPr/>
        </p:nvSpPr>
        <p:spPr>
          <a:xfrm>
            <a:off x="5199399" y="3053169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La KB (Knowledge Base)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B867D7C-D7F3-73DB-A2FC-A2AA47A0A74B}"/>
              </a:ext>
            </a:extLst>
          </p:cNvPr>
          <p:cNvSpPr/>
          <p:nvPr/>
        </p:nvSpPr>
        <p:spPr>
          <a:xfrm>
            <a:off x="5199399" y="3254337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750" i="1" noProof="0" dirty="0">
                <a:solidFill>
                  <a:srgbClr val="425A78"/>
                </a:solidFill>
              </a:rPr>
              <a:t>Base de connaissances</a:t>
            </a:r>
            <a:endParaRPr lang="fr-FR" sz="750" noProof="0" dirty="0">
              <a:solidFill>
                <a:srgbClr val="425A78"/>
              </a:solidFill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DB93881-BA31-EE40-7510-28A866E170B6}"/>
              </a:ext>
            </a:extLst>
          </p:cNvPr>
          <p:cNvSpPr/>
          <p:nvPr/>
        </p:nvSpPr>
        <p:spPr>
          <a:xfrm>
            <a:off x="4897647" y="3418929"/>
            <a:ext cx="24871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1B2A3B"/>
                </a:solidFill>
              </a:rPr>
              <a:t>C'est la bibliothèque de l'outil. Toute l'info STM32 y est stockée sous forme de petits morceaux de texte indexés. </a:t>
            </a:r>
          </a:p>
          <a:p>
            <a:pPr marL="0" indent="0">
              <a:buNone/>
            </a:pPr>
            <a:endParaRPr lang="fr-FR" sz="950" noProof="0" dirty="0">
              <a:solidFill>
                <a:srgbClr val="1B2A3B"/>
              </a:solidFill>
            </a:endParaRPr>
          </a:p>
          <a:p>
            <a:pPr marL="0" indent="0">
              <a:buNone/>
            </a:pPr>
            <a:r>
              <a:rPr lang="fr-FR" sz="950" noProof="0" dirty="0">
                <a:solidFill>
                  <a:srgbClr val="1B2A3B"/>
                </a:solidFill>
              </a:rPr>
              <a:t>L'outil y cherche avant de répondre.</a:t>
            </a:r>
            <a:endParaRPr lang="fr-FR" sz="950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2BCE532-EF36-B10D-8032-308321F8E998}"/>
              </a:ext>
            </a:extLst>
          </p:cNvPr>
          <p:cNvSpPr/>
          <p:nvPr/>
        </p:nvSpPr>
        <p:spPr>
          <a:xfrm>
            <a:off x="4861071" y="5138001"/>
            <a:ext cx="2560320" cy="292608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7535604-EA9E-62B2-F5FA-1828CD2FF5ED}"/>
              </a:ext>
            </a:extLst>
          </p:cNvPr>
          <p:cNvSpPr/>
          <p:nvPr/>
        </p:nvSpPr>
        <p:spPr>
          <a:xfrm>
            <a:off x="4879359" y="5147145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0D9488"/>
                </a:solidFill>
              </a:rPr>
              <a:t> Comme une bibliothèque ultra-organisée</a:t>
            </a:r>
            <a:endParaRPr lang="fr-FR" sz="900" noProof="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2152664-7152-9295-DF54-7951146ACF9D}"/>
              </a:ext>
            </a:extLst>
          </p:cNvPr>
          <p:cNvSpPr/>
          <p:nvPr/>
        </p:nvSpPr>
        <p:spPr>
          <a:xfrm>
            <a:off x="7896879" y="3011812"/>
            <a:ext cx="2697480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A80DBFFD-5F44-C334-CB34-81269815BCF2}"/>
              </a:ext>
            </a:extLst>
          </p:cNvPr>
          <p:cNvSpPr/>
          <p:nvPr/>
        </p:nvSpPr>
        <p:spPr>
          <a:xfrm>
            <a:off x="7896879" y="3011812"/>
            <a:ext cx="2697480" cy="402336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27" name="Image 3" descr="preencoded.png">
            <a:extLst>
              <a:ext uri="{FF2B5EF4-FFF2-40B4-BE49-F238E27FC236}">
                <a16:creationId xmlns:a16="http://schemas.microsoft.com/office/drawing/2014/main" id="{66567D39-F4EE-25E3-C811-97BE213446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6607" y="3075820"/>
            <a:ext cx="237744" cy="237744"/>
          </a:xfrm>
          <a:prstGeom prst="rect">
            <a:avLst/>
          </a:prstGeom>
        </p:spPr>
      </p:pic>
      <p:sp>
        <p:nvSpPr>
          <p:cNvPr id="28" name="Text 25">
            <a:extLst>
              <a:ext uri="{FF2B5EF4-FFF2-40B4-BE49-F238E27FC236}">
                <a16:creationId xmlns:a16="http://schemas.microsoft.com/office/drawing/2014/main" id="{5E5F1B35-0E0C-0A22-E680-A2714E9F8522}"/>
              </a:ext>
            </a:extLst>
          </p:cNvPr>
          <p:cNvSpPr/>
          <p:nvPr/>
        </p:nvSpPr>
        <p:spPr>
          <a:xfrm>
            <a:off x="8308359" y="304838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Le RAG</a:t>
            </a:r>
            <a:endParaRPr lang="fr-FR" sz="1200" noProof="0" dirty="0">
              <a:solidFill>
                <a:srgbClr val="425A78"/>
              </a:solidFill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7B3D871-62F6-AE9B-9A8C-D7E8ED57B70A}"/>
              </a:ext>
            </a:extLst>
          </p:cNvPr>
          <p:cNvSpPr/>
          <p:nvPr/>
        </p:nvSpPr>
        <p:spPr>
          <a:xfrm>
            <a:off x="8308359" y="324955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750" i="1" noProof="0" dirty="0" err="1">
                <a:solidFill>
                  <a:srgbClr val="425A78"/>
                </a:solidFill>
              </a:rPr>
              <a:t>Retrieval-Augmented</a:t>
            </a:r>
            <a:r>
              <a:rPr lang="fr-FR" sz="750" i="1" noProof="0" dirty="0">
                <a:solidFill>
                  <a:srgbClr val="425A78"/>
                </a:solidFill>
              </a:rPr>
              <a:t> </a:t>
            </a:r>
            <a:r>
              <a:rPr lang="fr-FR" sz="750" i="1" noProof="0" dirty="0" err="1">
                <a:solidFill>
                  <a:srgbClr val="425A78"/>
                </a:solidFill>
              </a:rPr>
              <a:t>Generation</a:t>
            </a:r>
            <a:endParaRPr lang="fr-FR" sz="750" noProof="0" dirty="0">
              <a:solidFill>
                <a:srgbClr val="425A78"/>
              </a:solidFill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78D2B7-DC0F-71C8-F21E-D6B69D0EF13A}"/>
              </a:ext>
            </a:extLst>
          </p:cNvPr>
          <p:cNvSpPr/>
          <p:nvPr/>
        </p:nvSpPr>
        <p:spPr>
          <a:xfrm>
            <a:off x="8006607" y="3414148"/>
            <a:ext cx="248716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1B2A3B"/>
                </a:solidFill>
              </a:rPr>
              <a:t>C'est la technique qui combine KB + LLM. Quand une question arrive : </a:t>
            </a:r>
          </a:p>
          <a:p>
            <a:pPr marL="0" indent="0">
              <a:buNone/>
            </a:pPr>
            <a:endParaRPr lang="fr-FR" sz="950" noProof="0" dirty="0">
              <a:solidFill>
                <a:srgbClr val="1B2A3B"/>
              </a:solidFill>
            </a:endParaRPr>
          </a:p>
          <a:p>
            <a:pPr marL="228600" indent="-228600">
              <a:buAutoNum type="arabicParenR"/>
            </a:pPr>
            <a:r>
              <a:rPr lang="fr-FR" sz="950" noProof="0" dirty="0">
                <a:solidFill>
                  <a:srgbClr val="1B2A3B"/>
                </a:solidFill>
              </a:rPr>
              <a:t>Chercher les passages pertinents dans la KB</a:t>
            </a:r>
          </a:p>
          <a:p>
            <a:pPr marL="228600" indent="-228600">
              <a:buAutoNum type="arabicParenR"/>
            </a:pPr>
            <a:r>
              <a:rPr lang="fr-FR" sz="950" noProof="0" dirty="0">
                <a:solidFill>
                  <a:srgbClr val="1B2A3B"/>
                </a:solidFill>
              </a:rPr>
              <a:t>Les donner au LLM pour qu'il formule la réponse.</a:t>
            </a:r>
            <a:endParaRPr lang="fr-FR" sz="950" noProof="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382E257-A46C-28CA-9E1B-67ADD9BB63FD}"/>
              </a:ext>
            </a:extLst>
          </p:cNvPr>
          <p:cNvSpPr/>
          <p:nvPr/>
        </p:nvSpPr>
        <p:spPr>
          <a:xfrm>
            <a:off x="7970031" y="5133220"/>
            <a:ext cx="2560320" cy="292608"/>
          </a:xfrm>
          <a:prstGeom prst="rect">
            <a:avLst/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7E182EE-D3EE-33E2-A71E-E2D57FB491E1}"/>
              </a:ext>
            </a:extLst>
          </p:cNvPr>
          <p:cNvSpPr/>
          <p:nvPr/>
        </p:nvSpPr>
        <p:spPr>
          <a:xfrm>
            <a:off x="7988319" y="5142364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0D9488"/>
                </a:solidFill>
              </a:rPr>
              <a:t> Chercher d'abord, répondre ensuite</a:t>
            </a:r>
            <a:endParaRPr lang="fr-FR" sz="900" noProof="0" dirty="0"/>
          </a:p>
        </p:txBody>
      </p:sp>
    </p:spTree>
    <p:extLst>
      <p:ext uri="{BB962C8B-B14F-4D97-AF65-F5344CB8AC3E}">
        <p14:creationId xmlns:p14="http://schemas.microsoft.com/office/powerpoint/2010/main" val="3790486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FB645-E870-A9ED-CE70-88F648BD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2BBAB-9699-D0C7-28BC-1F0CEB271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La plateforme st </a:t>
            </a:r>
            <a:r>
              <a:rPr lang="fr-FR" sz="1800" b="1" noProof="0" dirty="0" err="1"/>
              <a:t>chatgpt</a:t>
            </a:r>
            <a:endParaRPr lang="fr-FR" sz="1800" b="1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8982F0C-A12C-915A-D0ED-FC61F14C39F8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Comment la plateforme fonctionne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32EE9F63-FEE1-5B84-D3EC-AD04C353B880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i="1" noProof="0" dirty="0">
                <a:solidFill>
                  <a:srgbClr val="64748B"/>
                </a:solidFill>
              </a:rPr>
              <a:t>La chaîne complète : de la question à la réponse sourcée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1795EE5-DF70-D42A-1E36-DF72192E0517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01F71E1C-F78E-6EAF-833B-C34D0D0D83D7}"/>
              </a:ext>
            </a:extLst>
          </p:cNvPr>
          <p:cNvSpPr/>
          <p:nvPr/>
        </p:nvSpPr>
        <p:spPr>
          <a:xfrm>
            <a:off x="1891063" y="215975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1CF819DA-01B6-56A2-777B-AACE2D2E3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535" y="245693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936C4325-AD2B-9814-8A73-2F835203DD59}"/>
              </a:ext>
            </a:extLst>
          </p:cNvPr>
          <p:cNvSpPr/>
          <p:nvPr/>
        </p:nvSpPr>
        <p:spPr>
          <a:xfrm>
            <a:off x="1781335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Utilisateur</a:t>
            </a:r>
            <a:endParaRPr lang="fr-FR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68FC6BD5-FCDE-B024-BAC9-35D7FAB0883A}"/>
              </a:ext>
            </a:extLst>
          </p:cNvPr>
          <p:cNvSpPr/>
          <p:nvPr/>
        </p:nvSpPr>
        <p:spPr>
          <a:xfrm>
            <a:off x="1763047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Pose une question technique</a:t>
            </a:r>
            <a:endParaRPr lang="fr-FR" sz="85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6E7FAFB5-53C5-01E1-8162-7E0C38AF5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223" y="2616951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2F1CB542-2A72-D4AA-B76C-FC1AAB3566A6}"/>
              </a:ext>
            </a:extLst>
          </p:cNvPr>
          <p:cNvSpPr/>
          <p:nvPr/>
        </p:nvSpPr>
        <p:spPr>
          <a:xfrm>
            <a:off x="3610135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DD724B51-12E0-0D44-3931-FBED0C2F1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7607" y="2532005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D124B230-A157-9B1E-7E09-3D761AA0ADE9}"/>
              </a:ext>
            </a:extLst>
          </p:cNvPr>
          <p:cNvSpPr/>
          <p:nvPr/>
        </p:nvSpPr>
        <p:spPr>
          <a:xfrm>
            <a:off x="3500407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Recherche</a:t>
            </a:r>
            <a:endParaRPr lang="fr-FR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239C5B1F-2064-D1B1-9A51-131102510CA9}"/>
              </a:ext>
            </a:extLst>
          </p:cNvPr>
          <p:cNvSpPr/>
          <p:nvPr/>
        </p:nvSpPr>
        <p:spPr>
          <a:xfrm>
            <a:off x="3482119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Cherche dans la KB les passages les plus proches</a:t>
            </a:r>
            <a:endParaRPr lang="fr-FR" sz="850" noProof="0" dirty="0"/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9B11BBDB-F3F1-5D30-7D90-11AC12BB8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295" y="2616951"/>
            <a:ext cx="329184" cy="329184"/>
          </a:xfrm>
          <a:prstGeom prst="rect">
            <a:avLst/>
          </a:prstGeom>
        </p:spPr>
      </p:pic>
      <p:sp>
        <p:nvSpPr>
          <p:cNvPr id="73" name="Shape 11">
            <a:extLst>
              <a:ext uri="{FF2B5EF4-FFF2-40B4-BE49-F238E27FC236}">
                <a16:creationId xmlns:a16="http://schemas.microsoft.com/office/drawing/2014/main" id="{318E120B-BD81-780F-5920-77BE1C67D411}"/>
              </a:ext>
            </a:extLst>
          </p:cNvPr>
          <p:cNvSpPr/>
          <p:nvPr/>
        </p:nvSpPr>
        <p:spPr>
          <a:xfrm>
            <a:off x="5329207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6C7AD692-4B95-3507-CA1E-C4877DC492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7535" y="2504983"/>
            <a:ext cx="475488" cy="47548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52340E1D-CD82-4691-9203-A607082964ED}"/>
              </a:ext>
            </a:extLst>
          </p:cNvPr>
          <p:cNvSpPr/>
          <p:nvPr/>
        </p:nvSpPr>
        <p:spPr>
          <a:xfrm>
            <a:off x="5219479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Knowledge Base</a:t>
            </a:r>
            <a:endParaRPr lang="fr-FR" sz="1000" noProof="0" dirty="0"/>
          </a:p>
        </p:txBody>
      </p:sp>
      <p:sp>
        <p:nvSpPr>
          <p:cNvPr id="76" name="Text 13">
            <a:extLst>
              <a:ext uri="{FF2B5EF4-FFF2-40B4-BE49-F238E27FC236}">
                <a16:creationId xmlns:a16="http://schemas.microsoft.com/office/drawing/2014/main" id="{FDB630E7-F076-96CB-5F62-A6B1F3F7AD8F}"/>
              </a:ext>
            </a:extLst>
          </p:cNvPr>
          <p:cNvSpPr/>
          <p:nvPr/>
        </p:nvSpPr>
        <p:spPr>
          <a:xfrm>
            <a:off x="5201191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Retourne les </a:t>
            </a:r>
            <a:r>
              <a:rPr lang="fr-FR" sz="850" noProof="0" dirty="0" err="1">
                <a:solidFill>
                  <a:srgbClr val="64748B"/>
                </a:solidFill>
              </a:rPr>
              <a:t>chunks</a:t>
            </a:r>
            <a:r>
              <a:rPr lang="fr-FR" sz="850" noProof="0" dirty="0">
                <a:solidFill>
                  <a:srgbClr val="64748B"/>
                </a:solidFill>
              </a:rPr>
              <a:t> (morceaux) pertinents</a:t>
            </a:r>
            <a:endParaRPr lang="fr-FR" sz="850" noProof="0" dirty="0"/>
          </a:p>
        </p:txBody>
      </p:sp>
      <p:pic>
        <p:nvPicPr>
          <p:cNvPr id="77" name="Image 5" descr="preencoded.png">
            <a:extLst>
              <a:ext uri="{FF2B5EF4-FFF2-40B4-BE49-F238E27FC236}">
                <a16:creationId xmlns:a16="http://schemas.microsoft.com/office/drawing/2014/main" id="{C16BB8BF-4E52-D866-B745-1703FC9BAD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367" y="2743642"/>
            <a:ext cx="329184" cy="329184"/>
          </a:xfrm>
          <a:prstGeom prst="rect">
            <a:avLst/>
          </a:prstGeom>
        </p:spPr>
      </p:pic>
      <p:sp>
        <p:nvSpPr>
          <p:cNvPr id="78" name="Shape 14">
            <a:extLst>
              <a:ext uri="{FF2B5EF4-FFF2-40B4-BE49-F238E27FC236}">
                <a16:creationId xmlns:a16="http://schemas.microsoft.com/office/drawing/2014/main" id="{6F5CBF2F-EC37-E4D1-09AF-457892F4864C}"/>
              </a:ext>
            </a:extLst>
          </p:cNvPr>
          <p:cNvSpPr/>
          <p:nvPr/>
        </p:nvSpPr>
        <p:spPr>
          <a:xfrm>
            <a:off x="7048279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AFB0EB77-F699-FF35-0634-0A42D3D1BA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127" y="2497892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DFEC622B-A731-A2D0-CDA1-700079D645A0}"/>
              </a:ext>
            </a:extLst>
          </p:cNvPr>
          <p:cNvSpPr/>
          <p:nvPr/>
        </p:nvSpPr>
        <p:spPr>
          <a:xfrm>
            <a:off x="6938551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LLM (IA)</a:t>
            </a:r>
            <a:endParaRPr lang="fr-FR" sz="1000" noProof="0" dirty="0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D2B433B7-7870-A4C4-5D2C-E8E905355F57}"/>
              </a:ext>
            </a:extLst>
          </p:cNvPr>
          <p:cNvSpPr/>
          <p:nvPr/>
        </p:nvSpPr>
        <p:spPr>
          <a:xfrm>
            <a:off x="6920263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Formule la réponse à partir des </a:t>
            </a:r>
            <a:r>
              <a:rPr lang="fr-FR" sz="850" noProof="0" dirty="0" err="1">
                <a:solidFill>
                  <a:srgbClr val="64748B"/>
                </a:solidFill>
              </a:rPr>
              <a:t>chunks</a:t>
            </a:r>
            <a:r>
              <a:rPr lang="fr-FR" sz="850" noProof="0" dirty="0">
                <a:solidFill>
                  <a:srgbClr val="64748B"/>
                </a:solidFill>
              </a:rPr>
              <a:t> trouvés</a:t>
            </a:r>
            <a:endParaRPr lang="fr-FR" sz="850" noProof="0" dirty="0"/>
          </a:p>
        </p:txBody>
      </p:sp>
      <p:pic>
        <p:nvPicPr>
          <p:cNvPr id="82" name="Image 7" descr="preencoded.png">
            <a:extLst>
              <a:ext uri="{FF2B5EF4-FFF2-40B4-BE49-F238E27FC236}">
                <a16:creationId xmlns:a16="http://schemas.microsoft.com/office/drawing/2014/main" id="{84A4209F-ABD1-5B70-A44A-11F08F971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3087" y="2611717"/>
            <a:ext cx="329184" cy="329184"/>
          </a:xfrm>
          <a:prstGeom prst="rect">
            <a:avLst/>
          </a:prstGeom>
        </p:spPr>
      </p:pic>
      <p:sp>
        <p:nvSpPr>
          <p:cNvPr id="83" name="Shape 17">
            <a:extLst>
              <a:ext uri="{FF2B5EF4-FFF2-40B4-BE49-F238E27FC236}">
                <a16:creationId xmlns:a16="http://schemas.microsoft.com/office/drawing/2014/main" id="{504023C6-077F-3C1B-0334-3FCBAA8162F7}"/>
              </a:ext>
            </a:extLst>
          </p:cNvPr>
          <p:cNvSpPr/>
          <p:nvPr/>
        </p:nvSpPr>
        <p:spPr>
          <a:xfrm>
            <a:off x="8767351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57A45F68-29E0-0445-E625-116FC0DF4F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14823" y="2520277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A25853B7-05E5-92B7-97F4-E6F43F810DA8}"/>
              </a:ext>
            </a:extLst>
          </p:cNvPr>
          <p:cNvSpPr/>
          <p:nvPr/>
        </p:nvSpPr>
        <p:spPr>
          <a:xfrm>
            <a:off x="8657623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Réponse</a:t>
            </a:r>
            <a:endParaRPr lang="fr-FR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018B1A51-54FA-49F0-9F46-2FB75E5BFDA4}"/>
              </a:ext>
            </a:extLst>
          </p:cNvPr>
          <p:cNvSpPr/>
          <p:nvPr/>
        </p:nvSpPr>
        <p:spPr>
          <a:xfrm>
            <a:off x="8639335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Réponse + sources</a:t>
            </a:r>
            <a:endParaRPr lang="fr-FR" sz="850" noProof="0" dirty="0"/>
          </a:p>
        </p:txBody>
      </p:sp>
      <p:sp>
        <p:nvSpPr>
          <p:cNvPr id="87" name="Shape 20">
            <a:extLst>
              <a:ext uri="{FF2B5EF4-FFF2-40B4-BE49-F238E27FC236}">
                <a16:creationId xmlns:a16="http://schemas.microsoft.com/office/drawing/2014/main" id="{4B84709A-2FCA-92CB-AD8D-84D98B661D8D}"/>
              </a:ext>
            </a:extLst>
          </p:cNvPr>
          <p:cNvSpPr/>
          <p:nvPr/>
        </p:nvSpPr>
        <p:spPr>
          <a:xfrm>
            <a:off x="1964215" y="4381743"/>
            <a:ext cx="8412480" cy="1353312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8" name="Shape 21">
            <a:extLst>
              <a:ext uri="{FF2B5EF4-FFF2-40B4-BE49-F238E27FC236}">
                <a16:creationId xmlns:a16="http://schemas.microsoft.com/office/drawing/2014/main" id="{C2D31CA8-C600-4482-5053-958C61305F6E}"/>
              </a:ext>
            </a:extLst>
          </p:cNvPr>
          <p:cNvSpPr/>
          <p:nvPr/>
        </p:nvSpPr>
        <p:spPr>
          <a:xfrm>
            <a:off x="1964215" y="4381743"/>
            <a:ext cx="64008" cy="13533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9" name="Text 22">
            <a:extLst>
              <a:ext uri="{FF2B5EF4-FFF2-40B4-BE49-F238E27FC236}">
                <a16:creationId xmlns:a16="http://schemas.microsoft.com/office/drawing/2014/main" id="{CAAEEA6D-9AD9-5009-5D28-72AABC91E671}"/>
              </a:ext>
            </a:extLst>
          </p:cNvPr>
          <p:cNvSpPr/>
          <p:nvPr/>
        </p:nvSpPr>
        <p:spPr>
          <a:xfrm>
            <a:off x="2165383" y="4454895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Mon travail dans ce projet :</a:t>
            </a:r>
            <a:endParaRPr lang="fr-FR" sz="1100" noProof="0" dirty="0"/>
          </a:p>
        </p:txBody>
      </p:sp>
      <p:sp>
        <p:nvSpPr>
          <p:cNvPr id="90" name="Text 23">
            <a:extLst>
              <a:ext uri="{FF2B5EF4-FFF2-40B4-BE49-F238E27FC236}">
                <a16:creationId xmlns:a16="http://schemas.microsoft.com/office/drawing/2014/main" id="{D9D7649B-5E54-4C44-8A5D-49736D437AD9}"/>
              </a:ext>
            </a:extLst>
          </p:cNvPr>
          <p:cNvSpPr/>
          <p:nvPr/>
        </p:nvSpPr>
        <p:spPr>
          <a:xfrm>
            <a:off x="2165383" y="4710927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B2A3B"/>
                </a:solidFill>
              </a:rPr>
              <a:t>Mon rôle </a:t>
            </a:r>
            <a:r>
              <a:rPr lang="fr-FR" sz="1100" noProof="0" dirty="0">
                <a:solidFill>
                  <a:srgbClr val="1B2A3B"/>
                </a:solidFill>
              </a:rPr>
              <a:t>= préparer les données qui alimentent la Knowledge Base. </a:t>
            </a:r>
          </a:p>
          <a:p>
            <a:pPr marL="0" indent="0">
              <a:buNone/>
            </a:pPr>
            <a:endParaRPr lang="fr-FR" sz="1100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Si les données sont mauvaises → les réponses sont Mauvaises </a:t>
            </a:r>
            <a:r>
              <a:rPr lang="fr-FR" sz="1100" b="1" dirty="0">
                <a:solidFill>
                  <a:srgbClr val="1B2A3B"/>
                </a:solidFill>
              </a:rPr>
              <a:t>,</a:t>
            </a:r>
            <a:r>
              <a:rPr lang="fr-FR" sz="1100" noProof="0" dirty="0">
                <a:solidFill>
                  <a:srgbClr val="1B2A3B"/>
                </a:solidFill>
              </a:rPr>
              <a:t> Si les données sont bonnes → les réponses sont bonnes.</a:t>
            </a:r>
            <a:endParaRPr lang="fr-FR" sz="110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0BE773ED-3950-D9A4-0464-8A031FA5ABD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56623" y="251147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F5638596-C122-9F55-D264-4088BE65B5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55641" y="2532005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2B698DB1-7338-3C6D-58C0-8D7F523EA39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8884" y="2535947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95E8CF2C-3F57-CC60-4162-70BADE22FB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62344" y="2523744"/>
            <a:ext cx="417157" cy="417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97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16D3-CCBF-38B1-53F3-0687DA8F2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BEBE0-126C-1CBA-56FA-CD7B1A8C8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La plateforme st </a:t>
            </a:r>
            <a:r>
              <a:rPr lang="fr-FR" sz="1800" b="1" noProof="0" dirty="0" err="1"/>
              <a:t>chatgpt</a:t>
            </a:r>
            <a:endParaRPr lang="fr-FR" sz="1800" b="1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5B500F-F3E9-AF5F-2A10-1AF2F968030C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Comment la plateforme fonctionne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85645FE-4855-DDDE-ECBD-B0D7ABE0B5AF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i="1" noProof="0" dirty="0">
                <a:solidFill>
                  <a:srgbClr val="64748B"/>
                </a:solidFill>
              </a:rPr>
              <a:t>La chaîne complète : de la question à la réponse sourcée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1477C8A6-C1DC-BDAC-C17F-E142693DBE9B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E973CB62-249E-9AE8-0A56-A2A6EC0C046A}"/>
              </a:ext>
            </a:extLst>
          </p:cNvPr>
          <p:cNvSpPr/>
          <p:nvPr/>
        </p:nvSpPr>
        <p:spPr>
          <a:xfrm>
            <a:off x="980352" y="215975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3234C0C4-1E53-2CB1-65D9-DC5DB7078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7824" y="245693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112A8385-ED45-11C2-0283-53E3C5905DEB}"/>
              </a:ext>
            </a:extLst>
          </p:cNvPr>
          <p:cNvSpPr/>
          <p:nvPr/>
        </p:nvSpPr>
        <p:spPr>
          <a:xfrm>
            <a:off x="870624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Utilisateur</a:t>
            </a:r>
            <a:endParaRPr lang="fr-FR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AB2B0FF-6CD1-51A8-478C-7AA85F187496}"/>
              </a:ext>
            </a:extLst>
          </p:cNvPr>
          <p:cNvSpPr/>
          <p:nvPr/>
        </p:nvSpPr>
        <p:spPr>
          <a:xfrm>
            <a:off x="852336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Pose une question technique</a:t>
            </a:r>
            <a:endParaRPr lang="fr-FR" sz="85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AF114404-8EF4-C421-6A6F-7702E9499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0512" y="2616951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635BDB13-25D2-13A0-FAFE-A775663941CF}"/>
              </a:ext>
            </a:extLst>
          </p:cNvPr>
          <p:cNvSpPr/>
          <p:nvPr/>
        </p:nvSpPr>
        <p:spPr>
          <a:xfrm>
            <a:off x="2699424" y="21597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BF85215D-AEBE-14D5-9E41-1CAA586573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6896" y="2532005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0B0BB1D6-D911-19AB-070C-8B8ADBBC6FAD}"/>
              </a:ext>
            </a:extLst>
          </p:cNvPr>
          <p:cNvSpPr/>
          <p:nvPr/>
        </p:nvSpPr>
        <p:spPr>
          <a:xfrm>
            <a:off x="2589696" y="34124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Recherche</a:t>
            </a:r>
            <a:endParaRPr lang="fr-FR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CF8C61C5-65CD-F42D-188C-4BA1622BC6A9}"/>
              </a:ext>
            </a:extLst>
          </p:cNvPr>
          <p:cNvSpPr/>
          <p:nvPr/>
        </p:nvSpPr>
        <p:spPr>
          <a:xfrm>
            <a:off x="2571408" y="36867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Cherche dans la KB les passages les plus proches</a:t>
            </a:r>
            <a:endParaRPr lang="fr-FR" sz="850" noProof="0" dirty="0"/>
          </a:p>
        </p:txBody>
      </p:sp>
      <p:sp>
        <p:nvSpPr>
          <p:cNvPr id="73" name="Shape 11">
            <a:extLst>
              <a:ext uri="{FF2B5EF4-FFF2-40B4-BE49-F238E27FC236}">
                <a16:creationId xmlns:a16="http://schemas.microsoft.com/office/drawing/2014/main" id="{286EB5D5-912A-C530-1290-29E7DE36622A}"/>
              </a:ext>
            </a:extLst>
          </p:cNvPr>
          <p:cNvSpPr/>
          <p:nvPr/>
        </p:nvSpPr>
        <p:spPr>
          <a:xfrm>
            <a:off x="5211751" y="1862236"/>
            <a:ext cx="1602951" cy="1592247"/>
          </a:xfrm>
          <a:prstGeom prst="ellipse">
            <a:avLst/>
          </a:prstGeom>
          <a:noFill/>
          <a:ln w="12700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4DA8C1C0-EC66-C157-0939-128A1FA8D0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9128" y="2376415"/>
            <a:ext cx="631078" cy="63107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42314E98-4191-EB94-EA3C-1C00E43DFFE7}"/>
              </a:ext>
            </a:extLst>
          </p:cNvPr>
          <p:cNvSpPr/>
          <p:nvPr/>
        </p:nvSpPr>
        <p:spPr>
          <a:xfrm>
            <a:off x="5352617" y="359628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C00000"/>
                </a:solidFill>
              </a:rPr>
              <a:t>Knowledge Base</a:t>
            </a:r>
            <a:endParaRPr lang="fr-FR" sz="1200" noProof="0" dirty="0">
              <a:solidFill>
                <a:srgbClr val="C00000"/>
              </a:solidFill>
            </a:endParaRPr>
          </a:p>
        </p:txBody>
      </p:sp>
      <p:sp>
        <p:nvSpPr>
          <p:cNvPr id="78" name="Shape 14">
            <a:extLst>
              <a:ext uri="{FF2B5EF4-FFF2-40B4-BE49-F238E27FC236}">
                <a16:creationId xmlns:a16="http://schemas.microsoft.com/office/drawing/2014/main" id="{F9F42FC3-F2EE-CC7F-26AB-D67A9D87ABED}"/>
              </a:ext>
            </a:extLst>
          </p:cNvPr>
          <p:cNvSpPr/>
          <p:nvPr/>
        </p:nvSpPr>
        <p:spPr>
          <a:xfrm>
            <a:off x="8194128" y="217218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22626C0A-D1D9-BBCF-1658-8DF6F7A4D6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5976" y="2510329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E876A4D8-1799-E6F5-FF75-5D529FF705C9}"/>
              </a:ext>
            </a:extLst>
          </p:cNvPr>
          <p:cNvSpPr/>
          <p:nvPr/>
        </p:nvSpPr>
        <p:spPr>
          <a:xfrm>
            <a:off x="8084400" y="342491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LLM (IA)</a:t>
            </a:r>
            <a:endParaRPr lang="fr-FR" sz="1000" noProof="0" dirty="0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7B7AD945-19F6-3A97-69FB-DCC434D3502E}"/>
              </a:ext>
            </a:extLst>
          </p:cNvPr>
          <p:cNvSpPr/>
          <p:nvPr/>
        </p:nvSpPr>
        <p:spPr>
          <a:xfrm>
            <a:off x="8066112" y="3699236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Formule la réponse à partir des </a:t>
            </a:r>
            <a:r>
              <a:rPr lang="fr-FR" sz="850" noProof="0" dirty="0" err="1">
                <a:solidFill>
                  <a:srgbClr val="64748B"/>
                </a:solidFill>
              </a:rPr>
              <a:t>chunks</a:t>
            </a:r>
            <a:r>
              <a:rPr lang="fr-FR" sz="850" noProof="0" dirty="0">
                <a:solidFill>
                  <a:srgbClr val="64748B"/>
                </a:solidFill>
              </a:rPr>
              <a:t> trouvés</a:t>
            </a:r>
            <a:endParaRPr lang="fr-FR" sz="850" noProof="0" dirty="0"/>
          </a:p>
        </p:txBody>
      </p:sp>
      <p:pic>
        <p:nvPicPr>
          <p:cNvPr id="82" name="Image 7" descr="preencoded.png">
            <a:extLst>
              <a:ext uri="{FF2B5EF4-FFF2-40B4-BE49-F238E27FC236}">
                <a16:creationId xmlns:a16="http://schemas.microsoft.com/office/drawing/2014/main" id="{1CCD4A03-9A87-392C-7133-9D059293A1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8936" y="2624154"/>
            <a:ext cx="329184" cy="329184"/>
          </a:xfrm>
          <a:prstGeom prst="rect">
            <a:avLst/>
          </a:prstGeom>
        </p:spPr>
      </p:pic>
      <p:sp>
        <p:nvSpPr>
          <p:cNvPr id="83" name="Shape 17">
            <a:extLst>
              <a:ext uri="{FF2B5EF4-FFF2-40B4-BE49-F238E27FC236}">
                <a16:creationId xmlns:a16="http://schemas.microsoft.com/office/drawing/2014/main" id="{0CB74876-A2D5-7E42-A392-C8C041EA8A21}"/>
              </a:ext>
            </a:extLst>
          </p:cNvPr>
          <p:cNvSpPr/>
          <p:nvPr/>
        </p:nvSpPr>
        <p:spPr>
          <a:xfrm>
            <a:off x="9913200" y="217218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D53C1194-7F34-1D33-979F-D179340CB3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0672" y="2532714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722954A6-D1C8-C8EC-D965-FA6F7412ABB9}"/>
              </a:ext>
            </a:extLst>
          </p:cNvPr>
          <p:cNvSpPr/>
          <p:nvPr/>
        </p:nvSpPr>
        <p:spPr>
          <a:xfrm>
            <a:off x="9803472" y="342491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Réponse</a:t>
            </a:r>
            <a:endParaRPr lang="fr-FR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E0D719CB-4547-95DF-B0C4-9018352E11BB}"/>
              </a:ext>
            </a:extLst>
          </p:cNvPr>
          <p:cNvSpPr/>
          <p:nvPr/>
        </p:nvSpPr>
        <p:spPr>
          <a:xfrm>
            <a:off x="9785184" y="3699236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Réponse + sources</a:t>
            </a:r>
            <a:endParaRPr lang="fr-FR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157C76BA-4267-6AFC-EF01-4AE4023592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45912" y="251147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A1C21865-B72D-085A-E41F-214E517C16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71237" y="2548932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ADFAC7A5-4053-7C73-E0E4-4749C1B77A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34733" y="2548384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FC5B523C-7E00-8A41-5CF7-8B60A4C728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04874" y="2556122"/>
            <a:ext cx="417157" cy="417157"/>
          </a:xfrm>
          <a:prstGeom prst="rect">
            <a:avLst/>
          </a:prstGeom>
        </p:spPr>
      </p:pic>
      <p:pic>
        <p:nvPicPr>
          <p:cNvPr id="3" name="Graphic 2" descr="Back outline">
            <a:extLst>
              <a:ext uri="{FF2B5EF4-FFF2-40B4-BE49-F238E27FC236}">
                <a16:creationId xmlns:a16="http://schemas.microsoft.com/office/drawing/2014/main" id="{A1ECE936-3598-9636-A572-AB63043C68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 flipV="1">
            <a:off x="4276496" y="3913770"/>
            <a:ext cx="1004387" cy="1004387"/>
          </a:xfrm>
          <a:prstGeom prst="rect">
            <a:avLst/>
          </a:prstGeom>
        </p:spPr>
      </p:pic>
      <p:pic>
        <p:nvPicPr>
          <p:cNvPr id="4" name="Graphic 3" descr="Back outline">
            <a:extLst>
              <a:ext uri="{FF2B5EF4-FFF2-40B4-BE49-F238E27FC236}">
                <a16:creationId xmlns:a16="http://schemas.microsoft.com/office/drawing/2014/main" id="{1D639DE2-782C-9AE5-33EB-D76C3AB4B40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6200000" flipH="1" flipV="1">
            <a:off x="6730821" y="3920501"/>
            <a:ext cx="1004387" cy="1004387"/>
          </a:xfrm>
          <a:prstGeom prst="rect">
            <a:avLst/>
          </a:prstGeom>
        </p:spPr>
      </p:pic>
      <p:pic>
        <p:nvPicPr>
          <p:cNvPr id="5" name="Graphic 4" descr="Arrow Right with solid fill">
            <a:extLst>
              <a:ext uri="{FF2B5EF4-FFF2-40B4-BE49-F238E27FC236}">
                <a16:creationId xmlns:a16="http://schemas.microsoft.com/office/drawing/2014/main" id="{B729FD1F-434A-4989-796E-22A3D4977A0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5400000">
            <a:off x="5718354" y="4144284"/>
            <a:ext cx="589739" cy="336905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775B9C40-85C9-2C33-0C43-80F792BE97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8400" y="4931495"/>
            <a:ext cx="407891" cy="407891"/>
          </a:xfrm>
          <a:prstGeom prst="rect">
            <a:avLst/>
          </a:prstGeom>
        </p:spPr>
      </p:pic>
      <p:pic>
        <p:nvPicPr>
          <p:cNvPr id="7" name="Image 4" descr="preencoded.png">
            <a:extLst>
              <a:ext uri="{FF2B5EF4-FFF2-40B4-BE49-F238E27FC236}">
                <a16:creationId xmlns:a16="http://schemas.microsoft.com/office/drawing/2014/main" id="{1F1BD914-3546-B9FD-9542-83297947A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9277" y="4940435"/>
            <a:ext cx="407891" cy="407891"/>
          </a:xfrm>
          <a:prstGeom prst="rect">
            <a:avLst/>
          </a:prstGeom>
        </p:spPr>
      </p:pic>
      <p:pic>
        <p:nvPicPr>
          <p:cNvPr id="8" name="Image 4" descr="preencoded.png">
            <a:extLst>
              <a:ext uri="{FF2B5EF4-FFF2-40B4-BE49-F238E27FC236}">
                <a16:creationId xmlns:a16="http://schemas.microsoft.com/office/drawing/2014/main" id="{C2814380-0532-1C70-FBD2-6A67472834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0154" y="4940435"/>
            <a:ext cx="407891" cy="4078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010F35-8BC4-470C-20B6-CE2C0C185686}"/>
              </a:ext>
            </a:extLst>
          </p:cNvPr>
          <p:cNvSpPr txBox="1"/>
          <p:nvPr/>
        </p:nvSpPr>
        <p:spPr>
          <a:xfrm>
            <a:off x="1547423" y="5401997"/>
            <a:ext cx="62716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Data Source</a:t>
            </a:r>
          </a:p>
          <a:p>
            <a:pPr marL="0" indent="0" algn="ctr">
              <a:buNone/>
            </a:pPr>
            <a:endParaRPr lang="fr-FR" sz="1100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53ED0E-415F-F792-A36C-5DA595029DEA}"/>
              </a:ext>
            </a:extLst>
          </p:cNvPr>
          <p:cNvSpPr txBox="1"/>
          <p:nvPr/>
        </p:nvSpPr>
        <p:spPr>
          <a:xfrm>
            <a:off x="2908834" y="5430625"/>
            <a:ext cx="62716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Data Source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635AC-61EC-65D2-92AC-72C4822D3112}"/>
              </a:ext>
            </a:extLst>
          </p:cNvPr>
          <p:cNvSpPr txBox="1"/>
          <p:nvPr/>
        </p:nvSpPr>
        <p:spPr>
          <a:xfrm>
            <a:off x="4226750" y="5445283"/>
            <a:ext cx="62716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Data Source</a:t>
            </a:r>
          </a:p>
        </p:txBody>
      </p:sp>
    </p:spTree>
    <p:extLst>
      <p:ext uri="{BB962C8B-B14F-4D97-AF65-F5344CB8AC3E}">
        <p14:creationId xmlns:p14="http://schemas.microsoft.com/office/powerpoint/2010/main" val="1110088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25EA8-89C0-AEDF-50D5-946605FBA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C31FF-A544-E13E-08A1-A1DDDDAF7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La plateforme st </a:t>
            </a:r>
            <a:r>
              <a:rPr lang="fr-FR" sz="1800" b="1" noProof="0" dirty="0" err="1"/>
              <a:t>chatgpt</a:t>
            </a:r>
            <a:endParaRPr lang="fr-FR" sz="1800" b="1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0A93FCA-6720-C11A-90ED-F2FD08199F0B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Comment la plateforme fonctionne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9629FAA2-D9AB-DB3B-B2BC-90757FA73519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i="1" noProof="0" dirty="0">
                <a:solidFill>
                  <a:srgbClr val="64748B"/>
                </a:solidFill>
              </a:rPr>
              <a:t>La chaîne complète : de la question à la réponse sourcée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BA36BCF7-3284-EF46-C6F8-5CE8A1E17172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C9DDCB1B-85E0-B8CC-3F34-A0B2165F0E99}"/>
              </a:ext>
            </a:extLst>
          </p:cNvPr>
          <p:cNvSpPr/>
          <p:nvPr/>
        </p:nvSpPr>
        <p:spPr>
          <a:xfrm>
            <a:off x="1024340" y="193115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78E06A0B-147A-84D2-F99E-7521FA75C3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812" y="222833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1B83DB45-D7CC-DEF2-701F-60046AFE37E2}"/>
              </a:ext>
            </a:extLst>
          </p:cNvPr>
          <p:cNvSpPr/>
          <p:nvPr/>
        </p:nvSpPr>
        <p:spPr>
          <a:xfrm>
            <a:off x="914612" y="31838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Utilisateur</a:t>
            </a:r>
            <a:endParaRPr lang="fr-FR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800FA1D1-3097-3BA2-4C2E-532118C1D4E6}"/>
              </a:ext>
            </a:extLst>
          </p:cNvPr>
          <p:cNvSpPr/>
          <p:nvPr/>
        </p:nvSpPr>
        <p:spPr>
          <a:xfrm>
            <a:off x="896324" y="34581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Pose une question technique</a:t>
            </a:r>
            <a:endParaRPr lang="fr-FR" sz="85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F31EB45F-F0FF-BC47-BF7D-74BB16A14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500" y="2388351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0153DABC-6D99-D8C1-40A7-19F2370CA3B2}"/>
              </a:ext>
            </a:extLst>
          </p:cNvPr>
          <p:cNvSpPr/>
          <p:nvPr/>
        </p:nvSpPr>
        <p:spPr>
          <a:xfrm>
            <a:off x="2743412" y="19311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AB666079-4E86-F8E2-CA5B-5D1D561CBB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884" y="2303405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1954190D-72F1-489B-F6F1-CF5F0987CCC8}"/>
              </a:ext>
            </a:extLst>
          </p:cNvPr>
          <p:cNvSpPr/>
          <p:nvPr/>
        </p:nvSpPr>
        <p:spPr>
          <a:xfrm>
            <a:off x="2633684" y="31838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Recherche</a:t>
            </a:r>
            <a:endParaRPr lang="fr-FR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E14C71FF-2EC4-EEF0-D854-74C0D9028F4E}"/>
              </a:ext>
            </a:extLst>
          </p:cNvPr>
          <p:cNvSpPr/>
          <p:nvPr/>
        </p:nvSpPr>
        <p:spPr>
          <a:xfrm>
            <a:off x="2615396" y="34581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Cherche dans la KB les passages les plus proches</a:t>
            </a:r>
            <a:endParaRPr lang="fr-FR" sz="850" noProof="0" dirty="0"/>
          </a:p>
        </p:txBody>
      </p:sp>
      <p:sp>
        <p:nvSpPr>
          <p:cNvPr id="73" name="Shape 11">
            <a:extLst>
              <a:ext uri="{FF2B5EF4-FFF2-40B4-BE49-F238E27FC236}">
                <a16:creationId xmlns:a16="http://schemas.microsoft.com/office/drawing/2014/main" id="{51ECB7D0-0C5B-A182-61FB-2712EB5646F2}"/>
              </a:ext>
            </a:extLst>
          </p:cNvPr>
          <p:cNvSpPr/>
          <p:nvPr/>
        </p:nvSpPr>
        <p:spPr>
          <a:xfrm>
            <a:off x="5255739" y="1633636"/>
            <a:ext cx="1602951" cy="1592247"/>
          </a:xfrm>
          <a:prstGeom prst="ellipse">
            <a:avLst/>
          </a:prstGeom>
          <a:noFill/>
          <a:ln w="12700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5FC73932-A96B-DA3A-917B-3B4278585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3116" y="2147815"/>
            <a:ext cx="631078" cy="63107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57889A76-66F9-7551-CC2D-E557A649DD04}"/>
              </a:ext>
            </a:extLst>
          </p:cNvPr>
          <p:cNvSpPr/>
          <p:nvPr/>
        </p:nvSpPr>
        <p:spPr>
          <a:xfrm>
            <a:off x="5396605" y="336768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C00000"/>
                </a:solidFill>
              </a:rPr>
              <a:t>Knowledge Base</a:t>
            </a:r>
            <a:endParaRPr lang="fr-FR" sz="1200" noProof="0" dirty="0">
              <a:solidFill>
                <a:srgbClr val="C00000"/>
              </a:solidFill>
            </a:endParaRPr>
          </a:p>
        </p:txBody>
      </p:sp>
      <p:sp>
        <p:nvSpPr>
          <p:cNvPr id="78" name="Shape 14">
            <a:extLst>
              <a:ext uri="{FF2B5EF4-FFF2-40B4-BE49-F238E27FC236}">
                <a16:creationId xmlns:a16="http://schemas.microsoft.com/office/drawing/2014/main" id="{16FA73E7-E519-5592-2E11-1949700FC3A2}"/>
              </a:ext>
            </a:extLst>
          </p:cNvPr>
          <p:cNvSpPr/>
          <p:nvPr/>
        </p:nvSpPr>
        <p:spPr>
          <a:xfrm>
            <a:off x="8238116" y="194358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6AC3C325-D26F-4406-8878-9EB0692191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964" y="2281729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958F7C8D-0935-8493-EDF9-8429357D9DC7}"/>
              </a:ext>
            </a:extLst>
          </p:cNvPr>
          <p:cNvSpPr/>
          <p:nvPr/>
        </p:nvSpPr>
        <p:spPr>
          <a:xfrm>
            <a:off x="8128388" y="319631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LLM (IA)</a:t>
            </a:r>
            <a:endParaRPr lang="fr-FR" sz="1000" noProof="0" dirty="0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AC7B9D4C-3E69-F278-F5B3-E45B33C90213}"/>
              </a:ext>
            </a:extLst>
          </p:cNvPr>
          <p:cNvSpPr/>
          <p:nvPr/>
        </p:nvSpPr>
        <p:spPr>
          <a:xfrm>
            <a:off x="8110100" y="3470636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Formule la réponse à partir des </a:t>
            </a:r>
            <a:r>
              <a:rPr lang="fr-FR" sz="850" noProof="0" dirty="0" err="1">
                <a:solidFill>
                  <a:srgbClr val="64748B"/>
                </a:solidFill>
              </a:rPr>
              <a:t>chunks</a:t>
            </a:r>
            <a:r>
              <a:rPr lang="fr-FR" sz="850" noProof="0" dirty="0">
                <a:solidFill>
                  <a:srgbClr val="64748B"/>
                </a:solidFill>
              </a:rPr>
              <a:t> trouvés</a:t>
            </a:r>
            <a:endParaRPr lang="fr-FR" sz="850" noProof="0" dirty="0"/>
          </a:p>
        </p:txBody>
      </p:sp>
      <p:pic>
        <p:nvPicPr>
          <p:cNvPr id="82" name="Image 7" descr="preencoded.png">
            <a:extLst>
              <a:ext uri="{FF2B5EF4-FFF2-40B4-BE49-F238E27FC236}">
                <a16:creationId xmlns:a16="http://schemas.microsoft.com/office/drawing/2014/main" id="{653912DE-1B3B-464C-7170-ECCA34FBA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2924" y="2395554"/>
            <a:ext cx="329184" cy="329184"/>
          </a:xfrm>
          <a:prstGeom prst="rect">
            <a:avLst/>
          </a:prstGeom>
        </p:spPr>
      </p:pic>
      <p:sp>
        <p:nvSpPr>
          <p:cNvPr id="83" name="Shape 17">
            <a:extLst>
              <a:ext uri="{FF2B5EF4-FFF2-40B4-BE49-F238E27FC236}">
                <a16:creationId xmlns:a16="http://schemas.microsoft.com/office/drawing/2014/main" id="{A7B298F1-0A01-56FC-75A9-9743DC2F1569}"/>
              </a:ext>
            </a:extLst>
          </p:cNvPr>
          <p:cNvSpPr/>
          <p:nvPr/>
        </p:nvSpPr>
        <p:spPr>
          <a:xfrm>
            <a:off x="9957188" y="194358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AD82401C-F340-1104-1EA5-874284AC2D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4660" y="2304114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A397A2CF-6A55-826B-F71C-B5E6BCD909FB}"/>
              </a:ext>
            </a:extLst>
          </p:cNvPr>
          <p:cNvSpPr/>
          <p:nvPr/>
        </p:nvSpPr>
        <p:spPr>
          <a:xfrm>
            <a:off x="9847460" y="319631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Réponse</a:t>
            </a:r>
            <a:endParaRPr lang="fr-FR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A61310CC-7339-34E2-207A-2FE112D81B7B}"/>
              </a:ext>
            </a:extLst>
          </p:cNvPr>
          <p:cNvSpPr/>
          <p:nvPr/>
        </p:nvSpPr>
        <p:spPr>
          <a:xfrm>
            <a:off x="9829172" y="3470636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Réponse + sources</a:t>
            </a:r>
            <a:endParaRPr lang="fr-FR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6688DB70-6315-1738-54F7-56459612A8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89900" y="228287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00726431-E27C-2D4E-FDB4-9DF93F1D70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15225" y="2320332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C28B2E3D-5D16-C708-FC45-BBE9BF5D78E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78721" y="2319784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52893BF4-0754-27CD-043B-4AA6FF7B21C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48862" y="2327522"/>
            <a:ext cx="417157" cy="417157"/>
          </a:xfrm>
          <a:prstGeom prst="rect">
            <a:avLst/>
          </a:prstGeom>
        </p:spPr>
      </p:pic>
      <p:pic>
        <p:nvPicPr>
          <p:cNvPr id="3" name="Graphic 2" descr="Back outline">
            <a:extLst>
              <a:ext uri="{FF2B5EF4-FFF2-40B4-BE49-F238E27FC236}">
                <a16:creationId xmlns:a16="http://schemas.microsoft.com/office/drawing/2014/main" id="{15BA171C-9520-CCFB-057D-E1ECFC48A3D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 flipV="1">
            <a:off x="4325957" y="3621012"/>
            <a:ext cx="1004387" cy="1004387"/>
          </a:xfrm>
          <a:prstGeom prst="rect">
            <a:avLst/>
          </a:prstGeom>
        </p:spPr>
      </p:pic>
      <p:pic>
        <p:nvPicPr>
          <p:cNvPr id="4" name="Graphic 3" descr="Back outline">
            <a:extLst>
              <a:ext uri="{FF2B5EF4-FFF2-40B4-BE49-F238E27FC236}">
                <a16:creationId xmlns:a16="http://schemas.microsoft.com/office/drawing/2014/main" id="{34CBCBC1-4FAA-2593-4F60-7D97FBACE94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6200000" flipH="1" flipV="1">
            <a:off x="6771243" y="3645961"/>
            <a:ext cx="1004387" cy="1004387"/>
          </a:xfrm>
          <a:prstGeom prst="rect">
            <a:avLst/>
          </a:prstGeom>
        </p:spPr>
      </p:pic>
      <p:pic>
        <p:nvPicPr>
          <p:cNvPr id="5" name="Graphic 4" descr="Arrow Right with solid fill">
            <a:extLst>
              <a:ext uri="{FF2B5EF4-FFF2-40B4-BE49-F238E27FC236}">
                <a16:creationId xmlns:a16="http://schemas.microsoft.com/office/drawing/2014/main" id="{8F359C9A-8E23-4A7B-7EC3-66A90496A17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5400000">
            <a:off x="5762342" y="3915684"/>
            <a:ext cx="589739" cy="336905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C2DFB4DA-094F-6912-E607-527A8D3C98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7710" y="4726648"/>
            <a:ext cx="407891" cy="407891"/>
          </a:xfrm>
          <a:prstGeom prst="rect">
            <a:avLst/>
          </a:prstGeom>
        </p:spPr>
      </p:pic>
      <p:pic>
        <p:nvPicPr>
          <p:cNvPr id="7" name="Image 4" descr="preencoded.png">
            <a:extLst>
              <a:ext uri="{FF2B5EF4-FFF2-40B4-BE49-F238E27FC236}">
                <a16:creationId xmlns:a16="http://schemas.microsoft.com/office/drawing/2014/main" id="{944E92C4-BBF8-F06D-199D-10BB41AE06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8587" y="4735588"/>
            <a:ext cx="407891" cy="407891"/>
          </a:xfrm>
          <a:prstGeom prst="rect">
            <a:avLst/>
          </a:prstGeom>
        </p:spPr>
      </p:pic>
      <p:pic>
        <p:nvPicPr>
          <p:cNvPr id="8" name="Image 4" descr="preencoded.png">
            <a:extLst>
              <a:ext uri="{FF2B5EF4-FFF2-40B4-BE49-F238E27FC236}">
                <a16:creationId xmlns:a16="http://schemas.microsoft.com/office/drawing/2014/main" id="{FB4D387A-B30A-76FD-9FF0-6964B9574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378" y="4751997"/>
            <a:ext cx="407891" cy="4078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52D358-11CB-B6C5-4E94-3C3579A1E1CC}"/>
              </a:ext>
            </a:extLst>
          </p:cNvPr>
          <p:cNvSpPr txBox="1"/>
          <p:nvPr/>
        </p:nvSpPr>
        <p:spPr>
          <a:xfrm>
            <a:off x="1591411" y="5173397"/>
            <a:ext cx="62716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50" b="1" noProof="0">
                <a:solidFill>
                  <a:srgbClr val="1B2A3B"/>
                </a:solidFill>
              </a:rPr>
              <a:t>Data Source</a:t>
            </a:r>
          </a:p>
          <a:p>
            <a:pPr marL="0" indent="0" algn="ctr">
              <a:buNone/>
            </a:pPr>
            <a:endParaRPr lang="fr-FR" sz="1100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3784DF-CE05-3CE4-F433-2DCDA04E1F5E}"/>
              </a:ext>
            </a:extLst>
          </p:cNvPr>
          <p:cNvSpPr txBox="1"/>
          <p:nvPr/>
        </p:nvSpPr>
        <p:spPr>
          <a:xfrm>
            <a:off x="2952822" y="5202025"/>
            <a:ext cx="62716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Data Source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CCA3CC-D953-D763-CC8F-2270938A36F7}"/>
              </a:ext>
            </a:extLst>
          </p:cNvPr>
          <p:cNvSpPr txBox="1"/>
          <p:nvPr/>
        </p:nvSpPr>
        <p:spPr>
          <a:xfrm>
            <a:off x="4137604" y="5192769"/>
            <a:ext cx="62716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Data Source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CB61EF-CDEB-497D-84E8-201B455BED8C}"/>
              </a:ext>
            </a:extLst>
          </p:cNvPr>
          <p:cNvSpPr/>
          <p:nvPr/>
        </p:nvSpPr>
        <p:spPr>
          <a:xfrm>
            <a:off x="4085054" y="4612976"/>
            <a:ext cx="3821217" cy="1042379"/>
          </a:xfrm>
          <a:prstGeom prst="rect">
            <a:avLst/>
          </a:prstGeom>
          <a:noFill/>
          <a:ln>
            <a:solidFill>
              <a:srgbClr val="0D95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fr-FR" noProof="0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19D273DD-891B-54DA-6272-03CFF514C596}"/>
              </a:ext>
            </a:extLst>
          </p:cNvPr>
          <p:cNvSpPr/>
          <p:nvPr/>
        </p:nvSpPr>
        <p:spPr>
          <a:xfrm rot="5400000">
            <a:off x="5932515" y="5351241"/>
            <a:ext cx="249389" cy="1004388"/>
          </a:xfrm>
          <a:prstGeom prst="leftBrace">
            <a:avLst/>
          </a:prstGeom>
          <a:ln w="22225"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2DEA4D4A-027D-4616-5115-C83CE45E9884}"/>
              </a:ext>
            </a:extLst>
          </p:cNvPr>
          <p:cNvSpPr/>
          <p:nvPr/>
        </p:nvSpPr>
        <p:spPr>
          <a:xfrm>
            <a:off x="4787932" y="6088400"/>
            <a:ext cx="2704111" cy="619377"/>
          </a:xfrm>
          <a:prstGeom prst="roundRect">
            <a:avLst>
              <a:gd name="adj" fmla="val 5882"/>
            </a:avLst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E36E1A88-BCA3-BB70-1232-EAF84E858953}"/>
              </a:ext>
            </a:extLst>
          </p:cNvPr>
          <p:cNvSpPr/>
          <p:nvPr/>
        </p:nvSpPr>
        <p:spPr>
          <a:xfrm>
            <a:off x="4906151" y="6399741"/>
            <a:ext cx="255576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fichiers,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cases </a:t>
            </a:r>
            <a:endParaRPr lang="fr-FR" sz="900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A364CF-D2F5-687C-94A7-D72B24CB026B}"/>
              </a:ext>
            </a:extLst>
          </p:cNvPr>
          <p:cNvSpPr txBox="1"/>
          <p:nvPr/>
        </p:nvSpPr>
        <p:spPr>
          <a:xfrm>
            <a:off x="4257166" y="5388224"/>
            <a:ext cx="1278417" cy="22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fr-FR" sz="8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(CSV , JSON , PDF .. ) </a:t>
            </a:r>
            <a:endParaRPr lang="fr-FR" sz="800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05B00D-D308-7854-ABF8-E79A826E8400}"/>
              </a:ext>
            </a:extLst>
          </p:cNvPr>
          <p:cNvSpPr txBox="1"/>
          <p:nvPr/>
        </p:nvSpPr>
        <p:spPr>
          <a:xfrm>
            <a:off x="5586253" y="5397483"/>
            <a:ext cx="1195562" cy="22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fr-FR" sz="8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(CSV , JSON , PDF .. ) </a:t>
            </a:r>
            <a:endParaRPr lang="fr-FR" sz="800" noProof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732793-75D4-449B-BD08-EB26B9A950B8}"/>
              </a:ext>
            </a:extLst>
          </p:cNvPr>
          <p:cNvSpPr txBox="1"/>
          <p:nvPr/>
        </p:nvSpPr>
        <p:spPr>
          <a:xfrm>
            <a:off x="6810096" y="5397483"/>
            <a:ext cx="1048303" cy="22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fr-FR" sz="8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(CSV , JSON , PDF .. ) </a:t>
            </a:r>
            <a:endParaRPr lang="fr-FR" sz="800" noProof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C8B573-2663-8B56-85C6-97D136EC42A9}"/>
              </a:ext>
            </a:extLst>
          </p:cNvPr>
          <p:cNvSpPr txBox="1"/>
          <p:nvPr/>
        </p:nvSpPr>
        <p:spPr>
          <a:xfrm>
            <a:off x="2951052" y="6127333"/>
            <a:ext cx="62734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</a:rPr>
              <a:t>Files</a:t>
            </a:r>
            <a:endParaRPr lang="fr-FR" sz="1400" noProof="0" dirty="0"/>
          </a:p>
        </p:txBody>
      </p:sp>
    </p:spTree>
    <p:extLst>
      <p:ext uri="{BB962C8B-B14F-4D97-AF65-F5344CB8AC3E}">
        <p14:creationId xmlns:p14="http://schemas.microsoft.com/office/powerpoint/2010/main" val="3782702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D68EA-D995-174E-E93F-D774631C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1AF99-3107-EE01-17A8-FC208FEA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 La plateforme st </a:t>
            </a:r>
            <a:r>
              <a:rPr lang="fr-FR" sz="1800" b="1" noProof="0" dirty="0" err="1"/>
              <a:t>chatgpt</a:t>
            </a:r>
            <a:endParaRPr lang="fr-FR" sz="1800" b="1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435889F-17B9-2B99-3D55-9CBCFBCFAB79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Comment la plateforme fonctionne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5DF38217-E603-2AD6-D773-33A7A4732483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i="1" noProof="0" dirty="0">
                <a:solidFill>
                  <a:srgbClr val="64748B"/>
                </a:solidFill>
              </a:rPr>
              <a:t>La chaîne complète : de la question à la réponse sourcée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46057FC4-FCB4-85B8-B99A-E44E1858FE6D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Shape 5">
            <a:extLst>
              <a:ext uri="{FF2B5EF4-FFF2-40B4-BE49-F238E27FC236}">
                <a16:creationId xmlns:a16="http://schemas.microsoft.com/office/drawing/2014/main" id="{C8B778E2-5319-F560-BE73-5CD2737FFF72}"/>
              </a:ext>
            </a:extLst>
          </p:cNvPr>
          <p:cNvSpPr/>
          <p:nvPr/>
        </p:nvSpPr>
        <p:spPr>
          <a:xfrm>
            <a:off x="1024340" y="1931151"/>
            <a:ext cx="1170432" cy="1170432"/>
          </a:xfrm>
          <a:prstGeom prst="ellipse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4" name="Image 0" descr="preencoded.png">
            <a:extLst>
              <a:ext uri="{FF2B5EF4-FFF2-40B4-BE49-F238E27FC236}">
                <a16:creationId xmlns:a16="http://schemas.microsoft.com/office/drawing/2014/main" id="{B440416D-2EC3-8B58-1AED-7F8C59A2C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812" y="2228331"/>
            <a:ext cx="475488" cy="475488"/>
          </a:xfrm>
          <a:prstGeom prst="rect">
            <a:avLst/>
          </a:prstGeom>
        </p:spPr>
      </p:pic>
      <p:sp>
        <p:nvSpPr>
          <p:cNvPr id="65" name="Text 6">
            <a:extLst>
              <a:ext uri="{FF2B5EF4-FFF2-40B4-BE49-F238E27FC236}">
                <a16:creationId xmlns:a16="http://schemas.microsoft.com/office/drawing/2014/main" id="{CC61C8DD-6561-145F-9CFD-F4E21894D20A}"/>
              </a:ext>
            </a:extLst>
          </p:cNvPr>
          <p:cNvSpPr/>
          <p:nvPr/>
        </p:nvSpPr>
        <p:spPr>
          <a:xfrm>
            <a:off x="914612" y="31838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Utilisateur</a:t>
            </a:r>
            <a:endParaRPr lang="fr-FR" sz="1000" noProof="0" dirty="0"/>
          </a:p>
        </p:txBody>
      </p:sp>
      <p:sp>
        <p:nvSpPr>
          <p:cNvPr id="66" name="Text 7">
            <a:extLst>
              <a:ext uri="{FF2B5EF4-FFF2-40B4-BE49-F238E27FC236}">
                <a16:creationId xmlns:a16="http://schemas.microsoft.com/office/drawing/2014/main" id="{49680F9C-4E7B-8BD8-4F28-BFBEB2D12725}"/>
              </a:ext>
            </a:extLst>
          </p:cNvPr>
          <p:cNvSpPr/>
          <p:nvPr/>
        </p:nvSpPr>
        <p:spPr>
          <a:xfrm>
            <a:off x="896324" y="34581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Pose une question technique</a:t>
            </a:r>
            <a:endParaRPr lang="fr-FR" sz="850" noProof="0" dirty="0"/>
          </a:p>
        </p:txBody>
      </p:sp>
      <p:pic>
        <p:nvPicPr>
          <p:cNvPr id="67" name="Image 1" descr="preencoded.png">
            <a:extLst>
              <a:ext uri="{FF2B5EF4-FFF2-40B4-BE49-F238E27FC236}">
                <a16:creationId xmlns:a16="http://schemas.microsoft.com/office/drawing/2014/main" id="{409BCBBF-5731-34BA-F12E-C52B2A9ED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500" y="2388351"/>
            <a:ext cx="329184" cy="329184"/>
          </a:xfrm>
          <a:prstGeom prst="rect">
            <a:avLst/>
          </a:prstGeom>
        </p:spPr>
      </p:pic>
      <p:sp>
        <p:nvSpPr>
          <p:cNvPr id="68" name="Shape 8">
            <a:extLst>
              <a:ext uri="{FF2B5EF4-FFF2-40B4-BE49-F238E27FC236}">
                <a16:creationId xmlns:a16="http://schemas.microsoft.com/office/drawing/2014/main" id="{CA8509C1-302F-9FD7-59BC-A94C08BF92ED}"/>
              </a:ext>
            </a:extLst>
          </p:cNvPr>
          <p:cNvSpPr/>
          <p:nvPr/>
        </p:nvSpPr>
        <p:spPr>
          <a:xfrm>
            <a:off x="2743412" y="1931151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69" name="Image 2" descr="preencoded.png">
            <a:extLst>
              <a:ext uri="{FF2B5EF4-FFF2-40B4-BE49-F238E27FC236}">
                <a16:creationId xmlns:a16="http://schemas.microsoft.com/office/drawing/2014/main" id="{BECED980-445A-E068-B020-9D6C60F3A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884" y="2303405"/>
            <a:ext cx="475488" cy="475488"/>
          </a:xfrm>
          <a:prstGeom prst="rect">
            <a:avLst/>
          </a:prstGeom>
        </p:spPr>
      </p:pic>
      <p:sp>
        <p:nvSpPr>
          <p:cNvPr id="70" name="Text 9">
            <a:extLst>
              <a:ext uri="{FF2B5EF4-FFF2-40B4-BE49-F238E27FC236}">
                <a16:creationId xmlns:a16="http://schemas.microsoft.com/office/drawing/2014/main" id="{8392F7C4-EE6D-10A9-CBE4-2A81A793D58D}"/>
              </a:ext>
            </a:extLst>
          </p:cNvPr>
          <p:cNvSpPr/>
          <p:nvPr/>
        </p:nvSpPr>
        <p:spPr>
          <a:xfrm>
            <a:off x="2633684" y="3183879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Recherche</a:t>
            </a:r>
            <a:endParaRPr lang="fr-FR" sz="1000" noProof="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8EF1592F-8B71-A846-AD18-3E39D5A93748}"/>
              </a:ext>
            </a:extLst>
          </p:cNvPr>
          <p:cNvSpPr/>
          <p:nvPr/>
        </p:nvSpPr>
        <p:spPr>
          <a:xfrm>
            <a:off x="2615396" y="3458199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Cherche dans la KB les passages les plus proches</a:t>
            </a:r>
            <a:endParaRPr lang="fr-FR" sz="850" noProof="0" dirty="0"/>
          </a:p>
        </p:txBody>
      </p:sp>
      <p:sp>
        <p:nvSpPr>
          <p:cNvPr id="73" name="Shape 11">
            <a:extLst>
              <a:ext uri="{FF2B5EF4-FFF2-40B4-BE49-F238E27FC236}">
                <a16:creationId xmlns:a16="http://schemas.microsoft.com/office/drawing/2014/main" id="{9EA43E94-496C-74BC-2928-568F4E08B1FE}"/>
              </a:ext>
            </a:extLst>
          </p:cNvPr>
          <p:cNvSpPr/>
          <p:nvPr/>
        </p:nvSpPr>
        <p:spPr>
          <a:xfrm>
            <a:off x="5255739" y="1633636"/>
            <a:ext cx="1602951" cy="1592247"/>
          </a:xfrm>
          <a:prstGeom prst="ellipse">
            <a:avLst/>
          </a:prstGeom>
          <a:noFill/>
          <a:ln w="12700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4" name="Image 4" descr="preencoded.png">
            <a:extLst>
              <a:ext uri="{FF2B5EF4-FFF2-40B4-BE49-F238E27FC236}">
                <a16:creationId xmlns:a16="http://schemas.microsoft.com/office/drawing/2014/main" id="{0C1C69AC-D617-7DE9-6713-8528674B3C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3116" y="2147815"/>
            <a:ext cx="631078" cy="631078"/>
          </a:xfrm>
          <a:prstGeom prst="rect">
            <a:avLst/>
          </a:prstGeom>
        </p:spPr>
      </p:pic>
      <p:sp>
        <p:nvSpPr>
          <p:cNvPr id="75" name="Text 12">
            <a:extLst>
              <a:ext uri="{FF2B5EF4-FFF2-40B4-BE49-F238E27FC236}">
                <a16:creationId xmlns:a16="http://schemas.microsoft.com/office/drawing/2014/main" id="{439D1F67-D200-98D4-4EFB-8F81C5CC4CD0}"/>
              </a:ext>
            </a:extLst>
          </p:cNvPr>
          <p:cNvSpPr/>
          <p:nvPr/>
        </p:nvSpPr>
        <p:spPr>
          <a:xfrm>
            <a:off x="5396605" y="336768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C00000"/>
                </a:solidFill>
              </a:rPr>
              <a:t>Knowledge Base</a:t>
            </a:r>
            <a:endParaRPr lang="fr-FR" sz="1200" noProof="0" dirty="0">
              <a:solidFill>
                <a:srgbClr val="C00000"/>
              </a:solidFill>
            </a:endParaRPr>
          </a:p>
        </p:txBody>
      </p:sp>
      <p:sp>
        <p:nvSpPr>
          <p:cNvPr id="78" name="Shape 14">
            <a:extLst>
              <a:ext uri="{FF2B5EF4-FFF2-40B4-BE49-F238E27FC236}">
                <a16:creationId xmlns:a16="http://schemas.microsoft.com/office/drawing/2014/main" id="{4A050824-F4E5-F29D-8916-504002A0A8D0}"/>
              </a:ext>
            </a:extLst>
          </p:cNvPr>
          <p:cNvSpPr/>
          <p:nvPr/>
        </p:nvSpPr>
        <p:spPr>
          <a:xfrm>
            <a:off x="8238116" y="194358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79" name="Image 6" descr="preencoded.png">
            <a:extLst>
              <a:ext uri="{FF2B5EF4-FFF2-40B4-BE49-F238E27FC236}">
                <a16:creationId xmlns:a16="http://schemas.microsoft.com/office/drawing/2014/main" id="{6654539F-7F8A-4E04-3562-10F57E3C61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964" y="2281729"/>
            <a:ext cx="475488" cy="475488"/>
          </a:xfrm>
          <a:prstGeom prst="rect">
            <a:avLst/>
          </a:prstGeom>
        </p:spPr>
      </p:pic>
      <p:sp>
        <p:nvSpPr>
          <p:cNvPr id="80" name="Text 15">
            <a:extLst>
              <a:ext uri="{FF2B5EF4-FFF2-40B4-BE49-F238E27FC236}">
                <a16:creationId xmlns:a16="http://schemas.microsoft.com/office/drawing/2014/main" id="{160CD224-3876-D624-B757-27F59B64DC50}"/>
              </a:ext>
            </a:extLst>
          </p:cNvPr>
          <p:cNvSpPr/>
          <p:nvPr/>
        </p:nvSpPr>
        <p:spPr>
          <a:xfrm>
            <a:off x="8128388" y="319631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LLM (IA)</a:t>
            </a:r>
            <a:endParaRPr lang="fr-FR" sz="1000" noProof="0" dirty="0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58A8EA28-D41A-EFD9-1BF6-E9C9D5A6F6C8}"/>
              </a:ext>
            </a:extLst>
          </p:cNvPr>
          <p:cNvSpPr/>
          <p:nvPr/>
        </p:nvSpPr>
        <p:spPr>
          <a:xfrm>
            <a:off x="8110100" y="3470636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Formule la réponse à partir des </a:t>
            </a:r>
            <a:r>
              <a:rPr lang="fr-FR" sz="850" noProof="0" dirty="0" err="1">
                <a:solidFill>
                  <a:srgbClr val="64748B"/>
                </a:solidFill>
              </a:rPr>
              <a:t>chunks</a:t>
            </a:r>
            <a:r>
              <a:rPr lang="fr-FR" sz="850" noProof="0" dirty="0">
                <a:solidFill>
                  <a:srgbClr val="64748B"/>
                </a:solidFill>
              </a:rPr>
              <a:t> trouvés</a:t>
            </a:r>
            <a:endParaRPr lang="fr-FR" sz="850" noProof="0" dirty="0"/>
          </a:p>
        </p:txBody>
      </p:sp>
      <p:pic>
        <p:nvPicPr>
          <p:cNvPr id="82" name="Image 7" descr="preencoded.png">
            <a:extLst>
              <a:ext uri="{FF2B5EF4-FFF2-40B4-BE49-F238E27FC236}">
                <a16:creationId xmlns:a16="http://schemas.microsoft.com/office/drawing/2014/main" id="{C335893A-FA3F-D82F-ED4A-3AA5809BF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2924" y="2395554"/>
            <a:ext cx="329184" cy="329184"/>
          </a:xfrm>
          <a:prstGeom prst="rect">
            <a:avLst/>
          </a:prstGeom>
        </p:spPr>
      </p:pic>
      <p:sp>
        <p:nvSpPr>
          <p:cNvPr id="83" name="Shape 17">
            <a:extLst>
              <a:ext uri="{FF2B5EF4-FFF2-40B4-BE49-F238E27FC236}">
                <a16:creationId xmlns:a16="http://schemas.microsoft.com/office/drawing/2014/main" id="{C3507DDA-7962-F3EC-41B2-AA2449C4EED6}"/>
              </a:ext>
            </a:extLst>
          </p:cNvPr>
          <p:cNvSpPr/>
          <p:nvPr/>
        </p:nvSpPr>
        <p:spPr>
          <a:xfrm>
            <a:off x="9957188" y="1943588"/>
            <a:ext cx="1170432" cy="1170432"/>
          </a:xfrm>
          <a:prstGeom prst="ellipse">
            <a:avLst/>
          </a:prstGeom>
          <a:noFill/>
          <a:ln w="12700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pic>
        <p:nvPicPr>
          <p:cNvPr id="84" name="Image 8" descr="preencoded.png">
            <a:extLst>
              <a:ext uri="{FF2B5EF4-FFF2-40B4-BE49-F238E27FC236}">
                <a16:creationId xmlns:a16="http://schemas.microsoft.com/office/drawing/2014/main" id="{ACF696B6-E0F5-179C-F541-78B865D070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4660" y="2304114"/>
            <a:ext cx="475488" cy="475488"/>
          </a:xfrm>
          <a:prstGeom prst="rect">
            <a:avLst/>
          </a:prstGeom>
        </p:spPr>
      </p:pic>
      <p:sp>
        <p:nvSpPr>
          <p:cNvPr id="85" name="Text 18">
            <a:extLst>
              <a:ext uri="{FF2B5EF4-FFF2-40B4-BE49-F238E27FC236}">
                <a16:creationId xmlns:a16="http://schemas.microsoft.com/office/drawing/2014/main" id="{E8EBF1A2-52D3-C64A-CDE5-EDBA57AA5E0D}"/>
              </a:ext>
            </a:extLst>
          </p:cNvPr>
          <p:cNvSpPr/>
          <p:nvPr/>
        </p:nvSpPr>
        <p:spPr>
          <a:xfrm>
            <a:off x="9847460" y="319631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Réponse</a:t>
            </a:r>
            <a:endParaRPr lang="fr-FR" sz="1000" noProof="0" dirty="0"/>
          </a:p>
        </p:txBody>
      </p:sp>
      <p:sp>
        <p:nvSpPr>
          <p:cNvPr id="86" name="Text 19">
            <a:extLst>
              <a:ext uri="{FF2B5EF4-FFF2-40B4-BE49-F238E27FC236}">
                <a16:creationId xmlns:a16="http://schemas.microsoft.com/office/drawing/2014/main" id="{4137C6B6-4B21-E095-9176-247B627620E0}"/>
              </a:ext>
            </a:extLst>
          </p:cNvPr>
          <p:cNvSpPr/>
          <p:nvPr/>
        </p:nvSpPr>
        <p:spPr>
          <a:xfrm>
            <a:off x="9829172" y="3470636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850" noProof="0" dirty="0">
                <a:solidFill>
                  <a:srgbClr val="64748B"/>
                </a:solidFill>
              </a:rPr>
              <a:t>Réponse + sources</a:t>
            </a:r>
            <a:endParaRPr lang="fr-FR" sz="850" noProof="0" dirty="0"/>
          </a:p>
        </p:txBody>
      </p:sp>
      <p:pic>
        <p:nvPicPr>
          <p:cNvPr id="92" name="Graphic 91" descr="Arrow Right with solid fill">
            <a:extLst>
              <a:ext uri="{FF2B5EF4-FFF2-40B4-BE49-F238E27FC236}">
                <a16:creationId xmlns:a16="http://schemas.microsoft.com/office/drawing/2014/main" id="{51A0D5DA-9989-DC83-6F53-F28592A1E2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289900" y="2282870"/>
            <a:ext cx="370657" cy="370657"/>
          </a:xfrm>
          <a:prstGeom prst="rect">
            <a:avLst/>
          </a:prstGeom>
        </p:spPr>
      </p:pic>
      <p:pic>
        <p:nvPicPr>
          <p:cNvPr id="124" name="Graphic 123" descr="Arrow Right with solid fill">
            <a:extLst>
              <a:ext uri="{FF2B5EF4-FFF2-40B4-BE49-F238E27FC236}">
                <a16:creationId xmlns:a16="http://schemas.microsoft.com/office/drawing/2014/main" id="{5DF4138B-20C8-28AE-237F-E32ADCF00D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15225" y="2320332"/>
            <a:ext cx="431535" cy="431535"/>
          </a:xfrm>
          <a:prstGeom prst="rect">
            <a:avLst/>
          </a:prstGeom>
        </p:spPr>
      </p:pic>
      <p:pic>
        <p:nvPicPr>
          <p:cNvPr id="128" name="Graphic 127" descr="Arrow Right with solid fill">
            <a:extLst>
              <a:ext uri="{FF2B5EF4-FFF2-40B4-BE49-F238E27FC236}">
                <a16:creationId xmlns:a16="http://schemas.microsoft.com/office/drawing/2014/main" id="{B1E76444-86F2-F779-A750-1C60A0BCA16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78721" y="2319784"/>
            <a:ext cx="417123" cy="417123"/>
          </a:xfrm>
          <a:prstGeom prst="rect">
            <a:avLst/>
          </a:prstGeom>
        </p:spPr>
      </p:pic>
      <p:pic>
        <p:nvPicPr>
          <p:cNvPr id="130" name="Graphic 129" descr="Arrow Right with solid fill">
            <a:extLst>
              <a:ext uri="{FF2B5EF4-FFF2-40B4-BE49-F238E27FC236}">
                <a16:creationId xmlns:a16="http://schemas.microsoft.com/office/drawing/2014/main" id="{816732BC-DFBB-5018-3FE8-24432E71646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48862" y="2327522"/>
            <a:ext cx="417157" cy="417157"/>
          </a:xfrm>
          <a:prstGeom prst="rect">
            <a:avLst/>
          </a:prstGeom>
        </p:spPr>
      </p:pic>
      <p:pic>
        <p:nvPicPr>
          <p:cNvPr id="3" name="Graphic 2" descr="Back outline">
            <a:extLst>
              <a:ext uri="{FF2B5EF4-FFF2-40B4-BE49-F238E27FC236}">
                <a16:creationId xmlns:a16="http://schemas.microsoft.com/office/drawing/2014/main" id="{BE8392F9-4E07-9295-0A65-28E723108C7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5400000" flipV="1">
            <a:off x="4325957" y="3621012"/>
            <a:ext cx="1004387" cy="1004387"/>
          </a:xfrm>
          <a:prstGeom prst="rect">
            <a:avLst/>
          </a:prstGeom>
        </p:spPr>
      </p:pic>
      <p:pic>
        <p:nvPicPr>
          <p:cNvPr id="4" name="Graphic 3" descr="Back outline">
            <a:extLst>
              <a:ext uri="{FF2B5EF4-FFF2-40B4-BE49-F238E27FC236}">
                <a16:creationId xmlns:a16="http://schemas.microsoft.com/office/drawing/2014/main" id="{A55CE50E-0A75-B9C0-5D21-4B33A61C7A6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6200000" flipH="1" flipV="1">
            <a:off x="6771243" y="3645961"/>
            <a:ext cx="1004387" cy="1004387"/>
          </a:xfrm>
          <a:prstGeom prst="rect">
            <a:avLst/>
          </a:prstGeom>
        </p:spPr>
      </p:pic>
      <p:pic>
        <p:nvPicPr>
          <p:cNvPr id="5" name="Graphic 4" descr="Arrow Right with solid fill">
            <a:extLst>
              <a:ext uri="{FF2B5EF4-FFF2-40B4-BE49-F238E27FC236}">
                <a16:creationId xmlns:a16="http://schemas.microsoft.com/office/drawing/2014/main" id="{36F51641-33ED-E09F-6402-D14DF641541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5400000">
            <a:off x="5762342" y="3915684"/>
            <a:ext cx="589739" cy="336905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102FB492-73F5-43F7-7F58-E1F6A3189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7710" y="4726648"/>
            <a:ext cx="407891" cy="407891"/>
          </a:xfrm>
          <a:prstGeom prst="rect">
            <a:avLst/>
          </a:prstGeom>
        </p:spPr>
      </p:pic>
      <p:pic>
        <p:nvPicPr>
          <p:cNvPr id="7" name="Image 4" descr="preencoded.png">
            <a:extLst>
              <a:ext uri="{FF2B5EF4-FFF2-40B4-BE49-F238E27FC236}">
                <a16:creationId xmlns:a16="http://schemas.microsoft.com/office/drawing/2014/main" id="{F0211807-CFD8-DFEA-B7FD-92C9FF4DB3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8587" y="4735588"/>
            <a:ext cx="407891" cy="407891"/>
          </a:xfrm>
          <a:prstGeom prst="rect">
            <a:avLst/>
          </a:prstGeom>
        </p:spPr>
      </p:pic>
      <p:pic>
        <p:nvPicPr>
          <p:cNvPr id="8" name="Image 4" descr="preencoded.png">
            <a:extLst>
              <a:ext uri="{FF2B5EF4-FFF2-40B4-BE49-F238E27FC236}">
                <a16:creationId xmlns:a16="http://schemas.microsoft.com/office/drawing/2014/main" id="{5D4F46B3-8B8A-7330-CA8C-E440335A3C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8378" y="4751997"/>
            <a:ext cx="407891" cy="4078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8F1DE8-C9E1-6005-7F8C-E1E9ED3A3BE5}"/>
              </a:ext>
            </a:extLst>
          </p:cNvPr>
          <p:cNvSpPr txBox="1"/>
          <p:nvPr/>
        </p:nvSpPr>
        <p:spPr>
          <a:xfrm>
            <a:off x="1591411" y="5173397"/>
            <a:ext cx="62716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50" b="1" noProof="0">
                <a:solidFill>
                  <a:srgbClr val="1B2A3B"/>
                </a:solidFill>
              </a:rPr>
              <a:t>Data Source</a:t>
            </a:r>
          </a:p>
          <a:p>
            <a:pPr marL="0" indent="0" algn="ctr">
              <a:buNone/>
            </a:pPr>
            <a:endParaRPr lang="fr-FR" sz="1100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C8CA6F-7C51-9B13-656D-B88167247029}"/>
              </a:ext>
            </a:extLst>
          </p:cNvPr>
          <p:cNvSpPr txBox="1"/>
          <p:nvPr/>
        </p:nvSpPr>
        <p:spPr>
          <a:xfrm>
            <a:off x="2952822" y="5202025"/>
            <a:ext cx="62716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Data Source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9B8680-FCB6-57CD-C4A9-5808D2901DC2}"/>
              </a:ext>
            </a:extLst>
          </p:cNvPr>
          <p:cNvSpPr txBox="1"/>
          <p:nvPr/>
        </p:nvSpPr>
        <p:spPr>
          <a:xfrm>
            <a:off x="4137604" y="5192769"/>
            <a:ext cx="627166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050" b="1" noProof="0">
                <a:solidFill>
                  <a:srgbClr val="1B2A3B"/>
                </a:solidFill>
              </a:rPr>
              <a:t>Data Source</a:t>
            </a:r>
            <a:endParaRPr lang="fr-FR" sz="1050" b="1" noProof="0" dirty="0">
              <a:solidFill>
                <a:srgbClr val="1B2A3B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55FA72-C5C9-1BDA-2548-877EAE2AD51F}"/>
              </a:ext>
            </a:extLst>
          </p:cNvPr>
          <p:cNvSpPr/>
          <p:nvPr/>
        </p:nvSpPr>
        <p:spPr>
          <a:xfrm>
            <a:off x="4085054" y="4612976"/>
            <a:ext cx="3821217" cy="1042379"/>
          </a:xfrm>
          <a:prstGeom prst="rect">
            <a:avLst/>
          </a:prstGeom>
          <a:noFill/>
          <a:ln>
            <a:solidFill>
              <a:srgbClr val="0D958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fr-FR" noProof="0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90A362B6-48EA-7FD6-E54F-19AC9CBD9EBA}"/>
              </a:ext>
            </a:extLst>
          </p:cNvPr>
          <p:cNvSpPr/>
          <p:nvPr/>
        </p:nvSpPr>
        <p:spPr>
          <a:xfrm rot="5400000">
            <a:off x="5932515" y="5351241"/>
            <a:ext cx="249389" cy="1004388"/>
          </a:xfrm>
          <a:prstGeom prst="leftBrace">
            <a:avLst/>
          </a:prstGeom>
          <a:ln w="22225"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347990E2-79CE-CD1E-3A7B-5F7282654101}"/>
              </a:ext>
            </a:extLst>
          </p:cNvPr>
          <p:cNvSpPr/>
          <p:nvPr/>
        </p:nvSpPr>
        <p:spPr>
          <a:xfrm>
            <a:off x="4787932" y="6088400"/>
            <a:ext cx="2704111" cy="598555"/>
          </a:xfrm>
          <a:prstGeom prst="roundRect">
            <a:avLst>
              <a:gd name="adj" fmla="val 5882"/>
            </a:avLst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4EBB02AC-F664-6ABF-FB4F-BFB19F5162BC}"/>
              </a:ext>
            </a:extLst>
          </p:cNvPr>
          <p:cNvSpPr/>
          <p:nvPr/>
        </p:nvSpPr>
        <p:spPr>
          <a:xfrm>
            <a:off x="4906151" y="6415871"/>
            <a:ext cx="255576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fichiers,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fr-FR" sz="900" noProof="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</a:t>
            </a:r>
            <a:r>
              <a:rPr lang="fr-FR" sz="900" noProof="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cases </a:t>
            </a:r>
            <a:endParaRPr lang="fr-FR" sz="900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79080E-D27D-5C29-E13F-72A74936733B}"/>
              </a:ext>
            </a:extLst>
          </p:cNvPr>
          <p:cNvSpPr txBox="1"/>
          <p:nvPr/>
        </p:nvSpPr>
        <p:spPr>
          <a:xfrm>
            <a:off x="4257166" y="5388224"/>
            <a:ext cx="1278417" cy="22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fr-FR" sz="8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(CSV , JSON , PDF .. ) </a:t>
            </a:r>
            <a:endParaRPr lang="fr-FR" sz="800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CD6689-BEBD-2F13-1A1B-374E4CB2B55B}"/>
              </a:ext>
            </a:extLst>
          </p:cNvPr>
          <p:cNvSpPr txBox="1"/>
          <p:nvPr/>
        </p:nvSpPr>
        <p:spPr>
          <a:xfrm>
            <a:off x="5586253" y="5397483"/>
            <a:ext cx="1195562" cy="22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fr-FR" sz="8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(CSV , JSON , PDF .. ) </a:t>
            </a:r>
            <a:endParaRPr lang="fr-FR" sz="800" noProof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661474-68BA-4C26-A447-6F7775CA190D}"/>
              </a:ext>
            </a:extLst>
          </p:cNvPr>
          <p:cNvSpPr txBox="1"/>
          <p:nvPr/>
        </p:nvSpPr>
        <p:spPr>
          <a:xfrm>
            <a:off x="6810096" y="5397483"/>
            <a:ext cx="1048303" cy="22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5000"/>
              </a:lnSpc>
              <a:buNone/>
            </a:pPr>
            <a:r>
              <a:rPr lang="fr-FR" sz="8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(CSV , JSON , PDF .. ) </a:t>
            </a:r>
            <a:endParaRPr lang="fr-FR" sz="800" noProof="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40F46C-201E-577B-0BCC-6E736F50F622}"/>
              </a:ext>
            </a:extLst>
          </p:cNvPr>
          <p:cNvSpPr txBox="1"/>
          <p:nvPr/>
        </p:nvSpPr>
        <p:spPr>
          <a:xfrm>
            <a:off x="5523733" y="6113228"/>
            <a:ext cx="11865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</a:rPr>
              <a:t>Files</a:t>
            </a:r>
            <a:endParaRPr lang="fr-FR" sz="1400" noProof="0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6941DDFF-55A3-5A4C-4DC5-A456D6CCE61D}"/>
              </a:ext>
            </a:extLst>
          </p:cNvPr>
          <p:cNvSpPr/>
          <p:nvPr/>
        </p:nvSpPr>
        <p:spPr>
          <a:xfrm>
            <a:off x="7637801" y="5995463"/>
            <a:ext cx="249389" cy="775379"/>
          </a:xfrm>
          <a:prstGeom prst="leftBrace">
            <a:avLst/>
          </a:prstGeom>
          <a:ln w="22225">
            <a:headEnd type="non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F6C642AA-7E81-7077-F21B-6792A0BE72A3}"/>
              </a:ext>
            </a:extLst>
          </p:cNvPr>
          <p:cNvSpPr/>
          <p:nvPr/>
        </p:nvSpPr>
        <p:spPr>
          <a:xfrm>
            <a:off x="8128388" y="6034172"/>
            <a:ext cx="989486" cy="652783"/>
          </a:xfrm>
          <a:prstGeom prst="roundRect">
            <a:avLst>
              <a:gd name="adj" fmla="val 5882"/>
            </a:avLst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EA9289-AA1C-EBDF-3BAF-F7EA05934E86}"/>
              </a:ext>
            </a:extLst>
          </p:cNvPr>
          <p:cNvSpPr txBox="1"/>
          <p:nvPr/>
        </p:nvSpPr>
        <p:spPr>
          <a:xfrm>
            <a:off x="8361860" y="6236893"/>
            <a:ext cx="635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noProof="0" dirty="0">
                <a:solidFill>
                  <a:srgbClr val="FFFFFF"/>
                </a:solidFill>
              </a:rPr>
              <a:t>Docs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04893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CB338-5D31-4F29-CA31-B3A5993D3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92D6-28C4-52B0-DDE8-31DCF172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Les données utilisées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611BE2-F6D1-2BF0-092B-48F3FFFB4846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D'où vient l'information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959B1C83-B658-ED13-81E0-3C8910854AB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200" i="1" noProof="0" dirty="0">
                <a:solidFill>
                  <a:srgbClr val="64748B"/>
                </a:solidFill>
              </a:rPr>
              <a:t>Tout est extrait de GitHub STM32Cube , rien n'est inventé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01571FE-576E-718C-8187-72D40F877950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25D1DEA3-8A83-683F-8382-A643A093A221}"/>
              </a:ext>
            </a:extLst>
          </p:cNvPr>
          <p:cNvSpPr/>
          <p:nvPr/>
        </p:nvSpPr>
        <p:spPr>
          <a:xfrm>
            <a:off x="1636341" y="1560814"/>
            <a:ext cx="4114800" cy="197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B8741F6-241A-06A4-F1BE-E7248E7574B7}"/>
              </a:ext>
            </a:extLst>
          </p:cNvPr>
          <p:cNvSpPr/>
          <p:nvPr/>
        </p:nvSpPr>
        <p:spPr>
          <a:xfrm>
            <a:off x="1636341" y="1560815"/>
            <a:ext cx="4114800" cy="365760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65E0D42-7FF0-C3DB-4ED6-5C98C3307881}"/>
              </a:ext>
            </a:extLst>
          </p:cNvPr>
          <p:cNvSpPr/>
          <p:nvPr/>
        </p:nvSpPr>
        <p:spPr>
          <a:xfrm>
            <a:off x="2075253" y="1624823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0D9589"/>
                </a:solidFill>
              </a:rPr>
              <a:t>Issues GitHub</a:t>
            </a:r>
            <a:endParaRPr lang="fr-FR" sz="1200" noProof="0" dirty="0">
              <a:solidFill>
                <a:srgbClr val="0D9589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5885C3D9-4F7D-7FD6-0BB8-63C7E59E294B}"/>
              </a:ext>
            </a:extLst>
          </p:cNvPr>
          <p:cNvSpPr/>
          <p:nvPr/>
        </p:nvSpPr>
        <p:spPr>
          <a:xfrm>
            <a:off x="4855029" y="1597391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noProof="0" dirty="0"/>
              <a:t>300+</a:t>
            </a:r>
            <a:endParaRPr lang="fr-FR" sz="1100" noProof="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14791E5D-5024-74F6-9172-94098D4FC0ED}"/>
              </a:ext>
            </a:extLst>
          </p:cNvPr>
          <p:cNvSpPr/>
          <p:nvPr/>
        </p:nvSpPr>
        <p:spPr>
          <a:xfrm>
            <a:off x="1764357" y="2306328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Bugs signalés par des utilisateurs : titre, description, commentaires, état (ouvert/résolu) , etc... </a:t>
            </a:r>
            <a:endParaRPr lang="fr-FR" sz="1050" noProof="0" dirty="0"/>
          </a:p>
        </p:txBody>
      </p:sp>
      <p:sp>
        <p:nvSpPr>
          <p:cNvPr id="10" name="Text 11">
            <a:extLst>
              <a:ext uri="{FF2B5EF4-FFF2-40B4-BE49-F238E27FC236}">
                <a16:creationId xmlns:a16="http://schemas.microsoft.com/office/drawing/2014/main" id="{3E7F083B-D680-7824-E6B7-A1BD8EF0200C}"/>
              </a:ext>
            </a:extLst>
          </p:cNvPr>
          <p:cNvSpPr/>
          <p:nvPr/>
        </p:nvSpPr>
        <p:spPr>
          <a:xfrm>
            <a:off x="1746069" y="3229871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850" i="1" noProof="0" dirty="0">
                <a:solidFill>
                  <a:srgbClr val="64748B"/>
                </a:solidFill>
              </a:rPr>
              <a:t>Source : STM32Cube - Tous les repos</a:t>
            </a:r>
            <a:endParaRPr lang="fr-FR" sz="850" noProof="0" dirty="0"/>
          </a:p>
        </p:txBody>
      </p:sp>
      <p:sp>
        <p:nvSpPr>
          <p:cNvPr id="11" name="Shape 12">
            <a:extLst>
              <a:ext uri="{FF2B5EF4-FFF2-40B4-BE49-F238E27FC236}">
                <a16:creationId xmlns:a16="http://schemas.microsoft.com/office/drawing/2014/main" id="{D1BCCED1-BCAE-3E3C-829B-812F7076EF5B}"/>
              </a:ext>
            </a:extLst>
          </p:cNvPr>
          <p:cNvSpPr/>
          <p:nvPr/>
        </p:nvSpPr>
        <p:spPr>
          <a:xfrm>
            <a:off x="6263205" y="1577984"/>
            <a:ext cx="4114800" cy="197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4F102B04-0932-D20C-180D-FD8717B721C8}"/>
              </a:ext>
            </a:extLst>
          </p:cNvPr>
          <p:cNvSpPr/>
          <p:nvPr/>
        </p:nvSpPr>
        <p:spPr>
          <a:xfrm>
            <a:off x="6263205" y="1577985"/>
            <a:ext cx="4114800" cy="365760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68DB4CA-A17C-60E2-FECA-07E1B54F9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933" y="1641993"/>
            <a:ext cx="256032" cy="256032"/>
          </a:xfrm>
          <a:prstGeom prst="rect">
            <a:avLst/>
          </a:prstGeom>
        </p:spPr>
      </p:pic>
      <p:sp>
        <p:nvSpPr>
          <p:cNvPr id="14" name="Text 14">
            <a:extLst>
              <a:ext uri="{FF2B5EF4-FFF2-40B4-BE49-F238E27FC236}">
                <a16:creationId xmlns:a16="http://schemas.microsoft.com/office/drawing/2014/main" id="{3F5A0BE5-8D55-A257-0F78-3B44C3A789EA}"/>
              </a:ext>
            </a:extLst>
          </p:cNvPr>
          <p:cNvSpPr/>
          <p:nvPr/>
        </p:nvSpPr>
        <p:spPr>
          <a:xfrm>
            <a:off x="6702117" y="1641993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0D9488"/>
                </a:solidFill>
              </a:rPr>
              <a:t>Fichiers techniques</a:t>
            </a:r>
            <a:endParaRPr lang="fr-FR" sz="1200" noProof="0" dirty="0">
              <a:solidFill>
                <a:srgbClr val="0D9488"/>
              </a:solidFill>
            </a:endParaRPr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C496D5A4-12B4-174C-1483-EDEA8A0A8E41}"/>
              </a:ext>
            </a:extLst>
          </p:cNvPr>
          <p:cNvSpPr/>
          <p:nvPr/>
        </p:nvSpPr>
        <p:spPr>
          <a:xfrm>
            <a:off x="9481893" y="1614561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noProof="0" dirty="0"/>
              <a:t>5 000+</a:t>
            </a:r>
            <a:endParaRPr lang="fr-FR" sz="1100" noProof="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B6ADB5E2-5692-9B2C-F2D3-A73AC645981C}"/>
              </a:ext>
            </a:extLst>
          </p:cNvPr>
          <p:cNvSpPr/>
          <p:nvPr/>
        </p:nvSpPr>
        <p:spPr>
          <a:xfrm>
            <a:off x="6368873" y="2211904"/>
            <a:ext cx="41147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b="1" noProof="0" dirty="0">
                <a:solidFill>
                  <a:srgbClr val="1B2A3B"/>
                </a:solidFill>
              </a:rPr>
              <a:t>Des sources techniques</a:t>
            </a:r>
            <a:r>
              <a:rPr lang="fr-FR" sz="1050" noProof="0" dirty="0">
                <a:solidFill>
                  <a:srgbClr val="1B2A3B"/>
                </a:solidFill>
              </a:rPr>
              <a:t>: drivers, middlewares, utilities, components, src/</a:t>
            </a:r>
            <a:r>
              <a:rPr lang="fr-FR" sz="1050" noProof="0" dirty="0" err="1">
                <a:solidFill>
                  <a:srgbClr val="1B2A3B"/>
                </a:solidFill>
              </a:rPr>
              <a:t>inc</a:t>
            </a:r>
            <a:r>
              <a:rPr lang="fr-FR" sz="1050" noProof="0" dirty="0">
                <a:solidFill>
                  <a:srgbClr val="1B2A3B"/>
                </a:solidFill>
              </a:rPr>
              <a:t>, </a:t>
            </a:r>
            <a:r>
              <a:rPr lang="fr-FR" sz="1050" noProof="0" dirty="0" err="1">
                <a:solidFill>
                  <a:srgbClr val="1B2A3B"/>
                </a:solidFill>
              </a:rPr>
              <a:t>include</a:t>
            </a:r>
            <a:r>
              <a:rPr lang="fr-FR" sz="1050" noProof="0" dirty="0">
                <a:solidFill>
                  <a:srgbClr val="1B2A3B"/>
                </a:solidFill>
              </a:rPr>
              <a:t>/source, BSP </a:t>
            </a:r>
            <a:r>
              <a:rPr lang="fr-FR" sz="1050" noProof="0" dirty="0" err="1">
                <a:solidFill>
                  <a:srgbClr val="1B2A3B"/>
                </a:solidFill>
              </a:rPr>
              <a:t>board</a:t>
            </a:r>
            <a:r>
              <a:rPr lang="fr-FR" sz="1050" noProof="0" dirty="0">
                <a:solidFill>
                  <a:srgbClr val="1B2A3B"/>
                </a:solidFill>
              </a:rPr>
              <a:t> files.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b="1" noProof="0" dirty="0">
                <a:solidFill>
                  <a:srgbClr val="1B2A3B"/>
                </a:solidFill>
              </a:rPr>
              <a:t>Des docs techniques</a:t>
            </a:r>
            <a:r>
              <a:rPr lang="fr-FR" sz="1050" noProof="0" dirty="0">
                <a:solidFill>
                  <a:srgbClr val="1B2A3B"/>
                </a:solidFill>
              </a:rPr>
              <a:t>: release notes, </a:t>
            </a:r>
            <a:r>
              <a:rPr lang="fr-FR" sz="1050" noProof="0" dirty="0" err="1">
                <a:solidFill>
                  <a:srgbClr val="1B2A3B"/>
                </a:solidFill>
              </a:rPr>
              <a:t>readme</a:t>
            </a:r>
            <a:r>
              <a:rPr lang="fr-FR" sz="1050" noProof="0" dirty="0">
                <a:solidFill>
                  <a:srgbClr val="1B2A3B"/>
                </a:solidFill>
              </a:rPr>
              <a:t> projet, documentation PDF.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b="1" noProof="0" dirty="0">
                <a:solidFill>
                  <a:srgbClr val="1B2A3B"/>
                </a:solidFill>
              </a:rPr>
              <a:t>Des fichiers de configuration/</a:t>
            </a:r>
            <a:r>
              <a:rPr lang="fr-FR" sz="1050" b="1" noProof="0" dirty="0" err="1">
                <a:solidFill>
                  <a:srgbClr val="1B2A3B"/>
                </a:solidFill>
              </a:rPr>
              <a:t>metadata</a:t>
            </a:r>
            <a:r>
              <a:rPr lang="fr-FR" sz="1050" b="1" noProof="0" dirty="0">
                <a:solidFill>
                  <a:srgbClr val="1B2A3B"/>
                </a:solidFill>
              </a:rPr>
              <a:t> utiles au contexte</a:t>
            </a:r>
            <a:r>
              <a:rPr lang="fr-FR" sz="1050" noProof="0" dirty="0">
                <a:solidFill>
                  <a:srgbClr val="1B2A3B"/>
                </a:solidFill>
              </a:rPr>
              <a:t>: package.xml, </a:t>
            </a:r>
            <a:r>
              <a:rPr lang="fr-FR" sz="1050" noProof="0" dirty="0" err="1">
                <a:solidFill>
                  <a:srgbClr val="1B2A3B"/>
                </a:solidFill>
              </a:rPr>
              <a:t>sbom</a:t>
            </a:r>
            <a:r>
              <a:rPr lang="fr-FR" sz="1050" noProof="0" dirty="0">
                <a:solidFill>
                  <a:srgbClr val="1B2A3B"/>
                </a:solidFill>
              </a:rPr>
              <a:t>, </a:t>
            </a:r>
            <a:r>
              <a:rPr lang="fr-FR" sz="1050" noProof="0" dirty="0" err="1">
                <a:solidFill>
                  <a:srgbClr val="1B2A3B"/>
                </a:solidFill>
              </a:rPr>
              <a:t>security</a:t>
            </a:r>
            <a:r>
              <a:rPr lang="fr-FR" sz="1050" noProof="0" dirty="0">
                <a:solidFill>
                  <a:srgbClr val="1B2A3B"/>
                </a:solidFill>
              </a:rPr>
              <a:t>, etc.</a:t>
            </a:r>
            <a:endParaRPr lang="fr-FR" sz="1050" noProof="0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8662DE01-52E9-7247-C0BC-841225D311B9}"/>
              </a:ext>
            </a:extLst>
          </p:cNvPr>
          <p:cNvSpPr/>
          <p:nvPr/>
        </p:nvSpPr>
        <p:spPr>
          <a:xfrm>
            <a:off x="6370451" y="3229871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850" i="1" noProof="0" dirty="0">
                <a:solidFill>
                  <a:srgbClr val="64748B"/>
                </a:solidFill>
              </a:rPr>
              <a:t>Source : STM32Cube - Tous les repos</a:t>
            </a:r>
            <a:endParaRPr lang="fr-FR" sz="850" noProof="0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81F4761B-5A42-DC88-A38F-EFB062F8FB88}"/>
              </a:ext>
            </a:extLst>
          </p:cNvPr>
          <p:cNvSpPr/>
          <p:nvPr/>
        </p:nvSpPr>
        <p:spPr>
          <a:xfrm>
            <a:off x="1636341" y="3802217"/>
            <a:ext cx="411480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D9AFA03F-DAB3-6123-2A5F-A2E85664E38A}"/>
              </a:ext>
            </a:extLst>
          </p:cNvPr>
          <p:cNvSpPr/>
          <p:nvPr/>
        </p:nvSpPr>
        <p:spPr>
          <a:xfrm>
            <a:off x="1636341" y="3802217"/>
            <a:ext cx="4114800" cy="365760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21" name="Image 2" descr="preencoded.png">
            <a:extLst>
              <a:ext uri="{FF2B5EF4-FFF2-40B4-BE49-F238E27FC236}">
                <a16:creationId xmlns:a16="http://schemas.microsoft.com/office/drawing/2014/main" id="{2630C6B3-609C-7335-C7B0-10AECFE1C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069" y="3866225"/>
            <a:ext cx="210312" cy="210312"/>
          </a:xfrm>
          <a:prstGeom prst="rect">
            <a:avLst/>
          </a:prstGeom>
        </p:spPr>
      </p:pic>
      <p:sp>
        <p:nvSpPr>
          <p:cNvPr id="22" name="Text 21">
            <a:extLst>
              <a:ext uri="{FF2B5EF4-FFF2-40B4-BE49-F238E27FC236}">
                <a16:creationId xmlns:a16="http://schemas.microsoft.com/office/drawing/2014/main" id="{CCACA7AD-5D05-D758-DA94-0D2E5C749A25}"/>
              </a:ext>
            </a:extLst>
          </p:cNvPr>
          <p:cNvSpPr/>
          <p:nvPr/>
        </p:nvSpPr>
        <p:spPr>
          <a:xfrm>
            <a:off x="2075253" y="3866225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 err="1">
                <a:solidFill>
                  <a:srgbClr val="0D9488"/>
                </a:solidFill>
              </a:rPr>
              <a:t>PRs</a:t>
            </a:r>
            <a:r>
              <a:rPr lang="fr-FR" sz="1200" b="1" noProof="0" dirty="0">
                <a:solidFill>
                  <a:srgbClr val="0D9488"/>
                </a:solidFill>
              </a:rPr>
              <a:t> &amp; </a:t>
            </a:r>
            <a:r>
              <a:rPr lang="fr-FR" sz="1200" b="1" noProof="0" dirty="0" err="1">
                <a:solidFill>
                  <a:srgbClr val="0D9488"/>
                </a:solidFill>
              </a:rPr>
              <a:t>Commits</a:t>
            </a:r>
            <a:endParaRPr lang="fr-FR" sz="1200" noProof="0" dirty="0">
              <a:solidFill>
                <a:srgbClr val="0D9488"/>
              </a:solidFill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7C12B8DD-ECBC-1949-698B-21896818061D}"/>
              </a:ext>
            </a:extLst>
          </p:cNvPr>
          <p:cNvSpPr/>
          <p:nvPr/>
        </p:nvSpPr>
        <p:spPr>
          <a:xfrm>
            <a:off x="4374533" y="3902279"/>
            <a:ext cx="13803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noProof="0" dirty="0" err="1">
                <a:solidFill>
                  <a:schemeClr val="bg1"/>
                </a:solidFill>
              </a:rPr>
              <a:t>Resolver</a:t>
            </a:r>
            <a:r>
              <a:rPr lang="fr-FR" sz="1100" b="1" noProof="0" dirty="0">
                <a:solidFill>
                  <a:schemeClr val="bg1"/>
                </a:solidFill>
              </a:rPr>
              <a:t> Cases</a:t>
            </a:r>
          </a:p>
          <a:p>
            <a:pPr marL="0" indent="0" algn="ctr">
              <a:buNone/>
            </a:pPr>
            <a:endParaRPr lang="fr-FR" sz="1100" noProof="0" dirty="0">
              <a:solidFill>
                <a:schemeClr val="bg1"/>
              </a:solidFill>
            </a:endParaRPr>
          </a:p>
        </p:txBody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B622E726-7D2F-5CE7-9471-71373EFD6860}"/>
              </a:ext>
            </a:extLst>
          </p:cNvPr>
          <p:cNvSpPr/>
          <p:nvPr/>
        </p:nvSpPr>
        <p:spPr>
          <a:xfrm>
            <a:off x="1764357" y="4241129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Quand un bug est résolu, on retrouve le PR et le commit qui apportent la correction confirmée</a:t>
            </a:r>
            <a:endParaRPr lang="fr-FR" sz="1050" noProof="0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9481BABC-BF29-6AD6-F059-0945D3788C32}"/>
              </a:ext>
            </a:extLst>
          </p:cNvPr>
          <p:cNvSpPr/>
          <p:nvPr/>
        </p:nvSpPr>
        <p:spPr>
          <a:xfrm>
            <a:off x="1764357" y="5155529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850" i="1" noProof="0" dirty="0">
                <a:solidFill>
                  <a:srgbClr val="64748B"/>
                </a:solidFill>
              </a:rPr>
              <a:t>Source : STM32Cube - Tous les repos</a:t>
            </a:r>
            <a:endParaRPr lang="fr-FR" sz="850" noProof="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D81FCE9E-069A-7940-1AC5-EAB2941BBF9A}"/>
              </a:ext>
            </a:extLst>
          </p:cNvPr>
          <p:cNvSpPr/>
          <p:nvPr/>
        </p:nvSpPr>
        <p:spPr>
          <a:xfrm>
            <a:off x="7001256" y="3966809"/>
            <a:ext cx="411480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Shape 27">
            <a:extLst>
              <a:ext uri="{FF2B5EF4-FFF2-40B4-BE49-F238E27FC236}">
                <a16:creationId xmlns:a16="http://schemas.microsoft.com/office/drawing/2014/main" id="{A1D4D34E-39BE-6E1D-6C92-74F0C85CC082}"/>
              </a:ext>
            </a:extLst>
          </p:cNvPr>
          <p:cNvSpPr/>
          <p:nvPr/>
        </p:nvSpPr>
        <p:spPr>
          <a:xfrm>
            <a:off x="7001256" y="3966809"/>
            <a:ext cx="4114800" cy="365760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C58D82D7-EACE-E29B-0B45-98F9465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0984" y="4030817"/>
            <a:ext cx="237744" cy="237744"/>
          </a:xfrm>
          <a:prstGeom prst="rect">
            <a:avLst/>
          </a:prstGeom>
        </p:spPr>
      </p:pic>
      <p:sp>
        <p:nvSpPr>
          <p:cNvPr id="30" name="Text 28">
            <a:extLst>
              <a:ext uri="{FF2B5EF4-FFF2-40B4-BE49-F238E27FC236}">
                <a16:creationId xmlns:a16="http://schemas.microsoft.com/office/drawing/2014/main" id="{36E51ACE-B701-E7CA-72E6-F1300BCBDBF4}"/>
              </a:ext>
            </a:extLst>
          </p:cNvPr>
          <p:cNvSpPr/>
          <p:nvPr/>
        </p:nvSpPr>
        <p:spPr>
          <a:xfrm>
            <a:off x="7440168" y="4030817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dirty="0">
                <a:solidFill>
                  <a:srgbClr val="0D9589"/>
                </a:solidFill>
              </a:rPr>
              <a:t>D</a:t>
            </a:r>
            <a:r>
              <a:rPr lang="fr-FR" sz="1200" b="1" noProof="0" dirty="0" err="1">
                <a:solidFill>
                  <a:srgbClr val="0D9589"/>
                </a:solidFill>
              </a:rPr>
              <a:t>iagnostic</a:t>
            </a:r>
            <a:r>
              <a:rPr lang="fr-FR" sz="1200" b="1" noProof="0" dirty="0">
                <a:solidFill>
                  <a:srgbClr val="0D9589"/>
                </a:solidFill>
              </a:rPr>
              <a:t> </a:t>
            </a:r>
            <a:r>
              <a:rPr lang="fr-FR" sz="1200" b="1" noProof="0" dirty="0" err="1">
                <a:solidFill>
                  <a:srgbClr val="0D9589"/>
                </a:solidFill>
              </a:rPr>
              <a:t>cards</a:t>
            </a:r>
            <a:endParaRPr lang="fr-FR" sz="1200" noProof="0" dirty="0">
              <a:solidFill>
                <a:srgbClr val="0D9589"/>
              </a:solidFill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EAFAE803-629D-2B00-9018-2EC5D484BBAA}"/>
              </a:ext>
            </a:extLst>
          </p:cNvPr>
          <p:cNvSpPr/>
          <p:nvPr/>
        </p:nvSpPr>
        <p:spPr>
          <a:xfrm>
            <a:off x="9124840" y="3994241"/>
            <a:ext cx="198381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100" b="1" noProof="0" dirty="0">
                <a:solidFill>
                  <a:srgbClr val="FFFFFF"/>
                </a:solidFill>
              </a:rPr>
              <a:t>Couche intelligente ajouté </a:t>
            </a:r>
            <a:endParaRPr lang="fr-FR" sz="1100" noProof="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F8161AF-6C39-BBD8-46FF-47022F5025DD}"/>
              </a:ext>
            </a:extLst>
          </p:cNvPr>
          <p:cNvSpPr/>
          <p:nvPr/>
        </p:nvSpPr>
        <p:spPr>
          <a:xfrm>
            <a:off x="7129272" y="4405721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Des fiches structurées : Problème → Preuve → Solution. Construites automatiquement à partir des issues résolues</a:t>
            </a:r>
            <a:endParaRPr lang="fr-FR" sz="1050" noProof="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DF49356-2B38-18EE-D423-E83010E7DF04}"/>
              </a:ext>
            </a:extLst>
          </p:cNvPr>
          <p:cNvSpPr/>
          <p:nvPr/>
        </p:nvSpPr>
        <p:spPr>
          <a:xfrm>
            <a:off x="7129272" y="5320121"/>
            <a:ext cx="3858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850" i="1" noProof="0" dirty="0">
                <a:solidFill>
                  <a:srgbClr val="64748B"/>
                </a:solidFill>
              </a:rPr>
              <a:t>Source : Généré par pipeline</a:t>
            </a:r>
            <a:endParaRPr lang="fr-FR" sz="850" noProof="0" dirty="0"/>
          </a:p>
        </p:txBody>
      </p:sp>
      <p:pic>
        <p:nvPicPr>
          <p:cNvPr id="36" name="Graphic 35" descr="Exclamation mark with solid fill">
            <a:extLst>
              <a:ext uri="{FF2B5EF4-FFF2-40B4-BE49-F238E27FC236}">
                <a16:creationId xmlns:a16="http://schemas.microsoft.com/office/drawing/2014/main" id="{FAD1758D-232D-57CA-E224-0CFDE09CE6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57191" y="1617667"/>
            <a:ext cx="219456" cy="219456"/>
          </a:xfrm>
          <a:prstGeom prst="rect">
            <a:avLst/>
          </a:prstGeom>
        </p:spPr>
      </p:pic>
      <p:sp>
        <p:nvSpPr>
          <p:cNvPr id="5" name="Plus Sign 4">
            <a:extLst>
              <a:ext uri="{FF2B5EF4-FFF2-40B4-BE49-F238E27FC236}">
                <a16:creationId xmlns:a16="http://schemas.microsoft.com/office/drawing/2014/main" id="{A3C03228-7527-80F9-72DF-A79AB1936DDB}"/>
              </a:ext>
            </a:extLst>
          </p:cNvPr>
          <p:cNvSpPr/>
          <p:nvPr/>
        </p:nvSpPr>
        <p:spPr>
          <a:xfrm>
            <a:off x="6456676" y="4556771"/>
            <a:ext cx="416564" cy="408518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lang="en-US" dirty="0" err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9628CE-B624-73A0-5FF4-8D4AF3CD9ADA}"/>
              </a:ext>
            </a:extLst>
          </p:cNvPr>
          <p:cNvSpPr txBox="1"/>
          <p:nvPr/>
        </p:nvSpPr>
        <p:spPr>
          <a:xfrm>
            <a:off x="1261717" y="5866682"/>
            <a:ext cx="114790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1" u="sng" dirty="0">
                <a:effectLst/>
              </a:rPr>
              <a:t>Pour chaque série STM32Cube</a:t>
            </a:r>
            <a:r>
              <a:rPr lang="fr-FR" sz="1200" b="1" i="1" u="sng" dirty="0"/>
              <a:t> </a:t>
            </a:r>
            <a:r>
              <a:rPr lang="fr-FR" sz="1200" dirty="0"/>
              <a:t>: </a:t>
            </a:r>
            <a:r>
              <a:rPr lang="fr-FR" sz="1200" b="0" i="0" dirty="0">
                <a:effectLst/>
              </a:rPr>
              <a:t>nous unifions </a:t>
            </a:r>
            <a:r>
              <a:rPr lang="fr-FR" sz="1200" b="1" i="0" dirty="0">
                <a:solidFill>
                  <a:srgbClr val="0D9589"/>
                </a:solidFill>
                <a:effectLst/>
              </a:rPr>
              <a:t>issues</a:t>
            </a:r>
            <a:r>
              <a:rPr lang="fr-FR" sz="1200" b="1" i="0" dirty="0">
                <a:effectLst/>
              </a:rPr>
              <a:t>, </a:t>
            </a:r>
            <a:r>
              <a:rPr lang="fr-FR" sz="1200" b="1" i="0" dirty="0" err="1">
                <a:solidFill>
                  <a:srgbClr val="0D9589"/>
                </a:solidFill>
                <a:effectLst/>
              </a:rPr>
              <a:t>PRs</a:t>
            </a:r>
            <a:r>
              <a:rPr lang="fr-FR" sz="1200" b="1" i="0" dirty="0">
                <a:solidFill>
                  <a:srgbClr val="0D9589"/>
                </a:solidFill>
                <a:effectLst/>
              </a:rPr>
              <a:t> et </a:t>
            </a:r>
            <a:r>
              <a:rPr lang="fr-FR" sz="1200" b="1" i="0" dirty="0" err="1">
                <a:solidFill>
                  <a:srgbClr val="0D9589"/>
                </a:solidFill>
                <a:effectLst/>
              </a:rPr>
              <a:t>commits</a:t>
            </a:r>
            <a:r>
              <a:rPr lang="fr-FR" sz="1200" b="1" i="0" dirty="0">
                <a:solidFill>
                  <a:srgbClr val="0D9589"/>
                </a:solidFill>
                <a:effectLst/>
              </a:rPr>
              <a:t> </a:t>
            </a:r>
            <a:r>
              <a:rPr lang="fr-FR" sz="1200" b="0" i="0" dirty="0">
                <a:effectLst/>
              </a:rPr>
              <a:t>afin de produire des </a:t>
            </a:r>
            <a:r>
              <a:rPr lang="fr-FR" sz="1200" b="1" dirty="0">
                <a:solidFill>
                  <a:srgbClr val="0D9589"/>
                </a:solidFill>
              </a:rPr>
              <a:t>d</a:t>
            </a:r>
            <a:r>
              <a:rPr lang="fr-FR" sz="1200" b="1" i="0" dirty="0">
                <a:solidFill>
                  <a:srgbClr val="0D9589"/>
                </a:solidFill>
                <a:effectLst/>
              </a:rPr>
              <a:t>iagnostic </a:t>
            </a:r>
            <a:r>
              <a:rPr lang="fr-FR" sz="1200" b="1" i="0" dirty="0" err="1">
                <a:solidFill>
                  <a:srgbClr val="0D9589"/>
                </a:solidFill>
                <a:effectLst/>
              </a:rPr>
              <a:t>cards</a:t>
            </a:r>
            <a:r>
              <a:rPr lang="fr-FR" sz="1200" b="1" dirty="0">
                <a:solidFill>
                  <a:srgbClr val="0D9589"/>
                </a:solidFill>
              </a:rPr>
              <a:t> </a:t>
            </a:r>
            <a:r>
              <a:rPr lang="fr-FR" sz="1200" b="0" i="0" dirty="0">
                <a:effectLst/>
              </a:rPr>
              <a:t>traçables et actionnables.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97563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BE8EC-6725-B812-07CA-DA7870818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5">
            <a:extLst>
              <a:ext uri="{FF2B5EF4-FFF2-40B4-BE49-F238E27FC236}">
                <a16:creationId xmlns:a16="http://schemas.microsoft.com/office/drawing/2014/main" id="{DF4F4E0C-444F-4A83-209A-FCE792445C4A}"/>
              </a:ext>
            </a:extLst>
          </p:cNvPr>
          <p:cNvSpPr/>
          <p:nvPr/>
        </p:nvSpPr>
        <p:spPr>
          <a:xfrm>
            <a:off x="1640020" y="1568479"/>
            <a:ext cx="10551980" cy="3945841"/>
          </a:xfrm>
          <a:prstGeom prst="rect">
            <a:avLst/>
          </a:prstGeom>
          <a:solidFill>
            <a:srgbClr val="3CB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300" noProof="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925E9D87-3D04-3DC6-B788-E1F18ECCA0E6}"/>
              </a:ext>
            </a:extLst>
          </p:cNvPr>
          <p:cNvSpPr/>
          <p:nvPr/>
        </p:nvSpPr>
        <p:spPr>
          <a:xfrm>
            <a:off x="6272348" y="3321943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3200" b="1" noProof="0" dirty="0">
                <a:solidFill>
                  <a:schemeClr val="bg1"/>
                </a:solidFill>
              </a:rPr>
              <a:t>Démo </a:t>
            </a:r>
            <a:endParaRPr lang="fr-FR" sz="32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042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E2BB4-3A74-734F-992B-A45CEAF3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5">
            <a:extLst>
              <a:ext uri="{FF2B5EF4-FFF2-40B4-BE49-F238E27FC236}">
                <a16:creationId xmlns:a16="http://schemas.microsoft.com/office/drawing/2014/main" id="{944E1B14-2F43-7013-FC9B-E15CBEC07036}"/>
              </a:ext>
            </a:extLst>
          </p:cNvPr>
          <p:cNvSpPr/>
          <p:nvPr/>
        </p:nvSpPr>
        <p:spPr>
          <a:xfrm>
            <a:off x="1640020" y="1456079"/>
            <a:ext cx="10551980" cy="3945841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300" noProof="0" dirty="0"/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992DBF96-3CFC-7100-0F1C-137E9CC06227}"/>
              </a:ext>
            </a:extLst>
          </p:cNvPr>
          <p:cNvSpPr/>
          <p:nvPr/>
        </p:nvSpPr>
        <p:spPr>
          <a:xfrm>
            <a:off x="2443517" y="2308935"/>
            <a:ext cx="6749343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329EBE51-9B74-1781-F663-0BBADBE07A54}"/>
              </a:ext>
            </a:extLst>
          </p:cNvPr>
          <p:cNvSpPr/>
          <p:nvPr/>
        </p:nvSpPr>
        <p:spPr>
          <a:xfrm>
            <a:off x="2443518" y="2308935"/>
            <a:ext cx="384048" cy="749808"/>
          </a:xfrm>
          <a:prstGeom prst="rect">
            <a:avLst/>
          </a:prstGeom>
          <a:noFill/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3EF90521-22A7-55C9-BCAB-F79D7DA20D83}"/>
              </a:ext>
            </a:extLst>
          </p:cNvPr>
          <p:cNvSpPr/>
          <p:nvPr/>
        </p:nvSpPr>
        <p:spPr>
          <a:xfrm>
            <a:off x="2443518" y="2308935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D200"/>
                </a:solidFill>
              </a:rPr>
              <a:t>04</a:t>
            </a:r>
            <a:endParaRPr lang="fr-FR" sz="1300" noProof="0" dirty="0">
              <a:solidFill>
                <a:srgbClr val="FFD200"/>
              </a:solidFill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6778DFA1-FB36-0E13-94AC-1E1BC946F67D}"/>
              </a:ext>
            </a:extLst>
          </p:cNvPr>
          <p:cNvSpPr/>
          <p:nvPr/>
        </p:nvSpPr>
        <p:spPr>
          <a:xfrm>
            <a:off x="2919006" y="2382087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Le pipeline étape par étape</a:t>
            </a:r>
            <a:endParaRPr lang="fr-FR" sz="1200" noProof="0" dirty="0"/>
          </a:p>
        </p:txBody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9E308305-95F7-67D0-243A-2CFF4903414F}"/>
              </a:ext>
            </a:extLst>
          </p:cNvPr>
          <p:cNvSpPr/>
          <p:nvPr/>
        </p:nvSpPr>
        <p:spPr>
          <a:xfrm>
            <a:off x="2919006" y="2711271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Nettoyer → Enrichir → Découper → Indexer</a:t>
            </a:r>
            <a:endParaRPr lang="fr-FR" sz="900" noProof="0" dirty="0"/>
          </a:p>
        </p:txBody>
      </p:sp>
      <p:sp>
        <p:nvSpPr>
          <p:cNvPr id="24" name="Shape 23">
            <a:extLst>
              <a:ext uri="{FF2B5EF4-FFF2-40B4-BE49-F238E27FC236}">
                <a16:creationId xmlns:a16="http://schemas.microsoft.com/office/drawing/2014/main" id="{426AD415-0EC3-10B8-A1FA-AA83D7169841}"/>
              </a:ext>
            </a:extLst>
          </p:cNvPr>
          <p:cNvSpPr/>
          <p:nvPr/>
        </p:nvSpPr>
        <p:spPr>
          <a:xfrm>
            <a:off x="2443518" y="3229338"/>
            <a:ext cx="674934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592A4B02-FA61-C7E0-EE14-D1EDC2F4C9A8}"/>
              </a:ext>
            </a:extLst>
          </p:cNvPr>
          <p:cNvSpPr/>
          <p:nvPr/>
        </p:nvSpPr>
        <p:spPr>
          <a:xfrm>
            <a:off x="2443518" y="3229338"/>
            <a:ext cx="384048" cy="749808"/>
          </a:xfrm>
          <a:prstGeom prst="rect">
            <a:avLst/>
          </a:prstGeom>
          <a:noFill/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57BB5506-B2D6-9DF4-E2D2-3EAB588A1119}"/>
              </a:ext>
            </a:extLst>
          </p:cNvPr>
          <p:cNvSpPr/>
          <p:nvPr/>
        </p:nvSpPr>
        <p:spPr>
          <a:xfrm>
            <a:off x="2443518" y="3229338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D200"/>
                </a:solidFill>
              </a:rPr>
              <a:t>05</a:t>
            </a:r>
            <a:endParaRPr lang="fr-FR" sz="1300" noProof="0" dirty="0">
              <a:solidFill>
                <a:srgbClr val="FFD200"/>
              </a:solidFill>
            </a:endParaRPr>
          </a:p>
        </p:txBody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0DD4B799-71DD-5B6B-2A43-7D4DC945280A}"/>
              </a:ext>
            </a:extLst>
          </p:cNvPr>
          <p:cNvSpPr/>
          <p:nvPr/>
        </p:nvSpPr>
        <p:spPr>
          <a:xfrm>
            <a:off x="2919006" y="330249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Les résultats mesurés</a:t>
            </a:r>
            <a:endParaRPr lang="fr-FR" sz="1200" noProof="0" dirty="0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46ECAD78-AEE5-B7FD-97A5-C86E78186D07}"/>
              </a:ext>
            </a:extLst>
          </p:cNvPr>
          <p:cNvSpPr/>
          <p:nvPr/>
        </p:nvSpPr>
        <p:spPr>
          <a:xfrm>
            <a:off x="2919006" y="363167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50 questions, 26 réponses — ce que ça nous dit</a:t>
            </a:r>
            <a:endParaRPr lang="fr-FR" sz="900" noProof="0" dirty="0"/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09A16864-CB5F-4087-13A5-A1CC5AE2D882}"/>
              </a:ext>
            </a:extLst>
          </p:cNvPr>
          <p:cNvSpPr/>
          <p:nvPr/>
        </p:nvSpPr>
        <p:spPr>
          <a:xfrm>
            <a:off x="2443518" y="4125450"/>
            <a:ext cx="674934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Shape 29">
            <a:extLst>
              <a:ext uri="{FF2B5EF4-FFF2-40B4-BE49-F238E27FC236}">
                <a16:creationId xmlns:a16="http://schemas.microsoft.com/office/drawing/2014/main" id="{B88C35B5-DAE4-2B6A-0896-1CFA8CEBCEDD}"/>
              </a:ext>
            </a:extLst>
          </p:cNvPr>
          <p:cNvSpPr/>
          <p:nvPr/>
        </p:nvSpPr>
        <p:spPr>
          <a:xfrm>
            <a:off x="2443518" y="4125450"/>
            <a:ext cx="384048" cy="749808"/>
          </a:xfrm>
          <a:prstGeom prst="rect">
            <a:avLst/>
          </a:prstGeom>
          <a:noFill/>
          <a:ln w="12700">
            <a:solidFill>
              <a:srgbClr val="FFDD4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4B1F353A-C478-0FE7-9B1F-99C86E5739EB}"/>
              </a:ext>
            </a:extLst>
          </p:cNvPr>
          <p:cNvSpPr/>
          <p:nvPr/>
        </p:nvSpPr>
        <p:spPr>
          <a:xfrm>
            <a:off x="2443518" y="412545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noProof="0" dirty="0">
                <a:solidFill>
                  <a:srgbClr val="FFD200"/>
                </a:solidFill>
              </a:rPr>
              <a:t>06</a:t>
            </a:r>
            <a:endParaRPr lang="fr-FR" sz="1300" noProof="0" dirty="0">
              <a:solidFill>
                <a:srgbClr val="FFD200"/>
              </a:solidFill>
            </a:endParaRPr>
          </a:p>
        </p:txBody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51E78B5-5D49-E36C-355E-192CF0A9BE72}"/>
              </a:ext>
            </a:extLst>
          </p:cNvPr>
          <p:cNvSpPr/>
          <p:nvPr/>
        </p:nvSpPr>
        <p:spPr>
          <a:xfrm>
            <a:off x="2919006" y="419860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1B2A3B"/>
                </a:solidFill>
              </a:rPr>
              <a:t>Config A vs Config B</a:t>
            </a:r>
            <a:endParaRPr lang="fr-FR" sz="1200" noProof="0" dirty="0"/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BD05D817-BCC5-0E32-C3E2-1B0FCA4785FD}"/>
              </a:ext>
            </a:extLst>
          </p:cNvPr>
          <p:cNvSpPr/>
          <p:nvPr/>
        </p:nvSpPr>
        <p:spPr>
          <a:xfrm>
            <a:off x="2919006" y="452778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900" noProof="0" dirty="0">
                <a:solidFill>
                  <a:srgbClr val="64748B"/>
                </a:solidFill>
              </a:rPr>
              <a:t>Tester deux versions — laquelle répond mieux ?</a:t>
            </a:r>
            <a:endParaRPr lang="fr-FR" sz="900" noProof="0" dirty="0"/>
          </a:p>
        </p:txBody>
      </p:sp>
    </p:spTree>
    <p:extLst>
      <p:ext uri="{BB962C8B-B14F-4D97-AF65-F5344CB8AC3E}">
        <p14:creationId xmlns:p14="http://schemas.microsoft.com/office/powerpoint/2010/main" val="909050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BA4F7-282C-D8B1-176D-B5B76710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4C027-7C89-EB0C-ADBB-22840CE61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Le pipeline de </a:t>
            </a:r>
            <a:r>
              <a:rPr lang="fr-FR" sz="1800" b="1" noProof="0" dirty="0" err="1"/>
              <a:t>preprocessing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082AA2-1B5E-CEC2-F623-9205CD4F88B3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7 étapes pour transformer la donnée brute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4F95609-DDA8-99E6-8E13-B834A9821CB8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Chaque étape a un rôle précis , rien n'est fait au hasard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07BD6489-902C-6299-BD43-0E6BF1EC1928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0C7C5F01-A9D8-A3E5-B8F6-B2646561AC30}"/>
              </a:ext>
            </a:extLst>
          </p:cNvPr>
          <p:cNvSpPr/>
          <p:nvPr/>
        </p:nvSpPr>
        <p:spPr>
          <a:xfrm>
            <a:off x="477788" y="2724216"/>
            <a:ext cx="1412748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22E9BFE-B252-E683-496C-D031961B9A2B}"/>
              </a:ext>
            </a:extLst>
          </p:cNvPr>
          <p:cNvSpPr/>
          <p:nvPr/>
        </p:nvSpPr>
        <p:spPr>
          <a:xfrm>
            <a:off x="477787" y="2724216"/>
            <a:ext cx="141274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0071B4B-6180-80C3-5B86-1E17784FCD32}"/>
              </a:ext>
            </a:extLst>
          </p:cNvPr>
          <p:cNvSpPr/>
          <p:nvPr/>
        </p:nvSpPr>
        <p:spPr>
          <a:xfrm>
            <a:off x="477788" y="2724216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1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1E9CFF07-E568-D922-A8F7-E28728EB8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000" y="2792559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8BE547BF-64B4-244E-82A0-15612166EC2F}"/>
              </a:ext>
            </a:extLst>
          </p:cNvPr>
          <p:cNvSpPr/>
          <p:nvPr/>
        </p:nvSpPr>
        <p:spPr>
          <a:xfrm>
            <a:off x="683528" y="3240755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Ingestion</a:t>
            </a:r>
            <a:endParaRPr lang="fr-FR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36B83818-7A4F-2973-683B-71D12FC91262}"/>
              </a:ext>
            </a:extLst>
          </p:cNvPr>
          <p:cNvSpPr/>
          <p:nvPr/>
        </p:nvSpPr>
        <p:spPr>
          <a:xfrm>
            <a:off x="676936" y="357421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Télécharger les données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brutes depuis GitHub</a:t>
            </a:r>
            <a:endParaRPr lang="fr-FR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DEADBA9F-A310-6A3A-396D-2ACA95A0E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5690" y="3764490"/>
            <a:ext cx="237744" cy="237744"/>
          </a:xfrm>
          <a:prstGeom prst="rect">
            <a:avLst/>
          </a:prstGeom>
        </p:spPr>
      </p:pic>
      <p:sp>
        <p:nvSpPr>
          <p:cNvPr id="11" name="Shape 10">
            <a:extLst>
              <a:ext uri="{FF2B5EF4-FFF2-40B4-BE49-F238E27FC236}">
                <a16:creationId xmlns:a16="http://schemas.microsoft.com/office/drawing/2014/main" id="{48823561-F228-1E40-2C04-18716BA5331E}"/>
              </a:ext>
            </a:extLst>
          </p:cNvPr>
          <p:cNvSpPr/>
          <p:nvPr/>
        </p:nvSpPr>
        <p:spPr>
          <a:xfrm>
            <a:off x="2096274" y="2731218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FF74D7B7-CCCA-7B97-AC77-2699A436DA94}"/>
              </a:ext>
            </a:extLst>
          </p:cNvPr>
          <p:cNvSpPr/>
          <p:nvPr/>
        </p:nvSpPr>
        <p:spPr>
          <a:xfrm>
            <a:off x="2096274" y="2731218"/>
            <a:ext cx="141274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FBA18520-AA1A-88C3-0497-F8D2DF2A6036}"/>
              </a:ext>
            </a:extLst>
          </p:cNvPr>
          <p:cNvSpPr/>
          <p:nvPr/>
        </p:nvSpPr>
        <p:spPr>
          <a:xfrm>
            <a:off x="2096274" y="2731218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2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6E77FFD-EC9B-7EE8-579C-9BA68EDB2447}"/>
              </a:ext>
            </a:extLst>
          </p:cNvPr>
          <p:cNvSpPr/>
          <p:nvPr/>
        </p:nvSpPr>
        <p:spPr>
          <a:xfrm>
            <a:off x="2302351" y="321328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Cleaning</a:t>
            </a:r>
            <a:endParaRPr lang="fr-FR" sz="105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B0502CE-20E8-7D67-8465-175E5AB2675E}"/>
              </a:ext>
            </a:extLst>
          </p:cNvPr>
          <p:cNvSpPr/>
          <p:nvPr/>
        </p:nvSpPr>
        <p:spPr>
          <a:xfrm>
            <a:off x="2198561" y="3549042"/>
            <a:ext cx="12476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Nettoyer :</a:t>
            </a:r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enlever le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HTML, normaliser</a:t>
            </a:r>
            <a:endParaRPr lang="fr-FR" sz="1000" noProof="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EA53CDF0-4ACF-1786-1A11-17422B5A9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3388" y="3752916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61708673-D949-49D3-A6B1-C8B017E26032}"/>
              </a:ext>
            </a:extLst>
          </p:cNvPr>
          <p:cNvSpPr/>
          <p:nvPr/>
        </p:nvSpPr>
        <p:spPr>
          <a:xfrm>
            <a:off x="3723972" y="2719643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222413C-721C-A876-15D1-03B3F87E1785}"/>
              </a:ext>
            </a:extLst>
          </p:cNvPr>
          <p:cNvSpPr/>
          <p:nvPr/>
        </p:nvSpPr>
        <p:spPr>
          <a:xfrm>
            <a:off x="3723972" y="2719644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F76B106-5511-819A-518A-9A8DE451DCBF}"/>
              </a:ext>
            </a:extLst>
          </p:cNvPr>
          <p:cNvSpPr/>
          <p:nvPr/>
        </p:nvSpPr>
        <p:spPr>
          <a:xfrm>
            <a:off x="3723972" y="2719644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3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931C9DA7-315D-7E7D-82B0-DB8C2044BD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8894" y="2796878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F6523C8A-5108-4D85-2B92-E945805DF986}"/>
              </a:ext>
            </a:extLst>
          </p:cNvPr>
          <p:cNvSpPr/>
          <p:nvPr/>
        </p:nvSpPr>
        <p:spPr>
          <a:xfrm>
            <a:off x="3805512" y="3367314"/>
            <a:ext cx="12968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Enrichment</a:t>
            </a:r>
            <a:endParaRPr lang="fr-FR" sz="1050" b="1" noProof="0" dirty="0">
              <a:solidFill>
                <a:srgbClr val="1B2A3B"/>
              </a:solidFill>
            </a:endParaRPr>
          </a:p>
          <a:p>
            <a:pPr marL="0" indent="0" algn="ctr">
              <a:buNone/>
            </a:pPr>
            <a:r>
              <a:rPr lang="fr-FR" sz="900" b="1" noProof="0" dirty="0">
                <a:solidFill>
                  <a:srgbClr val="0D9488"/>
                </a:solidFill>
              </a:rPr>
              <a:t>(</a:t>
            </a:r>
            <a:r>
              <a:rPr lang="fr-FR" sz="900" b="1" noProof="0" dirty="0" err="1">
                <a:solidFill>
                  <a:srgbClr val="0D9488"/>
                </a:solidFill>
              </a:rPr>
              <a:t>Feature</a:t>
            </a:r>
            <a:endParaRPr lang="fr-FR" sz="900" b="1" noProof="0" dirty="0">
              <a:solidFill>
                <a:srgbClr val="0D9488"/>
              </a:solidFill>
            </a:endParaRPr>
          </a:p>
          <a:p>
            <a:pPr marL="0" indent="0" algn="ctr">
              <a:buNone/>
            </a:pPr>
            <a:r>
              <a:rPr lang="fr-FR" sz="900" b="1" noProof="0" dirty="0">
                <a:solidFill>
                  <a:srgbClr val="0D9488"/>
                </a:solidFill>
              </a:rPr>
              <a:t>Engineering)</a:t>
            </a: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E9B7B91-77E1-A9B8-73CF-80EB675DAF84}"/>
              </a:ext>
            </a:extLst>
          </p:cNvPr>
          <p:cNvSpPr/>
          <p:nvPr/>
        </p:nvSpPr>
        <p:spPr>
          <a:xfrm>
            <a:off x="3899419" y="3774087"/>
            <a:ext cx="11220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Transformer les données brutes en informations pertinentes</a:t>
            </a: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E5469931-A96D-790C-B181-5D501ED55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826" y="3752915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59F1E768-F407-9419-858E-59AC61B68A03}"/>
              </a:ext>
            </a:extLst>
          </p:cNvPr>
          <p:cNvSpPr/>
          <p:nvPr/>
        </p:nvSpPr>
        <p:spPr>
          <a:xfrm>
            <a:off x="5275410" y="2719642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E869BAAB-FEBD-28C5-ABFE-EFF7A1664B71}"/>
              </a:ext>
            </a:extLst>
          </p:cNvPr>
          <p:cNvSpPr/>
          <p:nvPr/>
        </p:nvSpPr>
        <p:spPr>
          <a:xfrm>
            <a:off x="5275410" y="2719643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5FFCD7D-BD90-D5D0-522F-94D87DB20857}"/>
              </a:ext>
            </a:extLst>
          </p:cNvPr>
          <p:cNvSpPr/>
          <p:nvPr/>
        </p:nvSpPr>
        <p:spPr>
          <a:xfrm>
            <a:off x="5275410" y="271964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4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03382320-D0C5-A3EE-9F9C-D22EE6B46BE9}"/>
              </a:ext>
            </a:extLst>
          </p:cNvPr>
          <p:cNvSpPr/>
          <p:nvPr/>
        </p:nvSpPr>
        <p:spPr>
          <a:xfrm>
            <a:off x="5461728" y="324316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3509286A-FBA6-FE9C-2E3E-393666DB99D7}"/>
              </a:ext>
            </a:extLst>
          </p:cNvPr>
          <p:cNvSpPr/>
          <p:nvPr/>
        </p:nvSpPr>
        <p:spPr>
          <a:xfrm>
            <a:off x="5477836" y="351760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Relier les issues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qui parlent du même bug</a:t>
            </a:r>
            <a:endParaRPr lang="fr-FR" sz="1000" noProof="0" dirty="0"/>
          </a:p>
        </p:txBody>
      </p:sp>
      <p:pic>
        <p:nvPicPr>
          <p:cNvPr id="31" name="Image 7" descr="preencoded.png">
            <a:extLst>
              <a:ext uri="{FF2B5EF4-FFF2-40B4-BE49-F238E27FC236}">
                <a16:creationId xmlns:a16="http://schemas.microsoft.com/office/drawing/2014/main" id="{C401AD32-7BBB-8507-4C2F-2DABC776C5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0229" y="3747854"/>
            <a:ext cx="237744" cy="237744"/>
          </a:xfrm>
          <a:prstGeom prst="rect">
            <a:avLst/>
          </a:prstGeom>
        </p:spPr>
      </p:pic>
      <p:sp>
        <p:nvSpPr>
          <p:cNvPr id="32" name="Shape 25">
            <a:extLst>
              <a:ext uri="{FF2B5EF4-FFF2-40B4-BE49-F238E27FC236}">
                <a16:creationId xmlns:a16="http://schemas.microsoft.com/office/drawing/2014/main" id="{23275CAD-A655-703D-D565-23BEDAF14822}"/>
              </a:ext>
            </a:extLst>
          </p:cNvPr>
          <p:cNvSpPr/>
          <p:nvPr/>
        </p:nvSpPr>
        <p:spPr>
          <a:xfrm>
            <a:off x="6830813" y="2714582"/>
            <a:ext cx="1397438" cy="1981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091FD4BB-CE7E-DC12-FC85-60A4A3CF2165}"/>
              </a:ext>
            </a:extLst>
          </p:cNvPr>
          <p:cNvSpPr/>
          <p:nvPr/>
        </p:nvSpPr>
        <p:spPr>
          <a:xfrm>
            <a:off x="6830813" y="2714582"/>
            <a:ext cx="139743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29BFA05D-CE13-8B2B-3ECF-D4C08D273F4A}"/>
              </a:ext>
            </a:extLst>
          </p:cNvPr>
          <p:cNvSpPr/>
          <p:nvPr/>
        </p:nvSpPr>
        <p:spPr>
          <a:xfrm>
            <a:off x="6830813" y="271458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5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3738A1AC-2ED5-30D6-C54E-8E25EEC08B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3759" y="2811083"/>
            <a:ext cx="256032" cy="256032"/>
          </a:xfrm>
          <a:prstGeom prst="rect">
            <a:avLst/>
          </a:prstGeom>
        </p:spPr>
      </p:pic>
      <p:sp>
        <p:nvSpPr>
          <p:cNvPr id="36" name="Text 28">
            <a:extLst>
              <a:ext uri="{FF2B5EF4-FFF2-40B4-BE49-F238E27FC236}">
                <a16:creationId xmlns:a16="http://schemas.microsoft.com/office/drawing/2014/main" id="{5BAA8C84-25B4-7432-E6B3-CFF7E3BCBBD4}"/>
              </a:ext>
            </a:extLst>
          </p:cNvPr>
          <p:cNvSpPr/>
          <p:nvPr/>
        </p:nvSpPr>
        <p:spPr>
          <a:xfrm>
            <a:off x="7024868" y="324546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Chunking</a:t>
            </a:r>
            <a:endParaRPr lang="fr-FR" sz="1050" noProof="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0F62333C-1099-874C-63C6-3891F7C5D964}"/>
              </a:ext>
            </a:extLst>
          </p:cNvPr>
          <p:cNvSpPr/>
          <p:nvPr/>
        </p:nvSpPr>
        <p:spPr>
          <a:xfrm>
            <a:off x="7013693" y="3570655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Découper en morceaux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pour la KB</a:t>
            </a:r>
            <a:endParaRPr lang="fr-FR" sz="1000" noProof="0" dirty="0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84FB185A-2B35-592D-D91F-0FA613BE7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691" y="3747854"/>
            <a:ext cx="237744" cy="237744"/>
          </a:xfrm>
          <a:prstGeom prst="rect">
            <a:avLst/>
          </a:prstGeom>
        </p:spPr>
      </p:pic>
      <p:sp>
        <p:nvSpPr>
          <p:cNvPr id="39" name="Shape 30">
            <a:extLst>
              <a:ext uri="{FF2B5EF4-FFF2-40B4-BE49-F238E27FC236}">
                <a16:creationId xmlns:a16="http://schemas.microsoft.com/office/drawing/2014/main" id="{CF82D4C1-92B0-0959-363E-8696EA6B0032}"/>
              </a:ext>
            </a:extLst>
          </p:cNvPr>
          <p:cNvSpPr/>
          <p:nvPr/>
        </p:nvSpPr>
        <p:spPr>
          <a:xfrm>
            <a:off x="8420275" y="2714581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E0AAF881-E75C-17C5-E3EA-1A99822D25AB}"/>
              </a:ext>
            </a:extLst>
          </p:cNvPr>
          <p:cNvSpPr/>
          <p:nvPr/>
        </p:nvSpPr>
        <p:spPr>
          <a:xfrm>
            <a:off x="8420275" y="2714582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2">
            <a:extLst>
              <a:ext uri="{FF2B5EF4-FFF2-40B4-BE49-F238E27FC236}">
                <a16:creationId xmlns:a16="http://schemas.microsoft.com/office/drawing/2014/main" id="{0C17A3F0-90BA-7969-5BF6-3963B2DA11E2}"/>
              </a:ext>
            </a:extLst>
          </p:cNvPr>
          <p:cNvSpPr/>
          <p:nvPr/>
        </p:nvSpPr>
        <p:spPr>
          <a:xfrm>
            <a:off x="8420275" y="271458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6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852182AE-399F-190F-293E-C3D5FE8465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93433" y="2807569"/>
            <a:ext cx="263059" cy="263059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7EB5A70E-678B-2A0F-5898-9AB27B5D906D}"/>
              </a:ext>
            </a:extLst>
          </p:cNvPr>
          <p:cNvSpPr/>
          <p:nvPr/>
        </p:nvSpPr>
        <p:spPr>
          <a:xfrm>
            <a:off x="8616074" y="32927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fr-FR" sz="900" b="1" noProof="0" dirty="0">
                <a:solidFill>
                  <a:srgbClr val="1B2A3B"/>
                </a:solidFill>
              </a:rPr>
              <a:t>(</a:t>
            </a:r>
            <a:r>
              <a:rPr lang="fr-FR" sz="900" b="1" noProof="0" dirty="0">
                <a:solidFill>
                  <a:srgbClr val="0D9488"/>
                </a:solidFill>
              </a:rPr>
              <a:t>Benchmark</a:t>
            </a:r>
            <a:r>
              <a:rPr lang="fr-FR" sz="900" b="1" noProof="0" dirty="0"/>
              <a:t>)</a:t>
            </a:r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02D2474B-F742-D0A8-378D-A89F0E845046}"/>
              </a:ext>
            </a:extLst>
          </p:cNvPr>
          <p:cNvSpPr/>
          <p:nvPr/>
        </p:nvSpPr>
        <p:spPr>
          <a:xfrm>
            <a:off x="8633908" y="373704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Tester avec 50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questions de </a:t>
            </a:r>
            <a:r>
              <a:rPr lang="fr-FR" sz="1000" noProof="0" dirty="0" err="1">
                <a:solidFill>
                  <a:srgbClr val="64748B"/>
                </a:solidFill>
              </a:rPr>
              <a:t>reference</a:t>
            </a:r>
            <a:endParaRPr lang="fr-FR" sz="1000" noProof="0" dirty="0">
              <a:solidFill>
                <a:srgbClr val="64748B"/>
              </a:solidFill>
            </a:endParaRPr>
          </a:p>
          <a:p>
            <a:pPr marL="0" indent="0" algn="ctr">
              <a:buNone/>
            </a:pPr>
            <a:endParaRPr lang="fr-FR" sz="1000" noProof="0" dirty="0"/>
          </a:p>
          <a:p>
            <a:pPr marL="0" indent="0" algn="ctr">
              <a:buNone/>
            </a:pPr>
            <a:endParaRPr lang="fr-FR" sz="1000" noProof="0" dirty="0"/>
          </a:p>
        </p:txBody>
      </p:sp>
      <p:pic>
        <p:nvPicPr>
          <p:cNvPr id="45" name="Image 11" descr="preencoded.png">
            <a:extLst>
              <a:ext uri="{FF2B5EF4-FFF2-40B4-BE49-F238E27FC236}">
                <a16:creationId xmlns:a16="http://schemas.microsoft.com/office/drawing/2014/main" id="{C243BCEC-50AE-78A4-4484-96F152D35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3275" y="3747854"/>
            <a:ext cx="237744" cy="237744"/>
          </a:xfrm>
          <a:prstGeom prst="rect">
            <a:avLst/>
          </a:prstGeom>
        </p:spPr>
      </p:pic>
      <p:sp>
        <p:nvSpPr>
          <p:cNvPr id="46" name="Shape 35">
            <a:extLst>
              <a:ext uri="{FF2B5EF4-FFF2-40B4-BE49-F238E27FC236}">
                <a16:creationId xmlns:a16="http://schemas.microsoft.com/office/drawing/2014/main" id="{B6AB5052-B88F-6A7E-9EDE-A18F3CC93CD3}"/>
              </a:ext>
            </a:extLst>
          </p:cNvPr>
          <p:cNvSpPr/>
          <p:nvPr/>
        </p:nvSpPr>
        <p:spPr>
          <a:xfrm>
            <a:off x="9967204" y="2710009"/>
            <a:ext cx="1367887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49FD1DD7-BAD8-1725-973E-486ADE073B90}"/>
              </a:ext>
            </a:extLst>
          </p:cNvPr>
          <p:cNvSpPr/>
          <p:nvPr/>
        </p:nvSpPr>
        <p:spPr>
          <a:xfrm>
            <a:off x="9967205" y="2710010"/>
            <a:ext cx="138393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F9FE8D32-4685-8014-E6A0-95CE381CECFD}"/>
              </a:ext>
            </a:extLst>
          </p:cNvPr>
          <p:cNvSpPr/>
          <p:nvPr/>
        </p:nvSpPr>
        <p:spPr>
          <a:xfrm>
            <a:off x="9967205" y="271001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7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84230D54-4CF8-9829-27AD-A4CCE37B68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9572" y="2795079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FD2C8677-F933-3733-D15A-437F70DC2B25}"/>
              </a:ext>
            </a:extLst>
          </p:cNvPr>
          <p:cNvSpPr/>
          <p:nvPr/>
        </p:nvSpPr>
        <p:spPr>
          <a:xfrm>
            <a:off x="10038761" y="3438089"/>
            <a:ext cx="1218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Delivery</a:t>
            </a:r>
          </a:p>
          <a:p>
            <a:pPr marL="0" indent="0" algn="ctr">
              <a:buNone/>
            </a:pPr>
            <a:r>
              <a:rPr lang="fr-FR" sz="800" b="1" noProof="0" dirty="0">
                <a:solidFill>
                  <a:srgbClr val="1B2A3B"/>
                </a:solidFill>
              </a:rPr>
              <a:t>(</a:t>
            </a:r>
            <a:r>
              <a:rPr lang="fr-FR" sz="800" b="1" noProof="0" dirty="0" err="1">
                <a:solidFill>
                  <a:srgbClr val="0D9488"/>
                </a:solidFill>
              </a:rPr>
              <a:t>resolver</a:t>
            </a:r>
            <a:r>
              <a:rPr lang="fr-FR" sz="800" b="1" noProof="0" dirty="0">
                <a:solidFill>
                  <a:srgbClr val="0D9488"/>
                </a:solidFill>
              </a:rPr>
              <a:t> cases, diagnostic </a:t>
            </a:r>
            <a:r>
              <a:rPr lang="fr-FR" sz="800" b="1" noProof="0" dirty="0" err="1">
                <a:solidFill>
                  <a:srgbClr val="0D9488"/>
                </a:solidFill>
              </a:rPr>
              <a:t>cards</a:t>
            </a:r>
            <a:r>
              <a:rPr lang="fr-FR" sz="800" b="1" noProof="0" dirty="0">
                <a:solidFill>
                  <a:srgbClr val="0D9488"/>
                </a:solidFill>
              </a:rPr>
              <a:t>, exports ST-</a:t>
            </a:r>
            <a:r>
              <a:rPr lang="fr-FR" sz="800" b="1" noProof="0" dirty="0" err="1">
                <a:solidFill>
                  <a:srgbClr val="0D9488"/>
                </a:solidFill>
              </a:rPr>
              <a:t>ready</a:t>
            </a:r>
            <a:r>
              <a:rPr lang="fr-FR" sz="800" b="1" noProof="0" dirty="0">
                <a:solidFill>
                  <a:srgbClr val="1B2A3B"/>
                </a:solidFill>
              </a:rPr>
              <a:t>)</a:t>
            </a:r>
          </a:p>
          <a:p>
            <a:pPr marL="0" indent="0" algn="ctr">
              <a:buNone/>
            </a:pPr>
            <a:endParaRPr lang="fr-FR" sz="1050" b="1" noProof="0" dirty="0">
              <a:solidFill>
                <a:srgbClr val="1B2A3B"/>
              </a:solidFill>
            </a:endParaRPr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D91C2862-01D2-E1E0-D940-AD652B5D9895}"/>
              </a:ext>
            </a:extLst>
          </p:cNvPr>
          <p:cNvSpPr/>
          <p:nvPr/>
        </p:nvSpPr>
        <p:spPr>
          <a:xfrm>
            <a:off x="10156251" y="365992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Livrer les JSON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format ST-</a:t>
            </a:r>
            <a:r>
              <a:rPr lang="fr-FR" sz="1000" noProof="0" dirty="0" err="1">
                <a:solidFill>
                  <a:srgbClr val="64748B"/>
                </a:solidFill>
              </a:rPr>
              <a:t>ready</a:t>
            </a:r>
            <a:endParaRPr lang="fr-FR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4C7A22A4-C5AD-2BD0-9018-0C2C099DCD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7591" y="2747074"/>
            <a:ext cx="402338" cy="402338"/>
          </a:xfrm>
          <a:prstGeom prst="rect">
            <a:avLst/>
          </a:prstGeom>
        </p:spPr>
      </p:pic>
      <p:pic>
        <p:nvPicPr>
          <p:cNvPr id="85" name="Graphic 84" descr="Eraser with solid fill">
            <a:extLst>
              <a:ext uri="{FF2B5EF4-FFF2-40B4-BE49-F238E27FC236}">
                <a16:creationId xmlns:a16="http://schemas.microsoft.com/office/drawing/2014/main" id="{46FAB824-1AD7-60D2-F487-F6F48C9D5F8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40408" y="2796878"/>
            <a:ext cx="329184" cy="329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874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5E12A-F9BA-61FF-CB19-8D8A9AAC9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A2358-D0C5-CC57-F9C7-15B597527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Le pipeline de </a:t>
            </a:r>
            <a:r>
              <a:rPr lang="fr-FR" sz="1800" b="1" noProof="0" dirty="0" err="1"/>
              <a:t>preprocessing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4CE485-3056-6351-797C-66B4B9BAA0A3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7 étapes pour transformer la donnée brute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2B0E75EC-8636-A912-D959-21AFBF598515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Chaque étape a un rôle précis , rien n'est fait au hasard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1A528C98-1DAE-264E-C33D-883A92F47E32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713B2B27-8E99-D178-F191-1B5541ECEA24}"/>
              </a:ext>
            </a:extLst>
          </p:cNvPr>
          <p:cNvSpPr/>
          <p:nvPr/>
        </p:nvSpPr>
        <p:spPr>
          <a:xfrm>
            <a:off x="540610" y="1884973"/>
            <a:ext cx="1412748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CF37452E-B5FA-C5B3-3763-B5FEC666E205}"/>
              </a:ext>
            </a:extLst>
          </p:cNvPr>
          <p:cNvSpPr/>
          <p:nvPr/>
        </p:nvSpPr>
        <p:spPr>
          <a:xfrm>
            <a:off x="540609" y="1884973"/>
            <a:ext cx="141274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2A63A435-10FE-AF43-100A-423695C3CD1A}"/>
              </a:ext>
            </a:extLst>
          </p:cNvPr>
          <p:cNvSpPr/>
          <p:nvPr/>
        </p:nvSpPr>
        <p:spPr>
          <a:xfrm>
            <a:off x="540610" y="188497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1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ACEE8C52-C2BB-68FA-3186-08F1645EF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22" y="1953316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227B0CD6-5ED6-7B1F-620B-8F3EA09D39EB}"/>
              </a:ext>
            </a:extLst>
          </p:cNvPr>
          <p:cNvSpPr/>
          <p:nvPr/>
        </p:nvSpPr>
        <p:spPr>
          <a:xfrm>
            <a:off x="746350" y="24015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Ingestion</a:t>
            </a:r>
            <a:endParaRPr lang="fr-FR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4F5A7DFE-FBBA-1572-DD81-928B78DF9BE8}"/>
              </a:ext>
            </a:extLst>
          </p:cNvPr>
          <p:cNvSpPr/>
          <p:nvPr/>
        </p:nvSpPr>
        <p:spPr>
          <a:xfrm>
            <a:off x="739758" y="273497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Télécharger les données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brutes depuis GitHub</a:t>
            </a:r>
            <a:endParaRPr lang="fr-FR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B954908D-3197-34BA-4C01-9ECEF46DF7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512" y="2925247"/>
            <a:ext cx="237744" cy="237744"/>
          </a:xfrm>
          <a:prstGeom prst="rect">
            <a:avLst/>
          </a:prstGeom>
        </p:spPr>
      </p:pic>
      <p:sp>
        <p:nvSpPr>
          <p:cNvPr id="11" name="Shape 10">
            <a:extLst>
              <a:ext uri="{FF2B5EF4-FFF2-40B4-BE49-F238E27FC236}">
                <a16:creationId xmlns:a16="http://schemas.microsoft.com/office/drawing/2014/main" id="{18DCCA09-B7EF-63D5-D379-ADCC1A20EC52}"/>
              </a:ext>
            </a:extLst>
          </p:cNvPr>
          <p:cNvSpPr/>
          <p:nvPr/>
        </p:nvSpPr>
        <p:spPr>
          <a:xfrm>
            <a:off x="2159096" y="1891975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0EEFE3A9-2895-72E9-BE68-76393E0A1F7B}"/>
              </a:ext>
            </a:extLst>
          </p:cNvPr>
          <p:cNvSpPr/>
          <p:nvPr/>
        </p:nvSpPr>
        <p:spPr>
          <a:xfrm>
            <a:off x="2159096" y="1891975"/>
            <a:ext cx="141274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DF72BD14-2867-13A5-1563-E93364A204BC}"/>
              </a:ext>
            </a:extLst>
          </p:cNvPr>
          <p:cNvSpPr/>
          <p:nvPr/>
        </p:nvSpPr>
        <p:spPr>
          <a:xfrm>
            <a:off x="2159096" y="189197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2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75F4E4C-9A57-7FFE-7B7E-F75AAC300ECB}"/>
              </a:ext>
            </a:extLst>
          </p:cNvPr>
          <p:cNvSpPr/>
          <p:nvPr/>
        </p:nvSpPr>
        <p:spPr>
          <a:xfrm>
            <a:off x="2365173" y="237403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Cleaning</a:t>
            </a:r>
            <a:endParaRPr lang="fr-FR" sz="105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B0AF6DF-BDE6-F2E8-BFA3-F2D383F8441E}"/>
              </a:ext>
            </a:extLst>
          </p:cNvPr>
          <p:cNvSpPr/>
          <p:nvPr/>
        </p:nvSpPr>
        <p:spPr>
          <a:xfrm>
            <a:off x="2323688" y="2753574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Nettoyer :</a:t>
            </a:r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enlever le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HTML, normaliser</a:t>
            </a:r>
            <a:endParaRPr lang="fr-FR" sz="1000" noProof="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F0E23D79-1CD9-58C8-77F7-60137D5F12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210" y="2913673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4EE0673A-C9BC-5BBE-43BD-21B737EC46C0}"/>
              </a:ext>
            </a:extLst>
          </p:cNvPr>
          <p:cNvSpPr/>
          <p:nvPr/>
        </p:nvSpPr>
        <p:spPr>
          <a:xfrm>
            <a:off x="3786794" y="1880400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39818C1D-C140-F6E7-1508-953CD4A82157}"/>
              </a:ext>
            </a:extLst>
          </p:cNvPr>
          <p:cNvSpPr/>
          <p:nvPr/>
        </p:nvSpPr>
        <p:spPr>
          <a:xfrm>
            <a:off x="3786794" y="1880401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AFC64DE-6D17-083C-B881-C9B718EF7B2E}"/>
              </a:ext>
            </a:extLst>
          </p:cNvPr>
          <p:cNvSpPr/>
          <p:nvPr/>
        </p:nvSpPr>
        <p:spPr>
          <a:xfrm>
            <a:off x="3786794" y="18804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3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D0F2AF5C-E8FE-8050-3BE1-70E54265D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716" y="1957635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5973E71D-03B7-32DA-B500-9FF5984D6F88}"/>
              </a:ext>
            </a:extLst>
          </p:cNvPr>
          <p:cNvSpPr/>
          <p:nvPr/>
        </p:nvSpPr>
        <p:spPr>
          <a:xfrm>
            <a:off x="4040706" y="24981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 err="1">
                <a:solidFill>
                  <a:srgbClr val="1B2A3B"/>
                </a:solidFill>
              </a:rPr>
              <a:t>Enrichment</a:t>
            </a:r>
            <a:endParaRPr lang="fr-FR" sz="1050" b="1" noProof="0" dirty="0">
              <a:solidFill>
                <a:srgbClr val="1B2A3B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(</a:t>
            </a:r>
            <a:r>
              <a:rPr lang="fr-FR" sz="900" b="1" noProof="0" dirty="0" err="1">
                <a:solidFill>
                  <a:srgbClr val="0D9488"/>
                </a:solidFill>
              </a:rPr>
              <a:t>Feature</a:t>
            </a:r>
            <a:endParaRPr lang="fr-FR" sz="900" b="1" noProof="0" dirty="0">
              <a:solidFill>
                <a:srgbClr val="0D9488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Engineering)</a:t>
            </a:r>
            <a:endParaRPr lang="fr-FR" sz="1050" b="1" noProof="0" dirty="0">
              <a:solidFill>
                <a:srgbClr val="0D9488"/>
              </a:solidFill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4569C26E-609A-B354-3D91-0D976C588046}"/>
              </a:ext>
            </a:extLst>
          </p:cNvPr>
          <p:cNvSpPr/>
          <p:nvPr/>
        </p:nvSpPr>
        <p:spPr>
          <a:xfrm>
            <a:off x="3917025" y="2908611"/>
            <a:ext cx="12246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Transformer les données brutes en informations pertinentes</a:t>
            </a: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0B5D4CD5-6248-D857-867E-560711852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648" y="2913672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E87B638F-1C64-F11A-B483-347EF5EFB84F}"/>
              </a:ext>
            </a:extLst>
          </p:cNvPr>
          <p:cNvSpPr/>
          <p:nvPr/>
        </p:nvSpPr>
        <p:spPr>
          <a:xfrm>
            <a:off x="5338232" y="188039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9162F2A6-5D12-E1BF-356C-FE36542590C3}"/>
              </a:ext>
            </a:extLst>
          </p:cNvPr>
          <p:cNvSpPr/>
          <p:nvPr/>
        </p:nvSpPr>
        <p:spPr>
          <a:xfrm>
            <a:off x="5338232" y="1880400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4674820A-3D6E-60D4-354F-43894413029F}"/>
              </a:ext>
            </a:extLst>
          </p:cNvPr>
          <p:cNvSpPr/>
          <p:nvPr/>
        </p:nvSpPr>
        <p:spPr>
          <a:xfrm>
            <a:off x="5338232" y="188040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4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7E626801-33AA-8753-2981-71F6AEC0A992}"/>
              </a:ext>
            </a:extLst>
          </p:cNvPr>
          <p:cNvSpPr/>
          <p:nvPr/>
        </p:nvSpPr>
        <p:spPr>
          <a:xfrm>
            <a:off x="5524550" y="24039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22A63B98-28C1-19A9-12F6-4B96BE79A1D9}"/>
              </a:ext>
            </a:extLst>
          </p:cNvPr>
          <p:cNvSpPr/>
          <p:nvPr/>
        </p:nvSpPr>
        <p:spPr>
          <a:xfrm>
            <a:off x="5540658" y="26783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Relier les issues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qui parlent du même bug</a:t>
            </a:r>
            <a:endParaRPr lang="fr-FR" sz="1000" noProof="0" dirty="0"/>
          </a:p>
        </p:txBody>
      </p:sp>
      <p:pic>
        <p:nvPicPr>
          <p:cNvPr id="31" name="Image 7" descr="preencoded.png">
            <a:extLst>
              <a:ext uri="{FF2B5EF4-FFF2-40B4-BE49-F238E27FC236}">
                <a16:creationId xmlns:a16="http://schemas.microsoft.com/office/drawing/2014/main" id="{5094F9A5-C76C-EE94-4D62-D9802C009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51" y="2908611"/>
            <a:ext cx="237744" cy="237744"/>
          </a:xfrm>
          <a:prstGeom prst="rect">
            <a:avLst/>
          </a:prstGeom>
        </p:spPr>
      </p:pic>
      <p:sp>
        <p:nvSpPr>
          <p:cNvPr id="32" name="Shape 25">
            <a:extLst>
              <a:ext uri="{FF2B5EF4-FFF2-40B4-BE49-F238E27FC236}">
                <a16:creationId xmlns:a16="http://schemas.microsoft.com/office/drawing/2014/main" id="{121CDD38-440E-8701-66EA-1FFADCE494E3}"/>
              </a:ext>
            </a:extLst>
          </p:cNvPr>
          <p:cNvSpPr/>
          <p:nvPr/>
        </p:nvSpPr>
        <p:spPr>
          <a:xfrm>
            <a:off x="6893635" y="1875339"/>
            <a:ext cx="1397438" cy="1981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14D125D7-9EC0-6542-EAA7-25DB5774E239}"/>
              </a:ext>
            </a:extLst>
          </p:cNvPr>
          <p:cNvSpPr/>
          <p:nvPr/>
        </p:nvSpPr>
        <p:spPr>
          <a:xfrm>
            <a:off x="6893635" y="1875339"/>
            <a:ext cx="139743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AD03A822-7443-9ECC-3BAD-37A9AB641B99}"/>
              </a:ext>
            </a:extLst>
          </p:cNvPr>
          <p:cNvSpPr/>
          <p:nvPr/>
        </p:nvSpPr>
        <p:spPr>
          <a:xfrm>
            <a:off x="6893635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5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1FD6FE0F-B751-92A1-52D8-7FEC67FAA1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581" y="1971840"/>
            <a:ext cx="256032" cy="256032"/>
          </a:xfrm>
          <a:prstGeom prst="rect">
            <a:avLst/>
          </a:prstGeom>
        </p:spPr>
      </p:pic>
      <p:sp>
        <p:nvSpPr>
          <p:cNvPr id="36" name="Text 28">
            <a:extLst>
              <a:ext uri="{FF2B5EF4-FFF2-40B4-BE49-F238E27FC236}">
                <a16:creationId xmlns:a16="http://schemas.microsoft.com/office/drawing/2014/main" id="{9B42713E-BF4D-1A62-76EB-C86ACE68BCE0}"/>
              </a:ext>
            </a:extLst>
          </p:cNvPr>
          <p:cNvSpPr/>
          <p:nvPr/>
        </p:nvSpPr>
        <p:spPr>
          <a:xfrm>
            <a:off x="7087690" y="2406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Chunking</a:t>
            </a:r>
            <a:endParaRPr lang="fr-FR" sz="1050" noProof="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AFC5E348-A457-0F4B-F19B-DF1E7255740C}"/>
              </a:ext>
            </a:extLst>
          </p:cNvPr>
          <p:cNvSpPr/>
          <p:nvPr/>
        </p:nvSpPr>
        <p:spPr>
          <a:xfrm>
            <a:off x="7076515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Découper en morceaux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pour la KB</a:t>
            </a:r>
            <a:endParaRPr lang="fr-FR" sz="1000" noProof="0" dirty="0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86FFF114-9A68-72FD-1974-F1D4A4A32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513" y="2908611"/>
            <a:ext cx="237744" cy="237744"/>
          </a:xfrm>
          <a:prstGeom prst="rect">
            <a:avLst/>
          </a:prstGeom>
        </p:spPr>
      </p:pic>
      <p:sp>
        <p:nvSpPr>
          <p:cNvPr id="39" name="Shape 30">
            <a:extLst>
              <a:ext uri="{FF2B5EF4-FFF2-40B4-BE49-F238E27FC236}">
                <a16:creationId xmlns:a16="http://schemas.microsoft.com/office/drawing/2014/main" id="{EFA3E3D2-AB25-EF10-01D9-267B00762536}"/>
              </a:ext>
            </a:extLst>
          </p:cNvPr>
          <p:cNvSpPr/>
          <p:nvPr/>
        </p:nvSpPr>
        <p:spPr>
          <a:xfrm>
            <a:off x="8483097" y="1875338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28207811-0B16-770C-AE90-787E3D763F76}"/>
              </a:ext>
            </a:extLst>
          </p:cNvPr>
          <p:cNvSpPr/>
          <p:nvPr/>
        </p:nvSpPr>
        <p:spPr>
          <a:xfrm>
            <a:off x="8483097" y="1875339"/>
            <a:ext cx="1380744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2">
            <a:extLst>
              <a:ext uri="{FF2B5EF4-FFF2-40B4-BE49-F238E27FC236}">
                <a16:creationId xmlns:a16="http://schemas.microsoft.com/office/drawing/2014/main" id="{05549798-0E0C-3C6C-A868-EB5528E4AA09}"/>
              </a:ext>
            </a:extLst>
          </p:cNvPr>
          <p:cNvSpPr/>
          <p:nvPr/>
        </p:nvSpPr>
        <p:spPr>
          <a:xfrm>
            <a:off x="8483097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6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0047C635-110A-9F1C-0FD5-C91026D2A8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55" y="1968326"/>
            <a:ext cx="263059" cy="263059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6D2DA3A5-D047-37BB-59C6-71FA567DA714}"/>
              </a:ext>
            </a:extLst>
          </p:cNvPr>
          <p:cNvSpPr/>
          <p:nvPr/>
        </p:nvSpPr>
        <p:spPr>
          <a:xfrm>
            <a:off x="8693671" y="24296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fr-FR" sz="900" b="1" noProof="0" dirty="0">
                <a:solidFill>
                  <a:srgbClr val="1B2A3B"/>
                </a:solidFill>
              </a:rPr>
              <a:t>(</a:t>
            </a:r>
            <a:r>
              <a:rPr lang="fr-FR" sz="900" b="1" noProof="0" dirty="0">
                <a:solidFill>
                  <a:srgbClr val="0D9488"/>
                </a:solidFill>
              </a:rPr>
              <a:t>Benchmark</a:t>
            </a:r>
            <a:r>
              <a:rPr lang="fr-FR" sz="900" b="1" noProof="0" dirty="0"/>
              <a:t>)</a:t>
            </a:r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C886831E-607E-198C-5C99-29B393996022}"/>
              </a:ext>
            </a:extLst>
          </p:cNvPr>
          <p:cNvSpPr/>
          <p:nvPr/>
        </p:nvSpPr>
        <p:spPr>
          <a:xfrm>
            <a:off x="8693671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Tester avec 50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questions de référence</a:t>
            </a:r>
            <a:endParaRPr lang="fr-FR" sz="1000" noProof="0" dirty="0"/>
          </a:p>
        </p:txBody>
      </p:sp>
      <p:pic>
        <p:nvPicPr>
          <p:cNvPr id="45" name="Image 11" descr="preencoded.png">
            <a:extLst>
              <a:ext uri="{FF2B5EF4-FFF2-40B4-BE49-F238E27FC236}">
                <a16:creationId xmlns:a16="http://schemas.microsoft.com/office/drawing/2014/main" id="{B9547A3C-C43A-4166-F5EB-6A1BD50FD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097" y="2908611"/>
            <a:ext cx="237744" cy="237744"/>
          </a:xfrm>
          <a:prstGeom prst="rect">
            <a:avLst/>
          </a:prstGeom>
        </p:spPr>
      </p:pic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47DC8D14-3191-5673-8F21-DBCCD1DD6E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30413" y="1907831"/>
            <a:ext cx="402338" cy="402338"/>
          </a:xfrm>
          <a:prstGeom prst="rect">
            <a:avLst/>
          </a:prstGeom>
        </p:spPr>
      </p:pic>
      <p:pic>
        <p:nvPicPr>
          <p:cNvPr id="85" name="Graphic 84" descr="Eraser with solid fill">
            <a:extLst>
              <a:ext uri="{FF2B5EF4-FFF2-40B4-BE49-F238E27FC236}">
                <a16:creationId xmlns:a16="http://schemas.microsoft.com/office/drawing/2014/main" id="{424CF2F6-CEFF-0876-E0CE-AEA55E96BA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03230" y="1957635"/>
            <a:ext cx="329184" cy="329184"/>
          </a:xfrm>
          <a:prstGeom prst="rect">
            <a:avLst/>
          </a:prstGeom>
        </p:spPr>
      </p:pic>
      <p:sp>
        <p:nvSpPr>
          <p:cNvPr id="3" name="Shape 40">
            <a:extLst>
              <a:ext uri="{FF2B5EF4-FFF2-40B4-BE49-F238E27FC236}">
                <a16:creationId xmlns:a16="http://schemas.microsoft.com/office/drawing/2014/main" id="{FF9BDF20-0565-BAC5-3586-0A267DC7B08F}"/>
              </a:ext>
            </a:extLst>
          </p:cNvPr>
          <p:cNvSpPr/>
          <p:nvPr/>
        </p:nvSpPr>
        <p:spPr>
          <a:xfrm>
            <a:off x="4735651" y="4273638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039511B3-BBF5-AC21-F3F0-87156AFC17BE}"/>
              </a:ext>
            </a:extLst>
          </p:cNvPr>
          <p:cNvSpPr/>
          <p:nvPr/>
        </p:nvSpPr>
        <p:spPr>
          <a:xfrm>
            <a:off x="4735651" y="4273638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AE3B3593-11FB-AC5B-B31A-99A54CA80621}"/>
              </a:ext>
            </a:extLst>
          </p:cNvPr>
          <p:cNvSpPr/>
          <p:nvPr/>
        </p:nvSpPr>
        <p:spPr>
          <a:xfrm>
            <a:off x="4936819" y="436507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b="1" noProof="0" dirty="0">
                <a:solidFill>
                  <a:srgbClr val="0D9488"/>
                </a:solidFill>
              </a:rPr>
              <a:t>❓ Que fait le </a:t>
            </a:r>
            <a:r>
              <a:rPr lang="fr-FR" sz="1050" b="1" noProof="0" dirty="0" err="1">
                <a:solidFill>
                  <a:srgbClr val="0D9488"/>
                </a:solidFill>
              </a:rPr>
              <a:t>Cleaning</a:t>
            </a:r>
            <a:r>
              <a:rPr lang="fr-FR" sz="1050" b="1" noProof="0" dirty="0">
                <a:solidFill>
                  <a:srgbClr val="0D9488"/>
                </a:solidFill>
              </a:rPr>
              <a:t> ?</a:t>
            </a:r>
            <a:endParaRPr lang="fr-FR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60212E92-6ABB-DF91-B6C5-D555A1E72908}"/>
              </a:ext>
            </a:extLst>
          </p:cNvPr>
          <p:cNvSpPr/>
          <p:nvPr/>
        </p:nvSpPr>
        <p:spPr>
          <a:xfrm>
            <a:off x="4936819" y="4657686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B2A3B"/>
                </a:solidFill>
              </a:rPr>
              <a:t>Les données brutes contiennent du HTML cassé, des images </a:t>
            </a:r>
            <a:r>
              <a:rPr lang="fr-FR" sz="1000" dirty="0">
                <a:solidFill>
                  <a:srgbClr val="1B2A3B"/>
                </a:solidFill>
              </a:rPr>
              <a:t>il</a:t>
            </a:r>
            <a:r>
              <a:rPr lang="fr-FR" sz="1000" noProof="0" dirty="0">
                <a:solidFill>
                  <a:srgbClr val="1B2A3B"/>
                </a:solidFill>
              </a:rPr>
              <a:t>lisibles, des blocs de code non structurés. Le </a:t>
            </a:r>
            <a:r>
              <a:rPr lang="fr-FR" sz="1000" noProof="0" dirty="0" err="1">
                <a:solidFill>
                  <a:srgbClr val="1B2A3B"/>
                </a:solidFill>
              </a:rPr>
              <a:t>cleaning</a:t>
            </a:r>
            <a:r>
              <a:rPr lang="fr-FR" sz="1000" noProof="0" dirty="0">
                <a:solidFill>
                  <a:srgbClr val="1B2A3B"/>
                </a:solidFill>
              </a:rPr>
              <a:t> les transforme en texte propre et exploitable.</a:t>
            </a:r>
            <a:endParaRPr lang="fr-FR" sz="1000" noProof="0" dirty="0"/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1C05DBA0-45BA-2EE0-05EA-3D2009C53B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flipV="1">
            <a:off x="2865469" y="4254656"/>
            <a:ext cx="1481109" cy="1481109"/>
          </a:xfrm>
          <a:prstGeom prst="rect">
            <a:avLst/>
          </a:prstGeom>
        </p:spPr>
      </p:pic>
      <p:sp>
        <p:nvSpPr>
          <p:cNvPr id="64" name="Shape 35">
            <a:extLst>
              <a:ext uri="{FF2B5EF4-FFF2-40B4-BE49-F238E27FC236}">
                <a16:creationId xmlns:a16="http://schemas.microsoft.com/office/drawing/2014/main" id="{8F73E210-07CA-B2ED-BA57-3DC127D58E21}"/>
              </a:ext>
            </a:extLst>
          </p:cNvPr>
          <p:cNvSpPr/>
          <p:nvPr/>
        </p:nvSpPr>
        <p:spPr>
          <a:xfrm>
            <a:off x="10025245" y="1857251"/>
            <a:ext cx="1367887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5" name="Shape 36">
            <a:extLst>
              <a:ext uri="{FF2B5EF4-FFF2-40B4-BE49-F238E27FC236}">
                <a16:creationId xmlns:a16="http://schemas.microsoft.com/office/drawing/2014/main" id="{897CB8B8-BFBE-49A1-FCB4-EDE183B975F1}"/>
              </a:ext>
            </a:extLst>
          </p:cNvPr>
          <p:cNvSpPr/>
          <p:nvPr/>
        </p:nvSpPr>
        <p:spPr>
          <a:xfrm>
            <a:off x="10025246" y="1857252"/>
            <a:ext cx="1367886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6" name="Text 37">
            <a:extLst>
              <a:ext uri="{FF2B5EF4-FFF2-40B4-BE49-F238E27FC236}">
                <a16:creationId xmlns:a16="http://schemas.microsoft.com/office/drawing/2014/main" id="{5879B2A2-161F-F015-1979-3119CCEC67A7}"/>
              </a:ext>
            </a:extLst>
          </p:cNvPr>
          <p:cNvSpPr/>
          <p:nvPr/>
        </p:nvSpPr>
        <p:spPr>
          <a:xfrm>
            <a:off x="10025246" y="1857252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7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67" name="Image 12" descr="preencoded.png">
            <a:extLst>
              <a:ext uri="{FF2B5EF4-FFF2-40B4-BE49-F238E27FC236}">
                <a16:creationId xmlns:a16="http://schemas.microsoft.com/office/drawing/2014/main" id="{CE8E4C87-D47B-77CE-EC2F-0083E9F2EC7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07613" y="1942321"/>
            <a:ext cx="288037" cy="288037"/>
          </a:xfrm>
          <a:prstGeom prst="rect">
            <a:avLst/>
          </a:prstGeom>
        </p:spPr>
      </p:pic>
      <p:sp>
        <p:nvSpPr>
          <p:cNvPr id="68" name="Text 38">
            <a:extLst>
              <a:ext uri="{FF2B5EF4-FFF2-40B4-BE49-F238E27FC236}">
                <a16:creationId xmlns:a16="http://schemas.microsoft.com/office/drawing/2014/main" id="{B359A444-A36E-CE3C-3425-4F7675F2320B}"/>
              </a:ext>
            </a:extLst>
          </p:cNvPr>
          <p:cNvSpPr/>
          <p:nvPr/>
        </p:nvSpPr>
        <p:spPr>
          <a:xfrm>
            <a:off x="10073625" y="2573299"/>
            <a:ext cx="12711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Delivery</a:t>
            </a:r>
          </a:p>
          <a:p>
            <a:pPr marL="0" indent="0" algn="ctr">
              <a:buNone/>
            </a:pPr>
            <a:r>
              <a:rPr lang="fr-FR" sz="800" b="1" noProof="0" dirty="0">
                <a:solidFill>
                  <a:srgbClr val="1B2A3B"/>
                </a:solidFill>
              </a:rPr>
              <a:t>(</a:t>
            </a:r>
            <a:r>
              <a:rPr lang="fr-FR" sz="800" b="1" noProof="0" dirty="0" err="1">
                <a:solidFill>
                  <a:srgbClr val="0D9488"/>
                </a:solidFill>
              </a:rPr>
              <a:t>resolver</a:t>
            </a:r>
            <a:r>
              <a:rPr lang="fr-FR" sz="800" b="1" noProof="0" dirty="0">
                <a:solidFill>
                  <a:srgbClr val="0D9488"/>
                </a:solidFill>
              </a:rPr>
              <a:t> cases, diagnostic </a:t>
            </a:r>
            <a:r>
              <a:rPr lang="fr-FR" sz="800" b="1" noProof="0" dirty="0" err="1">
                <a:solidFill>
                  <a:srgbClr val="0D9488"/>
                </a:solidFill>
              </a:rPr>
              <a:t>cards</a:t>
            </a:r>
            <a:r>
              <a:rPr lang="fr-FR" sz="800" b="1" noProof="0" dirty="0">
                <a:solidFill>
                  <a:srgbClr val="0D9488"/>
                </a:solidFill>
              </a:rPr>
              <a:t>, exports ST-</a:t>
            </a:r>
            <a:r>
              <a:rPr lang="fr-FR" sz="800" b="1" noProof="0" dirty="0" err="1">
                <a:solidFill>
                  <a:srgbClr val="0D9488"/>
                </a:solidFill>
              </a:rPr>
              <a:t>ready</a:t>
            </a:r>
            <a:r>
              <a:rPr lang="fr-FR" sz="800" b="1" noProof="0" dirty="0">
                <a:solidFill>
                  <a:srgbClr val="1B2A3B"/>
                </a:solidFill>
              </a:rPr>
              <a:t>)</a:t>
            </a:r>
          </a:p>
          <a:p>
            <a:pPr marL="0" indent="0" algn="ctr">
              <a:buNone/>
            </a:pPr>
            <a:endParaRPr lang="fr-FR" sz="1050" b="1" noProof="0" dirty="0">
              <a:solidFill>
                <a:srgbClr val="1B2A3B"/>
              </a:solidFill>
            </a:endParaRPr>
          </a:p>
        </p:txBody>
      </p:sp>
      <p:sp>
        <p:nvSpPr>
          <p:cNvPr id="69" name="Text 39">
            <a:extLst>
              <a:ext uri="{FF2B5EF4-FFF2-40B4-BE49-F238E27FC236}">
                <a16:creationId xmlns:a16="http://schemas.microsoft.com/office/drawing/2014/main" id="{D085E894-F08C-D38E-7BE2-205084FDCD2D}"/>
              </a:ext>
            </a:extLst>
          </p:cNvPr>
          <p:cNvSpPr/>
          <p:nvPr/>
        </p:nvSpPr>
        <p:spPr>
          <a:xfrm>
            <a:off x="10214292" y="280716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Livrer les JSON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format ST-</a:t>
            </a:r>
            <a:r>
              <a:rPr lang="fr-FR" sz="1000" noProof="0" dirty="0" err="1">
                <a:solidFill>
                  <a:srgbClr val="64748B"/>
                </a:solidFill>
              </a:rPr>
              <a:t>ready</a:t>
            </a:r>
            <a:endParaRPr lang="fr-FR" sz="1000" noProof="0" dirty="0"/>
          </a:p>
        </p:txBody>
      </p:sp>
    </p:spTree>
    <p:extLst>
      <p:ext uri="{BB962C8B-B14F-4D97-AF65-F5344CB8AC3E}">
        <p14:creationId xmlns:p14="http://schemas.microsoft.com/office/powerpoint/2010/main" val="1797854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73D9-3C18-18B8-2EB8-3F9DD593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EC259-CEA9-2423-B09B-09BFC81EC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Pipeline : </a:t>
            </a:r>
            <a:r>
              <a:rPr lang="fr-FR" sz="1800" b="1" noProof="0" dirty="0" err="1"/>
              <a:t>cleaning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7C9B399-CB9E-BF7E-0B6D-29A1AAC82D23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Le </a:t>
            </a:r>
            <a:r>
              <a:rPr lang="fr-FR" sz="1200" b="1" noProof="0" dirty="0" err="1">
                <a:solidFill>
                  <a:srgbClr val="425A78"/>
                </a:solidFill>
              </a:rPr>
              <a:t>Cleaning</a:t>
            </a:r>
            <a:r>
              <a:rPr lang="fr-FR" sz="1200" b="1" noProof="0" dirty="0">
                <a:solidFill>
                  <a:srgbClr val="425A78"/>
                </a:solidFill>
              </a:rPr>
              <a:t> — Pourquoi nettoyer les données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BEB036A-AC8E-99B5-C4A6-29BAA92F591D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Des données brutes = des réponses imprécises </a:t>
            </a:r>
            <a:r>
              <a:rPr lang="fr-FR" sz="1200" b="1" i="1" noProof="0" dirty="0">
                <a:solidFill>
                  <a:srgbClr val="64748B"/>
                </a:solidFill>
              </a:rPr>
              <a:t>=&gt;</a:t>
            </a:r>
            <a:r>
              <a:rPr lang="fr-FR" sz="1200" i="1" noProof="0" dirty="0">
                <a:solidFill>
                  <a:srgbClr val="64748B"/>
                </a:solidFill>
              </a:rPr>
              <a:t> Des données propres = des réponses utiles.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58A49ACB-73BF-7CAD-497C-40E2DD4690F4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06DA3E94-243D-FFCC-BDE9-17C3C363409E}"/>
              </a:ext>
            </a:extLst>
          </p:cNvPr>
          <p:cNvSpPr/>
          <p:nvPr/>
        </p:nvSpPr>
        <p:spPr>
          <a:xfrm>
            <a:off x="1161498" y="2065566"/>
            <a:ext cx="4069080" cy="36576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35711FE0-F871-D801-9659-54A9D2F5EAA1}"/>
              </a:ext>
            </a:extLst>
          </p:cNvPr>
          <p:cNvSpPr/>
          <p:nvPr/>
        </p:nvSpPr>
        <p:spPr>
          <a:xfrm>
            <a:off x="1161498" y="206556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❌  Donnée brute (avant)</a:t>
            </a:r>
            <a:endParaRPr lang="fr-FR" sz="1200" noProof="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9A632077-D24D-13F3-C4C6-B2506DD34511}"/>
              </a:ext>
            </a:extLst>
          </p:cNvPr>
          <p:cNvSpPr/>
          <p:nvPr/>
        </p:nvSpPr>
        <p:spPr>
          <a:xfrm>
            <a:off x="1161498" y="2431326"/>
            <a:ext cx="4069080" cy="3218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9172198A-E8D9-F851-4D58-CE508E50C694}"/>
              </a:ext>
            </a:extLst>
          </p:cNvPr>
          <p:cNvSpPr/>
          <p:nvPr/>
        </p:nvSpPr>
        <p:spPr>
          <a:xfrm>
            <a:off x="1298658" y="2504478"/>
            <a:ext cx="3794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class="issue"&gt;The &lt;b&gt;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HAL_DMA_Init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&lt;/b&gt; crashes 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...&lt;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src="/assets/diag.png"/&gt;&lt;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/&gt;&amp;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nbsp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;&amp;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nbsp;See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&lt;a href="..."&gt;PR#142&lt;/a&gt; and commit &lt;code&gt;3f2a1b&lt;/code&gt;&lt;/p&gt;</a:t>
            </a:r>
            <a:endParaRPr lang="fr-FR" sz="900" noProof="0" dirty="0"/>
          </a:p>
          <a:p>
            <a:pPr marL="0" indent="0">
              <a:buNone/>
            </a:pPr>
            <a:endParaRPr lang="fr-FR" sz="900" noProof="0" dirty="0"/>
          </a:p>
          <a:p>
            <a:pPr marL="0" indent="0">
              <a:buNone/>
            </a:pP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[IMAGE: configuration 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fr-FR" sz="900" noProof="0" dirty="0"/>
          </a:p>
          <a:p>
            <a:pPr marL="0" indent="0">
              <a:buNone/>
            </a:pPr>
            <a:endParaRPr lang="fr-FR" sz="900" noProof="0" dirty="0"/>
          </a:p>
          <a:p>
            <a:pPr marL="0" indent="0">
              <a:buNone/>
            </a:pP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auto-</a:t>
            </a:r>
            <a:r>
              <a:rPr lang="fr-FR" sz="900" noProof="0" dirty="0" err="1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generated</a:t>
            </a:r>
            <a:r>
              <a:rPr lang="fr-FR" sz="900" noProof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comment --&gt;</a:t>
            </a:r>
            <a:endParaRPr lang="fr-FR" sz="900" noProof="0" dirty="0"/>
          </a:p>
        </p:txBody>
      </p:sp>
      <p:sp>
        <p:nvSpPr>
          <p:cNvPr id="54" name="Shape 9">
            <a:extLst>
              <a:ext uri="{FF2B5EF4-FFF2-40B4-BE49-F238E27FC236}">
                <a16:creationId xmlns:a16="http://schemas.microsoft.com/office/drawing/2014/main" id="{5D96967A-3E8F-CEAF-32D2-791DDC167239}"/>
              </a:ext>
            </a:extLst>
          </p:cNvPr>
          <p:cNvSpPr/>
          <p:nvPr/>
        </p:nvSpPr>
        <p:spPr>
          <a:xfrm>
            <a:off x="1161498" y="4077246"/>
            <a:ext cx="406908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5" name="Text 10">
            <a:extLst>
              <a:ext uri="{FF2B5EF4-FFF2-40B4-BE49-F238E27FC236}">
                <a16:creationId xmlns:a16="http://schemas.microsoft.com/office/drawing/2014/main" id="{E432E17C-1FC0-83BE-6A2E-135A5726DD39}"/>
              </a:ext>
            </a:extLst>
          </p:cNvPr>
          <p:cNvSpPr/>
          <p:nvPr/>
        </p:nvSpPr>
        <p:spPr>
          <a:xfrm>
            <a:off x="1298658" y="413211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EF4444"/>
                </a:solidFill>
              </a:rPr>
              <a:t>Problèmes :</a:t>
            </a:r>
            <a:endParaRPr lang="fr-FR" sz="1000" noProof="0" dirty="0"/>
          </a:p>
        </p:txBody>
      </p:sp>
      <p:pic>
        <p:nvPicPr>
          <p:cNvPr id="59" name="Image 0" descr="preencoded.png">
            <a:extLst>
              <a:ext uri="{FF2B5EF4-FFF2-40B4-BE49-F238E27FC236}">
                <a16:creationId xmlns:a16="http://schemas.microsoft.com/office/drawing/2014/main" id="{B023467C-5A4E-E65E-EEA0-A35E92B36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658" y="4424718"/>
            <a:ext cx="219456" cy="219456"/>
          </a:xfrm>
          <a:prstGeom prst="rect">
            <a:avLst/>
          </a:prstGeom>
        </p:spPr>
      </p:pic>
      <p:sp>
        <p:nvSpPr>
          <p:cNvPr id="60" name="Text 11">
            <a:extLst>
              <a:ext uri="{FF2B5EF4-FFF2-40B4-BE49-F238E27FC236}">
                <a16:creationId xmlns:a16="http://schemas.microsoft.com/office/drawing/2014/main" id="{FD1A298A-2AFC-FED5-8BB2-FE29C150AE8B}"/>
              </a:ext>
            </a:extLst>
          </p:cNvPr>
          <p:cNvSpPr/>
          <p:nvPr/>
        </p:nvSpPr>
        <p:spPr>
          <a:xfrm>
            <a:off x="1582122" y="4443006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Balises HTML non lisibles par l'IA</a:t>
            </a:r>
            <a:endParaRPr lang="fr-FR" sz="1050" noProof="0" dirty="0"/>
          </a:p>
        </p:txBody>
      </p:sp>
      <p:pic>
        <p:nvPicPr>
          <p:cNvPr id="65" name="Image 1" descr="preencoded.png">
            <a:extLst>
              <a:ext uri="{FF2B5EF4-FFF2-40B4-BE49-F238E27FC236}">
                <a16:creationId xmlns:a16="http://schemas.microsoft.com/office/drawing/2014/main" id="{B92B7FDC-2C3D-9FC9-4AB1-88588F5A0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658" y="4772190"/>
            <a:ext cx="219456" cy="219456"/>
          </a:xfrm>
          <a:prstGeom prst="rect">
            <a:avLst/>
          </a:prstGeom>
        </p:spPr>
      </p:pic>
      <p:sp>
        <p:nvSpPr>
          <p:cNvPr id="66" name="Text 12">
            <a:extLst>
              <a:ext uri="{FF2B5EF4-FFF2-40B4-BE49-F238E27FC236}">
                <a16:creationId xmlns:a16="http://schemas.microsoft.com/office/drawing/2014/main" id="{23658F16-94A8-6A41-473F-7628B787D9CB}"/>
              </a:ext>
            </a:extLst>
          </p:cNvPr>
          <p:cNvSpPr/>
          <p:nvPr/>
        </p:nvSpPr>
        <p:spPr>
          <a:xfrm>
            <a:off x="1582122" y="4790478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Image ignorée (pas de texte)</a:t>
            </a:r>
            <a:endParaRPr lang="fr-FR" sz="1050" noProof="0" dirty="0"/>
          </a:p>
        </p:txBody>
      </p:sp>
      <p:pic>
        <p:nvPicPr>
          <p:cNvPr id="67" name="Image 2" descr="preencoded.png">
            <a:extLst>
              <a:ext uri="{FF2B5EF4-FFF2-40B4-BE49-F238E27FC236}">
                <a16:creationId xmlns:a16="http://schemas.microsoft.com/office/drawing/2014/main" id="{7CD80763-80D1-7FA3-F62D-D53699744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658" y="5119662"/>
            <a:ext cx="219456" cy="219456"/>
          </a:xfrm>
          <a:prstGeom prst="rect">
            <a:avLst/>
          </a:prstGeom>
        </p:spPr>
      </p:pic>
      <p:sp>
        <p:nvSpPr>
          <p:cNvPr id="68" name="Text 13">
            <a:extLst>
              <a:ext uri="{FF2B5EF4-FFF2-40B4-BE49-F238E27FC236}">
                <a16:creationId xmlns:a16="http://schemas.microsoft.com/office/drawing/2014/main" id="{4E5E3D8B-3FF1-E9BE-1FD8-395A181D13FD}"/>
              </a:ext>
            </a:extLst>
          </p:cNvPr>
          <p:cNvSpPr/>
          <p:nvPr/>
        </p:nvSpPr>
        <p:spPr>
          <a:xfrm>
            <a:off x="1582122" y="5137950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Commentaires parasites qui bruitent</a:t>
            </a:r>
            <a:endParaRPr lang="fr-FR" sz="1050" noProof="0" dirty="0"/>
          </a:p>
        </p:txBody>
      </p:sp>
      <p:sp>
        <p:nvSpPr>
          <p:cNvPr id="70" name="Shape 14">
            <a:extLst>
              <a:ext uri="{FF2B5EF4-FFF2-40B4-BE49-F238E27FC236}">
                <a16:creationId xmlns:a16="http://schemas.microsoft.com/office/drawing/2014/main" id="{826EA3AD-FC96-8FA4-5F02-78511B5EEFB3}"/>
              </a:ext>
            </a:extLst>
          </p:cNvPr>
          <p:cNvSpPr/>
          <p:nvPr/>
        </p:nvSpPr>
        <p:spPr>
          <a:xfrm>
            <a:off x="6768603" y="2065566"/>
            <a:ext cx="3703320" cy="365760"/>
          </a:xfrm>
          <a:prstGeom prst="rect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6A5E1406-6721-4E0D-F694-614B13AB596A}"/>
              </a:ext>
            </a:extLst>
          </p:cNvPr>
          <p:cNvSpPr/>
          <p:nvPr/>
        </p:nvSpPr>
        <p:spPr>
          <a:xfrm>
            <a:off x="6768603" y="206556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</a:rPr>
              <a:t>✅  Donnée nettoyée (après)</a:t>
            </a:r>
            <a:endParaRPr lang="fr-FR" sz="1200" noProof="0" dirty="0"/>
          </a:p>
        </p:txBody>
      </p:sp>
      <p:sp>
        <p:nvSpPr>
          <p:cNvPr id="72" name="Shape 16">
            <a:extLst>
              <a:ext uri="{FF2B5EF4-FFF2-40B4-BE49-F238E27FC236}">
                <a16:creationId xmlns:a16="http://schemas.microsoft.com/office/drawing/2014/main" id="{D66CF4E2-4FFE-5B01-B5C1-EE09D29AB826}"/>
              </a:ext>
            </a:extLst>
          </p:cNvPr>
          <p:cNvSpPr/>
          <p:nvPr/>
        </p:nvSpPr>
        <p:spPr>
          <a:xfrm>
            <a:off x="6768603" y="2431326"/>
            <a:ext cx="3703320" cy="32186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3" name="Text 17">
            <a:extLst>
              <a:ext uri="{FF2B5EF4-FFF2-40B4-BE49-F238E27FC236}">
                <a16:creationId xmlns:a16="http://schemas.microsoft.com/office/drawing/2014/main" id="{31D5AB1B-74B0-5C6A-F308-5F21DF534C4F}"/>
              </a:ext>
            </a:extLst>
          </p:cNvPr>
          <p:cNvSpPr/>
          <p:nvPr/>
        </p:nvSpPr>
        <p:spPr>
          <a:xfrm>
            <a:off x="6905763" y="2504478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 err="1">
                <a:solidFill>
                  <a:srgbClr val="1B2A3B"/>
                </a:solidFill>
              </a:rPr>
              <a:t>HAL_DMA_Init</a:t>
            </a:r>
            <a:r>
              <a:rPr lang="fr-FR" sz="950" noProof="0" dirty="0">
                <a:solidFill>
                  <a:srgbClr val="1B2A3B"/>
                </a:solidFill>
              </a:rPr>
              <a:t> crashes </a:t>
            </a:r>
            <a:r>
              <a:rPr lang="fr-FR" sz="950" noProof="0" dirty="0" err="1">
                <a:solidFill>
                  <a:srgbClr val="1B2A3B"/>
                </a:solidFill>
              </a:rPr>
              <a:t>when</a:t>
            </a:r>
            <a:r>
              <a:rPr lang="fr-FR" sz="950" noProof="0" dirty="0">
                <a:solidFill>
                  <a:srgbClr val="1B2A3B"/>
                </a:solidFill>
              </a:rPr>
              <a:t> </a:t>
            </a:r>
            <a:r>
              <a:rPr lang="fr-FR" sz="950" noProof="0" dirty="0" err="1">
                <a:solidFill>
                  <a:srgbClr val="1B2A3B"/>
                </a:solidFill>
              </a:rPr>
              <a:t>circular</a:t>
            </a:r>
            <a:r>
              <a:rPr lang="fr-FR" sz="950" noProof="0" dirty="0">
                <a:solidFill>
                  <a:srgbClr val="1B2A3B"/>
                </a:solidFill>
              </a:rPr>
              <a:t> mode </a:t>
            </a:r>
            <a:r>
              <a:rPr lang="fr-FR" sz="950" noProof="0" dirty="0" err="1">
                <a:solidFill>
                  <a:srgbClr val="1B2A3B"/>
                </a:solidFill>
              </a:rPr>
              <a:t>is</a:t>
            </a:r>
            <a:r>
              <a:rPr lang="fr-FR" sz="950" noProof="0" dirty="0">
                <a:solidFill>
                  <a:srgbClr val="1B2A3B"/>
                </a:solidFill>
              </a:rPr>
              <a:t> active. Image: [IMAGE: configuration </a:t>
            </a:r>
            <a:r>
              <a:rPr lang="fr-FR" sz="950" noProof="0" dirty="0" err="1">
                <a:solidFill>
                  <a:srgbClr val="1B2A3B"/>
                </a:solidFill>
              </a:rPr>
              <a:t>diagram</a:t>
            </a:r>
            <a:r>
              <a:rPr lang="fr-FR" sz="950" noProof="0" dirty="0">
                <a:solidFill>
                  <a:srgbClr val="1B2A3B"/>
                </a:solidFill>
              </a:rPr>
              <a:t> </a:t>
            </a:r>
            <a:r>
              <a:rPr lang="fr-FR" sz="950" noProof="0" dirty="0" err="1">
                <a:solidFill>
                  <a:srgbClr val="1B2A3B"/>
                </a:solidFill>
              </a:rPr>
              <a:t>showing</a:t>
            </a:r>
            <a:r>
              <a:rPr lang="fr-FR" sz="950" noProof="0" dirty="0">
                <a:solidFill>
                  <a:srgbClr val="1B2A3B"/>
                </a:solidFill>
              </a:rPr>
              <a:t> DMA channels]. </a:t>
            </a:r>
            <a:r>
              <a:rPr lang="fr-FR" sz="950" noProof="0" dirty="0" err="1">
                <a:solidFill>
                  <a:srgbClr val="1B2A3B"/>
                </a:solidFill>
              </a:rPr>
              <a:t>See</a:t>
            </a:r>
            <a:r>
              <a:rPr lang="fr-FR" sz="950" noProof="0" dirty="0">
                <a:solidFill>
                  <a:srgbClr val="1B2A3B"/>
                </a:solidFill>
              </a:rPr>
              <a:t> PR#142 and commit 3f2a1b for fix.</a:t>
            </a:r>
            <a:endParaRPr lang="fr-FR" sz="950" noProof="0" dirty="0"/>
          </a:p>
        </p:txBody>
      </p:sp>
      <p:sp>
        <p:nvSpPr>
          <p:cNvPr id="74" name="Shape 18">
            <a:extLst>
              <a:ext uri="{FF2B5EF4-FFF2-40B4-BE49-F238E27FC236}">
                <a16:creationId xmlns:a16="http://schemas.microsoft.com/office/drawing/2014/main" id="{BAF4297E-CDCD-F4FA-47B8-1F36B190838D}"/>
              </a:ext>
            </a:extLst>
          </p:cNvPr>
          <p:cNvSpPr/>
          <p:nvPr/>
        </p:nvSpPr>
        <p:spPr>
          <a:xfrm>
            <a:off x="6768603" y="4077246"/>
            <a:ext cx="370332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5" name="Text 19">
            <a:extLst>
              <a:ext uri="{FF2B5EF4-FFF2-40B4-BE49-F238E27FC236}">
                <a16:creationId xmlns:a16="http://schemas.microsoft.com/office/drawing/2014/main" id="{0AC05493-42CE-6F91-D2AF-A21373A9626D}"/>
              </a:ext>
            </a:extLst>
          </p:cNvPr>
          <p:cNvSpPr/>
          <p:nvPr/>
        </p:nvSpPr>
        <p:spPr>
          <a:xfrm>
            <a:off x="6905763" y="413211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D9488"/>
                </a:solidFill>
              </a:rPr>
              <a:t>Améliorations :</a:t>
            </a:r>
            <a:endParaRPr lang="fr-FR" sz="1000" noProof="0" dirty="0">
              <a:solidFill>
                <a:srgbClr val="0D9488"/>
              </a:solidFill>
            </a:endParaRPr>
          </a:p>
        </p:txBody>
      </p:sp>
      <p:pic>
        <p:nvPicPr>
          <p:cNvPr id="76" name="Image 4" descr="preencoded.png">
            <a:extLst>
              <a:ext uri="{FF2B5EF4-FFF2-40B4-BE49-F238E27FC236}">
                <a16:creationId xmlns:a16="http://schemas.microsoft.com/office/drawing/2014/main" id="{26724DFE-ACA2-3D30-E6E2-53D7BCDA8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763" y="4424718"/>
            <a:ext cx="219456" cy="219456"/>
          </a:xfrm>
          <a:prstGeom prst="rect">
            <a:avLst/>
          </a:prstGeom>
        </p:spPr>
      </p:pic>
      <p:sp>
        <p:nvSpPr>
          <p:cNvPr id="77" name="Text 20">
            <a:extLst>
              <a:ext uri="{FF2B5EF4-FFF2-40B4-BE49-F238E27FC236}">
                <a16:creationId xmlns:a16="http://schemas.microsoft.com/office/drawing/2014/main" id="{EA1990E2-9FE0-0B18-50CF-F70EC4430448}"/>
              </a:ext>
            </a:extLst>
          </p:cNvPr>
          <p:cNvSpPr/>
          <p:nvPr/>
        </p:nvSpPr>
        <p:spPr>
          <a:xfrm>
            <a:off x="7198371" y="4443006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HTML supprimé, texte pur</a:t>
            </a:r>
            <a:endParaRPr lang="fr-FR" sz="1050" noProof="0" dirty="0"/>
          </a:p>
        </p:txBody>
      </p:sp>
      <p:pic>
        <p:nvPicPr>
          <p:cNvPr id="78" name="Image 5" descr="preencoded.png">
            <a:extLst>
              <a:ext uri="{FF2B5EF4-FFF2-40B4-BE49-F238E27FC236}">
                <a16:creationId xmlns:a16="http://schemas.microsoft.com/office/drawing/2014/main" id="{7C439CA3-1EBF-3DD2-41B2-4DA144B09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763" y="4772190"/>
            <a:ext cx="219456" cy="219456"/>
          </a:xfrm>
          <a:prstGeom prst="rect">
            <a:avLst/>
          </a:prstGeom>
        </p:spPr>
      </p:pic>
      <p:sp>
        <p:nvSpPr>
          <p:cNvPr id="79" name="Text 21">
            <a:extLst>
              <a:ext uri="{FF2B5EF4-FFF2-40B4-BE49-F238E27FC236}">
                <a16:creationId xmlns:a16="http://schemas.microsoft.com/office/drawing/2014/main" id="{871F7A66-5589-1E1B-C52B-A8A2E6062ED5}"/>
              </a:ext>
            </a:extLst>
          </p:cNvPr>
          <p:cNvSpPr/>
          <p:nvPr/>
        </p:nvSpPr>
        <p:spPr>
          <a:xfrm>
            <a:off x="7198371" y="4790478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Image remplacée par une balise [IMAGE] + description</a:t>
            </a:r>
            <a:endParaRPr lang="fr-FR" sz="1050" noProof="0" dirty="0"/>
          </a:p>
        </p:txBody>
      </p:sp>
      <p:pic>
        <p:nvPicPr>
          <p:cNvPr id="80" name="Image 6" descr="preencoded.png">
            <a:extLst>
              <a:ext uri="{FF2B5EF4-FFF2-40B4-BE49-F238E27FC236}">
                <a16:creationId xmlns:a16="http://schemas.microsoft.com/office/drawing/2014/main" id="{1EBC6D3D-B1E3-AAF3-458D-A6258062B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763" y="5119662"/>
            <a:ext cx="219456" cy="219456"/>
          </a:xfrm>
          <a:prstGeom prst="rect">
            <a:avLst/>
          </a:prstGeom>
        </p:spPr>
      </p:pic>
      <p:sp>
        <p:nvSpPr>
          <p:cNvPr id="82" name="Text 22">
            <a:extLst>
              <a:ext uri="{FF2B5EF4-FFF2-40B4-BE49-F238E27FC236}">
                <a16:creationId xmlns:a16="http://schemas.microsoft.com/office/drawing/2014/main" id="{B9DA06CD-FB39-0204-2820-EB0AED95C2C9}"/>
              </a:ext>
            </a:extLst>
          </p:cNvPr>
          <p:cNvSpPr/>
          <p:nvPr/>
        </p:nvSpPr>
        <p:spPr>
          <a:xfrm>
            <a:off x="7198371" y="5137950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Texte concaténé body + commentaires utiles</a:t>
            </a:r>
            <a:endParaRPr lang="fr-FR" sz="1050" noProof="0" dirty="0"/>
          </a:p>
        </p:txBody>
      </p:sp>
      <p:pic>
        <p:nvPicPr>
          <p:cNvPr id="83" name="Graphic 82" descr="Arrow Right with solid fill">
            <a:extLst>
              <a:ext uri="{FF2B5EF4-FFF2-40B4-BE49-F238E27FC236}">
                <a16:creationId xmlns:a16="http://schemas.microsoft.com/office/drawing/2014/main" id="{0CC837DD-068F-414D-A890-5E7F08ED87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83823" y="3861478"/>
            <a:ext cx="431535" cy="431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26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F44C-70F5-24C2-6A6D-376E5BF2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AE932-744D-9B78-2888-A0C8508D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Le pipeline de </a:t>
            </a:r>
            <a:r>
              <a:rPr lang="fr-FR" sz="1800" b="1" noProof="0" dirty="0" err="1"/>
              <a:t>preprocessing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AB2DB14-9C85-A8F9-8A61-F34254B26DD7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7 étapes pour transformer la donnée brute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ADE89724-5BA8-720C-CE72-5C919BCF41AF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Chaque étape a un rôle précis , rien n'est fait au hasard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96E2ADA-249F-3220-3194-1E69A65678F9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854D701E-99E0-74E2-8284-9CC86E07C435}"/>
              </a:ext>
            </a:extLst>
          </p:cNvPr>
          <p:cNvSpPr/>
          <p:nvPr/>
        </p:nvSpPr>
        <p:spPr>
          <a:xfrm>
            <a:off x="540610" y="1884973"/>
            <a:ext cx="1412748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8C276C68-4633-FA87-49DB-E36978E2638E}"/>
              </a:ext>
            </a:extLst>
          </p:cNvPr>
          <p:cNvSpPr/>
          <p:nvPr/>
        </p:nvSpPr>
        <p:spPr>
          <a:xfrm>
            <a:off x="540609" y="1884973"/>
            <a:ext cx="141274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A4572F9-108B-AFBA-723C-A360C56B91A2}"/>
              </a:ext>
            </a:extLst>
          </p:cNvPr>
          <p:cNvSpPr/>
          <p:nvPr/>
        </p:nvSpPr>
        <p:spPr>
          <a:xfrm>
            <a:off x="540610" y="188497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1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A6C63D7C-1D46-5DA1-38D4-5C301C2DA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22" y="1953316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ABD08F93-64B8-33D7-3663-534FB2B666AB}"/>
              </a:ext>
            </a:extLst>
          </p:cNvPr>
          <p:cNvSpPr/>
          <p:nvPr/>
        </p:nvSpPr>
        <p:spPr>
          <a:xfrm>
            <a:off x="746350" y="24015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Ingestion</a:t>
            </a:r>
            <a:endParaRPr lang="fr-FR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D9096D3C-CC29-21B3-8320-F7381595C302}"/>
              </a:ext>
            </a:extLst>
          </p:cNvPr>
          <p:cNvSpPr/>
          <p:nvPr/>
        </p:nvSpPr>
        <p:spPr>
          <a:xfrm>
            <a:off x="739758" y="273497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Télécharger les données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brutes depuis GitHub</a:t>
            </a:r>
            <a:endParaRPr lang="fr-FR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AA9E8408-209B-AD2E-2426-25A38EC30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512" y="2925247"/>
            <a:ext cx="237744" cy="237744"/>
          </a:xfrm>
          <a:prstGeom prst="rect">
            <a:avLst/>
          </a:prstGeom>
        </p:spPr>
      </p:pic>
      <p:sp>
        <p:nvSpPr>
          <p:cNvPr id="11" name="Shape 10">
            <a:extLst>
              <a:ext uri="{FF2B5EF4-FFF2-40B4-BE49-F238E27FC236}">
                <a16:creationId xmlns:a16="http://schemas.microsoft.com/office/drawing/2014/main" id="{BC803253-0556-6D57-D95B-58EE18CAB82B}"/>
              </a:ext>
            </a:extLst>
          </p:cNvPr>
          <p:cNvSpPr/>
          <p:nvPr/>
        </p:nvSpPr>
        <p:spPr>
          <a:xfrm>
            <a:off x="2159096" y="1891975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FCAD6107-1B5A-1E9D-8D25-D64C1EE3B0AB}"/>
              </a:ext>
            </a:extLst>
          </p:cNvPr>
          <p:cNvSpPr/>
          <p:nvPr/>
        </p:nvSpPr>
        <p:spPr>
          <a:xfrm>
            <a:off x="2159096" y="1891975"/>
            <a:ext cx="1412748" cy="438912"/>
          </a:xfrm>
          <a:prstGeom prst="rect">
            <a:avLst/>
          </a:prstGeom>
          <a:noFill/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1CEB0C0-3D4F-3594-49C4-88BBD272F7AE}"/>
              </a:ext>
            </a:extLst>
          </p:cNvPr>
          <p:cNvSpPr/>
          <p:nvPr/>
        </p:nvSpPr>
        <p:spPr>
          <a:xfrm>
            <a:off x="2159096" y="189197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2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E7042C5-6073-E657-5FDB-49FEE7D88A92}"/>
              </a:ext>
            </a:extLst>
          </p:cNvPr>
          <p:cNvSpPr/>
          <p:nvPr/>
        </p:nvSpPr>
        <p:spPr>
          <a:xfrm>
            <a:off x="2365173" y="237403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Cleaning</a:t>
            </a:r>
            <a:endParaRPr lang="fr-FR" sz="105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56E4D6A-45E9-1A34-DB9E-94723B4CFED2}"/>
              </a:ext>
            </a:extLst>
          </p:cNvPr>
          <p:cNvSpPr/>
          <p:nvPr/>
        </p:nvSpPr>
        <p:spPr>
          <a:xfrm>
            <a:off x="2323688" y="2753574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Nettoyer :</a:t>
            </a:r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enlever le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HTML, normaliser</a:t>
            </a:r>
            <a:endParaRPr lang="fr-FR" sz="1000" noProof="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743DD4E5-97E8-DA5F-8BAC-216B07EED1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210" y="2913673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759ED26F-6D31-4944-712C-B483BE172003}"/>
              </a:ext>
            </a:extLst>
          </p:cNvPr>
          <p:cNvSpPr/>
          <p:nvPr/>
        </p:nvSpPr>
        <p:spPr>
          <a:xfrm>
            <a:off x="3786794" y="1880400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9D1DD5B-6143-553E-C987-5F09057F6A95}"/>
              </a:ext>
            </a:extLst>
          </p:cNvPr>
          <p:cNvSpPr/>
          <p:nvPr/>
        </p:nvSpPr>
        <p:spPr>
          <a:xfrm>
            <a:off x="3786794" y="1880401"/>
            <a:ext cx="140672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8F821A3-1A08-04D3-A5DE-CDC3760400B8}"/>
              </a:ext>
            </a:extLst>
          </p:cNvPr>
          <p:cNvSpPr/>
          <p:nvPr/>
        </p:nvSpPr>
        <p:spPr>
          <a:xfrm>
            <a:off x="3786794" y="18804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3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CB41D47B-65A4-C1C8-2397-BFEBEBAA46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716" y="1957635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CA918641-3B46-511A-EBBD-D5D5596D4D9C}"/>
              </a:ext>
            </a:extLst>
          </p:cNvPr>
          <p:cNvSpPr/>
          <p:nvPr/>
        </p:nvSpPr>
        <p:spPr>
          <a:xfrm>
            <a:off x="4040706" y="24981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 err="1">
                <a:solidFill>
                  <a:srgbClr val="1B2A3B"/>
                </a:solidFill>
              </a:rPr>
              <a:t>Enrichment</a:t>
            </a:r>
            <a:endParaRPr lang="fr-FR" sz="1050" b="1" noProof="0" dirty="0">
              <a:solidFill>
                <a:srgbClr val="1B2A3B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(</a:t>
            </a:r>
            <a:r>
              <a:rPr lang="fr-FR" sz="900" b="1" noProof="0" dirty="0" err="1">
                <a:solidFill>
                  <a:srgbClr val="0D9488"/>
                </a:solidFill>
              </a:rPr>
              <a:t>Feature</a:t>
            </a:r>
            <a:endParaRPr lang="fr-FR" sz="900" b="1" noProof="0" dirty="0">
              <a:solidFill>
                <a:srgbClr val="0D9488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Engineering)</a:t>
            </a:r>
            <a:endParaRPr lang="fr-FR" sz="1050" b="1" noProof="0" dirty="0">
              <a:solidFill>
                <a:srgbClr val="0D9488"/>
              </a:solidFill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E36E88BB-FFF7-21E8-82AD-B691E9F0A646}"/>
              </a:ext>
            </a:extLst>
          </p:cNvPr>
          <p:cNvSpPr/>
          <p:nvPr/>
        </p:nvSpPr>
        <p:spPr>
          <a:xfrm>
            <a:off x="3917025" y="2908611"/>
            <a:ext cx="12246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Transformer les données brutes en informations pertinentes</a:t>
            </a:r>
            <a:endParaRPr lang="fr-FR" sz="1000" noProof="0" dirty="0"/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15D6DEB0-0023-0395-29AA-DD55412F6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648" y="2913672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4E623718-FCAC-1387-6D08-15B7D7BAF780}"/>
              </a:ext>
            </a:extLst>
          </p:cNvPr>
          <p:cNvSpPr/>
          <p:nvPr/>
        </p:nvSpPr>
        <p:spPr>
          <a:xfrm>
            <a:off x="5338232" y="188039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67003EA3-EA55-E5AF-C4C0-FCAD7CF55110}"/>
              </a:ext>
            </a:extLst>
          </p:cNvPr>
          <p:cNvSpPr/>
          <p:nvPr/>
        </p:nvSpPr>
        <p:spPr>
          <a:xfrm>
            <a:off x="5338232" y="1880400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EFC5E5DF-2780-2B45-16EF-D4DD8DFEAE35}"/>
              </a:ext>
            </a:extLst>
          </p:cNvPr>
          <p:cNvSpPr/>
          <p:nvPr/>
        </p:nvSpPr>
        <p:spPr>
          <a:xfrm>
            <a:off x="5338232" y="188040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4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8E868F04-00DB-5C57-D4ED-247E316DF04B}"/>
              </a:ext>
            </a:extLst>
          </p:cNvPr>
          <p:cNvSpPr/>
          <p:nvPr/>
        </p:nvSpPr>
        <p:spPr>
          <a:xfrm>
            <a:off x="5524550" y="24039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462EDB22-BA6F-6436-EE98-B07E105B5A3F}"/>
              </a:ext>
            </a:extLst>
          </p:cNvPr>
          <p:cNvSpPr/>
          <p:nvPr/>
        </p:nvSpPr>
        <p:spPr>
          <a:xfrm>
            <a:off x="5540658" y="26783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Relier les issues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qui parlent du même bug</a:t>
            </a:r>
            <a:endParaRPr lang="fr-FR" sz="1000" noProof="0" dirty="0"/>
          </a:p>
        </p:txBody>
      </p:sp>
      <p:pic>
        <p:nvPicPr>
          <p:cNvPr id="31" name="Image 7" descr="preencoded.png">
            <a:extLst>
              <a:ext uri="{FF2B5EF4-FFF2-40B4-BE49-F238E27FC236}">
                <a16:creationId xmlns:a16="http://schemas.microsoft.com/office/drawing/2014/main" id="{A132CB6E-124D-7D7F-89EA-97A586C00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51" y="2908611"/>
            <a:ext cx="237744" cy="237744"/>
          </a:xfrm>
          <a:prstGeom prst="rect">
            <a:avLst/>
          </a:prstGeom>
        </p:spPr>
      </p:pic>
      <p:sp>
        <p:nvSpPr>
          <p:cNvPr id="32" name="Shape 25">
            <a:extLst>
              <a:ext uri="{FF2B5EF4-FFF2-40B4-BE49-F238E27FC236}">
                <a16:creationId xmlns:a16="http://schemas.microsoft.com/office/drawing/2014/main" id="{6D6DB03D-6ABF-2CE2-FE5D-5587A36A1C91}"/>
              </a:ext>
            </a:extLst>
          </p:cNvPr>
          <p:cNvSpPr/>
          <p:nvPr/>
        </p:nvSpPr>
        <p:spPr>
          <a:xfrm>
            <a:off x="6893635" y="1875339"/>
            <a:ext cx="1397438" cy="1981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DC8273D7-27BA-127F-B68D-79DD7132BFC3}"/>
              </a:ext>
            </a:extLst>
          </p:cNvPr>
          <p:cNvSpPr/>
          <p:nvPr/>
        </p:nvSpPr>
        <p:spPr>
          <a:xfrm>
            <a:off x="6893635" y="1875339"/>
            <a:ext cx="139743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5066CADF-734A-A3DD-9D5A-3A6A315F245C}"/>
              </a:ext>
            </a:extLst>
          </p:cNvPr>
          <p:cNvSpPr/>
          <p:nvPr/>
        </p:nvSpPr>
        <p:spPr>
          <a:xfrm>
            <a:off x="6893635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5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F8554500-9DC9-B5D5-4849-54E083F84F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581" y="1971840"/>
            <a:ext cx="256032" cy="256032"/>
          </a:xfrm>
          <a:prstGeom prst="rect">
            <a:avLst/>
          </a:prstGeom>
        </p:spPr>
      </p:pic>
      <p:sp>
        <p:nvSpPr>
          <p:cNvPr id="36" name="Text 28">
            <a:extLst>
              <a:ext uri="{FF2B5EF4-FFF2-40B4-BE49-F238E27FC236}">
                <a16:creationId xmlns:a16="http://schemas.microsoft.com/office/drawing/2014/main" id="{5A9F138C-4392-5F8E-535A-16B38A01D382}"/>
              </a:ext>
            </a:extLst>
          </p:cNvPr>
          <p:cNvSpPr/>
          <p:nvPr/>
        </p:nvSpPr>
        <p:spPr>
          <a:xfrm>
            <a:off x="7087690" y="2406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Chunking</a:t>
            </a:r>
            <a:endParaRPr lang="fr-FR" sz="1050" noProof="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F7A22BB8-319E-0379-61FB-7AE6791FD05E}"/>
              </a:ext>
            </a:extLst>
          </p:cNvPr>
          <p:cNvSpPr/>
          <p:nvPr/>
        </p:nvSpPr>
        <p:spPr>
          <a:xfrm>
            <a:off x="7076515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Découper en morceaux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pour la KB</a:t>
            </a:r>
            <a:endParaRPr lang="fr-FR" sz="1000" noProof="0" dirty="0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07D88FB1-A7D1-FDA2-48B1-133F378B42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513" y="2908611"/>
            <a:ext cx="237744" cy="237744"/>
          </a:xfrm>
          <a:prstGeom prst="rect">
            <a:avLst/>
          </a:prstGeom>
        </p:spPr>
      </p:pic>
      <p:sp>
        <p:nvSpPr>
          <p:cNvPr id="39" name="Shape 30">
            <a:extLst>
              <a:ext uri="{FF2B5EF4-FFF2-40B4-BE49-F238E27FC236}">
                <a16:creationId xmlns:a16="http://schemas.microsoft.com/office/drawing/2014/main" id="{646FD1D8-B5BF-6F4A-5B06-9D6521200802}"/>
              </a:ext>
            </a:extLst>
          </p:cNvPr>
          <p:cNvSpPr/>
          <p:nvPr/>
        </p:nvSpPr>
        <p:spPr>
          <a:xfrm>
            <a:off x="8483097" y="1875338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049B2C76-4CBE-03A6-B8E8-F19342A451C8}"/>
              </a:ext>
            </a:extLst>
          </p:cNvPr>
          <p:cNvSpPr/>
          <p:nvPr/>
        </p:nvSpPr>
        <p:spPr>
          <a:xfrm>
            <a:off x="8483097" y="1875339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2">
            <a:extLst>
              <a:ext uri="{FF2B5EF4-FFF2-40B4-BE49-F238E27FC236}">
                <a16:creationId xmlns:a16="http://schemas.microsoft.com/office/drawing/2014/main" id="{B04E3E61-17F5-FE09-416C-D1CB2ED85EBF}"/>
              </a:ext>
            </a:extLst>
          </p:cNvPr>
          <p:cNvSpPr/>
          <p:nvPr/>
        </p:nvSpPr>
        <p:spPr>
          <a:xfrm>
            <a:off x="8483097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6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D2890009-29E9-3858-B749-74E0FC4DF9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55" y="1968326"/>
            <a:ext cx="263059" cy="263059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7D0581F0-44E0-9D54-A9DC-11C4A98DF0CD}"/>
              </a:ext>
            </a:extLst>
          </p:cNvPr>
          <p:cNvSpPr/>
          <p:nvPr/>
        </p:nvSpPr>
        <p:spPr>
          <a:xfrm>
            <a:off x="8693671" y="24296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fr-FR" sz="900" b="1" noProof="0" dirty="0">
                <a:solidFill>
                  <a:srgbClr val="1B2A3B"/>
                </a:solidFill>
              </a:rPr>
              <a:t>(</a:t>
            </a:r>
            <a:r>
              <a:rPr lang="fr-FR" sz="900" b="1" noProof="0" dirty="0">
                <a:solidFill>
                  <a:srgbClr val="0D9488"/>
                </a:solidFill>
              </a:rPr>
              <a:t>Benchmark</a:t>
            </a:r>
            <a:r>
              <a:rPr lang="fr-FR" sz="900" b="1" noProof="0" dirty="0"/>
              <a:t>)</a:t>
            </a:r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0F6D2EE7-B42E-B823-25C2-97C032B956F9}"/>
              </a:ext>
            </a:extLst>
          </p:cNvPr>
          <p:cNvSpPr/>
          <p:nvPr/>
        </p:nvSpPr>
        <p:spPr>
          <a:xfrm>
            <a:off x="8693671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Tester avec 50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questions de référence</a:t>
            </a:r>
            <a:endParaRPr lang="fr-FR" sz="1000" noProof="0" dirty="0"/>
          </a:p>
        </p:txBody>
      </p:sp>
      <p:pic>
        <p:nvPicPr>
          <p:cNvPr id="45" name="Image 11" descr="preencoded.png">
            <a:extLst>
              <a:ext uri="{FF2B5EF4-FFF2-40B4-BE49-F238E27FC236}">
                <a16:creationId xmlns:a16="http://schemas.microsoft.com/office/drawing/2014/main" id="{806FE150-6E00-C6EA-C281-39ED72531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097" y="2908611"/>
            <a:ext cx="237744" cy="237744"/>
          </a:xfrm>
          <a:prstGeom prst="rect">
            <a:avLst/>
          </a:prstGeom>
        </p:spPr>
      </p:pic>
      <p:sp>
        <p:nvSpPr>
          <p:cNvPr id="46" name="Shape 35">
            <a:extLst>
              <a:ext uri="{FF2B5EF4-FFF2-40B4-BE49-F238E27FC236}">
                <a16:creationId xmlns:a16="http://schemas.microsoft.com/office/drawing/2014/main" id="{2EF7FCA4-6985-DD46-00DC-17C4FE4C0693}"/>
              </a:ext>
            </a:extLst>
          </p:cNvPr>
          <p:cNvSpPr/>
          <p:nvPr/>
        </p:nvSpPr>
        <p:spPr>
          <a:xfrm>
            <a:off x="10030026" y="1870766"/>
            <a:ext cx="1367887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59D5862B-4B4F-76DF-1F86-540E4396B3C0}"/>
              </a:ext>
            </a:extLst>
          </p:cNvPr>
          <p:cNvSpPr/>
          <p:nvPr/>
        </p:nvSpPr>
        <p:spPr>
          <a:xfrm>
            <a:off x="10030027" y="1870767"/>
            <a:ext cx="138393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5074C0BD-23B4-6F87-E7EF-A205388D72E2}"/>
              </a:ext>
            </a:extLst>
          </p:cNvPr>
          <p:cNvSpPr/>
          <p:nvPr/>
        </p:nvSpPr>
        <p:spPr>
          <a:xfrm>
            <a:off x="10030027" y="187076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7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496ECF99-66E1-3BB0-F015-436460F597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2394" y="1955836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DF9D4797-0BAD-B0DD-036E-A6A48E2253D9}"/>
              </a:ext>
            </a:extLst>
          </p:cNvPr>
          <p:cNvSpPr/>
          <p:nvPr/>
        </p:nvSpPr>
        <p:spPr>
          <a:xfrm>
            <a:off x="10091617" y="2557387"/>
            <a:ext cx="124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Delivery</a:t>
            </a:r>
          </a:p>
          <a:p>
            <a:pPr marL="0" indent="0" algn="ctr">
              <a:buNone/>
            </a:pPr>
            <a:r>
              <a:rPr lang="fr-FR" sz="800" b="1" noProof="0" dirty="0">
                <a:solidFill>
                  <a:srgbClr val="1B2A3B"/>
                </a:solidFill>
              </a:rPr>
              <a:t>(</a:t>
            </a:r>
            <a:r>
              <a:rPr lang="fr-FR" sz="800" b="1" noProof="0" dirty="0" err="1">
                <a:solidFill>
                  <a:srgbClr val="0D9488"/>
                </a:solidFill>
              </a:rPr>
              <a:t>resolver</a:t>
            </a:r>
            <a:r>
              <a:rPr lang="fr-FR" sz="800" b="1" noProof="0" dirty="0">
                <a:solidFill>
                  <a:srgbClr val="0D9488"/>
                </a:solidFill>
              </a:rPr>
              <a:t> cases, diagnostic </a:t>
            </a:r>
            <a:r>
              <a:rPr lang="fr-FR" sz="800" b="1" noProof="0" dirty="0" err="1">
                <a:solidFill>
                  <a:srgbClr val="0D9488"/>
                </a:solidFill>
              </a:rPr>
              <a:t>cards</a:t>
            </a:r>
            <a:r>
              <a:rPr lang="fr-FR" sz="800" b="1" noProof="0" dirty="0">
                <a:solidFill>
                  <a:srgbClr val="0D9488"/>
                </a:solidFill>
              </a:rPr>
              <a:t>, exports ST-</a:t>
            </a:r>
            <a:r>
              <a:rPr lang="fr-FR" sz="800" b="1" noProof="0" dirty="0" err="1">
                <a:solidFill>
                  <a:srgbClr val="0D9488"/>
                </a:solidFill>
              </a:rPr>
              <a:t>ready</a:t>
            </a:r>
            <a:r>
              <a:rPr lang="fr-FR" sz="800" b="1" noProof="0" dirty="0">
                <a:solidFill>
                  <a:srgbClr val="1B2A3B"/>
                </a:solidFill>
              </a:rPr>
              <a:t>)</a:t>
            </a:r>
          </a:p>
          <a:p>
            <a:pPr marL="0" indent="0" algn="ctr">
              <a:buNone/>
            </a:pPr>
            <a:endParaRPr lang="fr-FR" sz="1050" noProof="0" dirty="0"/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975A7ED2-55E2-9356-59CF-93828C316084}"/>
              </a:ext>
            </a:extLst>
          </p:cNvPr>
          <p:cNvSpPr/>
          <p:nvPr/>
        </p:nvSpPr>
        <p:spPr>
          <a:xfrm>
            <a:off x="10219073" y="279723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Livrer les JSON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format ST-</a:t>
            </a:r>
            <a:r>
              <a:rPr lang="fr-FR" sz="1000" noProof="0" dirty="0" err="1">
                <a:solidFill>
                  <a:srgbClr val="64748B"/>
                </a:solidFill>
              </a:rPr>
              <a:t>ready</a:t>
            </a:r>
            <a:endParaRPr lang="fr-FR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FFA1646E-C450-9961-C8BB-43A39D80BEE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30413" y="1907831"/>
            <a:ext cx="402338" cy="402338"/>
          </a:xfrm>
          <a:prstGeom prst="rect">
            <a:avLst/>
          </a:prstGeom>
        </p:spPr>
      </p:pic>
      <p:pic>
        <p:nvPicPr>
          <p:cNvPr id="85" name="Graphic 84" descr="Eraser with solid fill">
            <a:extLst>
              <a:ext uri="{FF2B5EF4-FFF2-40B4-BE49-F238E27FC236}">
                <a16:creationId xmlns:a16="http://schemas.microsoft.com/office/drawing/2014/main" id="{44C545BA-A021-1063-C662-47EDAC3822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03230" y="1957635"/>
            <a:ext cx="329184" cy="329184"/>
          </a:xfrm>
          <a:prstGeom prst="rect">
            <a:avLst/>
          </a:prstGeom>
        </p:spPr>
      </p:pic>
      <p:sp>
        <p:nvSpPr>
          <p:cNvPr id="3" name="Shape 40">
            <a:extLst>
              <a:ext uri="{FF2B5EF4-FFF2-40B4-BE49-F238E27FC236}">
                <a16:creationId xmlns:a16="http://schemas.microsoft.com/office/drawing/2014/main" id="{35F5997F-6FD6-658B-5488-14A447F88D23}"/>
              </a:ext>
            </a:extLst>
          </p:cNvPr>
          <p:cNvSpPr/>
          <p:nvPr/>
        </p:nvSpPr>
        <p:spPr>
          <a:xfrm>
            <a:off x="5983807" y="4213776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23BC43BA-2719-28DD-A6C9-8A3585BFF637}"/>
              </a:ext>
            </a:extLst>
          </p:cNvPr>
          <p:cNvSpPr/>
          <p:nvPr/>
        </p:nvSpPr>
        <p:spPr>
          <a:xfrm>
            <a:off x="5983807" y="4213776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4DEC55BC-E438-C1C5-8A6C-889B45A8BAEF}"/>
              </a:ext>
            </a:extLst>
          </p:cNvPr>
          <p:cNvSpPr/>
          <p:nvPr/>
        </p:nvSpPr>
        <p:spPr>
          <a:xfrm>
            <a:off x="6184975" y="4305216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b="1" noProof="0" dirty="0">
                <a:solidFill>
                  <a:srgbClr val="0D9488"/>
                </a:solidFill>
              </a:rPr>
              <a:t>❓ Ce que fait l’</a:t>
            </a:r>
            <a:r>
              <a:rPr lang="fr-FR" sz="1050" b="1" noProof="0" dirty="0" err="1">
                <a:solidFill>
                  <a:srgbClr val="0D9488"/>
                </a:solidFill>
              </a:rPr>
              <a:t>Enrichment</a:t>
            </a:r>
            <a:endParaRPr lang="fr-FR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650D1A0C-CD6B-84DF-7F68-FBEC5A40E23D}"/>
              </a:ext>
            </a:extLst>
          </p:cNvPr>
          <p:cNvSpPr/>
          <p:nvPr/>
        </p:nvSpPr>
        <p:spPr>
          <a:xfrm>
            <a:off x="6184975" y="4597824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noProof="0" dirty="0">
                <a:solidFill>
                  <a:srgbClr val="1B2A3B"/>
                </a:solidFill>
              </a:rPr>
              <a:t>Ajoute des métadonnées techniques: </a:t>
            </a:r>
            <a:r>
              <a:rPr lang="fr-FR" sz="1000" noProof="0" dirty="0">
                <a:solidFill>
                  <a:srgbClr val="1B2A3B"/>
                </a:solidFill>
              </a:rPr>
              <a:t>layer, </a:t>
            </a:r>
            <a:r>
              <a:rPr lang="fr-FR" sz="1000" noProof="0" dirty="0" err="1">
                <a:solidFill>
                  <a:srgbClr val="1B2A3B"/>
                </a:solidFill>
              </a:rPr>
              <a:t>severity</a:t>
            </a:r>
            <a:r>
              <a:rPr lang="fr-FR" sz="1000" noProof="0" dirty="0">
                <a:solidFill>
                  <a:srgbClr val="1B2A3B"/>
                </a:solidFill>
              </a:rPr>
              <a:t>, </a:t>
            </a:r>
            <a:r>
              <a:rPr lang="fr-FR" sz="1000" noProof="0" dirty="0" err="1">
                <a:solidFill>
                  <a:srgbClr val="1B2A3B"/>
                </a:solidFill>
              </a:rPr>
              <a:t>issue_kind</a:t>
            </a:r>
            <a:r>
              <a:rPr lang="fr-FR" sz="1000" noProof="0" dirty="0">
                <a:solidFill>
                  <a:srgbClr val="1B2A3B"/>
                </a:solidFill>
              </a:rPr>
              <a:t>, </a:t>
            </a:r>
            <a:r>
              <a:rPr lang="fr-FR" sz="1000" noProof="0" dirty="0" err="1">
                <a:solidFill>
                  <a:srgbClr val="1B2A3B"/>
                </a:solidFill>
              </a:rPr>
              <a:t>board</a:t>
            </a:r>
            <a:r>
              <a:rPr lang="fr-FR" sz="1000" noProof="0" dirty="0">
                <a:solidFill>
                  <a:srgbClr val="1B2A3B"/>
                </a:solidFill>
              </a:rPr>
              <a:t>, component, </a:t>
            </a:r>
            <a:r>
              <a:rPr lang="fr-FR" sz="1000" noProof="0" dirty="0" err="1">
                <a:solidFill>
                  <a:srgbClr val="1B2A3B"/>
                </a:solidFill>
              </a:rPr>
              <a:t>file_type</a:t>
            </a:r>
            <a:r>
              <a:rPr lang="fr-FR" sz="1000" noProof="0" dirty="0">
                <a:solidFill>
                  <a:srgbClr val="1B2A3B"/>
                </a:solidFill>
              </a:rPr>
              <a:t>, </a:t>
            </a:r>
            <a:r>
              <a:rPr lang="fr-FR" sz="1000" noProof="0" dirty="0" err="1">
                <a:solidFill>
                  <a:srgbClr val="1B2A3B"/>
                </a:solidFill>
              </a:rPr>
              <a:t>is_valid</a:t>
            </a:r>
            <a:r>
              <a:rPr lang="fr-FR" sz="1000" noProof="0" dirty="0">
                <a:solidFill>
                  <a:srgbClr val="1B2A3B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>
                <a:solidFill>
                  <a:srgbClr val="1B2A3B"/>
                </a:solidFill>
              </a:rPr>
              <a:t>Convertit le contenu clean en </a:t>
            </a:r>
            <a:r>
              <a:rPr lang="fr-FR" sz="1000" b="1" noProof="0" dirty="0">
                <a:solidFill>
                  <a:srgbClr val="1B2A3B"/>
                </a:solidFill>
              </a:rPr>
              <a:t>documents structurés V2 </a:t>
            </a:r>
            <a:r>
              <a:rPr lang="fr-FR" sz="1000" noProof="0" dirty="0">
                <a:solidFill>
                  <a:srgbClr val="1B2A3B"/>
                </a:solidFill>
              </a:rPr>
              <a:t>(issues et files).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>
                <a:solidFill>
                  <a:srgbClr val="1B2A3B"/>
                </a:solidFill>
              </a:rPr>
              <a:t>Crée des </a:t>
            </a:r>
            <a:r>
              <a:rPr lang="fr-FR" sz="1000" noProof="0" dirty="0" err="1">
                <a:solidFill>
                  <a:srgbClr val="1B2A3B"/>
                </a:solidFill>
              </a:rPr>
              <a:t>features</a:t>
            </a:r>
            <a:r>
              <a:rPr lang="fr-FR" sz="1000" noProof="0" dirty="0">
                <a:solidFill>
                  <a:srgbClr val="1B2A3B"/>
                </a:solidFill>
              </a:rPr>
              <a:t> de </a:t>
            </a:r>
            <a:r>
              <a:rPr lang="fr-FR" sz="1000" b="1" noProof="0" dirty="0">
                <a:solidFill>
                  <a:srgbClr val="1B2A3B"/>
                </a:solidFill>
              </a:rPr>
              <a:t>filtrage</a:t>
            </a:r>
            <a:r>
              <a:rPr lang="fr-FR" sz="1000" noProof="0" dirty="0">
                <a:solidFill>
                  <a:srgbClr val="1B2A3B"/>
                </a:solidFill>
              </a:rPr>
              <a:t> et </a:t>
            </a:r>
            <a:r>
              <a:rPr lang="fr-FR" sz="1000" b="1" noProof="0" dirty="0" err="1">
                <a:solidFill>
                  <a:srgbClr val="1B2A3B"/>
                </a:solidFill>
              </a:rPr>
              <a:t>ranking</a:t>
            </a:r>
            <a:r>
              <a:rPr lang="fr-FR" sz="1000" noProof="0" dirty="0">
                <a:solidFill>
                  <a:srgbClr val="1B2A3B"/>
                </a:solidFill>
              </a:rPr>
              <a:t> pour la récupération d’information.</a:t>
            </a:r>
            <a:endParaRPr lang="fr-FR" sz="1000" noProof="0" dirty="0"/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0463B9D2-46A9-732E-AE55-237C9C495AA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V="1">
            <a:off x="4305991" y="4284541"/>
            <a:ext cx="1481109" cy="148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1793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7FC46-D9CC-D20F-804A-BEC297977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18221-309C-692E-E1A6-039545325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Pipeline : </a:t>
            </a:r>
            <a:r>
              <a:rPr lang="fr-FR" sz="1800" b="1" noProof="0" dirty="0" err="1"/>
              <a:t>Enrichment</a:t>
            </a:r>
            <a:r>
              <a:rPr lang="fr-FR" sz="1800" b="1" noProof="0" dirty="0"/>
              <a:t> (</a:t>
            </a:r>
            <a:r>
              <a:rPr lang="fr-FR" sz="1800" b="1" noProof="0" dirty="0" err="1"/>
              <a:t>Feature</a:t>
            </a:r>
            <a:r>
              <a:rPr lang="fr-FR" sz="1800" b="1" noProof="0" dirty="0"/>
              <a:t> Engineering)    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8104D5-9D86-EC5B-5C1A-B5A742015800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 err="1">
                <a:solidFill>
                  <a:srgbClr val="425A78"/>
                </a:solidFill>
              </a:rPr>
              <a:t>Enrichment</a:t>
            </a:r>
            <a:r>
              <a:rPr lang="fr-FR" sz="1200" b="1" noProof="0" dirty="0">
                <a:solidFill>
                  <a:srgbClr val="425A78"/>
                </a:solidFill>
              </a:rPr>
              <a:t> — Pourquoi enrichir les données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335B015-A15B-A1C0-19EE-C215083C130A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Texte brut = réponses génériques </a:t>
            </a:r>
            <a:r>
              <a:rPr lang="fr-FR" sz="1200" b="1" i="1" noProof="0" dirty="0">
                <a:solidFill>
                  <a:srgbClr val="64748B"/>
                </a:solidFill>
              </a:rPr>
              <a:t>=&gt;</a:t>
            </a:r>
            <a:r>
              <a:rPr lang="fr-FR" sz="1200" i="1" noProof="0" dirty="0">
                <a:solidFill>
                  <a:srgbClr val="64748B"/>
                </a:solidFill>
              </a:rPr>
              <a:t> Données enrichies = réponses ciblées, actionnables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8A7EA0A3-B518-4771-66D9-E998D828F42C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389DE23-3161-2037-BAB0-1227FAF7D63B}"/>
              </a:ext>
            </a:extLst>
          </p:cNvPr>
          <p:cNvSpPr/>
          <p:nvPr/>
        </p:nvSpPr>
        <p:spPr>
          <a:xfrm>
            <a:off x="1260558" y="2271306"/>
            <a:ext cx="4069080" cy="365760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4E86576-6BB4-391A-2E89-1777D1760971}"/>
              </a:ext>
            </a:extLst>
          </p:cNvPr>
          <p:cNvSpPr/>
          <p:nvPr/>
        </p:nvSpPr>
        <p:spPr>
          <a:xfrm>
            <a:off x="1260558" y="227130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C00000"/>
                </a:solidFill>
              </a:rPr>
              <a:t>Sans </a:t>
            </a:r>
            <a:r>
              <a:rPr lang="fr-FR" sz="1200" b="1" noProof="0" dirty="0" err="1">
                <a:solidFill>
                  <a:srgbClr val="C00000"/>
                </a:solidFill>
              </a:rPr>
              <a:t>enrichment</a:t>
            </a:r>
            <a:endParaRPr lang="fr-FR" sz="1200" noProof="0" dirty="0">
              <a:solidFill>
                <a:srgbClr val="C00000"/>
              </a:solidFill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9F08841-13C1-AF8D-22F1-D302DB8EF213}"/>
              </a:ext>
            </a:extLst>
          </p:cNvPr>
          <p:cNvSpPr/>
          <p:nvPr/>
        </p:nvSpPr>
        <p:spPr>
          <a:xfrm>
            <a:off x="1260558" y="2710218"/>
            <a:ext cx="4069080" cy="305050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sz="1200" noProof="0" dirty="0"/>
          </a:p>
          <a:p>
            <a:r>
              <a:rPr lang="fr-FR" sz="1100" noProof="0" dirty="0">
                <a:solidFill>
                  <a:srgbClr val="1B2A3B"/>
                </a:solidFill>
              </a:rPr>
              <a:t>Le moteur retrouve des documents où le mot UART apparaît, mais sans distinguer bug, configuration, composant, série MCU.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B75D9F-E455-3D58-1F27-951A07B533B6}"/>
              </a:ext>
            </a:extLst>
          </p:cNvPr>
          <p:cNvSpPr/>
          <p:nvPr/>
        </p:nvSpPr>
        <p:spPr>
          <a:xfrm>
            <a:off x="1397718" y="2710218"/>
            <a:ext cx="37947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fr-FR" sz="900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AB4A890-2F11-2E4A-C9B0-7BACBB31BE4E}"/>
              </a:ext>
            </a:extLst>
          </p:cNvPr>
          <p:cNvSpPr/>
          <p:nvPr/>
        </p:nvSpPr>
        <p:spPr>
          <a:xfrm>
            <a:off x="1260558" y="3773208"/>
            <a:ext cx="406908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8CDD74B-86E2-1974-4085-95B4614E511A}"/>
              </a:ext>
            </a:extLst>
          </p:cNvPr>
          <p:cNvSpPr/>
          <p:nvPr/>
        </p:nvSpPr>
        <p:spPr>
          <a:xfrm>
            <a:off x="1397718" y="39057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C00000"/>
                </a:solidFill>
              </a:rPr>
              <a:t>Réponse typique : </a:t>
            </a:r>
            <a:endParaRPr lang="fr-FR" sz="1000" noProof="0" dirty="0">
              <a:solidFill>
                <a:srgbClr val="C00000"/>
              </a:solidFill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418656A4-45F1-E93B-B322-B7156A58AA24}"/>
              </a:ext>
            </a:extLst>
          </p:cNvPr>
          <p:cNvSpPr/>
          <p:nvPr/>
        </p:nvSpPr>
        <p:spPr>
          <a:xfrm>
            <a:off x="1397718" y="4200690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Check </a:t>
            </a:r>
            <a:r>
              <a:rPr lang="fr-FR" sz="1050" noProof="0" dirty="0" err="1">
                <a:solidFill>
                  <a:srgbClr val="1B2A3B"/>
                </a:solidFill>
              </a:rPr>
              <a:t>your</a:t>
            </a:r>
            <a:r>
              <a:rPr lang="fr-FR" sz="1050" noProof="0" dirty="0">
                <a:solidFill>
                  <a:srgbClr val="1B2A3B"/>
                </a:solidFill>
              </a:rPr>
              <a:t> UART settings and HAL configuration.</a:t>
            </a:r>
            <a:endParaRPr lang="fr-FR" sz="1050" noProof="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0C035E1F-8309-1C1F-789E-E688E2B130DA}"/>
              </a:ext>
            </a:extLst>
          </p:cNvPr>
          <p:cNvSpPr/>
          <p:nvPr/>
        </p:nvSpPr>
        <p:spPr>
          <a:xfrm>
            <a:off x="1681182" y="5343690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fr-FR" sz="1050" noProof="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C3B409E3-7407-A474-4538-6FE261B7BCB2}"/>
              </a:ext>
            </a:extLst>
          </p:cNvPr>
          <p:cNvSpPr/>
          <p:nvPr/>
        </p:nvSpPr>
        <p:spPr>
          <a:xfrm>
            <a:off x="6867663" y="2271306"/>
            <a:ext cx="3703320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522CFD65-83CA-23A7-5A9C-0DEA439C6217}"/>
              </a:ext>
            </a:extLst>
          </p:cNvPr>
          <p:cNvSpPr/>
          <p:nvPr/>
        </p:nvSpPr>
        <p:spPr>
          <a:xfrm>
            <a:off x="6867663" y="227130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0D9589"/>
                </a:solidFill>
              </a:rPr>
              <a:t>Avec </a:t>
            </a:r>
            <a:r>
              <a:rPr lang="fr-FR" sz="1200" b="1" noProof="0" dirty="0" err="1">
                <a:solidFill>
                  <a:srgbClr val="0D9589"/>
                </a:solidFill>
              </a:rPr>
              <a:t>enrichment</a:t>
            </a:r>
            <a:endParaRPr lang="fr-FR" sz="1200" noProof="0" dirty="0">
              <a:solidFill>
                <a:srgbClr val="0D9589"/>
              </a:solidFill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4A228722-E5D4-2058-60C6-8C0F39138DC0}"/>
              </a:ext>
            </a:extLst>
          </p:cNvPr>
          <p:cNvSpPr/>
          <p:nvPr/>
        </p:nvSpPr>
        <p:spPr>
          <a:xfrm>
            <a:off x="6867663" y="2746794"/>
            <a:ext cx="3703320" cy="301392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8725EE2C-9C3D-A34F-93D8-B068343AA927}"/>
              </a:ext>
            </a:extLst>
          </p:cNvPr>
          <p:cNvSpPr/>
          <p:nvPr/>
        </p:nvSpPr>
        <p:spPr>
          <a:xfrm>
            <a:off x="7004823" y="2710218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fr-FR" sz="950" noProof="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9034A495-1F3D-6667-4E14-7584FFE1A45C}"/>
              </a:ext>
            </a:extLst>
          </p:cNvPr>
          <p:cNvSpPr/>
          <p:nvPr/>
        </p:nvSpPr>
        <p:spPr>
          <a:xfrm>
            <a:off x="6862364" y="3800424"/>
            <a:ext cx="370332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35E69CDE-AB46-97C2-8BFA-F17D6C7F0EA8}"/>
              </a:ext>
            </a:extLst>
          </p:cNvPr>
          <p:cNvSpPr/>
          <p:nvPr/>
        </p:nvSpPr>
        <p:spPr>
          <a:xfrm>
            <a:off x="7004823" y="391679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D9488"/>
                </a:solidFill>
              </a:rPr>
              <a:t>Réponse typique :</a:t>
            </a:r>
            <a:endParaRPr lang="fr-FR" sz="1000" noProof="0" dirty="0">
              <a:solidFill>
                <a:srgbClr val="0D9488"/>
              </a:solidFill>
            </a:endParaRP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C010B458-9B3E-2EEB-005A-B151D9D3AD2A}"/>
              </a:ext>
            </a:extLst>
          </p:cNvPr>
          <p:cNvSpPr/>
          <p:nvPr/>
        </p:nvSpPr>
        <p:spPr>
          <a:xfrm>
            <a:off x="7006340" y="4474648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The </a:t>
            </a:r>
            <a:r>
              <a:rPr lang="fr-FR" sz="1050" noProof="0" dirty="0" err="1">
                <a:solidFill>
                  <a:srgbClr val="1B2A3B"/>
                </a:solidFill>
              </a:rPr>
              <a:t>failure</a:t>
            </a:r>
            <a:r>
              <a:rPr lang="fr-FR" sz="1050" noProof="0" dirty="0">
                <a:solidFill>
                  <a:srgbClr val="1B2A3B"/>
                </a:solidFill>
              </a:rPr>
              <a:t> </a:t>
            </a:r>
            <a:r>
              <a:rPr lang="fr-FR" sz="1050" noProof="0" dirty="0" err="1">
                <a:solidFill>
                  <a:srgbClr val="1B2A3B"/>
                </a:solidFill>
              </a:rPr>
              <a:t>comes</a:t>
            </a:r>
            <a:r>
              <a:rPr lang="fr-FR" sz="1050" noProof="0" dirty="0">
                <a:solidFill>
                  <a:srgbClr val="1B2A3B"/>
                </a:solidFill>
              </a:rPr>
              <a:t> </a:t>
            </a:r>
            <a:r>
              <a:rPr lang="fr-FR" sz="1050" noProof="0" dirty="0" err="1">
                <a:solidFill>
                  <a:srgbClr val="1B2A3B"/>
                </a:solidFill>
              </a:rPr>
              <a:t>from</a:t>
            </a:r>
            <a:r>
              <a:rPr lang="fr-FR" sz="1050" noProof="0" dirty="0">
                <a:solidFill>
                  <a:srgbClr val="1B2A3B"/>
                </a:solidFill>
              </a:rPr>
              <a:t> USART </a:t>
            </a:r>
            <a:r>
              <a:rPr lang="fr-FR" sz="1050" noProof="0" dirty="0" err="1">
                <a:solidFill>
                  <a:srgbClr val="1B2A3B"/>
                </a:solidFill>
              </a:rPr>
              <a:t>dependency</a:t>
            </a:r>
            <a:r>
              <a:rPr lang="fr-FR" sz="1050" noProof="0" dirty="0">
                <a:solidFill>
                  <a:srgbClr val="1B2A3B"/>
                </a:solidFill>
              </a:rPr>
              <a:t> on UART module </a:t>
            </a:r>
            <a:r>
              <a:rPr lang="fr-FR" sz="1050" noProof="0" dirty="0" err="1">
                <a:solidFill>
                  <a:srgbClr val="1B2A3B"/>
                </a:solidFill>
              </a:rPr>
              <a:t>guards</a:t>
            </a:r>
            <a:r>
              <a:rPr lang="fr-FR" sz="1050" noProof="0" dirty="0">
                <a:solidFill>
                  <a:srgbClr val="1B2A3B"/>
                </a:solidFill>
              </a:rPr>
              <a:t> in HAL config.</a:t>
            </a:r>
          </a:p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Enable the </a:t>
            </a:r>
            <a:r>
              <a:rPr lang="fr-FR" sz="1050" noProof="0" dirty="0" err="1">
                <a:solidFill>
                  <a:srgbClr val="1B2A3B"/>
                </a:solidFill>
              </a:rPr>
              <a:t>required</a:t>
            </a:r>
            <a:r>
              <a:rPr lang="fr-FR" sz="1050" noProof="0" dirty="0">
                <a:solidFill>
                  <a:srgbClr val="1B2A3B"/>
                </a:solidFill>
              </a:rPr>
              <a:t> UART macro or patch the </a:t>
            </a:r>
            <a:r>
              <a:rPr lang="fr-FR" sz="1050" noProof="0" dirty="0" err="1">
                <a:solidFill>
                  <a:srgbClr val="1B2A3B"/>
                </a:solidFill>
              </a:rPr>
              <a:t>conditional</a:t>
            </a:r>
            <a:r>
              <a:rPr lang="fr-FR" sz="1050" noProof="0" dirty="0">
                <a:solidFill>
                  <a:srgbClr val="1B2A3B"/>
                </a:solidFill>
              </a:rPr>
              <a:t> compilation section in the USART driver for </a:t>
            </a:r>
            <a:r>
              <a:rPr lang="fr-FR" sz="1050" noProof="0" dirty="0" err="1">
                <a:solidFill>
                  <a:srgbClr val="1B2A3B"/>
                </a:solidFill>
              </a:rPr>
              <a:t>your</a:t>
            </a:r>
            <a:r>
              <a:rPr lang="fr-FR" sz="1050" noProof="0" dirty="0">
                <a:solidFill>
                  <a:srgbClr val="1B2A3B"/>
                </a:solidFill>
              </a:rPr>
              <a:t> STM32CubeH7 version.</a:t>
            </a:r>
            <a:endParaRPr lang="fr-FR" sz="1050" noProof="0" dirty="0"/>
          </a:p>
        </p:txBody>
      </p:sp>
      <p:pic>
        <p:nvPicPr>
          <p:cNvPr id="33" name="Graphic 32" descr="Arrow Right with solid fill">
            <a:extLst>
              <a:ext uri="{FF2B5EF4-FFF2-40B4-BE49-F238E27FC236}">
                <a16:creationId xmlns:a16="http://schemas.microsoft.com/office/drawing/2014/main" id="{B6E1EE74-B9EA-9BE1-1F24-CBE8A35CB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77584" y="3580300"/>
            <a:ext cx="431535" cy="43153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B5F3687-7459-7D04-1061-FF7FC12B24BA}"/>
              </a:ext>
            </a:extLst>
          </p:cNvPr>
          <p:cNvSpPr txBox="1"/>
          <p:nvPr/>
        </p:nvSpPr>
        <p:spPr>
          <a:xfrm>
            <a:off x="340364" y="1580934"/>
            <a:ext cx="102697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noProof="0" dirty="0">
                <a:solidFill>
                  <a:srgbClr val="0D9488"/>
                </a:solidFill>
              </a:rPr>
              <a:t>Question utilisateur:  </a:t>
            </a:r>
            <a:r>
              <a:rPr lang="fr-FR" sz="1200" noProof="0" dirty="0" err="1">
                <a:solidFill>
                  <a:srgbClr val="1B2A3B"/>
                </a:solidFill>
              </a:rPr>
              <a:t>Why</a:t>
            </a:r>
            <a:r>
              <a:rPr lang="fr-FR" sz="1200" noProof="0" dirty="0">
                <a:solidFill>
                  <a:srgbClr val="1B2A3B"/>
                </a:solidFill>
              </a:rPr>
              <a:t> </a:t>
            </a:r>
            <a:r>
              <a:rPr lang="fr-FR" sz="1200" noProof="0" dirty="0" err="1">
                <a:solidFill>
                  <a:srgbClr val="1B2A3B"/>
                </a:solidFill>
              </a:rPr>
              <a:t>does</a:t>
            </a:r>
            <a:r>
              <a:rPr lang="fr-FR" sz="1200" noProof="0" dirty="0">
                <a:solidFill>
                  <a:srgbClr val="1B2A3B"/>
                </a:solidFill>
              </a:rPr>
              <a:t> USART fail to compile </a:t>
            </a:r>
            <a:r>
              <a:rPr lang="fr-FR" sz="1200" noProof="0" dirty="0" err="1">
                <a:solidFill>
                  <a:srgbClr val="1B2A3B"/>
                </a:solidFill>
              </a:rPr>
              <a:t>when</a:t>
            </a:r>
            <a:r>
              <a:rPr lang="fr-FR" sz="1200" noProof="0" dirty="0">
                <a:solidFill>
                  <a:srgbClr val="1B2A3B"/>
                </a:solidFill>
              </a:rPr>
              <a:t> UART </a:t>
            </a:r>
            <a:r>
              <a:rPr lang="fr-FR" sz="1200" noProof="0" dirty="0" err="1">
                <a:solidFill>
                  <a:srgbClr val="1B2A3B"/>
                </a:solidFill>
              </a:rPr>
              <a:t>is</a:t>
            </a:r>
            <a:r>
              <a:rPr lang="fr-FR" sz="1200" noProof="0" dirty="0">
                <a:solidFill>
                  <a:srgbClr val="1B2A3B"/>
                </a:solidFill>
              </a:rPr>
              <a:t> not </a:t>
            </a:r>
            <a:r>
              <a:rPr lang="fr-FR" sz="1200" noProof="0" dirty="0" err="1">
                <a:solidFill>
                  <a:srgbClr val="1B2A3B"/>
                </a:solidFill>
              </a:rPr>
              <a:t>enabled</a:t>
            </a:r>
            <a:r>
              <a:rPr lang="fr-FR" sz="1200" noProof="0" dirty="0">
                <a:solidFill>
                  <a:srgbClr val="1B2A3B"/>
                </a:solidFill>
              </a:rPr>
              <a:t>?</a:t>
            </a:r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F66DDB59-46E5-F3F0-D494-AABADC618E03}"/>
              </a:ext>
            </a:extLst>
          </p:cNvPr>
          <p:cNvSpPr/>
          <p:nvPr/>
        </p:nvSpPr>
        <p:spPr>
          <a:xfrm>
            <a:off x="1397718" y="459202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C00000"/>
                </a:solidFill>
              </a:rPr>
              <a:t>Problème :</a:t>
            </a:r>
            <a:endParaRPr lang="fr-FR" sz="1000" noProof="0" dirty="0">
              <a:solidFill>
                <a:srgbClr val="C00000"/>
              </a:solidFill>
            </a:endParaRPr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4B81CE1D-165B-25AA-EBAA-CC603CACFA67}"/>
              </a:ext>
            </a:extLst>
          </p:cNvPr>
          <p:cNvSpPr/>
          <p:nvPr/>
        </p:nvSpPr>
        <p:spPr>
          <a:xfrm>
            <a:off x="1397718" y="4886914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Réponse vague, pas de cause précise, pas de priorisation.</a:t>
            </a:r>
            <a:endParaRPr lang="fr-FR" sz="1050" noProof="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188464-9188-B6DD-A207-BD180BB1AC04}"/>
              </a:ext>
            </a:extLst>
          </p:cNvPr>
          <p:cNvSpPr txBox="1"/>
          <p:nvPr/>
        </p:nvSpPr>
        <p:spPr>
          <a:xfrm>
            <a:off x="6862364" y="2918663"/>
            <a:ext cx="37033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noProof="0" dirty="0">
                <a:solidFill>
                  <a:srgbClr val="1B2A3B"/>
                </a:solidFill>
              </a:rPr>
              <a:t>Le document est enrichi avec:</a:t>
            </a:r>
          </a:p>
          <a:p>
            <a:r>
              <a:rPr lang="fr-FR" sz="1100" noProof="0" dirty="0">
                <a:solidFill>
                  <a:srgbClr val="1B2A3B"/>
                </a:solidFill>
              </a:rPr>
              <a:t>component=UART, </a:t>
            </a:r>
            <a:r>
              <a:rPr lang="fr-FR" sz="1100" noProof="0" dirty="0" err="1">
                <a:solidFill>
                  <a:srgbClr val="1B2A3B"/>
                </a:solidFill>
              </a:rPr>
              <a:t>issue_kind</a:t>
            </a:r>
            <a:r>
              <a:rPr lang="fr-FR" sz="1100" noProof="0" dirty="0">
                <a:solidFill>
                  <a:srgbClr val="1B2A3B"/>
                </a:solidFill>
              </a:rPr>
              <a:t>=</a:t>
            </a:r>
            <a:r>
              <a:rPr lang="fr-FR" sz="1100" noProof="0" dirty="0" err="1">
                <a:solidFill>
                  <a:srgbClr val="1B2A3B"/>
                </a:solidFill>
              </a:rPr>
              <a:t>bug_report</a:t>
            </a:r>
            <a:r>
              <a:rPr lang="fr-FR" sz="1100" noProof="0" dirty="0">
                <a:solidFill>
                  <a:srgbClr val="1B2A3B"/>
                </a:solidFill>
              </a:rPr>
              <a:t>, layer=HAL/Driver, </a:t>
            </a:r>
            <a:r>
              <a:rPr lang="fr-FR" sz="1100" noProof="0" dirty="0" err="1">
                <a:solidFill>
                  <a:srgbClr val="1B2A3B"/>
                </a:solidFill>
              </a:rPr>
              <a:t>severity</a:t>
            </a:r>
            <a:r>
              <a:rPr lang="fr-FR" sz="1100" noProof="0" dirty="0">
                <a:solidFill>
                  <a:srgbClr val="1B2A3B"/>
                </a:solidFill>
              </a:rPr>
              <a:t>=high, repo=STM32CubeH7, </a:t>
            </a:r>
            <a:r>
              <a:rPr lang="fr-FR" sz="1100" noProof="0" dirty="0" err="1">
                <a:solidFill>
                  <a:srgbClr val="1B2A3B"/>
                </a:solidFill>
              </a:rPr>
              <a:t>is_valid</a:t>
            </a:r>
            <a:r>
              <a:rPr lang="fr-FR" sz="1100" noProof="0" dirty="0">
                <a:solidFill>
                  <a:srgbClr val="1B2A3B"/>
                </a:solidFill>
              </a:rPr>
              <a:t>=</a:t>
            </a:r>
            <a:r>
              <a:rPr lang="fr-FR" sz="1100" noProof="0" dirty="0" err="1">
                <a:solidFill>
                  <a:srgbClr val="1B2A3B"/>
                </a:solidFill>
              </a:rPr>
              <a:t>true</a:t>
            </a:r>
            <a:endParaRPr lang="fr-FR" sz="1100" noProof="0" dirty="0">
              <a:solidFill>
                <a:srgbClr val="1B2A3B"/>
              </a:solidFill>
            </a:endParaRPr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BD3496B6-6EE4-55BB-FFE5-E9675880B1EC}"/>
              </a:ext>
            </a:extLst>
          </p:cNvPr>
          <p:cNvSpPr/>
          <p:nvPr/>
        </p:nvSpPr>
        <p:spPr>
          <a:xfrm>
            <a:off x="7004823" y="502103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D9488"/>
                </a:solidFill>
              </a:rPr>
              <a:t>Impact :</a:t>
            </a:r>
            <a:endParaRPr lang="fr-FR" sz="1000" noProof="0" dirty="0">
              <a:solidFill>
                <a:srgbClr val="0D9488"/>
              </a:solidFill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6E46A348-210D-9EA7-658E-8745DB842945}"/>
              </a:ext>
            </a:extLst>
          </p:cNvPr>
          <p:cNvSpPr/>
          <p:nvPr/>
        </p:nvSpPr>
        <p:spPr>
          <a:xfrm>
            <a:off x="7004823" y="5313642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Réponse technique, orientée cause racine + action.</a:t>
            </a:r>
            <a:endParaRPr lang="fr-FR" sz="1050" noProof="0" dirty="0"/>
          </a:p>
        </p:txBody>
      </p:sp>
    </p:spTree>
    <p:extLst>
      <p:ext uri="{BB962C8B-B14F-4D97-AF65-F5344CB8AC3E}">
        <p14:creationId xmlns:p14="http://schemas.microsoft.com/office/powerpoint/2010/main" val="39932498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CF1B2-D961-B460-336C-D50A64962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EDCDD-D1BA-9045-745C-05D0491A4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Le pipeline de </a:t>
            </a:r>
            <a:r>
              <a:rPr lang="fr-FR" sz="1800" b="1" noProof="0" dirty="0" err="1"/>
              <a:t>preprocessing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83B4C7-E971-98D0-E903-EDF1D2D05A6E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7 étapes pour transformer la donnée brute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2AD30420-F83E-22FF-29D2-196AD62920B1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Chaque étape a un rôle précis , rien n'est fait au hasard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7B69B6EC-366B-149C-5D70-9374FB58E1E1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ED8C8AB0-336C-1213-6B88-2C4CE460DA3B}"/>
              </a:ext>
            </a:extLst>
          </p:cNvPr>
          <p:cNvSpPr/>
          <p:nvPr/>
        </p:nvSpPr>
        <p:spPr>
          <a:xfrm>
            <a:off x="540610" y="1884973"/>
            <a:ext cx="1412748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2CC559F5-3439-F9B7-FD15-4ECA6F478F27}"/>
              </a:ext>
            </a:extLst>
          </p:cNvPr>
          <p:cNvSpPr/>
          <p:nvPr/>
        </p:nvSpPr>
        <p:spPr>
          <a:xfrm>
            <a:off x="540609" y="1884973"/>
            <a:ext cx="141274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0490AC2-A534-E0B9-3585-2FAF20031E58}"/>
              </a:ext>
            </a:extLst>
          </p:cNvPr>
          <p:cNvSpPr/>
          <p:nvPr/>
        </p:nvSpPr>
        <p:spPr>
          <a:xfrm>
            <a:off x="540610" y="188497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1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C6FF422D-47AE-B4A9-4528-C02946004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22" y="1953316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31D5F5A0-78F5-80C9-B4D5-5246C5FEEC6E}"/>
              </a:ext>
            </a:extLst>
          </p:cNvPr>
          <p:cNvSpPr/>
          <p:nvPr/>
        </p:nvSpPr>
        <p:spPr>
          <a:xfrm>
            <a:off x="746350" y="24015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Ingestion</a:t>
            </a:r>
            <a:endParaRPr lang="fr-FR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87F66B4E-C36C-F589-F177-F791CB927A87}"/>
              </a:ext>
            </a:extLst>
          </p:cNvPr>
          <p:cNvSpPr/>
          <p:nvPr/>
        </p:nvSpPr>
        <p:spPr>
          <a:xfrm>
            <a:off x="739758" y="273497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Télécharger les données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brutes depuis GitHub</a:t>
            </a:r>
            <a:endParaRPr lang="fr-FR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CCA12414-D9F4-43A4-6707-93906883C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512" y="2925247"/>
            <a:ext cx="237744" cy="237744"/>
          </a:xfrm>
          <a:prstGeom prst="rect">
            <a:avLst/>
          </a:prstGeom>
        </p:spPr>
      </p:pic>
      <p:sp>
        <p:nvSpPr>
          <p:cNvPr id="11" name="Shape 10">
            <a:extLst>
              <a:ext uri="{FF2B5EF4-FFF2-40B4-BE49-F238E27FC236}">
                <a16:creationId xmlns:a16="http://schemas.microsoft.com/office/drawing/2014/main" id="{9E050E28-2D49-BF91-A4A9-B75DF92F8981}"/>
              </a:ext>
            </a:extLst>
          </p:cNvPr>
          <p:cNvSpPr/>
          <p:nvPr/>
        </p:nvSpPr>
        <p:spPr>
          <a:xfrm>
            <a:off x="2159096" y="1891975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41563207-E0C5-A8D4-5E31-C5A35EFBDA94}"/>
              </a:ext>
            </a:extLst>
          </p:cNvPr>
          <p:cNvSpPr/>
          <p:nvPr/>
        </p:nvSpPr>
        <p:spPr>
          <a:xfrm>
            <a:off x="2159096" y="1891975"/>
            <a:ext cx="1412748" cy="438912"/>
          </a:xfrm>
          <a:prstGeom prst="rect">
            <a:avLst/>
          </a:prstGeom>
          <a:noFill/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D3423B03-E6E3-4AC2-93A5-0A9714D7FAAB}"/>
              </a:ext>
            </a:extLst>
          </p:cNvPr>
          <p:cNvSpPr/>
          <p:nvPr/>
        </p:nvSpPr>
        <p:spPr>
          <a:xfrm>
            <a:off x="2159096" y="189197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2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7CEABBD-AC58-9A80-FB0C-D230D64CA842}"/>
              </a:ext>
            </a:extLst>
          </p:cNvPr>
          <p:cNvSpPr/>
          <p:nvPr/>
        </p:nvSpPr>
        <p:spPr>
          <a:xfrm>
            <a:off x="2365173" y="237403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Cleaning</a:t>
            </a:r>
            <a:endParaRPr lang="fr-FR" sz="105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CA56E35-EA59-13A5-BE62-83892D7FAB9F}"/>
              </a:ext>
            </a:extLst>
          </p:cNvPr>
          <p:cNvSpPr/>
          <p:nvPr/>
        </p:nvSpPr>
        <p:spPr>
          <a:xfrm>
            <a:off x="2323688" y="2753574"/>
            <a:ext cx="11763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Nettoyer :</a:t>
            </a:r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enlever le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HTML, normaliser</a:t>
            </a:r>
            <a:endParaRPr lang="fr-FR" sz="1000" noProof="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8BAC6772-EDFE-686C-23B2-BF17A6B53F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210" y="2913673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8D6B35D3-8198-C63D-18AB-117F2DA92091}"/>
              </a:ext>
            </a:extLst>
          </p:cNvPr>
          <p:cNvSpPr/>
          <p:nvPr/>
        </p:nvSpPr>
        <p:spPr>
          <a:xfrm>
            <a:off x="3786794" y="1880400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C530FB36-A20C-D01F-932A-A14D38969442}"/>
              </a:ext>
            </a:extLst>
          </p:cNvPr>
          <p:cNvSpPr/>
          <p:nvPr/>
        </p:nvSpPr>
        <p:spPr>
          <a:xfrm>
            <a:off x="3786794" y="1880401"/>
            <a:ext cx="1406728" cy="438912"/>
          </a:xfrm>
          <a:prstGeom prst="rect">
            <a:avLst/>
          </a:prstGeom>
          <a:noFill/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BDECCA7-947A-ABD2-99F4-A4BF149216A0}"/>
              </a:ext>
            </a:extLst>
          </p:cNvPr>
          <p:cNvSpPr/>
          <p:nvPr/>
        </p:nvSpPr>
        <p:spPr>
          <a:xfrm>
            <a:off x="3786794" y="18804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3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BB01F942-330A-3A5E-A78B-603FA4C2E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716" y="1957635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F269255A-B515-08AD-18D3-B874575D124B}"/>
              </a:ext>
            </a:extLst>
          </p:cNvPr>
          <p:cNvSpPr/>
          <p:nvPr/>
        </p:nvSpPr>
        <p:spPr>
          <a:xfrm>
            <a:off x="4040706" y="24981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 err="1">
                <a:solidFill>
                  <a:srgbClr val="1B2A3B"/>
                </a:solidFill>
              </a:rPr>
              <a:t>Enrichment</a:t>
            </a:r>
            <a:endParaRPr lang="fr-FR" sz="1050" b="1" noProof="0" dirty="0">
              <a:solidFill>
                <a:srgbClr val="1B2A3B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(</a:t>
            </a:r>
            <a:r>
              <a:rPr lang="fr-FR" sz="900" b="1" noProof="0" dirty="0" err="1">
                <a:solidFill>
                  <a:srgbClr val="0D9488"/>
                </a:solidFill>
              </a:rPr>
              <a:t>Feature</a:t>
            </a:r>
            <a:endParaRPr lang="fr-FR" sz="900" b="1" noProof="0" dirty="0">
              <a:solidFill>
                <a:srgbClr val="0D9488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Engineering)</a:t>
            </a:r>
            <a:endParaRPr lang="fr-FR" sz="1050" b="1" noProof="0" dirty="0">
              <a:solidFill>
                <a:srgbClr val="0D9488"/>
              </a:solidFill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8A961CEC-5117-8593-E224-102941CDDAA3}"/>
              </a:ext>
            </a:extLst>
          </p:cNvPr>
          <p:cNvSpPr/>
          <p:nvPr/>
        </p:nvSpPr>
        <p:spPr>
          <a:xfrm>
            <a:off x="3917025" y="2908611"/>
            <a:ext cx="12246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Transformer les données brutes en informations pertinentes</a:t>
            </a:r>
            <a:endParaRPr lang="fr-FR" sz="1000" noProof="0" dirty="0"/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C9E75BB3-EE17-1016-54CE-B0474FE0F6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648" y="2913672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0FF7FA8D-F8D4-73D4-11ED-4638D1615101}"/>
              </a:ext>
            </a:extLst>
          </p:cNvPr>
          <p:cNvSpPr/>
          <p:nvPr/>
        </p:nvSpPr>
        <p:spPr>
          <a:xfrm>
            <a:off x="5338232" y="188039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605A14E3-A60A-6EA7-56EC-703EEFF3295B}"/>
              </a:ext>
            </a:extLst>
          </p:cNvPr>
          <p:cNvSpPr/>
          <p:nvPr/>
        </p:nvSpPr>
        <p:spPr>
          <a:xfrm>
            <a:off x="5338232" y="1880400"/>
            <a:ext cx="140672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CFC9E600-EC6E-B478-B452-F52F5166C211}"/>
              </a:ext>
            </a:extLst>
          </p:cNvPr>
          <p:cNvSpPr/>
          <p:nvPr/>
        </p:nvSpPr>
        <p:spPr>
          <a:xfrm>
            <a:off x="5338232" y="188040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4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C5ED3EC9-AD24-3430-C99B-094B75DC7EEB}"/>
              </a:ext>
            </a:extLst>
          </p:cNvPr>
          <p:cNvSpPr/>
          <p:nvPr/>
        </p:nvSpPr>
        <p:spPr>
          <a:xfrm>
            <a:off x="5524550" y="24039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02BA3053-0F09-8CF1-7BCA-F371BC605E73}"/>
              </a:ext>
            </a:extLst>
          </p:cNvPr>
          <p:cNvSpPr/>
          <p:nvPr/>
        </p:nvSpPr>
        <p:spPr>
          <a:xfrm>
            <a:off x="5540658" y="26783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Relier les issues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qui parlent du même bug</a:t>
            </a:r>
            <a:endParaRPr lang="fr-FR" sz="1000" noProof="0" dirty="0"/>
          </a:p>
        </p:txBody>
      </p:sp>
      <p:pic>
        <p:nvPicPr>
          <p:cNvPr id="31" name="Image 7" descr="preencoded.png">
            <a:extLst>
              <a:ext uri="{FF2B5EF4-FFF2-40B4-BE49-F238E27FC236}">
                <a16:creationId xmlns:a16="http://schemas.microsoft.com/office/drawing/2014/main" id="{073E58A1-35DD-4307-9415-71107E357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51" y="2908611"/>
            <a:ext cx="237744" cy="237744"/>
          </a:xfrm>
          <a:prstGeom prst="rect">
            <a:avLst/>
          </a:prstGeom>
        </p:spPr>
      </p:pic>
      <p:sp>
        <p:nvSpPr>
          <p:cNvPr id="32" name="Shape 25">
            <a:extLst>
              <a:ext uri="{FF2B5EF4-FFF2-40B4-BE49-F238E27FC236}">
                <a16:creationId xmlns:a16="http://schemas.microsoft.com/office/drawing/2014/main" id="{B3A24B50-E874-0A5C-4295-33440102606D}"/>
              </a:ext>
            </a:extLst>
          </p:cNvPr>
          <p:cNvSpPr/>
          <p:nvPr/>
        </p:nvSpPr>
        <p:spPr>
          <a:xfrm>
            <a:off x="6893635" y="1875339"/>
            <a:ext cx="1397438" cy="1981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5596EABC-2CD4-ED8B-0FCE-7B1F6E4FCDFA}"/>
              </a:ext>
            </a:extLst>
          </p:cNvPr>
          <p:cNvSpPr/>
          <p:nvPr/>
        </p:nvSpPr>
        <p:spPr>
          <a:xfrm>
            <a:off x="6893635" y="1875339"/>
            <a:ext cx="1397438" cy="438912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6545F877-555D-F5A7-BB0F-F7D366751213}"/>
              </a:ext>
            </a:extLst>
          </p:cNvPr>
          <p:cNvSpPr/>
          <p:nvPr/>
        </p:nvSpPr>
        <p:spPr>
          <a:xfrm>
            <a:off x="6893635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5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4C842954-2D51-4A45-A4A5-4B8B1BB6FE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581" y="1971840"/>
            <a:ext cx="256032" cy="256032"/>
          </a:xfrm>
          <a:prstGeom prst="rect">
            <a:avLst/>
          </a:prstGeom>
        </p:spPr>
      </p:pic>
      <p:sp>
        <p:nvSpPr>
          <p:cNvPr id="36" name="Text 28">
            <a:extLst>
              <a:ext uri="{FF2B5EF4-FFF2-40B4-BE49-F238E27FC236}">
                <a16:creationId xmlns:a16="http://schemas.microsoft.com/office/drawing/2014/main" id="{7C5C4491-523B-B8B6-40AE-D1DFC1254394}"/>
              </a:ext>
            </a:extLst>
          </p:cNvPr>
          <p:cNvSpPr/>
          <p:nvPr/>
        </p:nvSpPr>
        <p:spPr>
          <a:xfrm>
            <a:off x="7087690" y="2406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Chunking</a:t>
            </a:r>
            <a:endParaRPr lang="fr-FR" sz="1050" noProof="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D215A6D1-5C42-59BC-9FBE-2EBA5CFDF915}"/>
              </a:ext>
            </a:extLst>
          </p:cNvPr>
          <p:cNvSpPr/>
          <p:nvPr/>
        </p:nvSpPr>
        <p:spPr>
          <a:xfrm>
            <a:off x="7076515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Découper en morceaux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pour la KB</a:t>
            </a:r>
            <a:endParaRPr lang="fr-FR" sz="1000" noProof="0" dirty="0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A3092D6E-D7DE-F2B9-4F4A-A1764DDB4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513" y="2908611"/>
            <a:ext cx="237744" cy="237744"/>
          </a:xfrm>
          <a:prstGeom prst="rect">
            <a:avLst/>
          </a:prstGeom>
        </p:spPr>
      </p:pic>
      <p:sp>
        <p:nvSpPr>
          <p:cNvPr id="39" name="Shape 30">
            <a:extLst>
              <a:ext uri="{FF2B5EF4-FFF2-40B4-BE49-F238E27FC236}">
                <a16:creationId xmlns:a16="http://schemas.microsoft.com/office/drawing/2014/main" id="{CB0D30D9-A030-473C-1B80-503E3D72AE56}"/>
              </a:ext>
            </a:extLst>
          </p:cNvPr>
          <p:cNvSpPr/>
          <p:nvPr/>
        </p:nvSpPr>
        <p:spPr>
          <a:xfrm>
            <a:off x="8483097" y="1875338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BCA7D31C-9C33-9481-D882-9AAC90BE4040}"/>
              </a:ext>
            </a:extLst>
          </p:cNvPr>
          <p:cNvSpPr/>
          <p:nvPr/>
        </p:nvSpPr>
        <p:spPr>
          <a:xfrm>
            <a:off x="8483097" y="1875339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2">
            <a:extLst>
              <a:ext uri="{FF2B5EF4-FFF2-40B4-BE49-F238E27FC236}">
                <a16:creationId xmlns:a16="http://schemas.microsoft.com/office/drawing/2014/main" id="{AF0F60B4-F4BE-EBDD-2E1D-2365837772FA}"/>
              </a:ext>
            </a:extLst>
          </p:cNvPr>
          <p:cNvSpPr/>
          <p:nvPr/>
        </p:nvSpPr>
        <p:spPr>
          <a:xfrm>
            <a:off x="8483097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6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3C7AA553-6AB9-FD9B-E95E-CB2C351FE2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55" y="1968326"/>
            <a:ext cx="263059" cy="263059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288A97AC-89DA-45C2-51C1-062E8023F528}"/>
              </a:ext>
            </a:extLst>
          </p:cNvPr>
          <p:cNvSpPr/>
          <p:nvPr/>
        </p:nvSpPr>
        <p:spPr>
          <a:xfrm>
            <a:off x="8693671" y="24296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fr-FR" sz="900" b="1" noProof="0" dirty="0">
                <a:solidFill>
                  <a:srgbClr val="1B2A3B"/>
                </a:solidFill>
              </a:rPr>
              <a:t>(</a:t>
            </a:r>
            <a:r>
              <a:rPr lang="fr-FR" sz="900" b="1" noProof="0" dirty="0">
                <a:solidFill>
                  <a:srgbClr val="0D9488"/>
                </a:solidFill>
              </a:rPr>
              <a:t>Benchmark</a:t>
            </a:r>
            <a:r>
              <a:rPr lang="fr-FR" sz="900" b="1" noProof="0" dirty="0"/>
              <a:t>)</a:t>
            </a:r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3F47B868-2B51-2317-3E49-D7A46381EF16}"/>
              </a:ext>
            </a:extLst>
          </p:cNvPr>
          <p:cNvSpPr/>
          <p:nvPr/>
        </p:nvSpPr>
        <p:spPr>
          <a:xfrm>
            <a:off x="8693671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Tester avec 50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questions de référence</a:t>
            </a:r>
            <a:endParaRPr lang="fr-FR" sz="1000" noProof="0" dirty="0"/>
          </a:p>
        </p:txBody>
      </p:sp>
      <p:pic>
        <p:nvPicPr>
          <p:cNvPr id="45" name="Image 11" descr="preencoded.png">
            <a:extLst>
              <a:ext uri="{FF2B5EF4-FFF2-40B4-BE49-F238E27FC236}">
                <a16:creationId xmlns:a16="http://schemas.microsoft.com/office/drawing/2014/main" id="{C80FCD2F-351E-FC09-06E6-D690A4AD6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097" y="2908611"/>
            <a:ext cx="237744" cy="237744"/>
          </a:xfrm>
          <a:prstGeom prst="rect">
            <a:avLst/>
          </a:prstGeom>
        </p:spPr>
      </p:pic>
      <p:sp>
        <p:nvSpPr>
          <p:cNvPr id="46" name="Shape 35">
            <a:extLst>
              <a:ext uri="{FF2B5EF4-FFF2-40B4-BE49-F238E27FC236}">
                <a16:creationId xmlns:a16="http://schemas.microsoft.com/office/drawing/2014/main" id="{8A816666-5AD1-7411-7DB5-FEC7F5A4B6DD}"/>
              </a:ext>
            </a:extLst>
          </p:cNvPr>
          <p:cNvSpPr/>
          <p:nvPr/>
        </p:nvSpPr>
        <p:spPr>
          <a:xfrm>
            <a:off x="10030026" y="1870766"/>
            <a:ext cx="1367887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7" name="Shape 36">
            <a:extLst>
              <a:ext uri="{FF2B5EF4-FFF2-40B4-BE49-F238E27FC236}">
                <a16:creationId xmlns:a16="http://schemas.microsoft.com/office/drawing/2014/main" id="{81989238-39BB-E05F-D861-09AC6D66F315}"/>
              </a:ext>
            </a:extLst>
          </p:cNvPr>
          <p:cNvSpPr/>
          <p:nvPr/>
        </p:nvSpPr>
        <p:spPr>
          <a:xfrm>
            <a:off x="10030027" y="1870767"/>
            <a:ext cx="138393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8" name="Text 37">
            <a:extLst>
              <a:ext uri="{FF2B5EF4-FFF2-40B4-BE49-F238E27FC236}">
                <a16:creationId xmlns:a16="http://schemas.microsoft.com/office/drawing/2014/main" id="{882E5B04-7565-7B4E-217E-897C5E2077BC}"/>
              </a:ext>
            </a:extLst>
          </p:cNvPr>
          <p:cNvSpPr/>
          <p:nvPr/>
        </p:nvSpPr>
        <p:spPr>
          <a:xfrm>
            <a:off x="10030027" y="1870767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7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0B7220A8-723C-8BC3-0BF1-0F1A71D303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2394" y="1955836"/>
            <a:ext cx="288037" cy="288037"/>
          </a:xfrm>
          <a:prstGeom prst="rect">
            <a:avLst/>
          </a:prstGeom>
        </p:spPr>
      </p:pic>
      <p:sp>
        <p:nvSpPr>
          <p:cNvPr id="50" name="Text 38">
            <a:extLst>
              <a:ext uri="{FF2B5EF4-FFF2-40B4-BE49-F238E27FC236}">
                <a16:creationId xmlns:a16="http://schemas.microsoft.com/office/drawing/2014/main" id="{2C456407-434F-E67B-12D9-4477FBF239C1}"/>
              </a:ext>
            </a:extLst>
          </p:cNvPr>
          <p:cNvSpPr/>
          <p:nvPr/>
        </p:nvSpPr>
        <p:spPr>
          <a:xfrm>
            <a:off x="10091617" y="2557387"/>
            <a:ext cx="1244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Delivery</a:t>
            </a:r>
          </a:p>
          <a:p>
            <a:pPr marL="0" indent="0" algn="ctr">
              <a:buNone/>
            </a:pPr>
            <a:r>
              <a:rPr lang="fr-FR" sz="800" b="1" noProof="0" dirty="0">
                <a:solidFill>
                  <a:srgbClr val="1B2A3B"/>
                </a:solidFill>
              </a:rPr>
              <a:t>(</a:t>
            </a:r>
            <a:r>
              <a:rPr lang="fr-FR" sz="800" b="1" noProof="0" dirty="0" err="1">
                <a:solidFill>
                  <a:srgbClr val="0D9488"/>
                </a:solidFill>
              </a:rPr>
              <a:t>resolver</a:t>
            </a:r>
            <a:r>
              <a:rPr lang="fr-FR" sz="800" b="1" noProof="0" dirty="0">
                <a:solidFill>
                  <a:srgbClr val="0D9488"/>
                </a:solidFill>
              </a:rPr>
              <a:t> cases, diagnostic </a:t>
            </a:r>
            <a:r>
              <a:rPr lang="fr-FR" sz="800" b="1" noProof="0" dirty="0" err="1">
                <a:solidFill>
                  <a:srgbClr val="0D9488"/>
                </a:solidFill>
              </a:rPr>
              <a:t>cards</a:t>
            </a:r>
            <a:r>
              <a:rPr lang="fr-FR" sz="800" b="1" noProof="0" dirty="0">
                <a:solidFill>
                  <a:srgbClr val="0D9488"/>
                </a:solidFill>
              </a:rPr>
              <a:t>, exports ST-</a:t>
            </a:r>
            <a:r>
              <a:rPr lang="fr-FR" sz="800" b="1" noProof="0" dirty="0" err="1">
                <a:solidFill>
                  <a:srgbClr val="0D9488"/>
                </a:solidFill>
              </a:rPr>
              <a:t>ready</a:t>
            </a:r>
            <a:r>
              <a:rPr lang="fr-FR" sz="800" b="1" noProof="0" dirty="0">
                <a:solidFill>
                  <a:srgbClr val="1B2A3B"/>
                </a:solidFill>
              </a:rPr>
              <a:t>)</a:t>
            </a:r>
          </a:p>
          <a:p>
            <a:pPr marL="0" indent="0" algn="ctr">
              <a:buNone/>
            </a:pPr>
            <a:endParaRPr lang="fr-FR" sz="1050" noProof="0" dirty="0"/>
          </a:p>
        </p:txBody>
      </p:sp>
      <p:sp>
        <p:nvSpPr>
          <p:cNvPr id="51" name="Text 39">
            <a:extLst>
              <a:ext uri="{FF2B5EF4-FFF2-40B4-BE49-F238E27FC236}">
                <a16:creationId xmlns:a16="http://schemas.microsoft.com/office/drawing/2014/main" id="{AC62A34E-1FF6-05A3-BB10-CCC2093EBE49}"/>
              </a:ext>
            </a:extLst>
          </p:cNvPr>
          <p:cNvSpPr/>
          <p:nvPr/>
        </p:nvSpPr>
        <p:spPr>
          <a:xfrm>
            <a:off x="10219073" y="279723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Livrer les JSON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format ST-</a:t>
            </a:r>
            <a:r>
              <a:rPr lang="fr-FR" sz="1000" noProof="0" dirty="0" err="1">
                <a:solidFill>
                  <a:srgbClr val="64748B"/>
                </a:solidFill>
              </a:rPr>
              <a:t>ready</a:t>
            </a:r>
            <a:endParaRPr lang="fr-FR" sz="1000" noProof="0" dirty="0"/>
          </a:p>
        </p:txBody>
      </p:sp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CF0AB3E6-4782-9AE3-E304-3C07064F1DD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30413" y="1907831"/>
            <a:ext cx="402338" cy="402338"/>
          </a:xfrm>
          <a:prstGeom prst="rect">
            <a:avLst/>
          </a:prstGeom>
        </p:spPr>
      </p:pic>
      <p:pic>
        <p:nvPicPr>
          <p:cNvPr id="85" name="Graphic 84" descr="Eraser with solid fill">
            <a:extLst>
              <a:ext uri="{FF2B5EF4-FFF2-40B4-BE49-F238E27FC236}">
                <a16:creationId xmlns:a16="http://schemas.microsoft.com/office/drawing/2014/main" id="{05655F29-15EF-8517-EB92-C48186A09E1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03230" y="1957635"/>
            <a:ext cx="329184" cy="329184"/>
          </a:xfrm>
          <a:prstGeom prst="rect">
            <a:avLst/>
          </a:prstGeom>
        </p:spPr>
      </p:pic>
      <p:sp>
        <p:nvSpPr>
          <p:cNvPr id="3" name="Shape 40">
            <a:extLst>
              <a:ext uri="{FF2B5EF4-FFF2-40B4-BE49-F238E27FC236}">
                <a16:creationId xmlns:a16="http://schemas.microsoft.com/office/drawing/2014/main" id="{806BA0C8-D4A8-1A32-2BF9-D09F508B6C38}"/>
              </a:ext>
            </a:extLst>
          </p:cNvPr>
          <p:cNvSpPr/>
          <p:nvPr/>
        </p:nvSpPr>
        <p:spPr>
          <a:xfrm>
            <a:off x="7697987" y="4406153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Shape 41">
            <a:extLst>
              <a:ext uri="{FF2B5EF4-FFF2-40B4-BE49-F238E27FC236}">
                <a16:creationId xmlns:a16="http://schemas.microsoft.com/office/drawing/2014/main" id="{3A81787A-EB7A-B43B-22DE-9E6900BD394B}"/>
              </a:ext>
            </a:extLst>
          </p:cNvPr>
          <p:cNvSpPr/>
          <p:nvPr/>
        </p:nvSpPr>
        <p:spPr>
          <a:xfrm>
            <a:off x="7722613" y="4406153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Text 42">
            <a:extLst>
              <a:ext uri="{FF2B5EF4-FFF2-40B4-BE49-F238E27FC236}">
                <a16:creationId xmlns:a16="http://schemas.microsoft.com/office/drawing/2014/main" id="{C9D29390-1FFC-A54F-0559-4142D80DA460}"/>
              </a:ext>
            </a:extLst>
          </p:cNvPr>
          <p:cNvSpPr/>
          <p:nvPr/>
        </p:nvSpPr>
        <p:spPr>
          <a:xfrm>
            <a:off x="7923781" y="4497593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b="1" noProof="0" dirty="0">
                <a:solidFill>
                  <a:srgbClr val="0D9488"/>
                </a:solidFill>
              </a:rPr>
              <a:t>❓ Objectif </a:t>
            </a:r>
            <a:r>
              <a:rPr lang="fr-FR" sz="1050" b="1" noProof="0" dirty="0" err="1">
                <a:solidFill>
                  <a:srgbClr val="0D9488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33C22C1-E21C-65FE-7F51-0BD7779DBE38}"/>
              </a:ext>
            </a:extLst>
          </p:cNvPr>
          <p:cNvSpPr/>
          <p:nvPr/>
        </p:nvSpPr>
        <p:spPr>
          <a:xfrm>
            <a:off x="7923781" y="4799345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fr-FR" sz="1000" noProof="0" dirty="0">
                <a:solidFill>
                  <a:srgbClr val="1B2A3B"/>
                </a:solidFill>
              </a:rPr>
              <a:t>Identifier les issues qui parlent du même symptôme/problème technique.</a:t>
            </a:r>
          </a:p>
          <a:p>
            <a:endParaRPr lang="fr-FR" sz="1000" noProof="0" dirty="0">
              <a:solidFill>
                <a:srgbClr val="1B2A3B"/>
              </a:solidFill>
            </a:endParaRPr>
          </a:p>
          <a:p>
            <a:r>
              <a:rPr lang="fr-FR" sz="1000" b="1" u="sng" noProof="0" dirty="0"/>
              <a:t>Ce que fait </a:t>
            </a:r>
            <a:r>
              <a:rPr lang="fr-FR" sz="1000" b="1" u="sng" noProof="0" dirty="0" err="1"/>
              <a:t>Similarity</a:t>
            </a:r>
            <a:r>
              <a:rPr lang="fr-FR" sz="1000" b="1" u="sng" noProof="0" dirty="0"/>
              <a:t> :</a:t>
            </a:r>
          </a:p>
          <a:p>
            <a:endParaRPr lang="fr-FR" sz="10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/>
              <a:t>compare les textes d’issues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/>
              <a:t>calcule une proximité sémantique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/>
              <a:t>ajoute des </a:t>
            </a:r>
            <a:r>
              <a:rPr lang="fr-FR" sz="1000" noProof="0" dirty="0" err="1"/>
              <a:t>related_issue_ids</a:t>
            </a:r>
            <a:r>
              <a:rPr lang="fr-FR" sz="1000" noProof="0" dirty="0"/>
              <a:t> pour chaque issue</a:t>
            </a:r>
          </a:p>
        </p:txBody>
      </p:sp>
      <p:pic>
        <p:nvPicPr>
          <p:cNvPr id="54" name="Graphic 53" descr="Back outline">
            <a:extLst>
              <a:ext uri="{FF2B5EF4-FFF2-40B4-BE49-F238E27FC236}">
                <a16:creationId xmlns:a16="http://schemas.microsoft.com/office/drawing/2014/main" id="{33E06516-ADA3-B832-BE7B-E7000957A1E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V="1">
            <a:off x="5985472" y="4406153"/>
            <a:ext cx="1481109" cy="148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11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F3A44-09E8-4BE2-A5DD-95AF2243E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EF98-076C-577D-CFB7-742E3E7EF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Pipeline : </a:t>
            </a:r>
            <a:r>
              <a:rPr lang="fr-FR" sz="1800" b="1" noProof="0" dirty="0" err="1"/>
              <a:t>Enrichment</a:t>
            </a:r>
            <a:r>
              <a:rPr lang="fr-FR" sz="1800" b="1" noProof="0" dirty="0"/>
              <a:t> (</a:t>
            </a:r>
            <a:r>
              <a:rPr lang="fr-FR" sz="1800" b="1" noProof="0" dirty="0" err="1"/>
              <a:t>Feature</a:t>
            </a:r>
            <a:r>
              <a:rPr lang="fr-FR" sz="1800" b="1" noProof="0" dirty="0"/>
              <a:t> Engineering)    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068A76-DC29-134C-DF84-9529E016E0F3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Pourquoi relier les problèmes entre eux ??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31DA1FC3-79AA-3AC6-6ADE-712FBA16A92F}"/>
              </a:ext>
            </a:extLst>
          </p:cNvPr>
          <p:cNvSpPr/>
          <p:nvPr/>
        </p:nvSpPr>
        <p:spPr>
          <a:xfrm>
            <a:off x="340364" y="1075727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5AE9E53-78FF-3AA4-D22A-4BD9F7950E7F}"/>
              </a:ext>
            </a:extLst>
          </p:cNvPr>
          <p:cNvSpPr/>
          <p:nvPr/>
        </p:nvSpPr>
        <p:spPr>
          <a:xfrm>
            <a:off x="606552" y="1828800"/>
            <a:ext cx="4133088" cy="395347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A20E4B04-906B-AFC8-17D6-A636C7FD936F}"/>
              </a:ext>
            </a:extLst>
          </p:cNvPr>
          <p:cNvSpPr/>
          <p:nvPr/>
        </p:nvSpPr>
        <p:spPr>
          <a:xfrm>
            <a:off x="606552" y="1828800"/>
            <a:ext cx="4133088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232D321-EDFC-9608-1FEF-93315EA6613F}"/>
              </a:ext>
            </a:extLst>
          </p:cNvPr>
          <p:cNvSpPr/>
          <p:nvPr/>
        </p:nvSpPr>
        <p:spPr>
          <a:xfrm>
            <a:off x="734568" y="2093976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Pourquoi cette étape ?</a:t>
            </a:r>
            <a:endParaRPr lang="fr-FR" sz="1000" noProof="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7D757114-F05E-4F02-AEDA-1092DDAC0815}"/>
              </a:ext>
            </a:extLst>
          </p:cNvPr>
          <p:cNvSpPr/>
          <p:nvPr/>
        </p:nvSpPr>
        <p:spPr>
          <a:xfrm>
            <a:off x="734568" y="2401607"/>
            <a:ext cx="38404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Deux issues différentes peuvent décrire le même problème avec des mots différents. Calculer leur similarité permet d'enrichir chaque issue avec des références croisées utiles.</a:t>
            </a:r>
            <a:endParaRPr lang="fr-FR" sz="950" noProof="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DFE8A12-EE7E-8AF3-700E-B8067937C749}"/>
              </a:ext>
            </a:extLst>
          </p:cNvPr>
          <p:cNvSpPr/>
          <p:nvPr/>
        </p:nvSpPr>
        <p:spPr>
          <a:xfrm>
            <a:off x="734568" y="3087407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Comment ?</a:t>
            </a:r>
            <a:endParaRPr lang="fr-FR" sz="1000" noProof="0" dirty="0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37A06EE6-B1EA-ABA5-186C-4F7D7FC4DCC7}"/>
              </a:ext>
            </a:extLst>
          </p:cNvPr>
          <p:cNvSpPr/>
          <p:nvPr/>
        </p:nvSpPr>
        <p:spPr>
          <a:xfrm>
            <a:off x="734568" y="351292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606B55C7-33D6-6591-1081-D1C71A177D8A}"/>
              </a:ext>
            </a:extLst>
          </p:cNvPr>
          <p:cNvSpPr/>
          <p:nvPr/>
        </p:nvSpPr>
        <p:spPr>
          <a:xfrm>
            <a:off x="972312" y="3494640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TF-IDF applique sur les 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clean_text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des issues</a:t>
            </a:r>
            <a:endParaRPr lang="fr-FR" sz="950" noProof="0" dirty="0"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01A4F3AA-A001-1347-97FD-41C33A706110}"/>
              </a:ext>
            </a:extLst>
          </p:cNvPr>
          <p:cNvSpPr/>
          <p:nvPr/>
        </p:nvSpPr>
        <p:spPr>
          <a:xfrm>
            <a:off x="734568" y="387868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7615A7D-19CB-7B76-27CE-B992077A7249}"/>
              </a:ext>
            </a:extLst>
          </p:cNvPr>
          <p:cNvSpPr/>
          <p:nvPr/>
        </p:nvSpPr>
        <p:spPr>
          <a:xfrm>
            <a:off x="972312" y="3860400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Score 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cosine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entre chaque paire d'issues</a:t>
            </a:r>
            <a:endParaRPr lang="fr-FR" sz="950" noProof="0" dirty="0"/>
          </a:p>
        </p:txBody>
      </p:sp>
      <p:sp>
        <p:nvSpPr>
          <p:cNvPr id="28" name="Shape 12">
            <a:extLst>
              <a:ext uri="{FF2B5EF4-FFF2-40B4-BE49-F238E27FC236}">
                <a16:creationId xmlns:a16="http://schemas.microsoft.com/office/drawing/2014/main" id="{BA418148-5772-142D-78A2-16427759145E}"/>
              </a:ext>
            </a:extLst>
          </p:cNvPr>
          <p:cNvSpPr/>
          <p:nvPr/>
        </p:nvSpPr>
        <p:spPr>
          <a:xfrm>
            <a:off x="734568" y="424444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49CC9D0E-BB46-6F73-3F57-451EE6B0AFAD}"/>
              </a:ext>
            </a:extLst>
          </p:cNvPr>
          <p:cNvSpPr/>
          <p:nvPr/>
        </p:nvSpPr>
        <p:spPr>
          <a:xfrm>
            <a:off x="972312" y="4226160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Ajout du champ 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related_issue_ids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dans chaque issue</a:t>
            </a:r>
            <a:endParaRPr lang="fr-FR" sz="950" noProof="0" dirty="0"/>
          </a:p>
        </p:txBody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0D654C76-96B3-9006-1C41-015E2C03FD6C}"/>
              </a:ext>
            </a:extLst>
          </p:cNvPr>
          <p:cNvSpPr/>
          <p:nvPr/>
        </p:nvSpPr>
        <p:spPr>
          <a:xfrm>
            <a:off x="734568" y="461020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AB4C07E8-0705-5A60-4DB2-DD0DC0CC48D8}"/>
              </a:ext>
            </a:extLst>
          </p:cNvPr>
          <p:cNvSpPr/>
          <p:nvPr/>
        </p:nvSpPr>
        <p:spPr>
          <a:xfrm>
            <a:off x="972312" y="4591920"/>
            <a:ext cx="3657600" cy="31089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Seuil de similarité configure (configurable)</a:t>
            </a:r>
            <a:endParaRPr lang="fr-FR" sz="95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FDFCD41D-2FD9-410A-BE27-40A8A3D67BA8}"/>
              </a:ext>
            </a:extLst>
          </p:cNvPr>
          <p:cNvSpPr/>
          <p:nvPr/>
        </p:nvSpPr>
        <p:spPr>
          <a:xfrm>
            <a:off x="734568" y="5074920"/>
            <a:ext cx="384048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Résultat : </a:t>
            </a:r>
            <a:r>
              <a:rPr lang="fr-FR" sz="10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chaque issue sait quelles autres issues lui ressemblent → </a:t>
            </a:r>
            <a:r>
              <a:rPr lang="fr-FR" sz="1000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related_issue_ids</a:t>
            </a:r>
            <a:r>
              <a:rPr lang="fr-FR" sz="1000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.</a:t>
            </a:r>
            <a:endParaRPr lang="fr-FR" sz="1000" noProof="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39994D-526F-02EA-45A6-64E6038B0C68}"/>
              </a:ext>
            </a:extLst>
          </p:cNvPr>
          <p:cNvSpPr txBox="1"/>
          <p:nvPr/>
        </p:nvSpPr>
        <p:spPr>
          <a:xfrm>
            <a:off x="4995672" y="3429000"/>
            <a:ext cx="6271260" cy="357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600" b="1" noProof="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métier </a:t>
            </a:r>
            <a:endParaRPr lang="fr-FR" sz="1600" noProof="0" dirty="0"/>
          </a:p>
        </p:txBody>
      </p:sp>
      <p:pic>
        <p:nvPicPr>
          <p:cNvPr id="41" name="Graphic 40" descr="Arrow Right with solid fill">
            <a:extLst>
              <a:ext uri="{FF2B5EF4-FFF2-40B4-BE49-F238E27FC236}">
                <a16:creationId xmlns:a16="http://schemas.microsoft.com/office/drawing/2014/main" id="{47821902-8BAE-C52F-78F0-5794E5DB74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5521" y="3745216"/>
            <a:ext cx="431535" cy="431535"/>
          </a:xfrm>
          <a:prstGeom prst="rect">
            <a:avLst/>
          </a:prstGeom>
        </p:spPr>
      </p:pic>
      <p:sp>
        <p:nvSpPr>
          <p:cNvPr id="42" name="Shape 14">
            <a:extLst>
              <a:ext uri="{FF2B5EF4-FFF2-40B4-BE49-F238E27FC236}">
                <a16:creationId xmlns:a16="http://schemas.microsoft.com/office/drawing/2014/main" id="{610E26E2-BBF9-EE78-65BB-FFD7826ABE77}"/>
              </a:ext>
            </a:extLst>
          </p:cNvPr>
          <p:cNvSpPr/>
          <p:nvPr/>
        </p:nvSpPr>
        <p:spPr>
          <a:xfrm>
            <a:off x="6928236" y="1560265"/>
            <a:ext cx="3703320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204FC0CC-8ABC-0C04-C595-0178428E912C}"/>
              </a:ext>
            </a:extLst>
          </p:cNvPr>
          <p:cNvSpPr/>
          <p:nvPr/>
        </p:nvSpPr>
        <p:spPr>
          <a:xfrm>
            <a:off x="6928236" y="1560265"/>
            <a:ext cx="3703320" cy="3657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C00000"/>
                </a:solidFill>
              </a:rPr>
              <a:t>Sans </a:t>
            </a:r>
            <a:r>
              <a:rPr lang="fr-FR" sz="1200" b="1" noProof="0" dirty="0" err="1">
                <a:solidFill>
                  <a:srgbClr val="C00000"/>
                </a:solidFill>
              </a:rPr>
              <a:t>Similarity</a:t>
            </a:r>
            <a:endParaRPr lang="fr-FR" sz="1200" noProof="0" dirty="0">
              <a:solidFill>
                <a:srgbClr val="C00000"/>
              </a:solidFill>
            </a:endParaRPr>
          </a:p>
        </p:txBody>
      </p:sp>
      <p:sp>
        <p:nvSpPr>
          <p:cNvPr id="47" name="Shape 16">
            <a:extLst>
              <a:ext uri="{FF2B5EF4-FFF2-40B4-BE49-F238E27FC236}">
                <a16:creationId xmlns:a16="http://schemas.microsoft.com/office/drawing/2014/main" id="{5E431D46-86C8-4517-D197-81481F5C975A}"/>
              </a:ext>
            </a:extLst>
          </p:cNvPr>
          <p:cNvSpPr/>
          <p:nvPr/>
        </p:nvSpPr>
        <p:spPr>
          <a:xfrm>
            <a:off x="6922937" y="2028894"/>
            <a:ext cx="3703320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8" name="Text 17">
            <a:extLst>
              <a:ext uri="{FF2B5EF4-FFF2-40B4-BE49-F238E27FC236}">
                <a16:creationId xmlns:a16="http://schemas.microsoft.com/office/drawing/2014/main" id="{D56FCC8F-8D2A-4B0E-0504-014D2C73C7B4}"/>
              </a:ext>
            </a:extLst>
          </p:cNvPr>
          <p:cNvSpPr/>
          <p:nvPr/>
        </p:nvSpPr>
        <p:spPr>
          <a:xfrm>
            <a:off x="7065396" y="1999177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fr-FR" sz="950" noProof="0" dirty="0"/>
          </a:p>
        </p:txBody>
      </p:sp>
      <p:sp>
        <p:nvSpPr>
          <p:cNvPr id="50" name="Text 19">
            <a:extLst>
              <a:ext uri="{FF2B5EF4-FFF2-40B4-BE49-F238E27FC236}">
                <a16:creationId xmlns:a16="http://schemas.microsoft.com/office/drawing/2014/main" id="{6506C2F6-0B07-A72D-DA2F-9D3C2FA5D8A0}"/>
              </a:ext>
            </a:extLst>
          </p:cNvPr>
          <p:cNvSpPr/>
          <p:nvPr/>
        </p:nvSpPr>
        <p:spPr>
          <a:xfrm>
            <a:off x="7065396" y="2254587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B2A3B"/>
                </a:solidFill>
              </a:rPr>
              <a:t>Question: </a:t>
            </a:r>
            <a:endParaRPr lang="fr-FR" sz="1000" noProof="0" dirty="0">
              <a:solidFill>
                <a:srgbClr val="1B2A3B"/>
              </a:solidFill>
            </a:endParaRPr>
          </a:p>
        </p:txBody>
      </p:sp>
      <p:sp>
        <p:nvSpPr>
          <p:cNvPr id="51" name="Text 20">
            <a:extLst>
              <a:ext uri="{FF2B5EF4-FFF2-40B4-BE49-F238E27FC236}">
                <a16:creationId xmlns:a16="http://schemas.microsoft.com/office/drawing/2014/main" id="{9930BD4B-DC47-6A74-22B1-6E64B918CB50}"/>
              </a:ext>
            </a:extLst>
          </p:cNvPr>
          <p:cNvSpPr/>
          <p:nvPr/>
        </p:nvSpPr>
        <p:spPr>
          <a:xfrm>
            <a:off x="7065396" y="2522670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noProof="0" dirty="0">
                <a:solidFill>
                  <a:srgbClr val="1B2A3B"/>
                </a:solidFill>
              </a:rPr>
              <a:t>USART compile error when UART disabled </a:t>
            </a:r>
            <a:endParaRPr lang="fr-FR" sz="1050" noProof="0" dirty="0"/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EA715E55-4938-C01A-4E29-6189B4BAD1A0}"/>
              </a:ext>
            </a:extLst>
          </p:cNvPr>
          <p:cNvSpPr/>
          <p:nvPr/>
        </p:nvSpPr>
        <p:spPr>
          <a:xfrm>
            <a:off x="7065396" y="294974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D9488"/>
                </a:solidFill>
              </a:rPr>
              <a:t>  </a:t>
            </a:r>
            <a:endParaRPr lang="fr-FR" sz="1000" noProof="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296C8C-F985-E8B2-E421-65EC15B72E64}"/>
              </a:ext>
            </a:extLst>
          </p:cNvPr>
          <p:cNvSpPr txBox="1"/>
          <p:nvPr/>
        </p:nvSpPr>
        <p:spPr>
          <a:xfrm>
            <a:off x="7254504" y="2938393"/>
            <a:ext cx="323989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solidFill>
                  <a:srgbClr val="1B2A3B"/>
                </a:solidFill>
              </a:rPr>
              <a:t>Le système trouve une issue unique, réponse partielle, sans cas comparables.</a:t>
            </a:r>
            <a:endParaRPr lang="en-US" sz="1050" dirty="0">
              <a:solidFill>
                <a:srgbClr val="1B2A3B"/>
              </a:solidFill>
            </a:endParaRPr>
          </a:p>
        </p:txBody>
      </p:sp>
      <p:pic>
        <p:nvPicPr>
          <p:cNvPr id="62" name="Graphic 61" descr="Arrow Right with solid fill">
            <a:extLst>
              <a:ext uri="{FF2B5EF4-FFF2-40B4-BE49-F238E27FC236}">
                <a16:creationId xmlns:a16="http://schemas.microsoft.com/office/drawing/2014/main" id="{7B04203A-91C8-C513-4278-F338FA8F12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V="1">
            <a:off x="7117344" y="3016587"/>
            <a:ext cx="137160" cy="137160"/>
          </a:xfrm>
          <a:prstGeom prst="rect">
            <a:avLst/>
          </a:prstGeom>
        </p:spPr>
      </p:pic>
      <p:sp>
        <p:nvSpPr>
          <p:cNvPr id="73" name="Shape 14">
            <a:extLst>
              <a:ext uri="{FF2B5EF4-FFF2-40B4-BE49-F238E27FC236}">
                <a16:creationId xmlns:a16="http://schemas.microsoft.com/office/drawing/2014/main" id="{462F4707-C041-C096-3BC3-55A1A70280BA}"/>
              </a:ext>
            </a:extLst>
          </p:cNvPr>
          <p:cNvSpPr/>
          <p:nvPr/>
        </p:nvSpPr>
        <p:spPr>
          <a:xfrm>
            <a:off x="6928236" y="3855978"/>
            <a:ext cx="3703320" cy="365760"/>
          </a:xfrm>
          <a:prstGeom prst="rect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4" name="Text 15">
            <a:extLst>
              <a:ext uri="{FF2B5EF4-FFF2-40B4-BE49-F238E27FC236}">
                <a16:creationId xmlns:a16="http://schemas.microsoft.com/office/drawing/2014/main" id="{4872DB8A-6DB6-CD3D-C0CF-F5BBA0D163FE}"/>
              </a:ext>
            </a:extLst>
          </p:cNvPr>
          <p:cNvSpPr/>
          <p:nvPr/>
        </p:nvSpPr>
        <p:spPr>
          <a:xfrm>
            <a:off x="6928236" y="385597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0D9589"/>
                </a:solidFill>
              </a:rPr>
              <a:t>Avec </a:t>
            </a:r>
            <a:r>
              <a:rPr lang="fr-FR" sz="1200" b="1" noProof="0" dirty="0" err="1">
                <a:solidFill>
                  <a:srgbClr val="0D9589"/>
                </a:solidFill>
              </a:rPr>
              <a:t>Similarity</a:t>
            </a:r>
            <a:endParaRPr lang="fr-FR" sz="1200" noProof="0" dirty="0">
              <a:solidFill>
                <a:srgbClr val="0D9589"/>
              </a:solidFill>
            </a:endParaRPr>
          </a:p>
        </p:txBody>
      </p:sp>
      <p:sp>
        <p:nvSpPr>
          <p:cNvPr id="75" name="Shape 16">
            <a:extLst>
              <a:ext uri="{FF2B5EF4-FFF2-40B4-BE49-F238E27FC236}">
                <a16:creationId xmlns:a16="http://schemas.microsoft.com/office/drawing/2014/main" id="{F14ABEBA-460F-937C-AD6C-491F0A66A5A5}"/>
              </a:ext>
            </a:extLst>
          </p:cNvPr>
          <p:cNvSpPr/>
          <p:nvPr/>
        </p:nvSpPr>
        <p:spPr>
          <a:xfrm>
            <a:off x="6922937" y="4324607"/>
            <a:ext cx="3703320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6" name="Text 17">
            <a:extLst>
              <a:ext uri="{FF2B5EF4-FFF2-40B4-BE49-F238E27FC236}">
                <a16:creationId xmlns:a16="http://schemas.microsoft.com/office/drawing/2014/main" id="{5EAFCBB1-55C6-58B3-475B-3836DDDC6113}"/>
              </a:ext>
            </a:extLst>
          </p:cNvPr>
          <p:cNvSpPr/>
          <p:nvPr/>
        </p:nvSpPr>
        <p:spPr>
          <a:xfrm>
            <a:off x="7065396" y="4294890"/>
            <a:ext cx="3429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fr-FR" sz="950" noProof="0" dirty="0"/>
          </a:p>
        </p:txBody>
      </p:sp>
      <p:sp>
        <p:nvSpPr>
          <p:cNvPr id="78" name="Text 20">
            <a:extLst>
              <a:ext uri="{FF2B5EF4-FFF2-40B4-BE49-F238E27FC236}">
                <a16:creationId xmlns:a16="http://schemas.microsoft.com/office/drawing/2014/main" id="{22A70114-5265-6BB7-6F11-49993B2A424C}"/>
              </a:ext>
            </a:extLst>
          </p:cNvPr>
          <p:cNvSpPr/>
          <p:nvPr/>
        </p:nvSpPr>
        <p:spPr>
          <a:xfrm>
            <a:off x="7065396" y="4909747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>
                <a:solidFill>
                  <a:srgbClr val="1B2A3B"/>
                </a:solidFill>
              </a:rPr>
              <a:t>Le système retrouve 3 issues proches:</a:t>
            </a:r>
          </a:p>
          <a:p>
            <a:pPr marL="0" indent="0">
              <a:buNone/>
            </a:pPr>
            <a:endParaRPr lang="fr-FR" sz="1050" noProof="0" dirty="0">
              <a:solidFill>
                <a:srgbClr val="1B2A3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noProof="0" dirty="0">
                <a:solidFill>
                  <a:srgbClr val="1B2A3B"/>
                </a:solidFill>
              </a:rPr>
              <a:t>même composant (UART/USART)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noProof="0" dirty="0">
                <a:solidFill>
                  <a:srgbClr val="1B2A3B"/>
                </a:solidFill>
              </a:rPr>
              <a:t>même type de symptôme (compile-time </a:t>
            </a:r>
            <a:r>
              <a:rPr lang="fr-FR" sz="1050" noProof="0" dirty="0" err="1">
                <a:solidFill>
                  <a:srgbClr val="1B2A3B"/>
                </a:solidFill>
              </a:rPr>
              <a:t>guard</a:t>
            </a:r>
            <a:r>
              <a:rPr lang="fr-FR" sz="1050" noProof="0" dirty="0">
                <a:solidFill>
                  <a:srgbClr val="1B2A3B"/>
                </a:solidFill>
              </a:rPr>
              <a:t>/</a:t>
            </a:r>
            <a:r>
              <a:rPr lang="fr-FR" sz="1050" noProof="0" dirty="0" err="1">
                <a:solidFill>
                  <a:srgbClr val="1B2A3B"/>
                </a:solidFill>
              </a:rPr>
              <a:t>dependency</a:t>
            </a:r>
            <a:r>
              <a:rPr lang="fr-FR" sz="1050" noProof="0" dirty="0">
                <a:solidFill>
                  <a:srgbClr val="1B2A3B"/>
                </a:solidFill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50" noProof="0" dirty="0">
                <a:solidFill>
                  <a:srgbClr val="1B2A3B"/>
                </a:solidFill>
              </a:rPr>
              <a:t>corrections déjà discutées dans des threads liés</a:t>
            </a: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E56910C1-18A1-D7C9-3BB1-9CC5CCCEA200}"/>
              </a:ext>
            </a:extLst>
          </p:cNvPr>
          <p:cNvSpPr/>
          <p:nvPr/>
        </p:nvSpPr>
        <p:spPr>
          <a:xfrm>
            <a:off x="7065396" y="52454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D9488"/>
                </a:solidFill>
              </a:rPr>
              <a:t>  </a:t>
            </a:r>
            <a:endParaRPr lang="fr-FR" sz="1000" noProof="0" dirty="0">
              <a:solidFill>
                <a:srgbClr val="0D9488"/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F5C416C-3086-36CC-49A9-AFDCD62A395E}"/>
              </a:ext>
            </a:extLst>
          </p:cNvPr>
          <p:cNvSpPr txBox="1"/>
          <p:nvPr/>
        </p:nvSpPr>
        <p:spPr>
          <a:xfrm>
            <a:off x="2801112" y="6251633"/>
            <a:ext cx="92011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noProof="0" dirty="0">
                <a:solidFill>
                  <a:srgbClr val="0D9589"/>
                </a:solidFill>
              </a:rPr>
              <a:t>Résultat: </a:t>
            </a:r>
            <a:r>
              <a:rPr lang="fr-FR" sz="1400" noProof="0" dirty="0">
                <a:solidFill>
                  <a:srgbClr val="1B2A3B"/>
                </a:solidFill>
              </a:rPr>
              <a:t>réponse plus fiable, avec alternatives de fix et validation croisée.</a:t>
            </a:r>
            <a:endParaRPr lang="fr-FR" sz="1400" noProof="0" dirty="0"/>
          </a:p>
        </p:txBody>
      </p:sp>
    </p:spTree>
    <p:extLst>
      <p:ext uri="{BB962C8B-B14F-4D97-AF65-F5344CB8AC3E}">
        <p14:creationId xmlns:p14="http://schemas.microsoft.com/office/powerpoint/2010/main" val="3758073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0784E-84E2-7239-74A2-04D037645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4ED1-439C-CAF4-7933-A2CD92B5A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Le pipeline de </a:t>
            </a:r>
            <a:r>
              <a:rPr lang="fr-FR" sz="1800" b="1" noProof="0" dirty="0" err="1"/>
              <a:t>preprocessing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E6CB2F-DAA6-895F-3FF1-60B7EC1C5F8D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7 étapes pour transformer la donnée brute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C5D14F67-1717-46B2-60E4-EF08EF1BA472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Chaque étape a un rôle précis , rien n'est fait au hasard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1BAFB0FA-C91C-D94C-93D6-488DA1A93448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F441E1E1-05D4-D65C-5BB9-D894B1D0EFDF}"/>
              </a:ext>
            </a:extLst>
          </p:cNvPr>
          <p:cNvSpPr/>
          <p:nvPr/>
        </p:nvSpPr>
        <p:spPr>
          <a:xfrm>
            <a:off x="540610" y="1884973"/>
            <a:ext cx="1412748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BA923E35-B385-A1E6-A74C-83395436A9AF}"/>
              </a:ext>
            </a:extLst>
          </p:cNvPr>
          <p:cNvSpPr/>
          <p:nvPr/>
        </p:nvSpPr>
        <p:spPr>
          <a:xfrm>
            <a:off x="540609" y="1884973"/>
            <a:ext cx="141274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5F5C8785-A860-31C4-A640-EBECAEA8A370}"/>
              </a:ext>
            </a:extLst>
          </p:cNvPr>
          <p:cNvSpPr/>
          <p:nvPr/>
        </p:nvSpPr>
        <p:spPr>
          <a:xfrm>
            <a:off x="540610" y="188497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1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0FEDB727-7E06-A4EF-1160-0C7F4EEC0F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22" y="1953316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4D555E46-31DE-17CB-7281-B597F6BAD413}"/>
              </a:ext>
            </a:extLst>
          </p:cNvPr>
          <p:cNvSpPr/>
          <p:nvPr/>
        </p:nvSpPr>
        <p:spPr>
          <a:xfrm>
            <a:off x="746350" y="24015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Ingestion</a:t>
            </a:r>
            <a:endParaRPr lang="fr-FR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740A2EE1-CC41-39A4-F457-52EAA52D97EA}"/>
              </a:ext>
            </a:extLst>
          </p:cNvPr>
          <p:cNvSpPr/>
          <p:nvPr/>
        </p:nvSpPr>
        <p:spPr>
          <a:xfrm>
            <a:off x="739758" y="273497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Télécharger les données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brutes depuis GitHub</a:t>
            </a:r>
            <a:endParaRPr lang="fr-FR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84F9E6A0-1D7E-6311-87ED-664055370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512" y="2925247"/>
            <a:ext cx="237744" cy="237744"/>
          </a:xfrm>
          <a:prstGeom prst="rect">
            <a:avLst/>
          </a:prstGeom>
        </p:spPr>
      </p:pic>
      <p:sp>
        <p:nvSpPr>
          <p:cNvPr id="11" name="Shape 10">
            <a:extLst>
              <a:ext uri="{FF2B5EF4-FFF2-40B4-BE49-F238E27FC236}">
                <a16:creationId xmlns:a16="http://schemas.microsoft.com/office/drawing/2014/main" id="{9BD20430-43BF-754C-E1D3-41C14F8415E8}"/>
              </a:ext>
            </a:extLst>
          </p:cNvPr>
          <p:cNvSpPr/>
          <p:nvPr/>
        </p:nvSpPr>
        <p:spPr>
          <a:xfrm>
            <a:off x="2159096" y="1891975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6FC04CA2-1D7B-D790-4D78-69384D9E5A28}"/>
              </a:ext>
            </a:extLst>
          </p:cNvPr>
          <p:cNvSpPr/>
          <p:nvPr/>
        </p:nvSpPr>
        <p:spPr>
          <a:xfrm>
            <a:off x="2159096" y="1891975"/>
            <a:ext cx="141274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E63FAACE-E8EB-7313-E212-1302137E6C97}"/>
              </a:ext>
            </a:extLst>
          </p:cNvPr>
          <p:cNvSpPr/>
          <p:nvPr/>
        </p:nvSpPr>
        <p:spPr>
          <a:xfrm>
            <a:off x="2159096" y="189197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2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93B80BD-4D83-28E6-C1DC-08F9C1A74AE1}"/>
              </a:ext>
            </a:extLst>
          </p:cNvPr>
          <p:cNvSpPr/>
          <p:nvPr/>
        </p:nvSpPr>
        <p:spPr>
          <a:xfrm>
            <a:off x="2365173" y="237403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Cleaning</a:t>
            </a:r>
            <a:endParaRPr lang="fr-FR" sz="105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2437C55-639A-AF7A-AB60-860BD97594BE}"/>
              </a:ext>
            </a:extLst>
          </p:cNvPr>
          <p:cNvSpPr/>
          <p:nvPr/>
        </p:nvSpPr>
        <p:spPr>
          <a:xfrm>
            <a:off x="2282448" y="2731412"/>
            <a:ext cx="12066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Nettoyer :</a:t>
            </a:r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enlever le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HTML, normaliser</a:t>
            </a:r>
            <a:endParaRPr lang="fr-FR" sz="1000" noProof="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2F60DDCE-90FD-B13D-489D-0E9011F1E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210" y="2913673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05DF6DA4-91CD-0AB1-8A39-6DB4EE6EC0D5}"/>
              </a:ext>
            </a:extLst>
          </p:cNvPr>
          <p:cNvSpPr/>
          <p:nvPr/>
        </p:nvSpPr>
        <p:spPr>
          <a:xfrm>
            <a:off x="3786794" y="1880400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7C73A7CE-2D43-E121-7291-9A9478219EF0}"/>
              </a:ext>
            </a:extLst>
          </p:cNvPr>
          <p:cNvSpPr/>
          <p:nvPr/>
        </p:nvSpPr>
        <p:spPr>
          <a:xfrm>
            <a:off x="3786794" y="1880401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1383AC81-06AA-EF1C-85FB-2C3024CBABD9}"/>
              </a:ext>
            </a:extLst>
          </p:cNvPr>
          <p:cNvSpPr/>
          <p:nvPr/>
        </p:nvSpPr>
        <p:spPr>
          <a:xfrm>
            <a:off x="3786794" y="18804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3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4030F8FE-CC80-5682-EA8D-4905D1A8B4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716" y="1957635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C93446C8-622D-424D-2576-E4B0869BE5DC}"/>
              </a:ext>
            </a:extLst>
          </p:cNvPr>
          <p:cNvSpPr/>
          <p:nvPr/>
        </p:nvSpPr>
        <p:spPr>
          <a:xfrm>
            <a:off x="4026927" y="25833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 err="1">
                <a:solidFill>
                  <a:srgbClr val="1B2A3B"/>
                </a:solidFill>
              </a:rPr>
              <a:t>Enrichment</a:t>
            </a:r>
            <a:endParaRPr lang="fr-FR" sz="1050" b="1" noProof="0" dirty="0">
              <a:solidFill>
                <a:srgbClr val="1B2A3B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(</a:t>
            </a:r>
            <a:r>
              <a:rPr lang="fr-FR" sz="900" b="1" noProof="0" dirty="0" err="1">
                <a:solidFill>
                  <a:srgbClr val="0D9488"/>
                </a:solidFill>
              </a:rPr>
              <a:t>Feature</a:t>
            </a:r>
            <a:endParaRPr lang="fr-FR" sz="900" b="1" noProof="0" dirty="0">
              <a:solidFill>
                <a:srgbClr val="0D9488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Engineering)</a:t>
            </a:r>
            <a:endParaRPr lang="fr-FR" sz="1050" b="1" noProof="0" dirty="0">
              <a:solidFill>
                <a:srgbClr val="0D9488"/>
              </a:solidFill>
            </a:endParaRPr>
          </a:p>
          <a:p>
            <a:pPr marL="0" indent="0" algn="ctr">
              <a:buNone/>
            </a:pPr>
            <a:endParaRPr lang="fr-FR" sz="1050" noProof="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DE68991-D913-2777-6922-4A55E8B1BCF9}"/>
              </a:ext>
            </a:extLst>
          </p:cNvPr>
          <p:cNvSpPr/>
          <p:nvPr/>
        </p:nvSpPr>
        <p:spPr>
          <a:xfrm>
            <a:off x="3897518" y="2938258"/>
            <a:ext cx="1251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Transformer les données brutes en informations pertinentes</a:t>
            </a: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2093E349-7758-F665-2BC5-7B1ED6E33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648" y="2913672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0A08616B-B4B4-BB09-E666-0B31E6CD6831}"/>
              </a:ext>
            </a:extLst>
          </p:cNvPr>
          <p:cNvSpPr/>
          <p:nvPr/>
        </p:nvSpPr>
        <p:spPr>
          <a:xfrm>
            <a:off x="5338232" y="188039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196A1E7E-DC81-61C2-8AC3-FFC8BD8490A4}"/>
              </a:ext>
            </a:extLst>
          </p:cNvPr>
          <p:cNvSpPr/>
          <p:nvPr/>
        </p:nvSpPr>
        <p:spPr>
          <a:xfrm>
            <a:off x="5338232" y="1880400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77FEC3C4-AA5D-5ED3-9D2D-242A05A64BF7}"/>
              </a:ext>
            </a:extLst>
          </p:cNvPr>
          <p:cNvSpPr/>
          <p:nvPr/>
        </p:nvSpPr>
        <p:spPr>
          <a:xfrm>
            <a:off x="5338232" y="188040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4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EDC47BC4-EC15-73EE-6C31-ADBF4D471D41}"/>
              </a:ext>
            </a:extLst>
          </p:cNvPr>
          <p:cNvSpPr/>
          <p:nvPr/>
        </p:nvSpPr>
        <p:spPr>
          <a:xfrm>
            <a:off x="5524550" y="24039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CBB0214B-23B5-39A4-9DA4-01529CFC5D26}"/>
              </a:ext>
            </a:extLst>
          </p:cNvPr>
          <p:cNvSpPr/>
          <p:nvPr/>
        </p:nvSpPr>
        <p:spPr>
          <a:xfrm>
            <a:off x="5540658" y="26783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Relier les issues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qui parlent du même bug</a:t>
            </a:r>
            <a:endParaRPr lang="fr-FR" sz="1000" noProof="0" dirty="0"/>
          </a:p>
        </p:txBody>
      </p:sp>
      <p:pic>
        <p:nvPicPr>
          <p:cNvPr id="31" name="Image 7" descr="preencoded.png">
            <a:extLst>
              <a:ext uri="{FF2B5EF4-FFF2-40B4-BE49-F238E27FC236}">
                <a16:creationId xmlns:a16="http://schemas.microsoft.com/office/drawing/2014/main" id="{62952773-8864-5B44-6508-59F678F163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51" y="2908611"/>
            <a:ext cx="237744" cy="237744"/>
          </a:xfrm>
          <a:prstGeom prst="rect">
            <a:avLst/>
          </a:prstGeom>
        </p:spPr>
      </p:pic>
      <p:sp>
        <p:nvSpPr>
          <p:cNvPr id="32" name="Shape 25">
            <a:extLst>
              <a:ext uri="{FF2B5EF4-FFF2-40B4-BE49-F238E27FC236}">
                <a16:creationId xmlns:a16="http://schemas.microsoft.com/office/drawing/2014/main" id="{A6D23440-2BA9-FDC6-2FEA-2CCE14F7B8E4}"/>
              </a:ext>
            </a:extLst>
          </p:cNvPr>
          <p:cNvSpPr/>
          <p:nvPr/>
        </p:nvSpPr>
        <p:spPr>
          <a:xfrm>
            <a:off x="6893635" y="1875339"/>
            <a:ext cx="1397438" cy="1981140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6AC5193A-148D-9500-B227-96DF9FF8314C}"/>
              </a:ext>
            </a:extLst>
          </p:cNvPr>
          <p:cNvSpPr/>
          <p:nvPr/>
        </p:nvSpPr>
        <p:spPr>
          <a:xfrm>
            <a:off x="6893635" y="1875339"/>
            <a:ext cx="1397438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67205F5E-BF53-CA08-A46C-AA1DFC1CB798}"/>
              </a:ext>
            </a:extLst>
          </p:cNvPr>
          <p:cNvSpPr/>
          <p:nvPr/>
        </p:nvSpPr>
        <p:spPr>
          <a:xfrm>
            <a:off x="6893635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5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252E6628-05D4-3714-8C3D-8C0778E40C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581" y="1971840"/>
            <a:ext cx="256032" cy="256032"/>
          </a:xfrm>
          <a:prstGeom prst="rect">
            <a:avLst/>
          </a:prstGeom>
        </p:spPr>
      </p:pic>
      <p:sp>
        <p:nvSpPr>
          <p:cNvPr id="36" name="Text 28">
            <a:extLst>
              <a:ext uri="{FF2B5EF4-FFF2-40B4-BE49-F238E27FC236}">
                <a16:creationId xmlns:a16="http://schemas.microsoft.com/office/drawing/2014/main" id="{A8EB1BF6-D040-238B-9B6C-2A66A66B046E}"/>
              </a:ext>
            </a:extLst>
          </p:cNvPr>
          <p:cNvSpPr/>
          <p:nvPr/>
        </p:nvSpPr>
        <p:spPr>
          <a:xfrm>
            <a:off x="7087690" y="2406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Chunking</a:t>
            </a:r>
            <a:endParaRPr lang="fr-FR" sz="1050" noProof="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4BFB8A31-641D-E7DB-8D84-86A2EF86868F}"/>
              </a:ext>
            </a:extLst>
          </p:cNvPr>
          <p:cNvSpPr/>
          <p:nvPr/>
        </p:nvSpPr>
        <p:spPr>
          <a:xfrm>
            <a:off x="7076515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Découper en morceaux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pour la KB</a:t>
            </a:r>
            <a:endParaRPr lang="fr-FR" sz="1000" noProof="0" dirty="0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855E2B75-7E8C-F8ED-7556-8639E5E462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513" y="2908611"/>
            <a:ext cx="237744" cy="237744"/>
          </a:xfrm>
          <a:prstGeom prst="rect">
            <a:avLst/>
          </a:prstGeom>
        </p:spPr>
      </p:pic>
      <p:sp>
        <p:nvSpPr>
          <p:cNvPr id="39" name="Shape 30">
            <a:extLst>
              <a:ext uri="{FF2B5EF4-FFF2-40B4-BE49-F238E27FC236}">
                <a16:creationId xmlns:a16="http://schemas.microsoft.com/office/drawing/2014/main" id="{03DF8B78-9A20-AA17-29CE-110A8CCDCC7C}"/>
              </a:ext>
            </a:extLst>
          </p:cNvPr>
          <p:cNvSpPr/>
          <p:nvPr/>
        </p:nvSpPr>
        <p:spPr>
          <a:xfrm>
            <a:off x="8483097" y="1875338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6D4239EB-515B-66F5-894F-C5759A3E9DC6}"/>
              </a:ext>
            </a:extLst>
          </p:cNvPr>
          <p:cNvSpPr/>
          <p:nvPr/>
        </p:nvSpPr>
        <p:spPr>
          <a:xfrm>
            <a:off x="8483097" y="1875339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2">
            <a:extLst>
              <a:ext uri="{FF2B5EF4-FFF2-40B4-BE49-F238E27FC236}">
                <a16:creationId xmlns:a16="http://schemas.microsoft.com/office/drawing/2014/main" id="{1C4D5302-B621-FCEF-782F-F00904BBE106}"/>
              </a:ext>
            </a:extLst>
          </p:cNvPr>
          <p:cNvSpPr/>
          <p:nvPr/>
        </p:nvSpPr>
        <p:spPr>
          <a:xfrm>
            <a:off x="8483097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6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E082FD83-4C64-BFD6-5B67-D968F367A3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55" y="1968326"/>
            <a:ext cx="263059" cy="263059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62BEE202-E624-593B-1DE8-224CB7AFD979}"/>
              </a:ext>
            </a:extLst>
          </p:cNvPr>
          <p:cNvSpPr/>
          <p:nvPr/>
        </p:nvSpPr>
        <p:spPr>
          <a:xfrm>
            <a:off x="8693671" y="243705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fr-FR" sz="900" b="1" noProof="0" dirty="0">
                <a:solidFill>
                  <a:srgbClr val="1B2A3B"/>
                </a:solidFill>
              </a:rPr>
              <a:t>(</a:t>
            </a:r>
            <a:r>
              <a:rPr lang="fr-FR" sz="900" b="1" noProof="0" dirty="0">
                <a:solidFill>
                  <a:srgbClr val="0D9488"/>
                </a:solidFill>
              </a:rPr>
              <a:t>Benchmark</a:t>
            </a:r>
            <a:r>
              <a:rPr lang="fr-FR" sz="900" b="1" noProof="0" dirty="0"/>
              <a:t>)</a:t>
            </a:r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5FA451A7-44F8-E541-C0DF-4B42D934F12A}"/>
              </a:ext>
            </a:extLst>
          </p:cNvPr>
          <p:cNvSpPr/>
          <p:nvPr/>
        </p:nvSpPr>
        <p:spPr>
          <a:xfrm>
            <a:off x="8693671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Tester avec 50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questions de référence</a:t>
            </a:r>
            <a:endParaRPr lang="fr-FR" sz="1000" noProof="0" dirty="0"/>
          </a:p>
        </p:txBody>
      </p:sp>
      <p:pic>
        <p:nvPicPr>
          <p:cNvPr id="45" name="Image 11" descr="preencoded.png">
            <a:extLst>
              <a:ext uri="{FF2B5EF4-FFF2-40B4-BE49-F238E27FC236}">
                <a16:creationId xmlns:a16="http://schemas.microsoft.com/office/drawing/2014/main" id="{1D324EFB-EAC2-EA05-50BD-D781E9E78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097" y="2908611"/>
            <a:ext cx="237744" cy="237744"/>
          </a:xfrm>
          <a:prstGeom prst="rect">
            <a:avLst/>
          </a:prstGeom>
        </p:spPr>
      </p:pic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0D2B4E86-F683-35FC-A9A1-D6F9C41737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30413" y="1907831"/>
            <a:ext cx="402338" cy="402338"/>
          </a:xfrm>
          <a:prstGeom prst="rect">
            <a:avLst/>
          </a:prstGeom>
        </p:spPr>
      </p:pic>
      <p:pic>
        <p:nvPicPr>
          <p:cNvPr id="85" name="Graphic 84" descr="Eraser with solid fill">
            <a:extLst>
              <a:ext uri="{FF2B5EF4-FFF2-40B4-BE49-F238E27FC236}">
                <a16:creationId xmlns:a16="http://schemas.microsoft.com/office/drawing/2014/main" id="{AA870CC0-C6DA-36F2-5D92-E8DF9C4DB6A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03230" y="1957635"/>
            <a:ext cx="329184" cy="329184"/>
          </a:xfrm>
          <a:prstGeom prst="rect">
            <a:avLst/>
          </a:prstGeom>
        </p:spPr>
      </p:pic>
      <p:pic>
        <p:nvPicPr>
          <p:cNvPr id="53" name="Graphic 52" descr="Back outline">
            <a:extLst>
              <a:ext uri="{FF2B5EF4-FFF2-40B4-BE49-F238E27FC236}">
                <a16:creationId xmlns:a16="http://schemas.microsoft.com/office/drawing/2014/main" id="{017084DF-3B55-6A22-5C18-5EC3C77C833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0015657" flipH="1" flipV="1">
            <a:off x="6787210" y="4305324"/>
            <a:ext cx="1481109" cy="1481109"/>
          </a:xfrm>
          <a:prstGeom prst="rect">
            <a:avLst/>
          </a:prstGeom>
        </p:spPr>
      </p:pic>
      <p:sp>
        <p:nvSpPr>
          <p:cNvPr id="61" name="Shape 44">
            <a:extLst>
              <a:ext uri="{FF2B5EF4-FFF2-40B4-BE49-F238E27FC236}">
                <a16:creationId xmlns:a16="http://schemas.microsoft.com/office/drawing/2014/main" id="{E95A1BB7-085C-242F-D00E-F94E512AEE64}"/>
              </a:ext>
            </a:extLst>
          </p:cNvPr>
          <p:cNvSpPr/>
          <p:nvPr/>
        </p:nvSpPr>
        <p:spPr>
          <a:xfrm>
            <a:off x="2479661" y="4416277"/>
            <a:ext cx="411480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F8D93246-74FD-8E55-5C52-F90249B66453}"/>
              </a:ext>
            </a:extLst>
          </p:cNvPr>
          <p:cNvSpPr/>
          <p:nvPr/>
        </p:nvSpPr>
        <p:spPr>
          <a:xfrm>
            <a:off x="2479661" y="4416277"/>
            <a:ext cx="64008" cy="181051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Text 46">
            <a:extLst>
              <a:ext uri="{FF2B5EF4-FFF2-40B4-BE49-F238E27FC236}">
                <a16:creationId xmlns:a16="http://schemas.microsoft.com/office/drawing/2014/main" id="{178E27ED-AD10-EFEC-AB55-2B2CDC737A8A}"/>
              </a:ext>
            </a:extLst>
          </p:cNvPr>
          <p:cNvSpPr/>
          <p:nvPr/>
        </p:nvSpPr>
        <p:spPr>
          <a:xfrm>
            <a:off x="2680829" y="4507717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b="1" noProof="0" dirty="0">
                <a:solidFill>
                  <a:srgbClr val="0D9488"/>
                </a:solidFill>
              </a:rPr>
              <a:t>❓ Pourquoi découper ?</a:t>
            </a:r>
            <a:endParaRPr lang="fr-FR" sz="1050" noProof="0" dirty="0"/>
          </a:p>
        </p:txBody>
      </p:sp>
      <p:sp>
        <p:nvSpPr>
          <p:cNvPr id="64" name="Text 47">
            <a:extLst>
              <a:ext uri="{FF2B5EF4-FFF2-40B4-BE49-F238E27FC236}">
                <a16:creationId xmlns:a16="http://schemas.microsoft.com/office/drawing/2014/main" id="{98B962DF-02AE-0F52-0AE0-D65EE8761DB8}"/>
              </a:ext>
            </a:extLst>
          </p:cNvPr>
          <p:cNvSpPr/>
          <p:nvPr/>
        </p:nvSpPr>
        <p:spPr>
          <a:xfrm>
            <a:off x="2680829" y="4800325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B2A3B"/>
                </a:solidFill>
              </a:rPr>
              <a:t>L'IA ne peut pas lire 5 000 fichiers d'un coup. On découpe en petits morceaux (</a:t>
            </a:r>
            <a:r>
              <a:rPr lang="fr-FR" sz="1000" noProof="0" dirty="0" err="1">
                <a:solidFill>
                  <a:srgbClr val="1B2A3B"/>
                </a:solidFill>
              </a:rPr>
              <a:t>chunks</a:t>
            </a:r>
            <a:r>
              <a:rPr lang="fr-FR" sz="1000" noProof="0" dirty="0">
                <a:solidFill>
                  <a:srgbClr val="1B2A3B"/>
                </a:solidFill>
              </a:rPr>
              <a:t>). Chaque </a:t>
            </a:r>
            <a:r>
              <a:rPr lang="fr-FR" sz="1000" noProof="0" dirty="0" err="1">
                <a:solidFill>
                  <a:srgbClr val="1B2A3B"/>
                </a:solidFill>
              </a:rPr>
              <a:t>chunk</a:t>
            </a:r>
            <a:r>
              <a:rPr lang="fr-FR" sz="1000" noProof="0" dirty="0">
                <a:solidFill>
                  <a:srgbClr val="1B2A3B"/>
                </a:solidFill>
              </a:rPr>
              <a:t> = un passage précis. La KB indexe ces </a:t>
            </a:r>
            <a:r>
              <a:rPr lang="fr-FR" sz="1000" noProof="0" dirty="0" err="1">
                <a:solidFill>
                  <a:srgbClr val="1B2A3B"/>
                </a:solidFill>
              </a:rPr>
              <a:t>chunks</a:t>
            </a:r>
            <a:r>
              <a:rPr lang="fr-FR" sz="1000" noProof="0" dirty="0">
                <a:solidFill>
                  <a:srgbClr val="1B2A3B"/>
                </a:solidFill>
              </a:rPr>
              <a:t>.</a:t>
            </a:r>
            <a:endParaRPr lang="fr-FR" sz="1000" noProof="0" dirty="0"/>
          </a:p>
        </p:txBody>
      </p:sp>
      <p:sp>
        <p:nvSpPr>
          <p:cNvPr id="65" name="Shape 35">
            <a:extLst>
              <a:ext uri="{FF2B5EF4-FFF2-40B4-BE49-F238E27FC236}">
                <a16:creationId xmlns:a16="http://schemas.microsoft.com/office/drawing/2014/main" id="{80860C3B-979D-C45D-7B92-93C673C4C779}"/>
              </a:ext>
            </a:extLst>
          </p:cNvPr>
          <p:cNvSpPr/>
          <p:nvPr/>
        </p:nvSpPr>
        <p:spPr>
          <a:xfrm>
            <a:off x="10032904" y="1865704"/>
            <a:ext cx="1367887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6" name="Shape 36">
            <a:extLst>
              <a:ext uri="{FF2B5EF4-FFF2-40B4-BE49-F238E27FC236}">
                <a16:creationId xmlns:a16="http://schemas.microsoft.com/office/drawing/2014/main" id="{CD63192A-2C01-0167-1A63-01BBA6D299FA}"/>
              </a:ext>
            </a:extLst>
          </p:cNvPr>
          <p:cNvSpPr/>
          <p:nvPr/>
        </p:nvSpPr>
        <p:spPr>
          <a:xfrm>
            <a:off x="10032905" y="1865705"/>
            <a:ext cx="1383932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7" name="Text 37">
            <a:extLst>
              <a:ext uri="{FF2B5EF4-FFF2-40B4-BE49-F238E27FC236}">
                <a16:creationId xmlns:a16="http://schemas.microsoft.com/office/drawing/2014/main" id="{532E5F3A-F942-1E9F-7417-0A93F4BE9ED4}"/>
              </a:ext>
            </a:extLst>
          </p:cNvPr>
          <p:cNvSpPr/>
          <p:nvPr/>
        </p:nvSpPr>
        <p:spPr>
          <a:xfrm>
            <a:off x="10032905" y="186570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7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68" name="Image 12" descr="preencoded.png">
            <a:extLst>
              <a:ext uri="{FF2B5EF4-FFF2-40B4-BE49-F238E27FC236}">
                <a16:creationId xmlns:a16="http://schemas.microsoft.com/office/drawing/2014/main" id="{69B04118-2F35-07A3-2D32-A7E0EF530DE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15272" y="1950774"/>
            <a:ext cx="288037" cy="288037"/>
          </a:xfrm>
          <a:prstGeom prst="rect">
            <a:avLst/>
          </a:prstGeom>
        </p:spPr>
      </p:pic>
      <p:sp>
        <p:nvSpPr>
          <p:cNvPr id="69" name="Text 38">
            <a:extLst>
              <a:ext uri="{FF2B5EF4-FFF2-40B4-BE49-F238E27FC236}">
                <a16:creationId xmlns:a16="http://schemas.microsoft.com/office/drawing/2014/main" id="{1CBBF389-9BD9-2F39-14E2-305725F83F20}"/>
              </a:ext>
            </a:extLst>
          </p:cNvPr>
          <p:cNvSpPr/>
          <p:nvPr/>
        </p:nvSpPr>
        <p:spPr>
          <a:xfrm>
            <a:off x="10107544" y="2586437"/>
            <a:ext cx="12346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Delivery</a:t>
            </a:r>
          </a:p>
          <a:p>
            <a:pPr marL="0" indent="0" algn="ctr">
              <a:buNone/>
            </a:pPr>
            <a:r>
              <a:rPr lang="fr-FR" sz="800" b="1" noProof="0" dirty="0">
                <a:solidFill>
                  <a:srgbClr val="1B2A3B"/>
                </a:solidFill>
              </a:rPr>
              <a:t>(</a:t>
            </a:r>
            <a:r>
              <a:rPr lang="fr-FR" sz="800" b="1" noProof="0" dirty="0" err="1">
                <a:solidFill>
                  <a:srgbClr val="0D9488"/>
                </a:solidFill>
              </a:rPr>
              <a:t>resolver</a:t>
            </a:r>
            <a:r>
              <a:rPr lang="fr-FR" sz="800" b="1" noProof="0" dirty="0">
                <a:solidFill>
                  <a:srgbClr val="0D9488"/>
                </a:solidFill>
              </a:rPr>
              <a:t> cases, diagnostic </a:t>
            </a:r>
            <a:r>
              <a:rPr lang="fr-FR" sz="800" b="1" noProof="0" dirty="0" err="1">
                <a:solidFill>
                  <a:srgbClr val="0D9488"/>
                </a:solidFill>
              </a:rPr>
              <a:t>cards</a:t>
            </a:r>
            <a:r>
              <a:rPr lang="fr-FR" sz="800" b="1" noProof="0" dirty="0">
                <a:solidFill>
                  <a:srgbClr val="0D9488"/>
                </a:solidFill>
              </a:rPr>
              <a:t>, exports ST-</a:t>
            </a:r>
            <a:r>
              <a:rPr lang="fr-FR" sz="800" b="1" noProof="0" dirty="0" err="1">
                <a:solidFill>
                  <a:srgbClr val="0D9488"/>
                </a:solidFill>
              </a:rPr>
              <a:t>ready</a:t>
            </a:r>
            <a:r>
              <a:rPr lang="fr-FR" sz="800" b="1" noProof="0" dirty="0">
                <a:solidFill>
                  <a:srgbClr val="1B2A3B"/>
                </a:solidFill>
              </a:rPr>
              <a:t>)</a:t>
            </a:r>
          </a:p>
          <a:p>
            <a:pPr marL="0" indent="0" algn="ctr">
              <a:buNone/>
            </a:pPr>
            <a:endParaRPr lang="fr-FR" sz="1050" b="1" noProof="0" dirty="0">
              <a:solidFill>
                <a:srgbClr val="1B2A3B"/>
              </a:solidFill>
            </a:endParaRPr>
          </a:p>
        </p:txBody>
      </p:sp>
      <p:sp>
        <p:nvSpPr>
          <p:cNvPr id="70" name="Text 39">
            <a:extLst>
              <a:ext uri="{FF2B5EF4-FFF2-40B4-BE49-F238E27FC236}">
                <a16:creationId xmlns:a16="http://schemas.microsoft.com/office/drawing/2014/main" id="{D8A3ECF8-A6CD-2425-F3A8-BC546E32D9F0}"/>
              </a:ext>
            </a:extLst>
          </p:cNvPr>
          <p:cNvSpPr/>
          <p:nvPr/>
        </p:nvSpPr>
        <p:spPr>
          <a:xfrm>
            <a:off x="10221951" y="281561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Livrer les JSON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format ST-</a:t>
            </a:r>
            <a:r>
              <a:rPr lang="fr-FR" sz="1000" noProof="0" dirty="0" err="1">
                <a:solidFill>
                  <a:srgbClr val="64748B"/>
                </a:solidFill>
              </a:rPr>
              <a:t>ready</a:t>
            </a:r>
            <a:endParaRPr lang="fr-FR" sz="1000" noProof="0" dirty="0"/>
          </a:p>
        </p:txBody>
      </p:sp>
    </p:spTree>
    <p:extLst>
      <p:ext uri="{BB962C8B-B14F-4D97-AF65-F5344CB8AC3E}">
        <p14:creationId xmlns:p14="http://schemas.microsoft.com/office/powerpoint/2010/main" val="24701819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04E1B-00EB-D13D-E508-AD0B13EF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040A2-3B8F-724F-A2A6-587128610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Pipeline</a:t>
            </a:r>
            <a:r>
              <a:rPr lang="fr-FR" sz="1800" b="1" dirty="0"/>
              <a:t> </a:t>
            </a:r>
            <a:r>
              <a:rPr lang="fr-FR" sz="1800" b="1" noProof="0" dirty="0"/>
              <a:t>: STM32Cube RAG </a:t>
            </a:r>
            <a:r>
              <a:rPr lang="fr-FR" sz="1800" b="1" noProof="0" dirty="0" err="1"/>
              <a:t>Chunking</a:t>
            </a:r>
            <a:r>
              <a:rPr lang="fr-FR" sz="1800" b="1" noProof="0" dirty="0"/>
              <a:t> Benchmark  </a:t>
            </a:r>
            <a:endParaRPr lang="fr-FR" sz="1800" noProof="0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E0F2FF0-1366-3A69-2B1D-C65FE2DDC3F2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6508544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D0FCA-B020-A8AE-6162-5A31EE9DC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689D-76BB-A217-5E65-F07E7B87C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Pipeline : </a:t>
            </a:r>
            <a:r>
              <a:rPr lang="fr-FR" sz="1800" b="1" noProof="0" dirty="0" err="1"/>
              <a:t>chunking</a:t>
            </a:r>
            <a:endParaRPr lang="fr-FR" sz="1800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AB94FE-6E63-6062-0660-D7E1F13C59F7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Le </a:t>
            </a:r>
            <a:r>
              <a:rPr lang="fr-FR" sz="1200" b="1" noProof="0" dirty="0" err="1">
                <a:solidFill>
                  <a:srgbClr val="425A78"/>
                </a:solidFill>
              </a:rPr>
              <a:t>Chunking</a:t>
            </a:r>
            <a:r>
              <a:rPr lang="fr-FR" sz="1200" b="1" noProof="0" dirty="0">
                <a:solidFill>
                  <a:srgbClr val="425A78"/>
                </a:solidFill>
              </a:rPr>
              <a:t> PARENT_CHILD — Découper intelligemment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384CB979-B888-1C47-B794-9D08B2CDD306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Pourquoi on ne donne pas tout le document d'un coup à l'IA ?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981AFD3F-9C9C-11C2-FD53-8C7FD487D39C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E9EC16EF-42C8-A70D-B9E7-9985E8459A5B}"/>
              </a:ext>
            </a:extLst>
          </p:cNvPr>
          <p:cNvSpPr/>
          <p:nvPr/>
        </p:nvSpPr>
        <p:spPr>
          <a:xfrm>
            <a:off x="1111518" y="1684939"/>
            <a:ext cx="9491334" cy="804672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3F5A7FE2-F523-76D9-B535-0D3AFD52D516}"/>
              </a:ext>
            </a:extLst>
          </p:cNvPr>
          <p:cNvSpPr/>
          <p:nvPr/>
        </p:nvSpPr>
        <p:spPr>
          <a:xfrm>
            <a:off x="1111518" y="1684939"/>
            <a:ext cx="68893" cy="804672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72DCA3C3-3466-AFC1-C27B-6A61651FB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686" y="1849531"/>
            <a:ext cx="295255" cy="274320"/>
          </a:xfrm>
          <a:prstGeom prst="rect">
            <a:avLst/>
          </a:prstGeom>
        </p:spPr>
      </p:pic>
      <p:sp>
        <p:nvSpPr>
          <p:cNvPr id="7" name="Text 7">
            <a:extLst>
              <a:ext uri="{FF2B5EF4-FFF2-40B4-BE49-F238E27FC236}">
                <a16:creationId xmlns:a16="http://schemas.microsoft.com/office/drawing/2014/main" id="{D27E289B-0AB7-50BA-C1FB-C03968058EF6}"/>
              </a:ext>
            </a:extLst>
          </p:cNvPr>
          <p:cNvSpPr/>
          <p:nvPr/>
        </p:nvSpPr>
        <p:spPr>
          <a:xfrm>
            <a:off x="1705878" y="1758091"/>
            <a:ext cx="93943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Analogie du livre : Si vous cherchez une information dans un livre, vous n'envoyez pas tout le livre à quelqu'un. </a:t>
            </a:r>
          </a:p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Vous trouvez d'abord le bon chapitre (CHILD = 1 000 caractères), puis vous lisez le chapitre complet pour comprendre le contexte </a:t>
            </a:r>
          </a:p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(PARENT = 3 000 caractères).</a:t>
            </a:r>
            <a:endParaRPr lang="fr-FR" sz="1100" noProof="0" dirty="0"/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BA4993E-F924-302F-CA14-634819B1AC2D}"/>
              </a:ext>
            </a:extLst>
          </p:cNvPr>
          <p:cNvSpPr/>
          <p:nvPr/>
        </p:nvSpPr>
        <p:spPr>
          <a:xfrm>
            <a:off x="1636159" y="3024640"/>
            <a:ext cx="3474720" cy="2633472"/>
          </a:xfrm>
          <a:prstGeom prst="rect">
            <a:avLst/>
          </a:prstGeom>
          <a:noFill/>
          <a:ln w="25400">
            <a:solidFill>
              <a:schemeClr val="tx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C71F2B3-A6BD-8D66-5A2F-9B90B498602F}"/>
              </a:ext>
            </a:extLst>
          </p:cNvPr>
          <p:cNvSpPr/>
          <p:nvPr/>
        </p:nvSpPr>
        <p:spPr>
          <a:xfrm>
            <a:off x="1636159" y="3024640"/>
            <a:ext cx="3474720" cy="402336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F1F76810-25A9-9F31-FB05-943755912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857" y="3116080"/>
            <a:ext cx="214244" cy="214244"/>
          </a:xfrm>
          <a:prstGeom prst="rect">
            <a:avLst/>
          </a:prstGeom>
        </p:spPr>
      </p:pic>
      <p:sp>
        <p:nvSpPr>
          <p:cNvPr id="11" name="Text 10">
            <a:extLst>
              <a:ext uri="{FF2B5EF4-FFF2-40B4-BE49-F238E27FC236}">
                <a16:creationId xmlns:a16="http://schemas.microsoft.com/office/drawing/2014/main" id="{7EF26C2D-D553-546F-919A-0161EC724CCE}"/>
              </a:ext>
            </a:extLst>
          </p:cNvPr>
          <p:cNvSpPr/>
          <p:nvPr/>
        </p:nvSpPr>
        <p:spPr>
          <a:xfrm>
            <a:off x="2148223" y="311608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488"/>
                </a:solidFill>
              </a:rPr>
              <a:t>PARENT CHUNK  (~3 000 caractères)</a:t>
            </a:r>
            <a:endParaRPr lang="fr-FR" sz="1100" noProof="0" dirty="0">
              <a:solidFill>
                <a:srgbClr val="0D9488"/>
              </a:solidFill>
            </a:endParaRPr>
          </a:p>
        </p:txBody>
      </p:sp>
      <p:pic>
        <p:nvPicPr>
          <p:cNvPr id="12" name="Image 2" descr="preencoded.png">
            <a:extLst>
              <a:ext uri="{FF2B5EF4-FFF2-40B4-BE49-F238E27FC236}">
                <a16:creationId xmlns:a16="http://schemas.microsoft.com/office/drawing/2014/main" id="{0C14103C-8D6B-1272-00B6-6933FA1306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751" y="3673864"/>
            <a:ext cx="201168" cy="201168"/>
          </a:xfrm>
          <a:prstGeom prst="rect">
            <a:avLst/>
          </a:prstGeom>
        </p:spPr>
      </p:pic>
      <p:sp>
        <p:nvSpPr>
          <p:cNvPr id="13" name="Text 11">
            <a:extLst>
              <a:ext uri="{FF2B5EF4-FFF2-40B4-BE49-F238E27FC236}">
                <a16:creationId xmlns:a16="http://schemas.microsoft.com/office/drawing/2014/main" id="{8EC61778-7810-7352-CAE7-20A2C7FE84E6}"/>
              </a:ext>
            </a:extLst>
          </p:cNvPr>
          <p:cNvSpPr/>
          <p:nvPr/>
        </p:nvSpPr>
        <p:spPr>
          <a:xfrm>
            <a:off x="2093359" y="3631289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Contient le contexte complet du document</a:t>
            </a:r>
          </a:p>
        </p:txBody>
      </p:sp>
      <p:pic>
        <p:nvPicPr>
          <p:cNvPr id="15" name="Image 3" descr="preencoded.png">
            <a:extLst>
              <a:ext uri="{FF2B5EF4-FFF2-40B4-BE49-F238E27FC236}">
                <a16:creationId xmlns:a16="http://schemas.microsoft.com/office/drawing/2014/main" id="{D79C6F14-1BDA-7990-8C63-315D12882B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751" y="4131064"/>
            <a:ext cx="201168" cy="201168"/>
          </a:xfrm>
          <a:prstGeom prst="rect">
            <a:avLst/>
          </a:prstGeom>
        </p:spPr>
      </p:pic>
      <p:sp>
        <p:nvSpPr>
          <p:cNvPr id="16" name="Text 12">
            <a:extLst>
              <a:ext uri="{FF2B5EF4-FFF2-40B4-BE49-F238E27FC236}">
                <a16:creationId xmlns:a16="http://schemas.microsoft.com/office/drawing/2014/main" id="{4CE21955-CDD3-4164-5EAB-ED31852C298C}"/>
              </a:ext>
            </a:extLst>
          </p:cNvPr>
          <p:cNvSpPr/>
          <p:nvPr/>
        </p:nvSpPr>
        <p:spPr>
          <a:xfrm>
            <a:off x="2093359" y="4088489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Utilisé par le LLM pour formuler la réponse</a:t>
            </a:r>
          </a:p>
        </p:txBody>
      </p:sp>
      <p:pic>
        <p:nvPicPr>
          <p:cNvPr id="17" name="Image 4" descr="preencoded.png">
            <a:extLst>
              <a:ext uri="{FF2B5EF4-FFF2-40B4-BE49-F238E27FC236}">
                <a16:creationId xmlns:a16="http://schemas.microsoft.com/office/drawing/2014/main" id="{A6DF70D4-3473-CA90-CF4A-C03D20F02C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751" y="4588264"/>
            <a:ext cx="201168" cy="201168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56129FEE-E76D-1889-5F2C-79FA1C62B454}"/>
              </a:ext>
            </a:extLst>
          </p:cNvPr>
          <p:cNvSpPr/>
          <p:nvPr/>
        </p:nvSpPr>
        <p:spPr>
          <a:xfrm>
            <a:off x="2093359" y="4545689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Preserve le sens global de la section</a:t>
            </a:r>
          </a:p>
        </p:txBody>
      </p:sp>
      <p:pic>
        <p:nvPicPr>
          <p:cNvPr id="19" name="Image 5" descr="preencoded.png">
            <a:extLst>
              <a:ext uri="{FF2B5EF4-FFF2-40B4-BE49-F238E27FC236}">
                <a16:creationId xmlns:a16="http://schemas.microsoft.com/office/drawing/2014/main" id="{035D35AD-6321-7A48-5E2C-355B3ECB98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0751" y="5045464"/>
            <a:ext cx="201168" cy="201168"/>
          </a:xfrm>
          <a:prstGeom prst="rect">
            <a:avLst/>
          </a:prstGeom>
        </p:spPr>
      </p:pic>
      <p:sp>
        <p:nvSpPr>
          <p:cNvPr id="20" name="Text 14">
            <a:extLst>
              <a:ext uri="{FF2B5EF4-FFF2-40B4-BE49-F238E27FC236}">
                <a16:creationId xmlns:a16="http://schemas.microsoft.com/office/drawing/2014/main" id="{3460379A-D797-D593-7461-C5AFA5ED8784}"/>
              </a:ext>
            </a:extLst>
          </p:cNvPr>
          <p:cNvSpPr/>
          <p:nvPr/>
        </p:nvSpPr>
        <p:spPr>
          <a:xfrm>
            <a:off x="2093359" y="5002889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Envoyé entier à l'IA pour la génération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AC870222-1E78-321C-87AB-F93B818A74B2}"/>
              </a:ext>
            </a:extLst>
          </p:cNvPr>
          <p:cNvSpPr/>
          <p:nvPr/>
        </p:nvSpPr>
        <p:spPr>
          <a:xfrm>
            <a:off x="5524675" y="4172809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b="1" noProof="0" dirty="0">
                <a:solidFill>
                  <a:srgbClr val="F59E0B"/>
                </a:solidFill>
              </a:rPr>
              <a:t>subdivisé en ▶</a:t>
            </a:r>
            <a:endParaRPr lang="fr-FR" sz="1000" noProof="0" dirty="0">
              <a:solidFill>
                <a:srgbClr val="F59E0B"/>
              </a:solidFill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4F96C280-9172-BA67-3C8A-8BCE4935A656}"/>
              </a:ext>
            </a:extLst>
          </p:cNvPr>
          <p:cNvSpPr/>
          <p:nvPr/>
        </p:nvSpPr>
        <p:spPr>
          <a:xfrm>
            <a:off x="7006339" y="3024640"/>
            <a:ext cx="3338245" cy="2633472"/>
          </a:xfrm>
          <a:prstGeom prst="rect">
            <a:avLst/>
          </a:prstGeom>
          <a:noFill/>
          <a:ln w="28575">
            <a:solidFill>
              <a:srgbClr val="0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9D32629B-9345-E633-E9E5-C423B3F8E570}"/>
              </a:ext>
            </a:extLst>
          </p:cNvPr>
          <p:cNvSpPr/>
          <p:nvPr/>
        </p:nvSpPr>
        <p:spPr>
          <a:xfrm>
            <a:off x="7006340" y="3024640"/>
            <a:ext cx="3338246" cy="402336"/>
          </a:xfrm>
          <a:prstGeom prst="rect">
            <a:avLst/>
          </a:prstGeom>
          <a:solidFill>
            <a:srgbClr val="1B2A3B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24" name="Image 6" descr="preencoded.png">
            <a:extLst>
              <a:ext uri="{FF2B5EF4-FFF2-40B4-BE49-F238E27FC236}">
                <a16:creationId xmlns:a16="http://schemas.microsoft.com/office/drawing/2014/main" id="{F32B72B3-1A16-232D-E26F-8ED52990A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4432" y="3097792"/>
            <a:ext cx="232532" cy="232532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631A8F47-D047-CFE1-CC0E-4B77F9563AD3}"/>
              </a:ext>
            </a:extLst>
          </p:cNvPr>
          <p:cNvSpPr/>
          <p:nvPr/>
        </p:nvSpPr>
        <p:spPr>
          <a:xfrm>
            <a:off x="7500116" y="3116080"/>
            <a:ext cx="2505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9589"/>
                </a:solidFill>
              </a:rPr>
              <a:t>CHILD CHUNK  (~1 000 caractères)</a:t>
            </a:r>
            <a:endParaRPr lang="fr-FR" sz="1100" noProof="0" dirty="0">
              <a:solidFill>
                <a:srgbClr val="0D9589"/>
              </a:solidFill>
            </a:endParaRP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DD0E3BF1-B458-0495-9A27-82F3ECF59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796" y="3713585"/>
            <a:ext cx="201168" cy="201168"/>
          </a:xfrm>
          <a:prstGeom prst="rect">
            <a:avLst/>
          </a:prstGeom>
        </p:spPr>
      </p:pic>
      <p:sp>
        <p:nvSpPr>
          <p:cNvPr id="27" name="Text 19">
            <a:extLst>
              <a:ext uri="{FF2B5EF4-FFF2-40B4-BE49-F238E27FC236}">
                <a16:creationId xmlns:a16="http://schemas.microsoft.com/office/drawing/2014/main" id="{A53EC1B3-9429-16D2-D9B6-7D80145AE9EF}"/>
              </a:ext>
            </a:extLst>
          </p:cNvPr>
          <p:cNvSpPr/>
          <p:nvPr/>
        </p:nvSpPr>
        <p:spPr>
          <a:xfrm>
            <a:off x="7500116" y="367386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Sous-segment précis du parent</a:t>
            </a:r>
          </a:p>
        </p:txBody>
      </p:sp>
      <p:pic>
        <p:nvPicPr>
          <p:cNvPr id="29" name="Image 8" descr="preencoded.png">
            <a:extLst>
              <a:ext uri="{FF2B5EF4-FFF2-40B4-BE49-F238E27FC236}">
                <a16:creationId xmlns:a16="http://schemas.microsoft.com/office/drawing/2014/main" id="{D58D0FBD-8CB6-8782-9241-DF97FF722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796" y="4170785"/>
            <a:ext cx="201168" cy="201168"/>
          </a:xfrm>
          <a:prstGeom prst="rect">
            <a:avLst/>
          </a:prstGeom>
        </p:spPr>
      </p:pic>
      <p:sp>
        <p:nvSpPr>
          <p:cNvPr id="30" name="Text 20">
            <a:extLst>
              <a:ext uri="{FF2B5EF4-FFF2-40B4-BE49-F238E27FC236}">
                <a16:creationId xmlns:a16="http://schemas.microsoft.com/office/drawing/2014/main" id="{31A79FC8-8EEC-E254-2447-64B3C43ED31B}"/>
              </a:ext>
            </a:extLst>
          </p:cNvPr>
          <p:cNvSpPr/>
          <p:nvPr/>
        </p:nvSpPr>
        <p:spPr>
          <a:xfrm>
            <a:off x="7500116" y="413106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Utilisé pour la RECHERCHE dans la KB</a:t>
            </a:r>
          </a:p>
        </p:txBody>
      </p:sp>
      <p:pic>
        <p:nvPicPr>
          <p:cNvPr id="31" name="Image 9" descr="preencoded.png">
            <a:extLst>
              <a:ext uri="{FF2B5EF4-FFF2-40B4-BE49-F238E27FC236}">
                <a16:creationId xmlns:a16="http://schemas.microsoft.com/office/drawing/2014/main" id="{1CEE3D51-B252-F3CE-78CD-8ACC8F6510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796" y="4627985"/>
            <a:ext cx="201168" cy="201168"/>
          </a:xfrm>
          <a:prstGeom prst="rect">
            <a:avLst/>
          </a:prstGeom>
        </p:spPr>
      </p:pic>
      <p:sp>
        <p:nvSpPr>
          <p:cNvPr id="32" name="Text 21">
            <a:extLst>
              <a:ext uri="{FF2B5EF4-FFF2-40B4-BE49-F238E27FC236}">
                <a16:creationId xmlns:a16="http://schemas.microsoft.com/office/drawing/2014/main" id="{017708C0-CC47-3F1A-D898-BD47FF2EB60B}"/>
              </a:ext>
            </a:extLst>
          </p:cNvPr>
          <p:cNvSpPr/>
          <p:nvPr/>
        </p:nvSpPr>
        <p:spPr>
          <a:xfrm>
            <a:off x="7500116" y="458826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Trouve le bon passage à la question</a:t>
            </a:r>
          </a:p>
        </p:txBody>
      </p:sp>
      <p:pic>
        <p:nvPicPr>
          <p:cNvPr id="33" name="Image 10" descr="preencoded.png">
            <a:extLst>
              <a:ext uri="{FF2B5EF4-FFF2-40B4-BE49-F238E27FC236}">
                <a16:creationId xmlns:a16="http://schemas.microsoft.com/office/drawing/2014/main" id="{304695C4-648B-5674-44BE-0D7DEC5EE1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796" y="5085185"/>
            <a:ext cx="201168" cy="201168"/>
          </a:xfrm>
          <a:prstGeom prst="rect">
            <a:avLst/>
          </a:prstGeom>
        </p:spPr>
      </p:pic>
      <p:sp>
        <p:nvSpPr>
          <p:cNvPr id="34" name="Text 22">
            <a:extLst>
              <a:ext uri="{FF2B5EF4-FFF2-40B4-BE49-F238E27FC236}">
                <a16:creationId xmlns:a16="http://schemas.microsoft.com/office/drawing/2014/main" id="{462F4488-04CC-74B5-2010-C82EBF67EA40}"/>
              </a:ext>
            </a:extLst>
          </p:cNvPr>
          <p:cNvSpPr/>
          <p:nvPr/>
        </p:nvSpPr>
        <p:spPr>
          <a:xfrm>
            <a:off x="7500116" y="504546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noProof="0" dirty="0"/>
              <a:t>Lié à son parent pour récupérer contexte</a:t>
            </a:r>
          </a:p>
        </p:txBody>
      </p:sp>
    </p:spTree>
    <p:extLst>
      <p:ext uri="{BB962C8B-B14F-4D97-AF65-F5344CB8AC3E}">
        <p14:creationId xmlns:p14="http://schemas.microsoft.com/office/powerpoint/2010/main" val="2307349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BA9E6-68EA-05CF-572D-E998A257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68AD-9ADF-0D4F-C3B6-44EB30DE4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>
                <a:latin typeface="+mn-lt"/>
              </a:rPr>
              <a:t>Le pipeline de </a:t>
            </a:r>
            <a:r>
              <a:rPr lang="fr-FR" sz="1800" b="1" noProof="0" dirty="0" err="1">
                <a:latin typeface="+mn-lt"/>
              </a:rPr>
              <a:t>preprocessing</a:t>
            </a:r>
            <a:endParaRPr lang="fr-FR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515EA1-F5BE-958D-23C0-08F14ADB29CA}"/>
              </a:ext>
            </a:extLst>
          </p:cNvPr>
          <p:cNvSpPr txBox="1"/>
          <p:nvPr/>
        </p:nvSpPr>
        <p:spPr>
          <a:xfrm>
            <a:off x="242477" y="615186"/>
            <a:ext cx="62716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7 étapes pour transformer la donnée brute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D036537-B7F2-5A4F-4553-DA48CDFC50DD}"/>
              </a:ext>
            </a:extLst>
          </p:cNvPr>
          <p:cNvSpPr/>
          <p:nvPr/>
        </p:nvSpPr>
        <p:spPr>
          <a:xfrm>
            <a:off x="340364" y="92513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Chaque étape a un rôle précis , rien n'est fait au hasard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0D82B09-A925-3264-2D5A-EFA1FB74855C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D9C5BD2-5E97-AFDB-146B-D40E4734F02A}"/>
              </a:ext>
            </a:extLst>
          </p:cNvPr>
          <p:cNvSpPr/>
          <p:nvPr/>
        </p:nvSpPr>
        <p:spPr>
          <a:xfrm>
            <a:off x="540610" y="1884973"/>
            <a:ext cx="1412748" cy="198114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02E48A15-587B-C18F-E2C3-AC65142D28B4}"/>
              </a:ext>
            </a:extLst>
          </p:cNvPr>
          <p:cNvSpPr/>
          <p:nvPr/>
        </p:nvSpPr>
        <p:spPr>
          <a:xfrm>
            <a:off x="540609" y="1884973"/>
            <a:ext cx="1412747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CD679645-7E07-2D69-0DD5-FEB0729F55EB}"/>
              </a:ext>
            </a:extLst>
          </p:cNvPr>
          <p:cNvSpPr/>
          <p:nvPr/>
        </p:nvSpPr>
        <p:spPr>
          <a:xfrm>
            <a:off x="540610" y="1884973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1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403C5750-ED1D-2250-6848-857E3A4BC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22" y="1953316"/>
            <a:ext cx="329184" cy="329184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5DC30F6E-D769-CD7E-803D-519B58FD01BD}"/>
              </a:ext>
            </a:extLst>
          </p:cNvPr>
          <p:cNvSpPr/>
          <p:nvPr/>
        </p:nvSpPr>
        <p:spPr>
          <a:xfrm>
            <a:off x="746350" y="24015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Ingestion</a:t>
            </a:r>
            <a:endParaRPr lang="fr-FR" sz="1050" noProof="0" dirty="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F44B0820-0672-2568-4C6C-10E624F9A64A}"/>
              </a:ext>
            </a:extLst>
          </p:cNvPr>
          <p:cNvSpPr/>
          <p:nvPr/>
        </p:nvSpPr>
        <p:spPr>
          <a:xfrm>
            <a:off x="739758" y="2734971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Télécharger les données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brutes depuis GitHub</a:t>
            </a:r>
            <a:endParaRPr lang="fr-FR" sz="1000" noProof="0" dirty="0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993CC2CF-A237-D515-F21B-FB3BA9741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512" y="2925247"/>
            <a:ext cx="237744" cy="237744"/>
          </a:xfrm>
          <a:prstGeom prst="rect">
            <a:avLst/>
          </a:prstGeom>
        </p:spPr>
      </p:pic>
      <p:sp>
        <p:nvSpPr>
          <p:cNvPr id="11" name="Shape 10">
            <a:extLst>
              <a:ext uri="{FF2B5EF4-FFF2-40B4-BE49-F238E27FC236}">
                <a16:creationId xmlns:a16="http://schemas.microsoft.com/office/drawing/2014/main" id="{850D30B1-9811-96B4-60E3-EDD42BE80F24}"/>
              </a:ext>
            </a:extLst>
          </p:cNvPr>
          <p:cNvSpPr/>
          <p:nvPr/>
        </p:nvSpPr>
        <p:spPr>
          <a:xfrm>
            <a:off x="2159096" y="1891975"/>
            <a:ext cx="1412748" cy="19741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DD03F411-D71B-6AF3-991E-98F34F05ED47}"/>
              </a:ext>
            </a:extLst>
          </p:cNvPr>
          <p:cNvSpPr/>
          <p:nvPr/>
        </p:nvSpPr>
        <p:spPr>
          <a:xfrm>
            <a:off x="2159096" y="1891975"/>
            <a:ext cx="141274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0B6F22A1-15C6-0147-3A0A-B5E45BF622D3}"/>
              </a:ext>
            </a:extLst>
          </p:cNvPr>
          <p:cNvSpPr/>
          <p:nvPr/>
        </p:nvSpPr>
        <p:spPr>
          <a:xfrm>
            <a:off x="2159096" y="189197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2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38FDEEA-DE36-3078-491F-9F2CB2F50929}"/>
              </a:ext>
            </a:extLst>
          </p:cNvPr>
          <p:cNvSpPr/>
          <p:nvPr/>
        </p:nvSpPr>
        <p:spPr>
          <a:xfrm>
            <a:off x="2365173" y="2374039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Cleaning</a:t>
            </a:r>
            <a:endParaRPr lang="fr-FR" sz="1050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3121297-FC83-204B-6BE4-3BCC41B99966}"/>
              </a:ext>
            </a:extLst>
          </p:cNvPr>
          <p:cNvSpPr/>
          <p:nvPr/>
        </p:nvSpPr>
        <p:spPr>
          <a:xfrm>
            <a:off x="2282448" y="2731412"/>
            <a:ext cx="12066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Nettoyer :</a:t>
            </a:r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enlever le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HTML, normaliser</a:t>
            </a:r>
            <a:endParaRPr lang="fr-FR" sz="1000" noProof="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E91046D7-CAC2-2060-D5F1-E819ECBAF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210" y="2913673"/>
            <a:ext cx="237744" cy="237744"/>
          </a:xfrm>
          <a:prstGeom prst="rect">
            <a:avLst/>
          </a:prstGeom>
        </p:spPr>
      </p:pic>
      <p:sp>
        <p:nvSpPr>
          <p:cNvPr id="18" name="Shape 15">
            <a:extLst>
              <a:ext uri="{FF2B5EF4-FFF2-40B4-BE49-F238E27FC236}">
                <a16:creationId xmlns:a16="http://schemas.microsoft.com/office/drawing/2014/main" id="{11B5B2DC-F89E-F9FA-DCB9-AB12AF13F355}"/>
              </a:ext>
            </a:extLst>
          </p:cNvPr>
          <p:cNvSpPr/>
          <p:nvPr/>
        </p:nvSpPr>
        <p:spPr>
          <a:xfrm>
            <a:off x="3786794" y="1880400"/>
            <a:ext cx="140672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78E3C11-B13B-51E7-C46E-F410454FF3F3}"/>
              </a:ext>
            </a:extLst>
          </p:cNvPr>
          <p:cNvSpPr/>
          <p:nvPr/>
        </p:nvSpPr>
        <p:spPr>
          <a:xfrm>
            <a:off x="3786794" y="1880401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FAEBAE8-43DF-F56D-B2F8-0179F05081B4}"/>
              </a:ext>
            </a:extLst>
          </p:cNvPr>
          <p:cNvSpPr/>
          <p:nvPr/>
        </p:nvSpPr>
        <p:spPr>
          <a:xfrm>
            <a:off x="3786794" y="1880401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3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21" name="Image 4" descr="preencoded.png">
            <a:extLst>
              <a:ext uri="{FF2B5EF4-FFF2-40B4-BE49-F238E27FC236}">
                <a16:creationId xmlns:a16="http://schemas.microsoft.com/office/drawing/2014/main" id="{010DFF61-4F7B-9540-2052-4A2CCA48A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716" y="1957635"/>
            <a:ext cx="329184" cy="329184"/>
          </a:xfrm>
          <a:prstGeom prst="rect">
            <a:avLst/>
          </a:prstGeom>
        </p:spPr>
      </p:pic>
      <p:sp>
        <p:nvSpPr>
          <p:cNvPr id="22" name="Text 18">
            <a:extLst>
              <a:ext uri="{FF2B5EF4-FFF2-40B4-BE49-F238E27FC236}">
                <a16:creationId xmlns:a16="http://schemas.microsoft.com/office/drawing/2014/main" id="{1954F5E4-00BB-AAAF-41C6-0029CDF012EC}"/>
              </a:ext>
            </a:extLst>
          </p:cNvPr>
          <p:cNvSpPr/>
          <p:nvPr/>
        </p:nvSpPr>
        <p:spPr>
          <a:xfrm>
            <a:off x="4026927" y="2583357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 err="1">
                <a:solidFill>
                  <a:srgbClr val="1B2A3B"/>
                </a:solidFill>
              </a:rPr>
              <a:t>Enrichment</a:t>
            </a:r>
            <a:endParaRPr lang="fr-FR" sz="1050" b="1" noProof="0" dirty="0">
              <a:solidFill>
                <a:srgbClr val="1B2A3B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(</a:t>
            </a:r>
            <a:r>
              <a:rPr lang="fr-FR" sz="900" b="1" noProof="0" dirty="0" err="1">
                <a:solidFill>
                  <a:srgbClr val="0D9488"/>
                </a:solidFill>
              </a:rPr>
              <a:t>Feature</a:t>
            </a:r>
            <a:endParaRPr lang="fr-FR" sz="900" b="1" noProof="0" dirty="0">
              <a:solidFill>
                <a:srgbClr val="0D9488"/>
              </a:solidFill>
            </a:endParaRPr>
          </a:p>
          <a:p>
            <a:pPr algn="ctr"/>
            <a:r>
              <a:rPr lang="fr-FR" sz="900" b="1" noProof="0" dirty="0">
                <a:solidFill>
                  <a:srgbClr val="0D9488"/>
                </a:solidFill>
              </a:rPr>
              <a:t>Engineering)</a:t>
            </a:r>
            <a:endParaRPr lang="fr-FR" sz="1050" b="1" noProof="0" dirty="0">
              <a:solidFill>
                <a:srgbClr val="0D9488"/>
              </a:solidFill>
            </a:endParaRPr>
          </a:p>
          <a:p>
            <a:pPr marL="0" indent="0" algn="ctr">
              <a:buNone/>
            </a:pPr>
            <a:endParaRPr lang="fr-FR" sz="1050" noProof="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86F9D098-3F6B-B8F2-0119-991485AE8CA7}"/>
              </a:ext>
            </a:extLst>
          </p:cNvPr>
          <p:cNvSpPr/>
          <p:nvPr/>
        </p:nvSpPr>
        <p:spPr>
          <a:xfrm>
            <a:off x="3897518" y="2938258"/>
            <a:ext cx="12515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Transformer les données brutes en informations pertinentes</a:t>
            </a:r>
          </a:p>
        </p:txBody>
      </p:sp>
      <p:pic>
        <p:nvPicPr>
          <p:cNvPr id="24" name="Image 5" descr="preencoded.png">
            <a:extLst>
              <a:ext uri="{FF2B5EF4-FFF2-40B4-BE49-F238E27FC236}">
                <a16:creationId xmlns:a16="http://schemas.microsoft.com/office/drawing/2014/main" id="{BD980639-2B9A-6F7F-7528-B2A7DEC8A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7648" y="2913672"/>
            <a:ext cx="237744" cy="237744"/>
          </a:xfrm>
          <a:prstGeom prst="rect">
            <a:avLst/>
          </a:prstGeom>
        </p:spPr>
      </p:pic>
      <p:sp>
        <p:nvSpPr>
          <p:cNvPr id="25" name="Shape 20">
            <a:extLst>
              <a:ext uri="{FF2B5EF4-FFF2-40B4-BE49-F238E27FC236}">
                <a16:creationId xmlns:a16="http://schemas.microsoft.com/office/drawing/2014/main" id="{B39ECECC-13FA-BE8B-0713-696A9FD4CCE1}"/>
              </a:ext>
            </a:extLst>
          </p:cNvPr>
          <p:cNvSpPr/>
          <p:nvPr/>
        </p:nvSpPr>
        <p:spPr>
          <a:xfrm>
            <a:off x="5338232" y="1880399"/>
            <a:ext cx="1397438" cy="198114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8321C08C-CF48-EA52-0763-826AFC9A4FBA}"/>
              </a:ext>
            </a:extLst>
          </p:cNvPr>
          <p:cNvSpPr/>
          <p:nvPr/>
        </p:nvSpPr>
        <p:spPr>
          <a:xfrm>
            <a:off x="5338232" y="1880400"/>
            <a:ext cx="140672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E7606226-BB49-572F-4B9A-58EB5F8F25A0}"/>
              </a:ext>
            </a:extLst>
          </p:cNvPr>
          <p:cNvSpPr/>
          <p:nvPr/>
        </p:nvSpPr>
        <p:spPr>
          <a:xfrm>
            <a:off x="5338232" y="1880400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4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DD5689E0-4094-164A-387C-4665C7665B09}"/>
              </a:ext>
            </a:extLst>
          </p:cNvPr>
          <p:cNvSpPr/>
          <p:nvPr/>
        </p:nvSpPr>
        <p:spPr>
          <a:xfrm>
            <a:off x="5524550" y="24039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Similarity</a:t>
            </a:r>
            <a:endParaRPr lang="fr-FR" sz="1050" noProof="0" dirty="0"/>
          </a:p>
        </p:txBody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C562E706-809A-A2EB-D7DB-A6349545F717}"/>
              </a:ext>
            </a:extLst>
          </p:cNvPr>
          <p:cNvSpPr/>
          <p:nvPr/>
        </p:nvSpPr>
        <p:spPr>
          <a:xfrm>
            <a:off x="5540658" y="2678359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Relier les issues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qui parlent du même bug</a:t>
            </a:r>
            <a:endParaRPr lang="fr-FR" sz="1000" noProof="0" dirty="0"/>
          </a:p>
        </p:txBody>
      </p:sp>
      <p:pic>
        <p:nvPicPr>
          <p:cNvPr id="31" name="Image 7" descr="preencoded.png">
            <a:extLst>
              <a:ext uri="{FF2B5EF4-FFF2-40B4-BE49-F238E27FC236}">
                <a16:creationId xmlns:a16="http://schemas.microsoft.com/office/drawing/2014/main" id="{4873C363-3BC0-B37D-DF27-411EA96E5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51" y="2908611"/>
            <a:ext cx="237744" cy="237744"/>
          </a:xfrm>
          <a:prstGeom prst="rect">
            <a:avLst/>
          </a:prstGeom>
        </p:spPr>
      </p:pic>
      <p:sp>
        <p:nvSpPr>
          <p:cNvPr id="32" name="Shape 25">
            <a:extLst>
              <a:ext uri="{FF2B5EF4-FFF2-40B4-BE49-F238E27FC236}">
                <a16:creationId xmlns:a16="http://schemas.microsoft.com/office/drawing/2014/main" id="{169CA800-15EE-C1CB-3277-15570AB1355F}"/>
              </a:ext>
            </a:extLst>
          </p:cNvPr>
          <p:cNvSpPr/>
          <p:nvPr/>
        </p:nvSpPr>
        <p:spPr>
          <a:xfrm>
            <a:off x="6893635" y="1875339"/>
            <a:ext cx="1397438" cy="1981140"/>
          </a:xfrm>
          <a:prstGeom prst="rect">
            <a:avLst/>
          </a:prstGeom>
          <a:solidFill>
            <a:srgbClr val="FFFFFF"/>
          </a:solidFill>
          <a:ln w="9525">
            <a:noFill/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FA85AD85-CDB5-D1A7-7BC8-8F255D173F59}"/>
              </a:ext>
            </a:extLst>
          </p:cNvPr>
          <p:cNvSpPr/>
          <p:nvPr/>
        </p:nvSpPr>
        <p:spPr>
          <a:xfrm>
            <a:off x="6893635" y="1875339"/>
            <a:ext cx="1397438" cy="438912"/>
          </a:xfrm>
          <a:prstGeom prst="rect">
            <a:avLst/>
          </a:prstGeom>
          <a:noFill/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D2D738CF-0CD3-432F-3065-6A407E33426A}"/>
              </a:ext>
            </a:extLst>
          </p:cNvPr>
          <p:cNvSpPr/>
          <p:nvPr/>
        </p:nvSpPr>
        <p:spPr>
          <a:xfrm>
            <a:off x="6893635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5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029F2ABD-38B1-2D7D-A90A-8C13712064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581" y="1971840"/>
            <a:ext cx="256032" cy="256032"/>
          </a:xfrm>
          <a:prstGeom prst="rect">
            <a:avLst/>
          </a:prstGeom>
        </p:spPr>
      </p:pic>
      <p:sp>
        <p:nvSpPr>
          <p:cNvPr id="36" name="Text 28">
            <a:extLst>
              <a:ext uri="{FF2B5EF4-FFF2-40B4-BE49-F238E27FC236}">
                <a16:creationId xmlns:a16="http://schemas.microsoft.com/office/drawing/2014/main" id="{33CBA65E-E111-6924-B057-415246D9ED1E}"/>
              </a:ext>
            </a:extLst>
          </p:cNvPr>
          <p:cNvSpPr/>
          <p:nvPr/>
        </p:nvSpPr>
        <p:spPr>
          <a:xfrm>
            <a:off x="7087690" y="2406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 err="1">
                <a:solidFill>
                  <a:srgbClr val="1B2A3B"/>
                </a:solidFill>
              </a:rPr>
              <a:t>Chunking</a:t>
            </a:r>
            <a:endParaRPr lang="fr-FR" sz="1050" noProof="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03C95EF2-D8F6-7F40-3D22-68528482B3CD}"/>
              </a:ext>
            </a:extLst>
          </p:cNvPr>
          <p:cNvSpPr/>
          <p:nvPr/>
        </p:nvSpPr>
        <p:spPr>
          <a:xfrm>
            <a:off x="7076515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Découper en morceaux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pour la KB</a:t>
            </a:r>
            <a:endParaRPr lang="fr-FR" sz="1000" noProof="0" dirty="0"/>
          </a:p>
        </p:txBody>
      </p:sp>
      <p:pic>
        <p:nvPicPr>
          <p:cNvPr id="38" name="Image 9" descr="preencoded.png">
            <a:extLst>
              <a:ext uri="{FF2B5EF4-FFF2-40B4-BE49-F238E27FC236}">
                <a16:creationId xmlns:a16="http://schemas.microsoft.com/office/drawing/2014/main" id="{864D12DF-B210-97A5-66B0-B075DFA4F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513" y="2908611"/>
            <a:ext cx="237744" cy="237744"/>
          </a:xfrm>
          <a:prstGeom prst="rect">
            <a:avLst/>
          </a:prstGeom>
        </p:spPr>
      </p:pic>
      <p:sp>
        <p:nvSpPr>
          <p:cNvPr id="39" name="Shape 30">
            <a:extLst>
              <a:ext uri="{FF2B5EF4-FFF2-40B4-BE49-F238E27FC236}">
                <a16:creationId xmlns:a16="http://schemas.microsoft.com/office/drawing/2014/main" id="{F01004BB-9E35-100F-E973-13FD9BBF8C50}"/>
              </a:ext>
            </a:extLst>
          </p:cNvPr>
          <p:cNvSpPr/>
          <p:nvPr/>
        </p:nvSpPr>
        <p:spPr>
          <a:xfrm>
            <a:off x="8483097" y="1875338"/>
            <a:ext cx="1383932" cy="198113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9B6B957F-6062-41B1-8FE2-6EBEEA4253DE}"/>
              </a:ext>
            </a:extLst>
          </p:cNvPr>
          <p:cNvSpPr/>
          <p:nvPr/>
        </p:nvSpPr>
        <p:spPr>
          <a:xfrm>
            <a:off x="8483097" y="1875339"/>
            <a:ext cx="1397438" cy="438912"/>
          </a:xfrm>
          <a:prstGeom prst="rect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2">
            <a:extLst>
              <a:ext uri="{FF2B5EF4-FFF2-40B4-BE49-F238E27FC236}">
                <a16:creationId xmlns:a16="http://schemas.microsoft.com/office/drawing/2014/main" id="{FD2DA581-5610-FED6-B10E-A6EB14637DD4}"/>
              </a:ext>
            </a:extLst>
          </p:cNvPr>
          <p:cNvSpPr/>
          <p:nvPr/>
        </p:nvSpPr>
        <p:spPr>
          <a:xfrm>
            <a:off x="8483097" y="1875339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6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42" name="Image 10" descr="preencoded.png">
            <a:extLst>
              <a:ext uri="{FF2B5EF4-FFF2-40B4-BE49-F238E27FC236}">
                <a16:creationId xmlns:a16="http://schemas.microsoft.com/office/drawing/2014/main" id="{65BB49C4-AE8C-2AD4-9192-C02CCD851E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55" y="1968326"/>
            <a:ext cx="263059" cy="263059"/>
          </a:xfrm>
          <a:prstGeom prst="rect">
            <a:avLst/>
          </a:prstGeom>
        </p:spPr>
      </p:pic>
      <p:sp>
        <p:nvSpPr>
          <p:cNvPr id="43" name="Text 33">
            <a:extLst>
              <a:ext uri="{FF2B5EF4-FFF2-40B4-BE49-F238E27FC236}">
                <a16:creationId xmlns:a16="http://schemas.microsoft.com/office/drawing/2014/main" id="{9286BC1A-3F85-FC67-7A1B-443B9C47A300}"/>
              </a:ext>
            </a:extLst>
          </p:cNvPr>
          <p:cNvSpPr/>
          <p:nvPr/>
        </p:nvSpPr>
        <p:spPr>
          <a:xfrm>
            <a:off x="8693671" y="2437053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fr-FR" sz="1050" b="1" noProof="0" dirty="0">
                <a:solidFill>
                  <a:srgbClr val="1B2A3B"/>
                </a:solidFill>
              </a:rPr>
              <a:t>Evaluation</a:t>
            </a:r>
          </a:p>
          <a:p>
            <a:pPr algn="ctr"/>
            <a:r>
              <a:rPr lang="fr-FR" sz="900" b="1" noProof="0" dirty="0">
                <a:solidFill>
                  <a:srgbClr val="1B2A3B"/>
                </a:solidFill>
              </a:rPr>
              <a:t>(</a:t>
            </a:r>
            <a:r>
              <a:rPr lang="fr-FR" sz="900" b="1" noProof="0" dirty="0">
                <a:solidFill>
                  <a:srgbClr val="0D9488"/>
                </a:solidFill>
              </a:rPr>
              <a:t>Benchmark</a:t>
            </a:r>
            <a:r>
              <a:rPr lang="fr-FR" sz="900" b="1" noProof="0" dirty="0"/>
              <a:t>)</a:t>
            </a:r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5013CDEC-5B66-D914-C2BB-4B80F08B042E}"/>
              </a:ext>
            </a:extLst>
          </p:cNvPr>
          <p:cNvSpPr/>
          <p:nvPr/>
        </p:nvSpPr>
        <p:spPr>
          <a:xfrm>
            <a:off x="8693671" y="273141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Tester avec 50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questions de référence</a:t>
            </a:r>
            <a:endParaRPr lang="fr-FR" sz="1000" noProof="0" dirty="0"/>
          </a:p>
        </p:txBody>
      </p:sp>
      <p:pic>
        <p:nvPicPr>
          <p:cNvPr id="45" name="Image 11" descr="preencoded.png">
            <a:extLst>
              <a:ext uri="{FF2B5EF4-FFF2-40B4-BE49-F238E27FC236}">
                <a16:creationId xmlns:a16="http://schemas.microsoft.com/office/drawing/2014/main" id="{381BFBD2-A13C-13E5-9832-0E3328C4C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097" y="2908611"/>
            <a:ext cx="237744" cy="237744"/>
          </a:xfrm>
          <a:prstGeom prst="rect">
            <a:avLst/>
          </a:prstGeom>
        </p:spPr>
      </p:pic>
      <p:pic>
        <p:nvPicPr>
          <p:cNvPr id="81" name="Graphic 80" descr="Dice with solid fill">
            <a:extLst>
              <a:ext uri="{FF2B5EF4-FFF2-40B4-BE49-F238E27FC236}">
                <a16:creationId xmlns:a16="http://schemas.microsoft.com/office/drawing/2014/main" id="{ECE150D7-2B7D-4E15-69D1-DD7FAD3FF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30413" y="1907831"/>
            <a:ext cx="402338" cy="402338"/>
          </a:xfrm>
          <a:prstGeom prst="rect">
            <a:avLst/>
          </a:prstGeom>
        </p:spPr>
      </p:pic>
      <p:pic>
        <p:nvPicPr>
          <p:cNvPr id="85" name="Graphic 84" descr="Eraser with solid fill">
            <a:extLst>
              <a:ext uri="{FF2B5EF4-FFF2-40B4-BE49-F238E27FC236}">
                <a16:creationId xmlns:a16="http://schemas.microsoft.com/office/drawing/2014/main" id="{8D9E55CE-B201-FE85-5891-7B25E0A3E1D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03230" y="1957635"/>
            <a:ext cx="329184" cy="329184"/>
          </a:xfrm>
          <a:prstGeom prst="rect">
            <a:avLst/>
          </a:prstGeom>
        </p:spPr>
      </p:pic>
      <p:pic>
        <p:nvPicPr>
          <p:cNvPr id="53" name="Graphic 52" descr="Back outline">
            <a:extLst>
              <a:ext uri="{FF2B5EF4-FFF2-40B4-BE49-F238E27FC236}">
                <a16:creationId xmlns:a16="http://schemas.microsoft.com/office/drawing/2014/main" id="{2A5C4170-1428-3FA7-71A1-E3B95E16B34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0724647" flipH="1" flipV="1">
            <a:off x="9456942" y="4312872"/>
            <a:ext cx="1481109" cy="1481109"/>
          </a:xfrm>
          <a:prstGeom prst="rect">
            <a:avLst/>
          </a:prstGeom>
        </p:spPr>
      </p:pic>
      <p:sp>
        <p:nvSpPr>
          <p:cNvPr id="61" name="Shape 44">
            <a:extLst>
              <a:ext uri="{FF2B5EF4-FFF2-40B4-BE49-F238E27FC236}">
                <a16:creationId xmlns:a16="http://schemas.microsoft.com/office/drawing/2014/main" id="{C53B86F6-D0EA-9EB6-7B8D-217F41075383}"/>
              </a:ext>
            </a:extLst>
          </p:cNvPr>
          <p:cNvSpPr/>
          <p:nvPr/>
        </p:nvSpPr>
        <p:spPr>
          <a:xfrm>
            <a:off x="5223326" y="4450836"/>
            <a:ext cx="4114800" cy="2087123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2" name="Shape 45">
            <a:extLst>
              <a:ext uri="{FF2B5EF4-FFF2-40B4-BE49-F238E27FC236}">
                <a16:creationId xmlns:a16="http://schemas.microsoft.com/office/drawing/2014/main" id="{2908F3CD-40DA-6E54-5FC9-117E3B63C6F4}"/>
              </a:ext>
            </a:extLst>
          </p:cNvPr>
          <p:cNvSpPr/>
          <p:nvPr/>
        </p:nvSpPr>
        <p:spPr>
          <a:xfrm>
            <a:off x="5237648" y="4450837"/>
            <a:ext cx="49686" cy="2087122"/>
          </a:xfrm>
          <a:prstGeom prst="rect">
            <a:avLst/>
          </a:prstGeom>
          <a:solidFill>
            <a:srgbClr val="0D948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3" name="Text 46">
            <a:extLst>
              <a:ext uri="{FF2B5EF4-FFF2-40B4-BE49-F238E27FC236}">
                <a16:creationId xmlns:a16="http://schemas.microsoft.com/office/drawing/2014/main" id="{6703202F-852D-D09C-BEA0-9E94CE95F0B1}"/>
              </a:ext>
            </a:extLst>
          </p:cNvPr>
          <p:cNvSpPr/>
          <p:nvPr/>
        </p:nvSpPr>
        <p:spPr>
          <a:xfrm>
            <a:off x="5424494" y="4542277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50" b="1" noProof="0" dirty="0">
                <a:solidFill>
                  <a:srgbClr val="0D9488"/>
                </a:solidFill>
              </a:rPr>
              <a:t>❓ Objectif Delivery ?</a:t>
            </a:r>
            <a:endParaRPr lang="fr-FR" sz="1050" noProof="0" dirty="0"/>
          </a:p>
        </p:txBody>
      </p:sp>
      <p:sp>
        <p:nvSpPr>
          <p:cNvPr id="64" name="Text 47">
            <a:extLst>
              <a:ext uri="{FF2B5EF4-FFF2-40B4-BE49-F238E27FC236}">
                <a16:creationId xmlns:a16="http://schemas.microsoft.com/office/drawing/2014/main" id="{0A3EECA0-A257-AEA9-9224-5636247E997E}"/>
              </a:ext>
            </a:extLst>
          </p:cNvPr>
          <p:cNvSpPr/>
          <p:nvPr/>
        </p:nvSpPr>
        <p:spPr>
          <a:xfrm>
            <a:off x="5424494" y="4954376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B2A3B"/>
                </a:solidFill>
              </a:rPr>
              <a:t>La Delivery transforme des données techniques brutes en connaissances directement utilisables dans une KB support.</a:t>
            </a:r>
          </a:p>
          <a:p>
            <a:pPr marL="0" indent="0">
              <a:buNone/>
            </a:pPr>
            <a:endParaRPr lang="fr-FR" sz="1000" noProof="0" dirty="0">
              <a:solidFill>
                <a:srgbClr val="1B2A3B"/>
              </a:solidFill>
            </a:endParaRPr>
          </a:p>
          <a:p>
            <a:r>
              <a:rPr lang="fr-FR" sz="1000" b="1" u="sng" noProof="0" dirty="0"/>
              <a:t>L’objectif :</a:t>
            </a:r>
          </a:p>
          <a:p>
            <a:pPr marL="0" indent="0">
              <a:buNone/>
            </a:pPr>
            <a:endParaRPr lang="fr-FR" sz="10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/>
              <a:t>Donner des réponses actionnables pour le troubleshooting.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/>
              <a:t>Garder une traçabilité complète vers GitHub.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noProof="0" dirty="0"/>
              <a:t>Fournir un format stable pour l’ingestion côté ST.</a:t>
            </a:r>
          </a:p>
        </p:txBody>
      </p:sp>
      <p:sp>
        <p:nvSpPr>
          <p:cNvPr id="65" name="Shape 35">
            <a:extLst>
              <a:ext uri="{FF2B5EF4-FFF2-40B4-BE49-F238E27FC236}">
                <a16:creationId xmlns:a16="http://schemas.microsoft.com/office/drawing/2014/main" id="{409D077B-D71B-B5F0-633A-75F47FFDB1AE}"/>
              </a:ext>
            </a:extLst>
          </p:cNvPr>
          <p:cNvSpPr/>
          <p:nvPr/>
        </p:nvSpPr>
        <p:spPr>
          <a:xfrm>
            <a:off x="10032904" y="1865704"/>
            <a:ext cx="1367887" cy="1990773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66" name="Shape 36">
            <a:extLst>
              <a:ext uri="{FF2B5EF4-FFF2-40B4-BE49-F238E27FC236}">
                <a16:creationId xmlns:a16="http://schemas.microsoft.com/office/drawing/2014/main" id="{CEED2109-5844-0133-53CC-697EA2F0B748}"/>
              </a:ext>
            </a:extLst>
          </p:cNvPr>
          <p:cNvSpPr/>
          <p:nvPr/>
        </p:nvSpPr>
        <p:spPr>
          <a:xfrm>
            <a:off x="10032905" y="1865705"/>
            <a:ext cx="1383932" cy="438912"/>
          </a:xfrm>
          <a:prstGeom prst="rect">
            <a:avLst/>
          </a:prstGeom>
          <a:noFill/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7" name="Text 37">
            <a:extLst>
              <a:ext uri="{FF2B5EF4-FFF2-40B4-BE49-F238E27FC236}">
                <a16:creationId xmlns:a16="http://schemas.microsoft.com/office/drawing/2014/main" id="{8B34F9FF-FA11-E574-4A80-548122336DE8}"/>
              </a:ext>
            </a:extLst>
          </p:cNvPr>
          <p:cNvSpPr/>
          <p:nvPr/>
        </p:nvSpPr>
        <p:spPr>
          <a:xfrm>
            <a:off x="10032905" y="1865705"/>
            <a:ext cx="329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0D9488"/>
                </a:solidFill>
              </a:rPr>
              <a:t>7</a:t>
            </a:r>
            <a:endParaRPr lang="fr-FR" sz="1400" noProof="0" dirty="0">
              <a:solidFill>
                <a:srgbClr val="0D9488"/>
              </a:solidFill>
            </a:endParaRPr>
          </a:p>
        </p:txBody>
      </p:sp>
      <p:pic>
        <p:nvPicPr>
          <p:cNvPr id="68" name="Image 12" descr="preencoded.png">
            <a:extLst>
              <a:ext uri="{FF2B5EF4-FFF2-40B4-BE49-F238E27FC236}">
                <a16:creationId xmlns:a16="http://schemas.microsoft.com/office/drawing/2014/main" id="{3198A977-AE5B-7329-EDC0-F8196B863F3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15272" y="1950774"/>
            <a:ext cx="288037" cy="288037"/>
          </a:xfrm>
          <a:prstGeom prst="rect">
            <a:avLst/>
          </a:prstGeom>
        </p:spPr>
      </p:pic>
      <p:sp>
        <p:nvSpPr>
          <p:cNvPr id="69" name="Text 38">
            <a:extLst>
              <a:ext uri="{FF2B5EF4-FFF2-40B4-BE49-F238E27FC236}">
                <a16:creationId xmlns:a16="http://schemas.microsoft.com/office/drawing/2014/main" id="{1C459205-08D6-4E78-C304-590F210F9EF9}"/>
              </a:ext>
            </a:extLst>
          </p:cNvPr>
          <p:cNvSpPr/>
          <p:nvPr/>
        </p:nvSpPr>
        <p:spPr>
          <a:xfrm>
            <a:off x="10107544" y="2586437"/>
            <a:ext cx="123465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50" b="1" noProof="0" dirty="0">
                <a:solidFill>
                  <a:srgbClr val="1B2A3B"/>
                </a:solidFill>
              </a:rPr>
              <a:t>Delivery</a:t>
            </a:r>
          </a:p>
          <a:p>
            <a:pPr marL="0" indent="0" algn="ctr">
              <a:buNone/>
            </a:pPr>
            <a:r>
              <a:rPr lang="fr-FR" sz="800" b="1" noProof="0" dirty="0">
                <a:solidFill>
                  <a:srgbClr val="1B2A3B"/>
                </a:solidFill>
              </a:rPr>
              <a:t>(</a:t>
            </a:r>
            <a:r>
              <a:rPr lang="fr-FR" sz="800" b="1" noProof="0" dirty="0" err="1">
                <a:solidFill>
                  <a:srgbClr val="0D9488"/>
                </a:solidFill>
              </a:rPr>
              <a:t>resolver</a:t>
            </a:r>
            <a:r>
              <a:rPr lang="fr-FR" sz="800" b="1" noProof="0" dirty="0">
                <a:solidFill>
                  <a:srgbClr val="0D9488"/>
                </a:solidFill>
              </a:rPr>
              <a:t> cases, diagnostic </a:t>
            </a:r>
            <a:r>
              <a:rPr lang="fr-FR" sz="800" b="1" noProof="0" dirty="0" err="1">
                <a:solidFill>
                  <a:srgbClr val="0D9488"/>
                </a:solidFill>
              </a:rPr>
              <a:t>cards</a:t>
            </a:r>
            <a:r>
              <a:rPr lang="fr-FR" sz="800" b="1" noProof="0" dirty="0">
                <a:solidFill>
                  <a:srgbClr val="0D9488"/>
                </a:solidFill>
              </a:rPr>
              <a:t>, exports ST-</a:t>
            </a:r>
            <a:r>
              <a:rPr lang="fr-FR" sz="800" b="1" noProof="0" dirty="0" err="1">
                <a:solidFill>
                  <a:srgbClr val="0D9488"/>
                </a:solidFill>
              </a:rPr>
              <a:t>ready</a:t>
            </a:r>
            <a:r>
              <a:rPr lang="fr-FR" sz="800" b="1" noProof="0" dirty="0">
                <a:solidFill>
                  <a:srgbClr val="1B2A3B"/>
                </a:solidFill>
              </a:rPr>
              <a:t>)</a:t>
            </a:r>
          </a:p>
          <a:p>
            <a:pPr marL="0" indent="0" algn="ctr">
              <a:buNone/>
            </a:pPr>
            <a:endParaRPr lang="fr-FR" sz="1050" b="1" noProof="0" dirty="0">
              <a:solidFill>
                <a:srgbClr val="1B2A3B"/>
              </a:solidFill>
            </a:endParaRPr>
          </a:p>
        </p:txBody>
      </p:sp>
      <p:sp>
        <p:nvSpPr>
          <p:cNvPr id="70" name="Text 39">
            <a:extLst>
              <a:ext uri="{FF2B5EF4-FFF2-40B4-BE49-F238E27FC236}">
                <a16:creationId xmlns:a16="http://schemas.microsoft.com/office/drawing/2014/main" id="{F16CDF2A-8CAF-A429-A0B2-171399C10153}"/>
              </a:ext>
            </a:extLst>
          </p:cNvPr>
          <p:cNvSpPr/>
          <p:nvPr/>
        </p:nvSpPr>
        <p:spPr>
          <a:xfrm>
            <a:off x="10221951" y="2815617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Livrer les JSON</a:t>
            </a:r>
            <a:endParaRPr lang="fr-FR" sz="1000" noProof="0" dirty="0"/>
          </a:p>
          <a:p>
            <a:pPr marL="0" indent="0" algn="ctr">
              <a:buNone/>
            </a:pPr>
            <a:r>
              <a:rPr lang="fr-FR" sz="1000" noProof="0" dirty="0">
                <a:solidFill>
                  <a:srgbClr val="64748B"/>
                </a:solidFill>
              </a:rPr>
              <a:t>format ST-</a:t>
            </a:r>
            <a:r>
              <a:rPr lang="fr-FR" sz="1000" noProof="0" dirty="0" err="1">
                <a:solidFill>
                  <a:srgbClr val="64748B"/>
                </a:solidFill>
              </a:rPr>
              <a:t>ready</a:t>
            </a:r>
            <a:endParaRPr lang="fr-FR" sz="1000" noProof="0" dirty="0"/>
          </a:p>
        </p:txBody>
      </p:sp>
    </p:spTree>
    <p:extLst>
      <p:ext uri="{BB962C8B-B14F-4D97-AF65-F5344CB8AC3E}">
        <p14:creationId xmlns:p14="http://schemas.microsoft.com/office/powerpoint/2010/main" val="6361006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B2DB8-189A-A899-D6A3-2635E9B6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5938F-B5D0-F8B7-740E-661FC5588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fr-FR" sz="1800" b="1" noProof="0" dirty="0">
                <a:latin typeface="+mn-lt"/>
              </a:rPr>
              <a:t>Pipeline : Delivery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resolver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 cases, diagnostic 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cards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, exports ST-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ready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fr-FR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AEF7E95-5258-BD40-FA16-06E905600E2D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Delivery — Pourquoi structurer la sortie finale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CA6D9F6-9C5D-DAE6-102B-0F6742383FE2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Des exports ST-</a:t>
            </a:r>
            <a:r>
              <a:rPr lang="fr-FR" sz="1200" i="1" noProof="0" dirty="0" err="1">
                <a:solidFill>
                  <a:srgbClr val="64748B"/>
                </a:solidFill>
              </a:rPr>
              <a:t>ready</a:t>
            </a:r>
            <a:r>
              <a:rPr lang="fr-FR" sz="1200" i="1" noProof="0" dirty="0">
                <a:solidFill>
                  <a:srgbClr val="64748B"/>
                </a:solidFill>
              </a:rPr>
              <a:t> = cas actionnables, prêts à intégrer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7167C1B-3E10-E9EA-2ECD-1E569FD31E47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19">
            <a:extLst>
              <a:ext uri="{FF2B5EF4-FFF2-40B4-BE49-F238E27FC236}">
                <a16:creationId xmlns:a16="http://schemas.microsoft.com/office/drawing/2014/main" id="{D1A5EE25-5EAC-06DE-5D72-FA464D365C52}"/>
              </a:ext>
            </a:extLst>
          </p:cNvPr>
          <p:cNvSpPr/>
          <p:nvPr/>
        </p:nvSpPr>
        <p:spPr>
          <a:xfrm>
            <a:off x="1461297" y="1657416"/>
            <a:ext cx="9367292" cy="2712109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20">
            <a:extLst>
              <a:ext uri="{FF2B5EF4-FFF2-40B4-BE49-F238E27FC236}">
                <a16:creationId xmlns:a16="http://schemas.microsoft.com/office/drawing/2014/main" id="{049EA2B3-6191-30F5-C6E0-C2B366904E11}"/>
              </a:ext>
            </a:extLst>
          </p:cNvPr>
          <p:cNvSpPr/>
          <p:nvPr/>
        </p:nvSpPr>
        <p:spPr>
          <a:xfrm>
            <a:off x="1461299" y="1657417"/>
            <a:ext cx="4388600" cy="45719"/>
          </a:xfrm>
          <a:prstGeom prst="rect">
            <a:avLst/>
          </a:prstGeom>
          <a:solidFill>
            <a:srgbClr val="3CB4E6"/>
          </a:solidFill>
          <a:ln w="12700">
            <a:solidFill>
              <a:srgbClr val="3CB4E6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21">
            <a:extLst>
              <a:ext uri="{FF2B5EF4-FFF2-40B4-BE49-F238E27FC236}">
                <a16:creationId xmlns:a16="http://schemas.microsoft.com/office/drawing/2014/main" id="{EB647146-634F-240B-5775-2D132CC47B0C}"/>
              </a:ext>
            </a:extLst>
          </p:cNvPr>
          <p:cNvSpPr/>
          <p:nvPr/>
        </p:nvSpPr>
        <p:spPr>
          <a:xfrm>
            <a:off x="1589315" y="1721425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200" b="1" noProof="0" dirty="0">
                <a:solidFill>
                  <a:srgbClr val="3CB4E6"/>
                </a:solidFill>
                <a:ea typeface="Calibri" pitchFamily="34" charset="-122"/>
                <a:cs typeface="Calibri" pitchFamily="34" charset="-120"/>
              </a:rPr>
              <a:t>Pourquoi on en avait besoin ?</a:t>
            </a:r>
            <a:endParaRPr lang="fr-FR" sz="1200" noProof="0" dirty="0">
              <a:solidFill>
                <a:srgbClr val="3CB4E6"/>
              </a:solidFill>
            </a:endParaRPr>
          </a:p>
        </p:txBody>
      </p:sp>
      <p:sp>
        <p:nvSpPr>
          <p:cNvPr id="7" name="Text 22">
            <a:extLst>
              <a:ext uri="{FF2B5EF4-FFF2-40B4-BE49-F238E27FC236}">
                <a16:creationId xmlns:a16="http://schemas.microsoft.com/office/drawing/2014/main" id="{D537A1B9-CDB6-915C-7425-F723093174F1}"/>
              </a:ext>
            </a:extLst>
          </p:cNvPr>
          <p:cNvSpPr/>
          <p:nvPr/>
        </p:nvSpPr>
        <p:spPr>
          <a:xfrm>
            <a:off x="1589314" y="2087185"/>
            <a:ext cx="5467851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On a observé un écart entre la donnée disponible et l’usage réel support :</a:t>
            </a:r>
            <a:endParaRPr lang="fr-FR" sz="1000" noProof="0" dirty="0"/>
          </a:p>
        </p:txBody>
      </p:sp>
      <p:sp>
        <p:nvSpPr>
          <p:cNvPr id="8" name="Text 23">
            <a:extLst>
              <a:ext uri="{FF2B5EF4-FFF2-40B4-BE49-F238E27FC236}">
                <a16:creationId xmlns:a16="http://schemas.microsoft.com/office/drawing/2014/main" id="{5E69FB1D-C157-E23F-4D02-1D489C39F7A7}"/>
              </a:ext>
            </a:extLst>
          </p:cNvPr>
          <p:cNvSpPr/>
          <p:nvPr/>
        </p:nvSpPr>
        <p:spPr>
          <a:xfrm>
            <a:off x="1589312" y="2379793"/>
            <a:ext cx="9987601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Les issues brutes expliquent le problème, mais ne donnent pas un parcours de diagnostic clair.</a:t>
            </a:r>
          </a:p>
          <a:p>
            <a:pPr marL="171450" indent="-1714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Les utilisateurs posent des questions orientées symptôme, pas orientées numéro d’issue.</a:t>
            </a:r>
          </a:p>
          <a:p>
            <a:pPr marL="171450" indent="-1714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Les résultats pouvaient être corrects sur la source, mais faibles sur les actions concrètes à faire.</a:t>
            </a:r>
          </a:p>
          <a:p>
            <a:pPr marL="171450" indent="-1714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Sans standard de 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delivery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, les liens et labels deviennent incohérents entre exports.</a:t>
            </a:r>
            <a:endParaRPr lang="fr-FR" sz="950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D2D395-8768-97B6-5CDC-992409E94FAF}"/>
              </a:ext>
            </a:extLst>
          </p:cNvPr>
          <p:cNvSpPr txBox="1"/>
          <p:nvPr/>
        </p:nvSpPr>
        <p:spPr>
          <a:xfrm>
            <a:off x="4027128" y="3842081"/>
            <a:ext cx="62734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1" dirty="0">
                <a:effectLst/>
              </a:rPr>
              <a:t>le contenu existait, mais la couche opérationnelle manquait.</a:t>
            </a:r>
            <a:endParaRPr lang="en-US" sz="1100" i="1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40160D7-10D1-A708-5010-3075590BAB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02"/>
          <a:stretch>
            <a:fillRect/>
          </a:stretch>
        </p:blipFill>
        <p:spPr>
          <a:xfrm>
            <a:off x="4525467" y="4799294"/>
            <a:ext cx="3238952" cy="148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0937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C3002-B399-9E10-ED48-CD5D330D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5FB56-30FC-8F15-8AD6-940E7C27B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fr-FR" sz="1800" b="1" noProof="0" dirty="0">
                <a:latin typeface="+mn-lt"/>
              </a:rPr>
              <a:t>Pipeline : Delivery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resolver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 cases, diagnostic 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cards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, exports ST-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ready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fr-FR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08897E-A805-11DA-216A-08FE2B68C2B6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Delivery — Pourquoi structurer la sortie finale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1ECEE609-1BC8-9D3B-7C00-4D0051E9A859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Des exports ST-</a:t>
            </a:r>
            <a:r>
              <a:rPr lang="fr-FR" sz="1200" i="1" noProof="0" dirty="0" err="1">
                <a:solidFill>
                  <a:srgbClr val="64748B"/>
                </a:solidFill>
              </a:rPr>
              <a:t>ready</a:t>
            </a:r>
            <a:r>
              <a:rPr lang="fr-FR" sz="1200" i="1" noProof="0" dirty="0">
                <a:solidFill>
                  <a:srgbClr val="64748B"/>
                </a:solidFill>
              </a:rPr>
              <a:t> = cas actionnables, prêts à intégrer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B844D2B-1C48-11B5-505E-498E4FCC4E99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19">
            <a:extLst>
              <a:ext uri="{FF2B5EF4-FFF2-40B4-BE49-F238E27FC236}">
                <a16:creationId xmlns:a16="http://schemas.microsoft.com/office/drawing/2014/main" id="{B414D7ED-EB55-F3FE-737B-8D51D44B3733}"/>
              </a:ext>
            </a:extLst>
          </p:cNvPr>
          <p:cNvSpPr/>
          <p:nvPr/>
        </p:nvSpPr>
        <p:spPr>
          <a:xfrm>
            <a:off x="291501" y="1990208"/>
            <a:ext cx="4541754" cy="198859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20">
            <a:extLst>
              <a:ext uri="{FF2B5EF4-FFF2-40B4-BE49-F238E27FC236}">
                <a16:creationId xmlns:a16="http://schemas.microsoft.com/office/drawing/2014/main" id="{70149A63-D19B-7A06-986E-73F3B6885C75}"/>
              </a:ext>
            </a:extLst>
          </p:cNvPr>
          <p:cNvSpPr/>
          <p:nvPr/>
        </p:nvSpPr>
        <p:spPr>
          <a:xfrm>
            <a:off x="282682" y="2003937"/>
            <a:ext cx="4550574" cy="502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21">
            <a:extLst>
              <a:ext uri="{FF2B5EF4-FFF2-40B4-BE49-F238E27FC236}">
                <a16:creationId xmlns:a16="http://schemas.microsoft.com/office/drawing/2014/main" id="{6315219E-18E1-AF74-BFAD-4CDF7C7B852B}"/>
              </a:ext>
            </a:extLst>
          </p:cNvPr>
          <p:cNvSpPr/>
          <p:nvPr/>
        </p:nvSpPr>
        <p:spPr>
          <a:xfrm>
            <a:off x="291501" y="1498690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200" b="1" noProof="0" dirty="0" err="1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Resolver</a:t>
            </a:r>
            <a:r>
              <a:rPr lang="fr-FR" sz="12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 Cases : ce qu’on a construit et comment  </a:t>
            </a:r>
            <a:endParaRPr lang="fr-FR" sz="1200" noProof="0" dirty="0">
              <a:solidFill>
                <a:srgbClr val="0D9589"/>
              </a:solidFill>
            </a:endParaRPr>
          </a:p>
        </p:txBody>
      </p:sp>
      <p:sp>
        <p:nvSpPr>
          <p:cNvPr id="7" name="Text 22">
            <a:extLst>
              <a:ext uri="{FF2B5EF4-FFF2-40B4-BE49-F238E27FC236}">
                <a16:creationId xmlns:a16="http://schemas.microsoft.com/office/drawing/2014/main" id="{CC9CB38D-77F9-AC79-77BE-2D4A47CB89A1}"/>
              </a:ext>
            </a:extLst>
          </p:cNvPr>
          <p:cNvSpPr/>
          <p:nvPr/>
        </p:nvSpPr>
        <p:spPr>
          <a:xfrm>
            <a:off x="390663" y="2134339"/>
            <a:ext cx="397764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Un </a:t>
            </a:r>
            <a:r>
              <a:rPr lang="fr-FR" sz="10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Resolver</a:t>
            </a: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Case répond à : </a:t>
            </a:r>
            <a:endParaRPr lang="fr-FR" sz="1000" noProof="0" dirty="0"/>
          </a:p>
        </p:txBody>
      </p:sp>
      <p:sp>
        <p:nvSpPr>
          <p:cNvPr id="8" name="Text 23">
            <a:extLst>
              <a:ext uri="{FF2B5EF4-FFF2-40B4-BE49-F238E27FC236}">
                <a16:creationId xmlns:a16="http://schemas.microsoft.com/office/drawing/2014/main" id="{0DA45FB1-0BED-57B6-A7E7-8B3ACD5A61ED}"/>
              </a:ext>
            </a:extLst>
          </p:cNvPr>
          <p:cNvSpPr/>
          <p:nvPr/>
        </p:nvSpPr>
        <p:spPr>
          <a:xfrm>
            <a:off x="390661" y="2426947"/>
            <a:ext cx="4260586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fr-FR" sz="95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E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xiste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-t-il une piste de fix crédible et vérifiable ?</a:t>
            </a:r>
            <a:endParaRPr lang="fr-FR" sz="950" noProof="0" dirty="0"/>
          </a:p>
        </p:txBody>
      </p:sp>
      <p:sp>
        <p:nvSpPr>
          <p:cNvPr id="10" name="Text 41">
            <a:extLst>
              <a:ext uri="{FF2B5EF4-FFF2-40B4-BE49-F238E27FC236}">
                <a16:creationId xmlns:a16="http://schemas.microsoft.com/office/drawing/2014/main" id="{C662A17B-09A5-65B0-C238-3ECB3B5CEB7E}"/>
              </a:ext>
            </a:extLst>
          </p:cNvPr>
          <p:cNvSpPr/>
          <p:nvPr/>
        </p:nvSpPr>
        <p:spPr>
          <a:xfrm>
            <a:off x="334491" y="3012936"/>
            <a:ext cx="4820218" cy="88573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part d’une issue.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relie cette issue aux PR, 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commits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et fichiers modifiés quand ils existent.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calcule un niveau de confiance et un statut de résolution.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génère une synthèse orientée décision technique.</a:t>
            </a:r>
          </a:p>
        </p:txBody>
      </p:sp>
      <p:sp>
        <p:nvSpPr>
          <p:cNvPr id="27" name="Text 40">
            <a:extLst>
              <a:ext uri="{FF2B5EF4-FFF2-40B4-BE49-F238E27FC236}">
                <a16:creationId xmlns:a16="http://schemas.microsoft.com/office/drawing/2014/main" id="{1E2E4E41-43F5-5127-E7B6-6B44F684D495}"/>
              </a:ext>
            </a:extLst>
          </p:cNvPr>
          <p:cNvSpPr/>
          <p:nvPr/>
        </p:nvSpPr>
        <p:spPr>
          <a:xfrm>
            <a:off x="390660" y="2718048"/>
            <a:ext cx="2868964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Construction :</a:t>
            </a:r>
            <a:endParaRPr lang="fr-FR" sz="1000" noProof="0" dirty="0">
              <a:solidFill>
                <a:srgbClr val="0D9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49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2246-6A9E-5175-AC9C-26AFF763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0D73-1603-740F-0E1B-55D344D0F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4" y="-209366"/>
            <a:ext cx="11609159" cy="1247050"/>
          </a:xfrm>
        </p:spPr>
        <p:txBody>
          <a:bodyPr/>
          <a:lstStyle/>
          <a:p>
            <a:r>
              <a:rPr lang="fr-FR" sz="1800" b="1" noProof="0" dirty="0">
                <a:latin typeface="+mn-lt"/>
              </a:rPr>
              <a:t>Pipeline : Delivery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resolver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 cases, diagnostic 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cards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, exports ST-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ready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fr-FR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8BE761-85DD-257E-D629-06F01A1C74C4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Delivery — Pourquoi structurer la sortie finale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AE2DA478-213C-2842-2E75-8E8ADB543952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Des exports ST-</a:t>
            </a:r>
            <a:r>
              <a:rPr lang="fr-FR" sz="1200" i="1" noProof="0" dirty="0" err="1">
                <a:solidFill>
                  <a:srgbClr val="64748B"/>
                </a:solidFill>
              </a:rPr>
              <a:t>ready</a:t>
            </a:r>
            <a:r>
              <a:rPr lang="fr-FR" sz="1200" i="1" noProof="0" dirty="0">
                <a:solidFill>
                  <a:srgbClr val="64748B"/>
                </a:solidFill>
              </a:rPr>
              <a:t> = cas actionnables, prêts à intégrer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1A271262-7A54-2F64-0F42-615C6C8518AA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Shape 19">
            <a:extLst>
              <a:ext uri="{FF2B5EF4-FFF2-40B4-BE49-F238E27FC236}">
                <a16:creationId xmlns:a16="http://schemas.microsoft.com/office/drawing/2014/main" id="{763236B8-E1A2-E9B4-CC64-80E9EB904B61}"/>
              </a:ext>
            </a:extLst>
          </p:cNvPr>
          <p:cNvSpPr/>
          <p:nvPr/>
        </p:nvSpPr>
        <p:spPr>
          <a:xfrm>
            <a:off x="291500" y="1991757"/>
            <a:ext cx="5678225" cy="198859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20">
            <a:extLst>
              <a:ext uri="{FF2B5EF4-FFF2-40B4-BE49-F238E27FC236}">
                <a16:creationId xmlns:a16="http://schemas.microsoft.com/office/drawing/2014/main" id="{FBDAD5FE-0CBC-2D89-1CB3-E8DAA93B6926}"/>
              </a:ext>
            </a:extLst>
          </p:cNvPr>
          <p:cNvSpPr/>
          <p:nvPr/>
        </p:nvSpPr>
        <p:spPr>
          <a:xfrm>
            <a:off x="291501" y="1991757"/>
            <a:ext cx="5678223" cy="45719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21">
            <a:extLst>
              <a:ext uri="{FF2B5EF4-FFF2-40B4-BE49-F238E27FC236}">
                <a16:creationId xmlns:a16="http://schemas.microsoft.com/office/drawing/2014/main" id="{9E0C8A64-DEBD-8435-FBED-0BBD2D23D157}"/>
              </a:ext>
            </a:extLst>
          </p:cNvPr>
          <p:cNvSpPr/>
          <p:nvPr/>
        </p:nvSpPr>
        <p:spPr>
          <a:xfrm>
            <a:off x="291501" y="1498690"/>
            <a:ext cx="39776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2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Diagnostic </a:t>
            </a:r>
            <a:r>
              <a:rPr lang="fr-FR" sz="1200" b="1" noProof="0" dirty="0" err="1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Cards</a:t>
            </a:r>
            <a:r>
              <a:rPr lang="fr-FR" sz="12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 : ce qu’on a construit et comment   </a:t>
            </a:r>
            <a:endParaRPr lang="fr-FR" sz="1200" noProof="0" dirty="0">
              <a:solidFill>
                <a:srgbClr val="0D9589"/>
              </a:solidFill>
            </a:endParaRPr>
          </a:p>
        </p:txBody>
      </p:sp>
      <p:sp>
        <p:nvSpPr>
          <p:cNvPr id="7" name="Text 22">
            <a:extLst>
              <a:ext uri="{FF2B5EF4-FFF2-40B4-BE49-F238E27FC236}">
                <a16:creationId xmlns:a16="http://schemas.microsoft.com/office/drawing/2014/main" id="{39B71BDE-CEB8-FB4D-5149-682202CDDE75}"/>
              </a:ext>
            </a:extLst>
          </p:cNvPr>
          <p:cNvSpPr/>
          <p:nvPr/>
        </p:nvSpPr>
        <p:spPr>
          <a:xfrm>
            <a:off x="390663" y="2135888"/>
            <a:ext cx="397764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Une Diagnostic </a:t>
            </a:r>
            <a:r>
              <a:rPr lang="fr-FR" sz="10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Card</a:t>
            </a:r>
            <a:r>
              <a:rPr lang="fr-FR" sz="10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répond à : </a:t>
            </a:r>
            <a:endParaRPr lang="fr-FR" sz="1000" noProof="0" dirty="0"/>
          </a:p>
        </p:txBody>
      </p:sp>
      <p:sp>
        <p:nvSpPr>
          <p:cNvPr id="8" name="Text 23">
            <a:extLst>
              <a:ext uri="{FF2B5EF4-FFF2-40B4-BE49-F238E27FC236}">
                <a16:creationId xmlns:a16="http://schemas.microsoft.com/office/drawing/2014/main" id="{883CDCC7-46E1-665E-ABB6-0FDB1B18CE6E}"/>
              </a:ext>
            </a:extLst>
          </p:cNvPr>
          <p:cNvSpPr/>
          <p:nvPr/>
        </p:nvSpPr>
        <p:spPr>
          <a:xfrm>
            <a:off x="390661" y="2428496"/>
            <a:ext cx="4260586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fr-FR" sz="95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Quoi vérifier maintenant pour isoler rapidement la cause probable ?</a:t>
            </a:r>
            <a:endParaRPr lang="fr-FR" sz="950" noProof="0" dirty="0"/>
          </a:p>
        </p:txBody>
      </p:sp>
      <p:sp>
        <p:nvSpPr>
          <p:cNvPr id="10" name="Text 41">
            <a:extLst>
              <a:ext uri="{FF2B5EF4-FFF2-40B4-BE49-F238E27FC236}">
                <a16:creationId xmlns:a16="http://schemas.microsoft.com/office/drawing/2014/main" id="{969A6DD3-AB56-DACD-AD64-848D5CF9170B}"/>
              </a:ext>
            </a:extLst>
          </p:cNvPr>
          <p:cNvSpPr/>
          <p:nvPr/>
        </p:nvSpPr>
        <p:spPr>
          <a:xfrm>
            <a:off x="334490" y="3014485"/>
            <a:ext cx="5635233" cy="88573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</a:t>
            </a:r>
            <a:r>
              <a:rPr lang="en-US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fusionne</a:t>
            </a:r>
            <a:r>
              <a:rPr lang="en-US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deux sources par </a:t>
            </a:r>
            <a:r>
              <a:rPr lang="en-US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issue_number</a:t>
            </a:r>
            <a:r>
              <a:rPr lang="en-US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: issues ST-ready + resolver cases ST-ready. 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relie cette issue aux PR, </a:t>
            </a:r>
            <a:r>
              <a:rPr lang="fr-FR" sz="950" noProof="0" dirty="0" err="1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commits</a:t>
            </a: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 et fichiers modifiés quand ils existent.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calcule un niveau de confiance et un statut de résolution.</a:t>
            </a:r>
          </a:p>
          <a:p>
            <a:pPr marL="171450" indent="-1714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fr-FR" sz="950" noProof="0" dirty="0">
                <a:solidFill>
                  <a:srgbClr val="1E293B"/>
                </a:solidFill>
                <a:ea typeface="Calibri" pitchFamily="34" charset="-122"/>
                <a:cs typeface="Calibri" pitchFamily="34" charset="-120"/>
              </a:rPr>
              <a:t>On génère une synthèse orientée décision technique.</a:t>
            </a:r>
          </a:p>
        </p:txBody>
      </p:sp>
      <p:sp>
        <p:nvSpPr>
          <p:cNvPr id="27" name="Text 40">
            <a:extLst>
              <a:ext uri="{FF2B5EF4-FFF2-40B4-BE49-F238E27FC236}">
                <a16:creationId xmlns:a16="http://schemas.microsoft.com/office/drawing/2014/main" id="{4A973CF2-8250-FEEE-8EF6-A0646ADDC1BE}"/>
              </a:ext>
            </a:extLst>
          </p:cNvPr>
          <p:cNvSpPr/>
          <p:nvPr/>
        </p:nvSpPr>
        <p:spPr>
          <a:xfrm>
            <a:off x="390660" y="2719597"/>
            <a:ext cx="2868964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fr-FR" sz="1000" b="1" noProof="0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Construction :</a:t>
            </a:r>
            <a:endParaRPr lang="fr-FR" sz="1000" noProof="0" dirty="0">
              <a:solidFill>
                <a:srgbClr val="0D9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165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BF50B-304A-9E25-C387-91DCBC31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8D09-D7D6-7F14-3DFD-221DE823F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339" y="-222791"/>
            <a:ext cx="11609159" cy="1247050"/>
          </a:xfrm>
        </p:spPr>
        <p:txBody>
          <a:bodyPr/>
          <a:lstStyle/>
          <a:p>
            <a:r>
              <a:rPr lang="fr-FR" sz="1800" b="1" noProof="0" dirty="0">
                <a:latin typeface="+mn-lt"/>
              </a:rPr>
              <a:t>Pipeline : Delivery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(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resolver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 cases, diagnostic 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cards</a:t>
            </a:r>
            <a:r>
              <a:rPr lang="fr-FR" sz="1800" b="1" noProof="0" dirty="0">
                <a:solidFill>
                  <a:srgbClr val="0D9488"/>
                </a:solidFill>
                <a:latin typeface="+mn-lt"/>
              </a:rPr>
              <a:t>, exports ST-</a:t>
            </a:r>
            <a:r>
              <a:rPr lang="fr-FR" sz="1800" b="1" noProof="0" dirty="0" err="1">
                <a:solidFill>
                  <a:srgbClr val="0D9488"/>
                </a:solidFill>
                <a:latin typeface="+mn-lt"/>
              </a:rPr>
              <a:t>ready</a:t>
            </a:r>
            <a:r>
              <a:rPr lang="fr-FR" sz="1800" b="1" noProof="0" dirty="0">
                <a:solidFill>
                  <a:srgbClr val="1B2A3B"/>
                </a:solidFill>
                <a:latin typeface="+mn-lt"/>
              </a:rPr>
              <a:t>)</a:t>
            </a:r>
            <a:endParaRPr lang="fr-FR" sz="1800" noProof="0" dirty="0">
              <a:latin typeface="+mn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15D4270-FBC4-556D-BCA0-B39FFFAC789B}"/>
              </a:ext>
            </a:extLst>
          </p:cNvPr>
          <p:cNvSpPr txBox="1"/>
          <p:nvPr/>
        </p:nvSpPr>
        <p:spPr>
          <a:xfrm>
            <a:off x="291502" y="635702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Delivery — Pourquoi structurer la sortie finale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812D244D-1F34-B011-8D32-D426B4DD2077}"/>
              </a:ext>
            </a:extLst>
          </p:cNvPr>
          <p:cNvSpPr/>
          <p:nvPr/>
        </p:nvSpPr>
        <p:spPr>
          <a:xfrm>
            <a:off x="390663" y="921845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Des exports ST-</a:t>
            </a:r>
            <a:r>
              <a:rPr lang="fr-FR" sz="1200" i="1" noProof="0" dirty="0" err="1">
                <a:solidFill>
                  <a:srgbClr val="64748B"/>
                </a:solidFill>
              </a:rPr>
              <a:t>ready</a:t>
            </a:r>
            <a:r>
              <a:rPr lang="fr-FR" sz="1200" i="1" noProof="0" dirty="0">
                <a:solidFill>
                  <a:srgbClr val="64748B"/>
                </a:solidFill>
              </a:rPr>
              <a:t> = cas actionnables, prêts à intégrer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F11DE4D1-BE12-171B-035E-04CEABC234FA}"/>
              </a:ext>
            </a:extLst>
          </p:cNvPr>
          <p:cNvSpPr/>
          <p:nvPr/>
        </p:nvSpPr>
        <p:spPr>
          <a:xfrm>
            <a:off x="340364" y="1302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30">
            <a:extLst>
              <a:ext uri="{FF2B5EF4-FFF2-40B4-BE49-F238E27FC236}">
                <a16:creationId xmlns:a16="http://schemas.microsoft.com/office/drawing/2014/main" id="{24C28AF3-A8FC-E721-E131-F1C427C46064}"/>
              </a:ext>
            </a:extLst>
          </p:cNvPr>
          <p:cNvSpPr/>
          <p:nvPr/>
        </p:nvSpPr>
        <p:spPr>
          <a:xfrm>
            <a:off x="704567" y="1882752"/>
            <a:ext cx="4251960" cy="50292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31">
            <a:extLst>
              <a:ext uri="{FF2B5EF4-FFF2-40B4-BE49-F238E27FC236}">
                <a16:creationId xmlns:a16="http://schemas.microsoft.com/office/drawing/2014/main" id="{0D6C41A0-6CCE-04FC-D29B-7A27335B8F3A}"/>
              </a:ext>
            </a:extLst>
          </p:cNvPr>
          <p:cNvSpPr/>
          <p:nvPr/>
        </p:nvSpPr>
        <p:spPr>
          <a:xfrm>
            <a:off x="777719" y="1919328"/>
            <a:ext cx="3977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 = (docs_..._v2) — source de vérité riche en </a:t>
            </a:r>
            <a:r>
              <a:rPr lang="fr-FR" sz="900" noProof="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metadata</a:t>
            </a:r>
            <a:endParaRPr lang="fr-FR" sz="900" noProof="0" dirty="0"/>
          </a:p>
        </p:txBody>
      </p:sp>
      <p:sp>
        <p:nvSpPr>
          <p:cNvPr id="28" name="Shape 32">
            <a:extLst>
              <a:ext uri="{FF2B5EF4-FFF2-40B4-BE49-F238E27FC236}">
                <a16:creationId xmlns:a16="http://schemas.microsoft.com/office/drawing/2014/main" id="{27278D46-CC65-4940-0EC6-5240F966FE61}"/>
              </a:ext>
            </a:extLst>
          </p:cNvPr>
          <p:cNvSpPr/>
          <p:nvPr/>
        </p:nvSpPr>
        <p:spPr>
          <a:xfrm>
            <a:off x="704567" y="2570118"/>
            <a:ext cx="425196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FB0F9F03-BF0F-FF00-D149-5CEBE5649433}"/>
              </a:ext>
            </a:extLst>
          </p:cNvPr>
          <p:cNvSpPr/>
          <p:nvPr/>
        </p:nvSpPr>
        <p:spPr>
          <a:xfrm>
            <a:off x="777719" y="2606694"/>
            <a:ext cx="4178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B = Format ST-</a:t>
            </a:r>
            <a:r>
              <a:rPr lang="fr-FR" sz="900" noProof="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ready</a:t>
            </a:r>
            <a:r>
              <a:rPr lang="fr-FR" sz="900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 (</a:t>
            </a:r>
            <a:r>
              <a:rPr lang="fr-FR" sz="900" noProof="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st_ready</a:t>
            </a:r>
            <a:r>
              <a:rPr lang="fr-FR" sz="900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_... ) — adapté au moteur RAG ST</a:t>
            </a:r>
            <a:endParaRPr lang="fr-FR" sz="900" noProof="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ED315BA5-E32E-436C-11C5-F43D97B1F1BC}"/>
              </a:ext>
            </a:extLst>
          </p:cNvPr>
          <p:cNvSpPr/>
          <p:nvPr/>
        </p:nvSpPr>
        <p:spPr>
          <a:xfrm>
            <a:off x="704566" y="3440279"/>
            <a:ext cx="5036559" cy="2552633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7C58861-5090-9AA1-BE5C-0C45E798068A}"/>
              </a:ext>
            </a:extLst>
          </p:cNvPr>
          <p:cNvSpPr/>
          <p:nvPr/>
        </p:nvSpPr>
        <p:spPr>
          <a:xfrm>
            <a:off x="704567" y="3440280"/>
            <a:ext cx="54864" cy="1737360"/>
          </a:xfrm>
          <a:prstGeom prst="rect">
            <a:avLst/>
          </a:prstGeom>
          <a:solidFill>
            <a:srgbClr val="425A78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8D33FDD-557D-2EE0-A247-DE417BE9F41A}"/>
              </a:ext>
            </a:extLst>
          </p:cNvPr>
          <p:cNvSpPr/>
          <p:nvPr/>
        </p:nvSpPr>
        <p:spPr>
          <a:xfrm>
            <a:off x="933167" y="3455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Structure </a:t>
            </a:r>
            <a:r>
              <a:rPr lang="fr-FR" sz="1100" b="1" noProof="0" dirty="0" err="1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st_ready_text</a:t>
            </a:r>
            <a:r>
              <a:rPr lang="fr-FR" sz="1100" b="1" noProof="0" dirty="0">
                <a:solidFill>
                  <a:srgbClr val="0D1B2A"/>
                </a:solidFill>
                <a:ea typeface="Calibri" pitchFamily="34" charset="-122"/>
                <a:cs typeface="Calibri" pitchFamily="34" charset="-120"/>
              </a:rPr>
              <a:t> (issues) — champs exposés au moteur RAG</a:t>
            </a:r>
            <a:endParaRPr lang="fr-FR" sz="1100" noProof="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328EBD78-EE0D-F039-30EB-2A35E86F318E}"/>
              </a:ext>
            </a:extLst>
          </p:cNvPr>
          <p:cNvSpPr/>
          <p:nvPr/>
        </p:nvSpPr>
        <p:spPr>
          <a:xfrm>
            <a:off x="933167" y="38974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C250B83-CB9A-5993-5C85-A829CF71AAEC}"/>
              </a:ext>
            </a:extLst>
          </p:cNvPr>
          <p:cNvSpPr/>
          <p:nvPr/>
        </p:nvSpPr>
        <p:spPr>
          <a:xfrm>
            <a:off x="978887" y="3897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 err="1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Problem</a:t>
            </a:r>
            <a:endParaRPr lang="fr-FR" sz="900" noProof="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FE35AAD-BCD7-9A52-F1EB-D47C01B86A26}"/>
              </a:ext>
            </a:extLst>
          </p:cNvPr>
          <p:cNvSpPr/>
          <p:nvPr/>
        </p:nvSpPr>
        <p:spPr>
          <a:xfrm>
            <a:off x="3082007" y="38974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52C4D455-9979-7B15-7B83-4574FCDCED00}"/>
              </a:ext>
            </a:extLst>
          </p:cNvPr>
          <p:cNvSpPr/>
          <p:nvPr/>
        </p:nvSpPr>
        <p:spPr>
          <a:xfrm>
            <a:off x="3127727" y="38974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 err="1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Context</a:t>
            </a:r>
            <a:endParaRPr lang="fr-FR" sz="900" noProof="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C639846-3F32-B5FD-5A5D-40DA9B19DDF2}"/>
              </a:ext>
            </a:extLst>
          </p:cNvPr>
          <p:cNvSpPr/>
          <p:nvPr/>
        </p:nvSpPr>
        <p:spPr>
          <a:xfrm>
            <a:off x="933167" y="48118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B48D806A-D466-8554-357E-764060721E00}"/>
              </a:ext>
            </a:extLst>
          </p:cNvPr>
          <p:cNvSpPr/>
          <p:nvPr/>
        </p:nvSpPr>
        <p:spPr>
          <a:xfrm>
            <a:off x="978887" y="48118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Root cause</a:t>
            </a:r>
            <a:endParaRPr lang="fr-FR" sz="900" noProof="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CCDDD07C-B27C-3265-6F7F-C2A9BB4D151A}"/>
              </a:ext>
            </a:extLst>
          </p:cNvPr>
          <p:cNvSpPr/>
          <p:nvPr/>
        </p:nvSpPr>
        <p:spPr>
          <a:xfrm>
            <a:off x="3082007" y="48118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2EBAC4C0-FD34-3D7B-1E70-248F6F610838}"/>
              </a:ext>
            </a:extLst>
          </p:cNvPr>
          <p:cNvSpPr/>
          <p:nvPr/>
        </p:nvSpPr>
        <p:spPr>
          <a:xfrm>
            <a:off x="3127727" y="48118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Fix</a:t>
            </a:r>
            <a:endParaRPr lang="fr-FR" sz="900" noProof="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804033E5-AB41-F507-EB6C-C17B2266C9E7}"/>
              </a:ext>
            </a:extLst>
          </p:cNvPr>
          <p:cNvSpPr/>
          <p:nvPr/>
        </p:nvSpPr>
        <p:spPr>
          <a:xfrm>
            <a:off x="933167" y="43546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883A9D0E-CD31-2743-10F1-2626C88CF0FF}"/>
              </a:ext>
            </a:extLst>
          </p:cNvPr>
          <p:cNvSpPr/>
          <p:nvPr/>
        </p:nvSpPr>
        <p:spPr>
          <a:xfrm>
            <a:off x="978887" y="43546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 err="1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Constraints</a:t>
            </a:r>
            <a:endParaRPr lang="fr-FR" sz="900" noProof="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B7AD383F-19F4-7AF9-FC24-E69AFF3BB9AC}"/>
              </a:ext>
            </a:extLst>
          </p:cNvPr>
          <p:cNvSpPr/>
          <p:nvPr/>
        </p:nvSpPr>
        <p:spPr>
          <a:xfrm>
            <a:off x="3082007" y="43546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0D98847-10C3-A463-6131-45A8689A9E2B}"/>
              </a:ext>
            </a:extLst>
          </p:cNvPr>
          <p:cNvSpPr/>
          <p:nvPr/>
        </p:nvSpPr>
        <p:spPr>
          <a:xfrm>
            <a:off x="3127727" y="43546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Keywords</a:t>
            </a:r>
            <a:endParaRPr lang="fr-FR" sz="900" noProof="0" dirty="0"/>
          </a:p>
        </p:txBody>
      </p:sp>
      <p:sp>
        <p:nvSpPr>
          <p:cNvPr id="51" name="Shape 49">
            <a:extLst>
              <a:ext uri="{FF2B5EF4-FFF2-40B4-BE49-F238E27FC236}">
                <a16:creationId xmlns:a16="http://schemas.microsoft.com/office/drawing/2014/main" id="{186B3D92-96F8-C0EC-C717-BF3D7FA00FFF}"/>
              </a:ext>
            </a:extLst>
          </p:cNvPr>
          <p:cNvSpPr/>
          <p:nvPr/>
        </p:nvSpPr>
        <p:spPr>
          <a:xfrm>
            <a:off x="933167" y="52690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6FA5F6-B797-9583-4CE4-3D504D406352}"/>
              </a:ext>
            </a:extLst>
          </p:cNvPr>
          <p:cNvSpPr/>
          <p:nvPr/>
        </p:nvSpPr>
        <p:spPr>
          <a:xfrm>
            <a:off x="978887" y="52690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 err="1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Technical</a:t>
            </a:r>
            <a:r>
              <a:rPr lang="fr-FR" sz="90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fr-FR" sz="900" b="1" noProof="0" dirty="0" err="1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details</a:t>
            </a:r>
            <a:endParaRPr lang="fr-FR" sz="900" noProof="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020D3776-1751-AC36-3EAC-8FC1CCA8F065}"/>
              </a:ext>
            </a:extLst>
          </p:cNvPr>
          <p:cNvSpPr/>
          <p:nvPr/>
        </p:nvSpPr>
        <p:spPr>
          <a:xfrm>
            <a:off x="3082007" y="5269080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1A2E45">
              <a:alpha val="90000"/>
            </a:srgbClr>
          </a:solidFill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05AC58C8-3BF7-A0A4-E52D-334E3DFD5B45}"/>
              </a:ext>
            </a:extLst>
          </p:cNvPr>
          <p:cNvSpPr/>
          <p:nvPr/>
        </p:nvSpPr>
        <p:spPr>
          <a:xfrm>
            <a:off x="3127727" y="52690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900" b="1" noProof="0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Key </a:t>
            </a:r>
            <a:r>
              <a:rPr lang="fr-FR" sz="900" b="1" noProof="0" dirty="0" err="1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comments</a:t>
            </a:r>
            <a:endParaRPr lang="fr-FR" sz="900" noProof="0" dirty="0"/>
          </a:p>
        </p:txBody>
      </p:sp>
    </p:spTree>
    <p:extLst>
      <p:ext uri="{BB962C8B-B14F-4D97-AF65-F5344CB8AC3E}">
        <p14:creationId xmlns:p14="http://schemas.microsoft.com/office/powerpoint/2010/main" val="3360266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D4431-15DA-724A-0889-CCA7FC243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B509B-0CB0-285B-EEE4-1534E460F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7" y="-53443"/>
            <a:ext cx="11609159" cy="1247050"/>
          </a:xfrm>
        </p:spPr>
        <p:txBody>
          <a:bodyPr/>
          <a:lstStyle/>
          <a:p>
            <a:r>
              <a:rPr lang="fr-FR" sz="1800" b="1" noProof="0" dirty="0"/>
              <a:t>Pipeline : les agents IA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CC14F81-6B78-B90F-AD40-12C17DA93D33}"/>
              </a:ext>
            </a:extLst>
          </p:cNvPr>
          <p:cNvSpPr txBox="1"/>
          <p:nvPr/>
        </p:nvSpPr>
        <p:spPr>
          <a:xfrm>
            <a:off x="340364" y="396684"/>
            <a:ext cx="61737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200" b="1" noProof="0" dirty="0">
                <a:solidFill>
                  <a:srgbClr val="425A78"/>
                </a:solidFill>
              </a:rPr>
              <a:t>C'est quoi un Agent IA ?</a:t>
            </a:r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050586D5-38DE-9065-4CCF-0C1BAF40F155}"/>
              </a:ext>
            </a:extLst>
          </p:cNvPr>
          <p:cNvSpPr/>
          <p:nvPr/>
        </p:nvSpPr>
        <p:spPr>
          <a:xfrm>
            <a:off x="439525" y="682827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i="1" noProof="0" dirty="0">
                <a:solidFill>
                  <a:srgbClr val="64748B"/>
                </a:solidFill>
              </a:rPr>
              <a:t>Un assistant spécialisé dans une tâche précise , comme un collègue expert</a:t>
            </a:r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C5E7EF17-CE98-6308-C3C7-1A5F47CA8201}"/>
              </a:ext>
            </a:extLst>
          </p:cNvPr>
          <p:cNvSpPr/>
          <p:nvPr/>
        </p:nvSpPr>
        <p:spPr>
          <a:xfrm>
            <a:off x="439525" y="1054803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04EBC24E-EFAD-34D1-83F6-16AECB57B429}"/>
              </a:ext>
            </a:extLst>
          </p:cNvPr>
          <p:cNvSpPr/>
          <p:nvPr/>
        </p:nvSpPr>
        <p:spPr>
          <a:xfrm>
            <a:off x="1191978" y="1285047"/>
            <a:ext cx="9506502" cy="658368"/>
          </a:xfrm>
          <a:prstGeom prst="rect">
            <a:avLst/>
          </a:prstGeom>
          <a:solidFill>
            <a:srgbClr val="F0FDFA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C17891FA-6464-4058-A752-42610BB6876D}"/>
              </a:ext>
            </a:extLst>
          </p:cNvPr>
          <p:cNvSpPr/>
          <p:nvPr/>
        </p:nvSpPr>
        <p:spPr>
          <a:xfrm>
            <a:off x="1191978" y="1285047"/>
            <a:ext cx="64008" cy="658368"/>
          </a:xfrm>
          <a:prstGeom prst="rect">
            <a:avLst/>
          </a:prstGeom>
          <a:solidFill>
            <a:srgbClr val="425A78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FDC9C4EE-E1D5-4748-FB37-DB66707BC84A}"/>
              </a:ext>
            </a:extLst>
          </p:cNvPr>
          <p:cNvSpPr/>
          <p:nvPr/>
        </p:nvSpPr>
        <p:spPr>
          <a:xfrm>
            <a:off x="1384002" y="1307907"/>
            <a:ext cx="8800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B2A3B"/>
                </a:solidFill>
              </a:rPr>
              <a:t>Un agent IA = un LLM auquel on donne une mission précise avec un contexte défini. Il analyse, documente ou compare automatiquement. Dans ce projet, 2 agents sont utilisés pour accélérer le </a:t>
            </a:r>
            <a:r>
              <a:rPr lang="fr-FR" sz="1100" noProof="0" dirty="0" err="1">
                <a:solidFill>
                  <a:srgbClr val="1B2A3B"/>
                </a:solidFill>
              </a:rPr>
              <a:t>preprocessing</a:t>
            </a:r>
            <a:r>
              <a:rPr lang="fr-FR" sz="1100" noProof="0" dirty="0">
                <a:solidFill>
                  <a:srgbClr val="1B2A3B"/>
                </a:solidFill>
              </a:rPr>
              <a:t>.</a:t>
            </a:r>
            <a:endParaRPr lang="fr-FR" sz="1100" noProof="0" dirty="0"/>
          </a:p>
        </p:txBody>
      </p:sp>
      <p:sp>
        <p:nvSpPr>
          <p:cNvPr id="35" name="Shape 3">
            <a:extLst>
              <a:ext uri="{FF2B5EF4-FFF2-40B4-BE49-F238E27FC236}">
                <a16:creationId xmlns:a16="http://schemas.microsoft.com/office/drawing/2014/main" id="{28D088B3-25A8-7B5A-0014-5641C39DFFB9}"/>
              </a:ext>
            </a:extLst>
          </p:cNvPr>
          <p:cNvSpPr/>
          <p:nvPr/>
        </p:nvSpPr>
        <p:spPr>
          <a:xfrm>
            <a:off x="1329138" y="2083143"/>
            <a:ext cx="4114800" cy="4023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2E9DE2DF-C840-F179-3EAB-C280CBEAFA60}"/>
              </a:ext>
            </a:extLst>
          </p:cNvPr>
          <p:cNvSpPr/>
          <p:nvPr/>
        </p:nvSpPr>
        <p:spPr>
          <a:xfrm>
            <a:off x="1329138" y="2083143"/>
            <a:ext cx="54864" cy="4023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7" name="Shape 5">
            <a:extLst>
              <a:ext uri="{FF2B5EF4-FFF2-40B4-BE49-F238E27FC236}">
                <a16:creationId xmlns:a16="http://schemas.microsoft.com/office/drawing/2014/main" id="{B7497C40-9B12-2FB1-BD5F-1D50DA7DE392}"/>
              </a:ext>
            </a:extLst>
          </p:cNvPr>
          <p:cNvSpPr/>
          <p:nvPr/>
        </p:nvSpPr>
        <p:spPr>
          <a:xfrm>
            <a:off x="1384002" y="2083143"/>
            <a:ext cx="4059936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5FF24F4E-A5E9-1909-1B9F-D36244C08AF7}"/>
              </a:ext>
            </a:extLst>
          </p:cNvPr>
          <p:cNvSpPr/>
          <p:nvPr/>
        </p:nvSpPr>
        <p:spPr>
          <a:xfrm>
            <a:off x="1466298" y="2083143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Agent 1 — Preprocessing Agent</a:t>
            </a:r>
            <a:endParaRPr lang="en-US" sz="1200" dirty="0"/>
          </a:p>
        </p:txBody>
      </p:sp>
      <p:sp>
        <p:nvSpPr>
          <p:cNvPr id="39" name="Text 7">
            <a:extLst>
              <a:ext uri="{FF2B5EF4-FFF2-40B4-BE49-F238E27FC236}">
                <a16:creationId xmlns:a16="http://schemas.microsoft.com/office/drawing/2014/main" id="{1C6C8797-3518-6692-3589-1775C6152DBA}"/>
              </a:ext>
            </a:extLst>
          </p:cNvPr>
          <p:cNvSpPr/>
          <p:nvPr/>
        </p:nvSpPr>
        <p:spPr>
          <a:xfrm>
            <a:off x="1466298" y="2586063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0D9488"/>
                </a:solidFill>
                <a:ea typeface="Calibri" pitchFamily="34" charset="-122"/>
                <a:cs typeface="Calibri" pitchFamily="34" charset="-120"/>
              </a:rPr>
              <a:t>STM32Cube Preprocessing Agent</a:t>
            </a:r>
            <a:endParaRPr lang="en-US" sz="1000" dirty="0"/>
          </a:p>
        </p:txBody>
      </p:sp>
      <p:sp>
        <p:nvSpPr>
          <p:cNvPr id="40" name="Shape 8">
            <a:extLst>
              <a:ext uri="{FF2B5EF4-FFF2-40B4-BE49-F238E27FC236}">
                <a16:creationId xmlns:a16="http://schemas.microsoft.com/office/drawing/2014/main" id="{1A63103C-F729-196C-C06A-4ACFB4ACA44A}"/>
              </a:ext>
            </a:extLst>
          </p:cNvPr>
          <p:cNvSpPr/>
          <p:nvPr/>
        </p:nvSpPr>
        <p:spPr>
          <a:xfrm>
            <a:off x="1466298" y="2970111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F5B768E5-D180-423E-9661-0B6B8A08525D}"/>
              </a:ext>
            </a:extLst>
          </p:cNvPr>
          <p:cNvSpPr/>
          <p:nvPr/>
        </p:nvSpPr>
        <p:spPr>
          <a:xfrm>
            <a:off x="1466298" y="2970111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Rôle</a:t>
            </a:r>
            <a:endParaRPr lang="en-US" sz="95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D03063E9-0B82-6D0F-15DE-AB735544BE9D}"/>
              </a:ext>
            </a:extLst>
          </p:cNvPr>
          <p:cNvSpPr/>
          <p:nvPr/>
        </p:nvSpPr>
        <p:spPr>
          <a:xfrm>
            <a:off x="2563578" y="2997543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Assistant dédié à l'analyse et documentation du pipeline</a:t>
            </a:r>
            <a:endParaRPr lang="en-US" sz="95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2397B79D-EFB2-EBF0-C846-5CEC7A9629F7}"/>
              </a:ext>
            </a:extLst>
          </p:cNvPr>
          <p:cNvSpPr/>
          <p:nvPr/>
        </p:nvSpPr>
        <p:spPr>
          <a:xfrm>
            <a:off x="1466298" y="3537039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4" name="Text 12">
            <a:extLst>
              <a:ext uri="{FF2B5EF4-FFF2-40B4-BE49-F238E27FC236}">
                <a16:creationId xmlns:a16="http://schemas.microsoft.com/office/drawing/2014/main" id="{7ED0A8C4-4AA0-9979-4312-855A782C5781}"/>
              </a:ext>
            </a:extLst>
          </p:cNvPr>
          <p:cNvSpPr/>
          <p:nvPr/>
        </p:nvSpPr>
        <p:spPr>
          <a:xfrm>
            <a:off x="1466298" y="3537039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Analyser</a:t>
            </a:r>
            <a:endParaRPr lang="en-US" sz="950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10DF01E2-261A-8A25-D892-E393CBD8809B}"/>
              </a:ext>
            </a:extLst>
          </p:cNvPr>
          <p:cNvSpPr/>
          <p:nvPr/>
        </p:nvSpPr>
        <p:spPr>
          <a:xfrm>
            <a:off x="2563578" y="3564471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Le flux de données et sorties JSON</a:t>
            </a:r>
            <a:endParaRPr lang="en-US" sz="950" dirty="0"/>
          </a:p>
        </p:txBody>
      </p:sp>
      <p:sp>
        <p:nvSpPr>
          <p:cNvPr id="46" name="Shape 14">
            <a:extLst>
              <a:ext uri="{FF2B5EF4-FFF2-40B4-BE49-F238E27FC236}">
                <a16:creationId xmlns:a16="http://schemas.microsoft.com/office/drawing/2014/main" id="{E394642C-5570-0634-0E54-D7DE3DD7B364}"/>
              </a:ext>
            </a:extLst>
          </p:cNvPr>
          <p:cNvSpPr/>
          <p:nvPr/>
        </p:nvSpPr>
        <p:spPr>
          <a:xfrm>
            <a:off x="1466298" y="4103967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B6603AAE-CCD4-9195-E9D9-85B962F73B00}"/>
              </a:ext>
            </a:extLst>
          </p:cNvPr>
          <p:cNvSpPr/>
          <p:nvPr/>
        </p:nvSpPr>
        <p:spPr>
          <a:xfrm>
            <a:off x="1466298" y="4103967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Documenter</a:t>
            </a:r>
            <a:endParaRPr lang="en-US" sz="950" dirty="0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3D4AF1A7-FC2B-E050-F36E-A5D34AF419EB}"/>
              </a:ext>
            </a:extLst>
          </p:cNvPr>
          <p:cNvSpPr/>
          <p:nvPr/>
        </p:nvSpPr>
        <p:spPr>
          <a:xfrm>
            <a:off x="2563578" y="4131399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Les schémas de données, résultats de tests</a:t>
            </a:r>
            <a:endParaRPr lang="en-US" sz="950" dirty="0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38832F4E-2B4A-3C2C-F280-D0503FFD1DFA}"/>
              </a:ext>
            </a:extLst>
          </p:cNvPr>
          <p:cNvSpPr/>
          <p:nvPr/>
        </p:nvSpPr>
        <p:spPr>
          <a:xfrm>
            <a:off x="1466298" y="4670895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5BF66B8A-1482-C786-4F77-18EC744F76AD}"/>
              </a:ext>
            </a:extLst>
          </p:cNvPr>
          <p:cNvSpPr/>
          <p:nvPr/>
        </p:nvSpPr>
        <p:spPr>
          <a:xfrm>
            <a:off x="1466298" y="4670895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Comparer</a:t>
            </a:r>
            <a:endParaRPr lang="en-US" sz="95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3DBF29EB-067B-B406-F8E8-76745313677B}"/>
              </a:ext>
            </a:extLst>
          </p:cNvPr>
          <p:cNvSpPr/>
          <p:nvPr/>
        </p:nvSpPr>
        <p:spPr>
          <a:xfrm>
            <a:off x="2563578" y="4698327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Stratégies de structuration / chunking</a:t>
            </a:r>
            <a:endParaRPr lang="en-US" sz="950" dirty="0"/>
          </a:p>
        </p:txBody>
      </p:sp>
      <p:sp>
        <p:nvSpPr>
          <p:cNvPr id="52" name="Shape 20">
            <a:extLst>
              <a:ext uri="{FF2B5EF4-FFF2-40B4-BE49-F238E27FC236}">
                <a16:creationId xmlns:a16="http://schemas.microsoft.com/office/drawing/2014/main" id="{E1BFF1F6-0D84-B75B-8154-537097490A21}"/>
              </a:ext>
            </a:extLst>
          </p:cNvPr>
          <p:cNvSpPr/>
          <p:nvPr/>
        </p:nvSpPr>
        <p:spPr>
          <a:xfrm>
            <a:off x="1466298" y="5237823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53" name="Text 21">
            <a:extLst>
              <a:ext uri="{FF2B5EF4-FFF2-40B4-BE49-F238E27FC236}">
                <a16:creationId xmlns:a16="http://schemas.microsoft.com/office/drawing/2014/main" id="{640358C8-7E3D-7D19-FEE5-E092F8F17C2D}"/>
              </a:ext>
            </a:extLst>
          </p:cNvPr>
          <p:cNvSpPr/>
          <p:nvPr/>
        </p:nvSpPr>
        <p:spPr>
          <a:xfrm>
            <a:off x="1466298" y="5237823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  <a:ea typeface="Calibri" pitchFamily="34" charset="-122"/>
                <a:cs typeface="Calibri" pitchFamily="34" charset="-120"/>
              </a:rPr>
              <a:t>Valeur</a:t>
            </a:r>
            <a:endParaRPr lang="en-US" sz="950" dirty="0"/>
          </a:p>
        </p:txBody>
      </p:sp>
      <p:sp>
        <p:nvSpPr>
          <p:cNvPr id="54" name="Text 22">
            <a:extLst>
              <a:ext uri="{FF2B5EF4-FFF2-40B4-BE49-F238E27FC236}">
                <a16:creationId xmlns:a16="http://schemas.microsoft.com/office/drawing/2014/main" id="{306F6F5B-45B2-E73F-19B1-4A63F83A5C80}"/>
              </a:ext>
            </a:extLst>
          </p:cNvPr>
          <p:cNvSpPr/>
          <p:nvPr/>
        </p:nvSpPr>
        <p:spPr>
          <a:xfrm>
            <a:off x="2563578" y="5265255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Accélération documentaire + lisibilité pipeline</a:t>
            </a:r>
            <a:endParaRPr lang="en-US" sz="950" dirty="0"/>
          </a:p>
        </p:txBody>
      </p:sp>
      <p:sp>
        <p:nvSpPr>
          <p:cNvPr id="55" name="Shape 23">
            <a:extLst>
              <a:ext uri="{FF2B5EF4-FFF2-40B4-BE49-F238E27FC236}">
                <a16:creationId xmlns:a16="http://schemas.microsoft.com/office/drawing/2014/main" id="{3965D45F-F71C-7334-0E2A-86AFF00913D7}"/>
              </a:ext>
            </a:extLst>
          </p:cNvPr>
          <p:cNvSpPr/>
          <p:nvPr/>
        </p:nvSpPr>
        <p:spPr>
          <a:xfrm>
            <a:off x="6304893" y="2091003"/>
            <a:ext cx="4114800" cy="4023360"/>
          </a:xfrm>
          <a:prstGeom prst="rect">
            <a:avLst/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TN"/>
          </a:p>
        </p:txBody>
      </p:sp>
      <p:sp>
        <p:nvSpPr>
          <p:cNvPr id="59" name="Shape 24">
            <a:extLst>
              <a:ext uri="{FF2B5EF4-FFF2-40B4-BE49-F238E27FC236}">
                <a16:creationId xmlns:a16="http://schemas.microsoft.com/office/drawing/2014/main" id="{9333A273-A1D7-5D55-870F-0D1397EF6BF3}"/>
              </a:ext>
            </a:extLst>
          </p:cNvPr>
          <p:cNvSpPr/>
          <p:nvPr/>
        </p:nvSpPr>
        <p:spPr>
          <a:xfrm>
            <a:off x="6304893" y="2091003"/>
            <a:ext cx="54864" cy="4023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E473E28D-06EF-2A48-C0BE-142F0D9C332A}"/>
              </a:ext>
            </a:extLst>
          </p:cNvPr>
          <p:cNvSpPr/>
          <p:nvPr/>
        </p:nvSpPr>
        <p:spPr>
          <a:xfrm>
            <a:off x="6359757" y="2091003"/>
            <a:ext cx="4059936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589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0F3BD7D0-51CE-99CE-132D-7EF0B3A7E83F}"/>
              </a:ext>
            </a:extLst>
          </p:cNvPr>
          <p:cNvSpPr/>
          <p:nvPr/>
        </p:nvSpPr>
        <p:spPr>
          <a:xfrm>
            <a:off x="6414621" y="2091003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Agent 2 — PDF Vision Agent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D7E2B645-09F7-5767-91C8-A8DF2D079F88}"/>
              </a:ext>
            </a:extLst>
          </p:cNvPr>
          <p:cNvSpPr/>
          <p:nvPr/>
        </p:nvSpPr>
        <p:spPr>
          <a:xfrm>
            <a:off x="6414621" y="2593923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STM32Cube PDF Vision Agent</a:t>
            </a:r>
            <a:endParaRPr lang="en-US" sz="1000" dirty="0">
              <a:solidFill>
                <a:srgbClr val="0D9589"/>
              </a:solidFill>
            </a:endParaRPr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B824BE44-5868-192C-4670-8B9CD3F39120}"/>
              </a:ext>
            </a:extLst>
          </p:cNvPr>
          <p:cNvSpPr/>
          <p:nvPr/>
        </p:nvSpPr>
        <p:spPr>
          <a:xfrm>
            <a:off x="6414621" y="2977971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BDFC5A69-36ED-5D9E-34BC-75DEF97617F1}"/>
              </a:ext>
            </a:extLst>
          </p:cNvPr>
          <p:cNvSpPr/>
          <p:nvPr/>
        </p:nvSpPr>
        <p:spPr>
          <a:xfrm>
            <a:off x="6414621" y="2977971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Rôle</a:t>
            </a:r>
            <a:endParaRPr lang="en-US" sz="950" dirty="0">
              <a:solidFill>
                <a:srgbClr val="0D9589"/>
              </a:solidFill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6C77B0F1-7172-FE1B-64B7-B58D462C02AE}"/>
              </a:ext>
            </a:extLst>
          </p:cNvPr>
          <p:cNvSpPr/>
          <p:nvPr/>
        </p:nvSpPr>
        <p:spPr>
          <a:xfrm>
            <a:off x="7511901" y="3005403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Analyse figures &amp; schémas extraits des PDFs techniques</a:t>
            </a:r>
            <a:endParaRPr lang="en-US" sz="950" dirty="0"/>
          </a:p>
        </p:txBody>
      </p:sp>
      <p:sp>
        <p:nvSpPr>
          <p:cNvPr id="66" name="Shape 31">
            <a:extLst>
              <a:ext uri="{FF2B5EF4-FFF2-40B4-BE49-F238E27FC236}">
                <a16:creationId xmlns:a16="http://schemas.microsoft.com/office/drawing/2014/main" id="{C90C8AC2-8AEC-94B1-142C-8B0856A75DC3}"/>
              </a:ext>
            </a:extLst>
          </p:cNvPr>
          <p:cNvSpPr/>
          <p:nvPr/>
        </p:nvSpPr>
        <p:spPr>
          <a:xfrm>
            <a:off x="6414621" y="3544899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F7F3CA55-1EB1-5F7D-4A51-BFF887ECBB96}"/>
              </a:ext>
            </a:extLst>
          </p:cNvPr>
          <p:cNvSpPr/>
          <p:nvPr/>
        </p:nvSpPr>
        <p:spPr>
          <a:xfrm>
            <a:off x="6414621" y="3544899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Lire</a:t>
            </a:r>
            <a:endParaRPr lang="en-US" sz="950" dirty="0">
              <a:solidFill>
                <a:srgbClr val="0D9589"/>
              </a:solidFill>
            </a:endParaRPr>
          </a:p>
        </p:txBody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789B5B31-15B8-3999-C045-E7B41433FFDA}"/>
              </a:ext>
            </a:extLst>
          </p:cNvPr>
          <p:cNvSpPr/>
          <p:nvPr/>
        </p:nvSpPr>
        <p:spPr>
          <a:xfrm>
            <a:off x="7511901" y="3572331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pdf_image_tasks_&lt;repo&gt;.jsonl</a:t>
            </a:r>
            <a:endParaRPr lang="en-US" sz="950" dirty="0"/>
          </a:p>
        </p:txBody>
      </p:sp>
      <p:sp>
        <p:nvSpPr>
          <p:cNvPr id="69" name="Shape 34">
            <a:extLst>
              <a:ext uri="{FF2B5EF4-FFF2-40B4-BE49-F238E27FC236}">
                <a16:creationId xmlns:a16="http://schemas.microsoft.com/office/drawing/2014/main" id="{4F603DEF-B55F-58EF-B632-FF9A8AF8194C}"/>
              </a:ext>
            </a:extLst>
          </p:cNvPr>
          <p:cNvSpPr/>
          <p:nvPr/>
        </p:nvSpPr>
        <p:spPr>
          <a:xfrm>
            <a:off x="6414621" y="4111827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0" name="Text 35">
            <a:extLst>
              <a:ext uri="{FF2B5EF4-FFF2-40B4-BE49-F238E27FC236}">
                <a16:creationId xmlns:a16="http://schemas.microsoft.com/office/drawing/2014/main" id="{11886378-70C4-18A2-C4AB-0FBA876B4D47}"/>
              </a:ext>
            </a:extLst>
          </p:cNvPr>
          <p:cNvSpPr/>
          <p:nvPr/>
        </p:nvSpPr>
        <p:spPr>
          <a:xfrm>
            <a:off x="6414621" y="4111827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Analyser</a:t>
            </a:r>
            <a:endParaRPr lang="en-US" sz="950" dirty="0">
              <a:solidFill>
                <a:srgbClr val="0D9589"/>
              </a:solidFill>
            </a:endParaRPr>
          </a:p>
        </p:txBody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080824E2-4952-BA90-7A50-E395420FABD5}"/>
              </a:ext>
            </a:extLst>
          </p:cNvPr>
          <p:cNvSpPr/>
          <p:nvPr/>
        </p:nvSpPr>
        <p:spPr>
          <a:xfrm>
            <a:off x="7511901" y="4139259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Figures / diagrammes des PDFs</a:t>
            </a:r>
            <a:endParaRPr lang="en-US" sz="950" dirty="0"/>
          </a:p>
        </p:txBody>
      </p:sp>
      <p:sp>
        <p:nvSpPr>
          <p:cNvPr id="72" name="Shape 37">
            <a:extLst>
              <a:ext uri="{FF2B5EF4-FFF2-40B4-BE49-F238E27FC236}">
                <a16:creationId xmlns:a16="http://schemas.microsoft.com/office/drawing/2014/main" id="{42141801-4BA9-21C7-DC48-02D256EDA16F}"/>
              </a:ext>
            </a:extLst>
          </p:cNvPr>
          <p:cNvSpPr/>
          <p:nvPr/>
        </p:nvSpPr>
        <p:spPr>
          <a:xfrm>
            <a:off x="6414621" y="4678755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A2586C85-4353-6095-4ADD-2F906264F4C3}"/>
              </a:ext>
            </a:extLst>
          </p:cNvPr>
          <p:cNvSpPr/>
          <p:nvPr/>
        </p:nvSpPr>
        <p:spPr>
          <a:xfrm>
            <a:off x="6414621" y="4678755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Décrire</a:t>
            </a:r>
            <a:endParaRPr lang="en-US" sz="950" dirty="0">
              <a:solidFill>
                <a:srgbClr val="0D9589"/>
              </a:solidFill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DB7BADFB-E343-98A6-F788-D60E2FF2E3C5}"/>
              </a:ext>
            </a:extLst>
          </p:cNvPr>
          <p:cNvSpPr/>
          <p:nvPr/>
        </p:nvSpPr>
        <p:spPr>
          <a:xfrm>
            <a:off x="7511901" y="4706187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Descriptions textuelles techniques injectables</a:t>
            </a:r>
            <a:endParaRPr lang="en-US" sz="950" dirty="0"/>
          </a:p>
        </p:txBody>
      </p:sp>
      <p:sp>
        <p:nvSpPr>
          <p:cNvPr id="75" name="Shape 40">
            <a:extLst>
              <a:ext uri="{FF2B5EF4-FFF2-40B4-BE49-F238E27FC236}">
                <a16:creationId xmlns:a16="http://schemas.microsoft.com/office/drawing/2014/main" id="{D5D8F720-CA5A-624E-3CB6-F19341F9C99D}"/>
              </a:ext>
            </a:extLst>
          </p:cNvPr>
          <p:cNvSpPr/>
          <p:nvPr/>
        </p:nvSpPr>
        <p:spPr>
          <a:xfrm>
            <a:off x="6414621" y="5245683"/>
            <a:ext cx="1005840" cy="365760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6" name="Text 41">
            <a:extLst>
              <a:ext uri="{FF2B5EF4-FFF2-40B4-BE49-F238E27FC236}">
                <a16:creationId xmlns:a16="http://schemas.microsoft.com/office/drawing/2014/main" id="{F2386DFF-BABB-6FE8-0663-BA528B8E525C}"/>
              </a:ext>
            </a:extLst>
          </p:cNvPr>
          <p:cNvSpPr/>
          <p:nvPr/>
        </p:nvSpPr>
        <p:spPr>
          <a:xfrm>
            <a:off x="6414621" y="5245683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589"/>
                </a:solidFill>
                <a:ea typeface="Calibri" pitchFamily="34" charset="-122"/>
                <a:cs typeface="Calibri" pitchFamily="34" charset="-120"/>
              </a:rPr>
              <a:t>Valeur</a:t>
            </a:r>
            <a:endParaRPr lang="en-US" sz="950" dirty="0">
              <a:solidFill>
                <a:srgbClr val="0D9589"/>
              </a:solidFill>
            </a:endParaRPr>
          </a:p>
        </p:txBody>
      </p:sp>
      <p:sp>
        <p:nvSpPr>
          <p:cNvPr id="77" name="Text 42">
            <a:extLst>
              <a:ext uri="{FF2B5EF4-FFF2-40B4-BE49-F238E27FC236}">
                <a16:creationId xmlns:a16="http://schemas.microsoft.com/office/drawing/2014/main" id="{5E688806-971C-92F3-8F71-E9F80BD4DD63}"/>
              </a:ext>
            </a:extLst>
          </p:cNvPr>
          <p:cNvSpPr/>
          <p:nvPr/>
        </p:nvSpPr>
        <p:spPr>
          <a:xfrm>
            <a:off x="7511901" y="5273115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ea typeface="Calibri" pitchFamily="34" charset="-122"/>
                <a:cs typeface="Calibri" pitchFamily="34" charset="-120"/>
              </a:rPr>
              <a:t>Ne pas perdre l'info dans les schémas PDF</a:t>
            </a:r>
            <a:endParaRPr lang="en-US" sz="950" dirty="0"/>
          </a:p>
        </p:txBody>
      </p:sp>
      <p:sp>
        <p:nvSpPr>
          <p:cNvPr id="78" name="Shape 43">
            <a:extLst>
              <a:ext uri="{FF2B5EF4-FFF2-40B4-BE49-F238E27FC236}">
                <a16:creationId xmlns:a16="http://schemas.microsoft.com/office/drawing/2014/main" id="{C5D41BB5-1C0C-98A9-EFF3-5174FF26075C}"/>
              </a:ext>
            </a:extLst>
          </p:cNvPr>
          <p:cNvSpPr/>
          <p:nvPr/>
        </p:nvSpPr>
        <p:spPr>
          <a:xfrm>
            <a:off x="1589531" y="6216231"/>
            <a:ext cx="8595361" cy="438912"/>
          </a:xfrm>
          <a:prstGeom prst="rect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TN"/>
          </a:p>
        </p:txBody>
      </p:sp>
      <p:sp>
        <p:nvSpPr>
          <p:cNvPr id="79" name="Text 44">
            <a:extLst>
              <a:ext uri="{FF2B5EF4-FFF2-40B4-BE49-F238E27FC236}">
                <a16:creationId xmlns:a16="http://schemas.microsoft.com/office/drawing/2014/main" id="{60E2E31B-588F-AC53-57A9-83EFF4E80D3F}"/>
              </a:ext>
            </a:extLst>
          </p:cNvPr>
          <p:cNvSpPr/>
          <p:nvPr/>
        </p:nvSpPr>
        <p:spPr>
          <a:xfrm>
            <a:off x="1726692" y="6261951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PDF multimodal :</a:t>
            </a:r>
            <a:endParaRPr lang="en-US" sz="950" dirty="0"/>
          </a:p>
        </p:txBody>
      </p:sp>
      <p:sp>
        <p:nvSpPr>
          <p:cNvPr id="80" name="Text 45">
            <a:extLst>
              <a:ext uri="{FF2B5EF4-FFF2-40B4-BE49-F238E27FC236}">
                <a16:creationId xmlns:a16="http://schemas.microsoft.com/office/drawing/2014/main" id="{2A8F747C-3303-3EAF-21DF-6D559C1B6717}"/>
              </a:ext>
            </a:extLst>
          </p:cNvPr>
          <p:cNvSpPr/>
          <p:nvPr/>
        </p:nvSpPr>
        <p:spPr>
          <a:xfrm>
            <a:off x="3199018" y="6261951"/>
            <a:ext cx="11518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texte →</a:t>
            </a:r>
            <a:endParaRPr lang="en-US" sz="850" dirty="0"/>
          </a:p>
        </p:txBody>
      </p:sp>
      <p:sp>
        <p:nvSpPr>
          <p:cNvPr id="81" name="Text 46">
            <a:extLst>
              <a:ext uri="{FF2B5EF4-FFF2-40B4-BE49-F238E27FC236}">
                <a16:creationId xmlns:a16="http://schemas.microsoft.com/office/drawing/2014/main" id="{D6A55359-D41B-2B4E-8AFA-488384C91ADA}"/>
              </a:ext>
            </a:extLst>
          </p:cNvPr>
          <p:cNvSpPr/>
          <p:nvPr/>
        </p:nvSpPr>
        <p:spPr>
          <a:xfrm>
            <a:off x="4186003" y="6261951"/>
            <a:ext cx="128058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pages images →</a:t>
            </a:r>
            <a:endParaRPr lang="en-US" sz="850" dirty="0"/>
          </a:p>
        </p:txBody>
      </p:sp>
      <p:sp>
        <p:nvSpPr>
          <p:cNvPr id="82" name="Text 47">
            <a:extLst>
              <a:ext uri="{FF2B5EF4-FFF2-40B4-BE49-F238E27FC236}">
                <a16:creationId xmlns:a16="http://schemas.microsoft.com/office/drawing/2014/main" id="{0CED525E-4CFB-3088-3808-0F1FCC0F75FA}"/>
              </a:ext>
            </a:extLst>
          </p:cNvPr>
          <p:cNvSpPr/>
          <p:nvPr/>
        </p:nvSpPr>
        <p:spPr>
          <a:xfrm>
            <a:off x="5320285" y="6261951"/>
            <a:ext cx="10972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figures →</a:t>
            </a:r>
            <a:endParaRPr lang="en-US" sz="850" dirty="0"/>
          </a:p>
        </p:txBody>
      </p:sp>
      <p:sp>
        <p:nvSpPr>
          <p:cNvPr id="83" name="Text 48">
            <a:extLst>
              <a:ext uri="{FF2B5EF4-FFF2-40B4-BE49-F238E27FC236}">
                <a16:creationId xmlns:a16="http://schemas.microsoft.com/office/drawing/2014/main" id="{C4F47EC0-BA50-B369-8523-AC10FAAA620D}"/>
              </a:ext>
            </a:extLst>
          </p:cNvPr>
          <p:cNvSpPr/>
          <p:nvPr/>
        </p:nvSpPr>
        <p:spPr>
          <a:xfrm>
            <a:off x="6454140" y="6261951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figures →</a:t>
            </a:r>
            <a:endParaRPr lang="en-US" sz="850" dirty="0"/>
          </a:p>
        </p:txBody>
      </p:sp>
      <p:sp>
        <p:nvSpPr>
          <p:cNvPr id="84" name="Text 49">
            <a:extLst>
              <a:ext uri="{FF2B5EF4-FFF2-40B4-BE49-F238E27FC236}">
                <a16:creationId xmlns:a16="http://schemas.microsoft.com/office/drawing/2014/main" id="{EDE25407-6BEF-2B5C-EE9C-9A825EEFA373}"/>
              </a:ext>
            </a:extLst>
          </p:cNvPr>
          <p:cNvSpPr/>
          <p:nvPr/>
        </p:nvSpPr>
        <p:spPr>
          <a:xfrm>
            <a:off x="7277100" y="626251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Tâches JSONL →</a:t>
            </a:r>
            <a:endParaRPr lang="en-US" sz="850" dirty="0"/>
          </a:p>
        </p:txBody>
      </p:sp>
      <p:sp>
        <p:nvSpPr>
          <p:cNvPr id="85" name="Text 50">
            <a:extLst>
              <a:ext uri="{FF2B5EF4-FFF2-40B4-BE49-F238E27FC236}">
                <a16:creationId xmlns:a16="http://schemas.microsoft.com/office/drawing/2014/main" id="{B7BA4920-07DE-38D5-F77E-5A00101B50FA}"/>
              </a:ext>
            </a:extLst>
          </p:cNvPr>
          <p:cNvSpPr/>
          <p:nvPr/>
        </p:nvSpPr>
        <p:spPr>
          <a:xfrm>
            <a:off x="8105872" y="6261951"/>
            <a:ext cx="11646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JSON →</a:t>
            </a:r>
            <a:endParaRPr lang="en-US" sz="850" dirty="0"/>
          </a:p>
        </p:txBody>
      </p:sp>
      <p:sp>
        <p:nvSpPr>
          <p:cNvPr id="86" name="Text 51">
            <a:extLst>
              <a:ext uri="{FF2B5EF4-FFF2-40B4-BE49-F238E27FC236}">
                <a16:creationId xmlns:a16="http://schemas.microsoft.com/office/drawing/2014/main" id="{7C0E1CEB-AC7D-9908-28B9-A51729600787}"/>
              </a:ext>
            </a:extLst>
          </p:cNvPr>
          <p:cNvSpPr/>
          <p:nvPr/>
        </p:nvSpPr>
        <p:spPr>
          <a:xfrm>
            <a:off x="9193405" y="6261951"/>
            <a:ext cx="1325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Réinjection enrichi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458840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EF3D03A-A9C6-23ED-D421-D8DBD91504B1}"/>
              </a:ext>
            </a:extLst>
          </p:cNvPr>
          <p:cNvGrpSpPr/>
          <p:nvPr/>
        </p:nvGrpSpPr>
        <p:grpSpPr>
          <a:xfrm>
            <a:off x="2771951" y="4347316"/>
            <a:ext cx="6420472" cy="952500"/>
            <a:chOff x="2414184" y="4286537"/>
            <a:chExt cx="6420472" cy="95250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9E9B98-996A-C191-F84C-7450EBE0923D}"/>
                </a:ext>
              </a:extLst>
            </p:cNvPr>
            <p:cNvSpPr txBox="1"/>
            <p:nvPr/>
          </p:nvSpPr>
          <p:spPr>
            <a:xfrm>
              <a:off x="3366684" y="4470400"/>
              <a:ext cx="546797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3200" noProof="0" dirty="0" err="1">
                  <a:solidFill>
                    <a:schemeClr val="bg1"/>
                  </a:solidFill>
                </a:rPr>
                <a:t>Find</a:t>
              </a:r>
              <a:r>
                <a:rPr lang="fr-FR" sz="3200" noProof="0" dirty="0">
                  <a:solidFill>
                    <a:schemeClr val="bg1"/>
                  </a:solidFill>
                </a:rPr>
                <a:t> out more at </a:t>
              </a:r>
              <a:r>
                <a:rPr lang="fr-FR" sz="3200" noProof="0" dirty="0">
                  <a:solidFill>
                    <a:schemeClr val="accent3"/>
                  </a:solidFill>
                  <a:hlinkClick r:id="rId2"/>
                </a:rPr>
                <a:t>www.st.com</a:t>
              </a:r>
              <a:endParaRPr lang="fr-FR" sz="3200" noProof="0" dirty="0">
                <a:solidFill>
                  <a:schemeClr val="accent3"/>
                </a:solidFill>
              </a:endParaRPr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88344D3-877E-1588-F71C-5C1F9E8B0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414184" y="4286537"/>
              <a:ext cx="952500" cy="952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52377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2BF0139B-0BEB-449C-B1F7-80D4F54F3FC1}"/>
              </a:ext>
            </a:extLst>
          </p:cNvPr>
          <p:cNvGrpSpPr/>
          <p:nvPr/>
        </p:nvGrpSpPr>
        <p:grpSpPr>
          <a:xfrm>
            <a:off x="4688541" y="0"/>
            <a:ext cx="7503459" cy="6858000"/>
            <a:chOff x="4688541" y="0"/>
            <a:chExt cx="7503459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975067-3004-4E25-8B69-CACB0B196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88541" y="0"/>
              <a:ext cx="7503459" cy="68580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C8AF24E-0C24-4EB7-8B46-271260356B65}"/>
                </a:ext>
              </a:extLst>
            </p:cNvPr>
            <p:cNvSpPr/>
            <p:nvPr/>
          </p:nvSpPr>
          <p:spPr>
            <a:xfrm>
              <a:off x="11640457" y="0"/>
              <a:ext cx="551543" cy="685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noProof="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B759B23-2AC6-4702-845A-24B397B67FAF}"/>
              </a:ext>
            </a:extLst>
          </p:cNvPr>
          <p:cNvSpPr txBox="1"/>
          <p:nvPr/>
        </p:nvSpPr>
        <p:spPr>
          <a:xfrm>
            <a:off x="188686" y="2513364"/>
            <a:ext cx="4325257" cy="18312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fr-FR" noProof="0" dirty="0"/>
              <a:t>For </a:t>
            </a:r>
            <a:r>
              <a:rPr lang="fr-FR" noProof="0" dirty="0" err="1"/>
              <a:t>further</a:t>
            </a:r>
            <a:r>
              <a:rPr lang="fr-FR" noProof="0" dirty="0"/>
              <a:t> support in </a:t>
            </a:r>
            <a:r>
              <a:rPr lang="fr-FR" noProof="0" dirty="0" err="1"/>
              <a:t>creating</a:t>
            </a:r>
            <a:r>
              <a:rPr lang="fr-FR" noProof="0" dirty="0"/>
              <a:t> a PowerPoint </a:t>
            </a:r>
            <a:r>
              <a:rPr lang="fr-FR" noProof="0" dirty="0" err="1"/>
              <a:t>presentation</a:t>
            </a:r>
            <a:r>
              <a:rPr lang="fr-FR" noProof="0" dirty="0"/>
              <a:t>, </a:t>
            </a:r>
            <a:r>
              <a:rPr lang="fr-FR" noProof="0" dirty="0" err="1"/>
              <a:t>including</a:t>
            </a:r>
            <a:r>
              <a:rPr lang="fr-FR" noProof="0" dirty="0"/>
              <a:t> </a:t>
            </a:r>
            <a:r>
              <a:rPr lang="fr-FR" noProof="0" dirty="0" err="1"/>
              <a:t>graphic</a:t>
            </a:r>
            <a:r>
              <a:rPr lang="fr-FR" noProof="0" dirty="0"/>
              <a:t> assets, </a:t>
            </a:r>
            <a:r>
              <a:rPr lang="fr-FR" noProof="0" dirty="0" err="1"/>
              <a:t>formatting</a:t>
            </a:r>
            <a:r>
              <a:rPr lang="fr-FR" noProof="0" dirty="0"/>
              <a:t> </a:t>
            </a:r>
            <a:r>
              <a:rPr lang="fr-FR" noProof="0" dirty="0" err="1"/>
              <a:t>tools</a:t>
            </a:r>
            <a:r>
              <a:rPr lang="fr-FR" noProof="0" dirty="0"/>
              <a:t> and </a:t>
            </a:r>
            <a:r>
              <a:rPr lang="fr-FR" noProof="0" dirty="0" err="1"/>
              <a:t>additional</a:t>
            </a:r>
            <a:r>
              <a:rPr lang="fr-FR" noProof="0" dirty="0"/>
              <a:t> information on the ST brand</a:t>
            </a:r>
          </a:p>
          <a:p>
            <a:pPr algn="ctr">
              <a:spcBef>
                <a:spcPts val="600"/>
              </a:spcBef>
            </a:pPr>
            <a:r>
              <a:rPr lang="fr-FR" b="1" noProof="0" dirty="0" err="1"/>
              <a:t>you</a:t>
            </a:r>
            <a:r>
              <a:rPr lang="fr-FR" b="1" noProof="0" dirty="0"/>
              <a:t> can </a:t>
            </a:r>
            <a:r>
              <a:rPr lang="fr-FR" b="1" noProof="0" dirty="0" err="1"/>
              <a:t>visit</a:t>
            </a:r>
            <a:r>
              <a:rPr lang="fr-FR" b="1" noProof="0" dirty="0"/>
              <a:t> the ST Brand Portal</a:t>
            </a:r>
            <a:br>
              <a:rPr lang="fr-FR" noProof="0" dirty="0"/>
            </a:br>
            <a:r>
              <a:rPr lang="fr-FR" noProof="0" dirty="0">
                <a:hlinkClick r:id="rId4"/>
              </a:rPr>
              <a:t>https://brandportal.st.com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33292314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4429</TotalTime>
  <Words>3570</Words>
  <Application>Microsoft Office PowerPoint</Application>
  <PresentationFormat>Widescreen</PresentationFormat>
  <Paragraphs>658</Paragraphs>
  <Slides>33</Slides>
  <Notes>31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Consolas</vt:lpstr>
      <vt:lpstr>ST PowerPoint Template 16x9</vt:lpstr>
      <vt:lpstr>Un outil IA pour l'assistance technique STM32  De la donnée GitHub brute à une réponse technique précise : comprendre comment ça marche, étape par étape.  </vt:lpstr>
      <vt:lpstr>PowerPoint Presentation</vt:lpstr>
      <vt:lpstr>PowerPoint Presentation</vt:lpstr>
      <vt:lpstr>Pourquoi cet outil ?</vt:lpstr>
      <vt:lpstr> ST ChatGPT</vt:lpstr>
      <vt:lpstr> ST ChatGPT</vt:lpstr>
      <vt:lpstr> ST ChatGPT</vt:lpstr>
      <vt:lpstr>C'est quoi l’IA ici ?</vt:lpstr>
      <vt:lpstr> La plateforme st chatgpt</vt:lpstr>
      <vt:lpstr> La plateforme st chatgpt</vt:lpstr>
      <vt:lpstr> La plateforme st chatgpt</vt:lpstr>
      <vt:lpstr> La plateforme st chatgpt</vt:lpstr>
      <vt:lpstr>Les données utilisées</vt:lpstr>
      <vt:lpstr>PowerPoint Presentation</vt:lpstr>
      <vt:lpstr>PowerPoint Presentation</vt:lpstr>
      <vt:lpstr>Le pipeline de preprocessing</vt:lpstr>
      <vt:lpstr>Le pipeline de preprocessing</vt:lpstr>
      <vt:lpstr>Pipeline : cleaning</vt:lpstr>
      <vt:lpstr>Le pipeline de preprocessing</vt:lpstr>
      <vt:lpstr>Pipeline : Enrichment (Feature Engineering)    </vt:lpstr>
      <vt:lpstr>Le pipeline de preprocessing</vt:lpstr>
      <vt:lpstr>Pipeline : Enrichment (Feature Engineering)    </vt:lpstr>
      <vt:lpstr>Le pipeline de preprocessing</vt:lpstr>
      <vt:lpstr>Pipeline : STM32Cube RAG Chunking Benchmark  </vt:lpstr>
      <vt:lpstr>Pipeline : chunking</vt:lpstr>
      <vt:lpstr>Le pipeline de preprocessing</vt:lpstr>
      <vt:lpstr>Pipeline : Delivery(resolver cases, diagnostic cards, exports ST-ready)</vt:lpstr>
      <vt:lpstr>Pipeline : Delivery(resolver cases, diagnostic cards, exports ST-ready)</vt:lpstr>
      <vt:lpstr>Pipeline : Delivery(resolver cases, diagnostic cards, exports ST-ready)</vt:lpstr>
      <vt:lpstr>Pipeline : Delivery(resolver cases, diagnostic cards, exports ST-ready)</vt:lpstr>
      <vt:lpstr>Pipeline : les agents IA</vt:lpstr>
      <vt:lpstr>PowerPoint Presentation</vt:lpstr>
      <vt:lpstr>PowerPoint Presentation</vt:lpstr>
    </vt:vector>
  </TitlesOfParts>
  <Manager/>
  <Company>STMicroelectronics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Abir GHARBI</dc:creator>
  <cp:keywords/>
  <cp:lastModifiedBy>Abir GHARBI</cp:lastModifiedBy>
  <cp:revision>3</cp:revision>
  <dcterms:created xsi:type="dcterms:W3CDTF">2026-04-28T15:20:14Z</dcterms:created>
  <dcterms:modified xsi:type="dcterms:W3CDTF">2026-05-08T16:50:54Z</dcterms:modified>
</cp:coreProperties>
</file>