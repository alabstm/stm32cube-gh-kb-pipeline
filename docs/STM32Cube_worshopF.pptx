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1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rts/chart2.xml" ContentType="application/vnd.openxmlformats-officedocument.drawingml.chart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5"/>
  </p:notesMasterIdLst>
  <p:sldIdLst>
    <p:sldId id="262" r:id="rId5"/>
    <p:sldId id="290" r:id="rId6"/>
    <p:sldId id="378" r:id="rId7"/>
    <p:sldId id="379" r:id="rId8"/>
    <p:sldId id="443" r:id="rId9"/>
    <p:sldId id="414" r:id="rId10"/>
    <p:sldId id="296" r:id="rId11"/>
    <p:sldId id="295" r:id="rId12"/>
    <p:sldId id="360" r:id="rId13"/>
    <p:sldId id="417" r:id="rId14"/>
    <p:sldId id="433" r:id="rId15"/>
    <p:sldId id="440" r:id="rId16"/>
    <p:sldId id="444" r:id="rId17"/>
    <p:sldId id="405" r:id="rId18"/>
    <p:sldId id="419" r:id="rId19"/>
    <p:sldId id="418" r:id="rId20"/>
    <p:sldId id="370" r:id="rId21"/>
    <p:sldId id="420" r:id="rId22"/>
    <p:sldId id="303" r:id="rId23"/>
    <p:sldId id="308" r:id="rId24"/>
    <p:sldId id="309" r:id="rId25"/>
    <p:sldId id="421" r:id="rId26"/>
    <p:sldId id="312" r:id="rId27"/>
    <p:sldId id="422" r:id="rId28"/>
    <p:sldId id="423" r:id="rId29"/>
    <p:sldId id="372" r:id="rId30"/>
    <p:sldId id="373" r:id="rId31"/>
    <p:sldId id="343" r:id="rId32"/>
    <p:sldId id="391" r:id="rId33"/>
    <p:sldId id="353" r:id="rId34"/>
    <p:sldId id="392" r:id="rId35"/>
    <p:sldId id="310" r:id="rId36"/>
    <p:sldId id="345" r:id="rId37"/>
    <p:sldId id="374" r:id="rId38"/>
    <p:sldId id="315" r:id="rId39"/>
    <p:sldId id="429" r:id="rId40"/>
    <p:sldId id="434" r:id="rId41"/>
    <p:sldId id="445" r:id="rId42"/>
    <p:sldId id="436" r:id="rId43"/>
    <p:sldId id="437" r:id="rId44"/>
    <p:sldId id="438" r:id="rId45"/>
    <p:sldId id="439" r:id="rId46"/>
    <p:sldId id="317" r:id="rId47"/>
    <p:sldId id="425" r:id="rId48"/>
    <p:sldId id="446" r:id="rId49"/>
    <p:sldId id="426" r:id="rId50"/>
    <p:sldId id="430" r:id="rId51"/>
    <p:sldId id="431" r:id="rId52"/>
    <p:sldId id="435" r:id="rId53"/>
    <p:sldId id="447" r:id="rId54"/>
    <p:sldId id="293" r:id="rId55"/>
    <p:sldId id="294" r:id="rId56"/>
    <p:sldId id="441" r:id="rId57"/>
    <p:sldId id="442" r:id="rId58"/>
    <p:sldId id="297" r:id="rId59"/>
    <p:sldId id="298" r:id="rId60"/>
    <p:sldId id="299" r:id="rId61"/>
    <p:sldId id="300" r:id="rId62"/>
    <p:sldId id="301" r:id="rId63"/>
    <p:sldId id="265" r:id="rId64"/>
    <p:sldId id="432" r:id="rId65"/>
    <p:sldId id="362" r:id="rId66"/>
    <p:sldId id="291" r:id="rId67"/>
    <p:sldId id="406" r:id="rId68"/>
    <p:sldId id="382" r:id="rId69"/>
    <p:sldId id="383" r:id="rId70"/>
    <p:sldId id="318" r:id="rId71"/>
    <p:sldId id="387" r:id="rId72"/>
    <p:sldId id="304" r:id="rId73"/>
    <p:sldId id="352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62"/>
            <p14:sldId id="290"/>
            <p14:sldId id="378"/>
            <p14:sldId id="379"/>
            <p14:sldId id="443"/>
            <p14:sldId id="414"/>
            <p14:sldId id="296"/>
            <p14:sldId id="295"/>
            <p14:sldId id="360"/>
            <p14:sldId id="417"/>
            <p14:sldId id="433"/>
            <p14:sldId id="440"/>
            <p14:sldId id="444"/>
            <p14:sldId id="405"/>
            <p14:sldId id="419"/>
            <p14:sldId id="418"/>
            <p14:sldId id="370"/>
            <p14:sldId id="420"/>
            <p14:sldId id="303"/>
            <p14:sldId id="308"/>
            <p14:sldId id="309"/>
            <p14:sldId id="421"/>
            <p14:sldId id="312"/>
            <p14:sldId id="422"/>
            <p14:sldId id="423"/>
            <p14:sldId id="372"/>
            <p14:sldId id="373"/>
            <p14:sldId id="343"/>
            <p14:sldId id="391"/>
            <p14:sldId id="353"/>
            <p14:sldId id="392"/>
            <p14:sldId id="310"/>
            <p14:sldId id="345"/>
            <p14:sldId id="374"/>
            <p14:sldId id="315"/>
            <p14:sldId id="429"/>
            <p14:sldId id="434"/>
            <p14:sldId id="445"/>
            <p14:sldId id="436"/>
            <p14:sldId id="437"/>
            <p14:sldId id="438"/>
            <p14:sldId id="439"/>
            <p14:sldId id="317"/>
            <p14:sldId id="425"/>
            <p14:sldId id="446"/>
            <p14:sldId id="426"/>
            <p14:sldId id="430"/>
            <p14:sldId id="431"/>
            <p14:sldId id="435"/>
            <p14:sldId id="447"/>
            <p14:sldId id="293"/>
            <p14:sldId id="294"/>
            <p14:sldId id="441"/>
            <p14:sldId id="442"/>
            <p14:sldId id="297"/>
            <p14:sldId id="298"/>
            <p14:sldId id="299"/>
            <p14:sldId id="300"/>
            <p14:sldId id="301"/>
            <p14:sldId id="265"/>
            <p14:sldId id="432"/>
            <p14:sldId id="362"/>
            <p14:sldId id="291"/>
            <p14:sldId id="406"/>
            <p14:sldId id="382"/>
            <p14:sldId id="383"/>
            <p14:sldId id="318"/>
            <p14:sldId id="387"/>
            <p14:sldId id="304"/>
            <p14:sldId id="35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  <a:srgbClr val="EEEFF1"/>
    <a:srgbClr val="E3FDEB"/>
    <a:srgbClr val="FFFFFF"/>
    <a:srgbClr val="F4FEF7"/>
    <a:srgbClr val="BAE6FD"/>
    <a:srgbClr val="E8F7FE"/>
    <a:srgbClr val="0D9589"/>
    <a:srgbClr val="9EA8B7"/>
    <a:srgbClr val="3CB4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101022-6352-4073-A6B3-0A99BBF47BAB}" v="16" dt="2026-07-10T10:28:15.772"/>
  </p1510:revLst>
</p1510:revInfo>
</file>

<file path=ppt/tableStyles.xml><?xml version="1.0" encoding="utf-8"?>
<a:tblStyleLst xmlns:a="http://schemas.openxmlformats.org/drawingml/2006/main" def="{5C22544A-7EE6-4342-B048-85BDC9FD1C3A}"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1162" autoAdjust="0"/>
  </p:normalViewPr>
  <p:slideViewPr>
    <p:cSldViewPr snapToGrid="0">
      <p:cViewPr varScale="1">
        <p:scale>
          <a:sx n="101" d="100"/>
          <a:sy n="101" d="100"/>
        </p:scale>
        <p:origin x="115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Quality Index (/100)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B2A3B"/>
                    </a:solidFill>
                    <a:latin typeface="Arial"/>
                  </a:defRPr>
                </a:pPr>
                <a:endParaRPr lang="fr-T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Issues only</c:v>
                </c:pt>
                <c:pt idx="1">
                  <c:v>+ System prompt</c:v>
                </c:pt>
                <c:pt idx="2">
                  <c:v>+ Hybrid search</c:v>
                </c:pt>
                <c:pt idx="3">
                  <c:v>+ Diag. Cards + Resolver</c:v>
                </c:pt>
                <c:pt idx="4">
                  <c:v>Real cases (STCommunity)</c:v>
                </c:pt>
                <c:pt idx="5">
                  <c:v>Multi-series (5, 52Q)</c:v>
                </c:pt>
                <c:pt idx="6">
                  <c:v>All series S0 Balanced</c:v>
                </c:pt>
                <c:pt idx="7">
                  <c:v>All series S1 Recall+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54</c:v>
                </c:pt>
                <c:pt idx="1">
                  <c:v>57</c:v>
                </c:pt>
                <c:pt idx="2">
                  <c:v>61</c:v>
                </c:pt>
                <c:pt idx="3">
                  <c:v>94</c:v>
                </c:pt>
                <c:pt idx="4">
                  <c:v>88</c:v>
                </c:pt>
                <c:pt idx="5">
                  <c:v>54</c:v>
                </c:pt>
                <c:pt idx="6">
                  <c:v>65</c:v>
                </c:pt>
                <c:pt idx="7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CC-424D-93F0-33FB585853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800000"/>
          <a:lstStyle/>
          <a:p>
            <a:pPr>
              <a:defRPr sz="900" b="0" i="0" u="none" strike="noStrike">
                <a:solidFill>
                  <a:srgbClr val="1B2A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EF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Quality Index</c:v>
                </c:pt>
              </c:strCache>
            </c:strRef>
          </c:tx>
          <c:spPr>
            <a:solidFill>
              <a:srgbClr val="1B2A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B2A3B"/>
                    </a:solidFill>
                    <a:latin typeface="Arial"/>
                  </a:defRPr>
                </a:pPr>
                <a:endParaRPr lang="fr-T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S0 Current</c:v>
                </c:pt>
                <c:pt idx="1">
                  <c:v>S1 Recall+</c:v>
                </c:pt>
                <c:pt idx="2">
                  <c:v>S2 Precision+</c:v>
                </c:pt>
                <c:pt idx="3">
                  <c:v>S3 Sem-heavy</c:v>
                </c:pt>
                <c:pt idx="4">
                  <c:v>S4 FT-heavy</c:v>
                </c:pt>
                <c:pt idx="5">
                  <c:v>S5 Sem-only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66</c:v>
                </c:pt>
                <c:pt idx="2">
                  <c:v>63</c:v>
                </c:pt>
                <c:pt idx="3">
                  <c:v>51</c:v>
                </c:pt>
                <c:pt idx="4">
                  <c:v>47</c:v>
                </c:pt>
                <c:pt idx="5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2A-4567-A246-482D0C44AB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EF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48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64B5-EE67-2D71-D3F5-E509F8348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D6AA5-1EA0-16A7-AFF5-07157913B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EC0A4-B181-2818-1AA5-E01BC1A26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3207A-26BD-56A8-B954-B8065F418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90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6A8B9-4149-2406-297E-D4F0A3FBA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28D4E-845A-5E2B-D6E0-014B7A5D6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87FFE-585B-38EF-49D0-5B8D75484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E15FD-3DC5-D91B-66E1-448C561DA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56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76C0-7C46-9275-43CA-404C92B1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2D46A-6EC9-3F0C-FCC4-836E086C4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9761A-484F-F951-D041-D5251E9EC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9DF06-031E-A262-D37F-932FFFDDC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55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823B-FD8B-730F-F404-AD1DFE01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C94C3-1E39-40A6-FD49-A7F50A634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93A51-1BA1-63EC-B621-8CC7AB8BB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87150-D2B2-EED4-7359-B6944E126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35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0FA0-FC4A-D81E-4A89-99DCCFD38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DAD78-C918-0304-7C4D-44FC1BFB5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37E2C-DE3E-E9E9-CE9A-5F518589F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99F3C-2020-2CE9-B58C-149862905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86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A0D4-396A-427E-7F35-12DF9C5E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B50D5-3758-3ABB-EA7A-B6DDA59E1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8FF0F-1966-46E0-EE58-3BBF2CC0C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AAC08-0D2A-5BFD-A3A9-458589189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07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BB818-4CF0-248C-ADE3-6E41A729D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8C51C-76AE-1E95-867B-9E7371527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99ABC-88A7-0842-3C4B-C00A1F9E9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10533-CCD8-9FD8-C013-DB33309A7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BFDC4-13A5-BBDE-B6FF-E138BB496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F6048-DBB5-26CF-1326-2CC25D838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0399F-E98D-919C-17B3-793FB84E4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C023B-FAAD-08B3-0726-FAF2D73B8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73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56DBF-5314-414A-76BB-587F764C2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2A649-658C-84C3-B04B-F83BBF3A8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0D35D-39F0-E2D9-F3B2-26540ACBE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AA0AF-8DDA-99DE-27B5-548ACF50E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00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B9706-3BBD-A020-F54C-44624FBC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981C6-581A-725A-D499-86C895B38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465CC-A583-2DE9-0B81-98AF37CAF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5DB16-B487-8142-CA27-F590F3E8E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16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1BCD-6018-4779-8D25-81CDADBF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6F1AA-4385-C3DE-6D35-A8595976D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F7B6A-E050-D0C9-BDA8-01F8873B5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C3636-FC6E-FED1-DA91-DCB4EA82A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53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6E6A4-3BBE-4E95-83F6-33EFB3C1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AFFF3-9928-FCC1-3B6C-4B1F7FCFC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4E36D-6525-DB73-198F-9DA82B25F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72B16-3C87-D40F-4747-7A5DEE4D6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196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F937B-E786-41FF-D2B5-057A77A8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09FAA-886A-274A-CE23-1531EDB4A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93E2E-7091-4DB7-8711-D8A1B0E8B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73ECB-97C1-9B02-6674-5BCF7A9BE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604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DE3C0-203C-C63D-2976-1C0F0CFE6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122CE-E01D-2549-F855-508FE7EA3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42F03-0E68-BBF1-B149-B67DF25A6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F7177-43E3-4D48-BEB2-600E7BA99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42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1417-907A-67A0-77CE-A17CDEA8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FA1FC-FDE1-A1E7-87C3-409E76049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91EDF-DFC2-91DD-A475-ECB31FE2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E1E0C-4183-5204-56CE-11A697C63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573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21160-5DBB-EA70-8752-A378C1E80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2BB72-F5B9-7713-E0EB-DCDE01694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91302-77CA-1971-2A7B-48F1D35B6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BCE8-6C8A-D7CC-4494-560044645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812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C4B3-47E6-F3EB-68D6-139726A0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C3212-4A66-1526-0145-1ED2CFD0E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4D01F-E4DC-5107-EA04-264C388EC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7EE80-DF28-62AD-19D3-EE025693F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29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86B6C-406F-F0B3-4DA4-05856FC9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0766A-C5A5-7374-D78D-1548F2D3F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65547-5C79-32E5-6DFC-74BAFC116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6AC35-51D8-311D-368C-CB7C2589D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714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0BBC-0986-574C-9CD7-40A9D146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80DD5-F4EE-E4DE-F29B-C061F473C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25AC3-DF6C-073F-370E-691835985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62E69-39D2-38B2-2BF2-CB13F8219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213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14944-BB52-7709-C4E0-0E049605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01F56-97F2-401A-45A6-54BAA4B0C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45ADC-9305-6293-FC3D-A81016653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536EB-A409-2091-0D5C-94F2C8841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988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3C2BF-1420-F42F-AD93-45CEA135B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3957A-E207-9D84-0417-1B0B62BFC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49564-EFE0-A4A4-E2AC-2BD9099F9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405CC-5490-ACB5-5D77-50EF70461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166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F5D18-6EB2-B8ED-8F9D-216632446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A0C2F-5F95-8A2D-6562-20D1A409A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92CFB-0034-6CDF-5669-0ED54B123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2F6A5-E497-AD9B-2AC9-4C54EFE14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969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A3291-9FFA-0F7E-F268-C0BC1CFB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55EC2-CA0B-EA4E-1822-561AB6191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BDEEE-D7C6-3A72-6CA6-E41E22838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C93B6-035A-3928-DA8F-8C46D6CCB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921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24481-2EE5-93C2-C429-B33735DCA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E12E6-9FC7-79A5-FF58-800D39BE3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51BF0-8F20-0797-812D-7239096A8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query_aliases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pour mieux retrouver,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possible_workarounds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pour agir tout de suite,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plausible_diagnosis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pour raisonner,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debug_checks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pour vérifier méthodiquement.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EE9F0-5B41-FD67-892A-D6A02DC68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470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1E73-4B52-235A-0305-0F524B63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ECD25-4A04-1A6D-4CE9-936C1D625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FDB37-EC91-CBF6-088F-2283912CA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7584D-EBDF-5C3B-5579-C79F94687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405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7B855-7CCC-33C7-9CBF-299690CC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8001E-E9BA-111E-2C3A-F02B64B43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8A619-D052-510B-ED14-8B55C695C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80CA9-E0E0-643D-2F03-178DB0C2D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070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C0CC6-8CDA-82BA-1367-B7C42740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96352-A5F1-5CF0-2D00-CF39BB0A3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FC0A4-24E4-9802-766C-9FDEC15B9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BEB9-DE33-8F32-11C2-3FF093CD1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218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25959-EA85-9F06-D7F2-0EEF0F13C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C6300-0502-8547-2397-D422819C9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3DB76-69C5-5677-5407-BC681BE74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8563B-396F-05A9-3F45-D1DA416C7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333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4FE68-E48C-24F3-C714-983F1A34F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91327-64B3-A893-1847-8B84E5F19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21A59-E02F-73DF-51DB-284C7DDDD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F074A-263B-E45D-DAFD-628847F5E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617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69250-C1FF-950E-5CE4-60E79C8D3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CC39C-6047-FC5C-23F9-D87875F7A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37C32-AEBC-02B6-D043-9237FE645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3E62A-7E19-6973-5621-08E960A7E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71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2694-DD37-9EFD-9282-6E7F7148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8494A-2B07-8FE5-C280-84903A5CE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642C4-6090-2C26-CED6-B4273E10E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24DCF-DA85-ACE1-F81C-407E87C85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403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41E13-7DDA-6D94-B886-FB8FA7345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CB6EC-EC21-8B17-C90E-37D9EBE8A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AE803-B949-3E26-B2A6-9E9905D12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D274A-268D-6082-A890-74071375C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085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DD45A-85A9-9CDD-1D57-F2B2E148C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AF679-927A-264F-CB2F-8D056A509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5F706-AD79-F6B2-FA8C-F729918CE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16718-484A-1F07-72C0-D5D747B17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990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31112-DE4B-A642-CEC5-3F9B3249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CBE3B-01BA-870A-6FD8-85CD2DDAD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29465-B873-7F07-A54C-8798ADC10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1DBFD-BFE6-051A-3AC6-7D1E24736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472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04B74-FB6E-7F26-3921-F99654CA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CF222-0EDD-D58F-2721-D056B781A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E75F2-6B78-C467-4B9A-68A85D6CE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F23D8-70E2-AA6E-A44E-1DA871FC6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523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2010B-7BF9-1F00-117F-042EDB242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C9B7D-8981-A4A8-C873-712B0FDE2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640B3-B420-24B4-173E-B944B6077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BB1F8-2741-721F-2C0F-95B13726C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035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A5AD0-5DA3-0A64-6001-FF3162184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18318-27C4-D3D6-97E7-BDD1C1AEF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08BE9-1DBC-5D3B-C601-8D936CF5E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E4D08-E7D1-D97C-E370-66796D67E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700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2C3E7-FF3D-C79F-1479-9968B31E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5E5D3D-FFDF-B364-B18A-871DB0936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63EB8-2586-8867-9F1D-BA127F268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3B4DE-6840-CDD4-551E-FE9E3B441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746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18FE7-98D7-CDA7-B154-72608541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5E248C-CB7E-0A30-A985-7A351A263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4CCB8-D706-4EF1-C79D-744BCBE51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FA8DC-6093-5EB3-EEC8-54FCFC89F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6423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C4DC8-5B11-4546-97EF-77829A8E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39F89-72A4-CF50-3E52-FCB3D59C7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51D70-FFBF-90D5-8A17-B02E2D23C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B392A-79D2-C046-06F0-2DA1E1E9B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61616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D0E27-3119-FF90-E764-2159D102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DB3F0-562E-1D0E-9DAF-6C02D1D0A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0F920-0076-A864-9140-27FDDA478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BEFA3-4BA0-6871-7ED1-60B5604DA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2786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AED9B-0487-6319-005F-BCDF084C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4FB48-766C-DF51-9957-DB3551D0A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CF5C5-DA36-AE08-2A34-4996F5409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Issues JSON</a:t>
            </a:r>
            <a:br>
              <a:rPr lang="fr-FR" dirty="0"/>
            </a:br>
            <a:r>
              <a:rPr lang="fr-FR" dirty="0" err="1"/>
              <a:t>Structured</a:t>
            </a:r>
            <a:r>
              <a:rPr lang="fr-FR" dirty="0"/>
              <a:t> bug </a:t>
            </a:r>
            <a:r>
              <a:rPr lang="fr-FR" dirty="0" err="1"/>
              <a:t>cards</a:t>
            </a:r>
            <a:r>
              <a:rPr lang="fr-FR" dirty="0"/>
              <a:t> (</a:t>
            </a:r>
            <a:r>
              <a:rPr lang="fr-FR" dirty="0" err="1"/>
              <a:t>Problem</a:t>
            </a:r>
            <a:r>
              <a:rPr lang="fr-FR" dirty="0"/>
              <a:t> → Root cause → Fix)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N" dirty="0"/>
              <a:t> </a:t>
            </a:r>
            <a:r>
              <a:rPr lang="fr-FR" b="1" dirty="0"/>
              <a:t>Files JSON</a:t>
            </a:r>
            <a:br>
              <a:rPr lang="fr-FR" dirty="0"/>
            </a:br>
            <a:r>
              <a:rPr lang="fr-FR" dirty="0"/>
              <a:t>Source code + documentation </a:t>
            </a:r>
            <a:r>
              <a:rPr lang="fr-FR" dirty="0" err="1"/>
              <a:t>cards</a:t>
            </a:r>
            <a:r>
              <a:rPr lang="fr-FR" dirty="0"/>
              <a:t> (HAL/LL/BSP, release notes, README,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Resolver</a:t>
            </a:r>
            <a:r>
              <a:rPr lang="fr-FR" b="1" dirty="0"/>
              <a:t> Cases JSON</a:t>
            </a:r>
            <a:br>
              <a:rPr lang="fr-FR" dirty="0"/>
            </a:br>
            <a:r>
              <a:rPr lang="fr-FR" dirty="0"/>
              <a:t>Issue ↔ PR ↔ Commit </a:t>
            </a:r>
            <a:r>
              <a:rPr lang="fr-FR" dirty="0" err="1"/>
              <a:t>linking</a:t>
            </a:r>
            <a:r>
              <a:rPr lang="fr-FR" dirty="0"/>
              <a:t> (fix </a:t>
            </a:r>
            <a:r>
              <a:rPr lang="fr-FR" dirty="0" err="1"/>
              <a:t>evidence</a:t>
            </a:r>
            <a:r>
              <a:rPr lang="fr-FR" dirty="0"/>
              <a:t> + confidence)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Diagnostic </a:t>
            </a:r>
            <a:r>
              <a:rPr lang="fr-FR" b="1" dirty="0" err="1"/>
              <a:t>Cards</a:t>
            </a:r>
            <a:r>
              <a:rPr lang="fr-FR" b="1" dirty="0"/>
              <a:t> JSON</a:t>
            </a:r>
            <a:br>
              <a:rPr lang="fr-FR" dirty="0"/>
            </a:br>
            <a:r>
              <a:rPr lang="fr-FR" dirty="0"/>
              <a:t>Troubleshooting guidance (checks, causes, </a:t>
            </a:r>
            <a:r>
              <a:rPr lang="fr-FR" dirty="0" err="1"/>
              <a:t>workarounds</a:t>
            </a:r>
            <a:r>
              <a:rPr lang="fr-FR" dirty="0"/>
              <a:t>, </a:t>
            </a:r>
            <a:r>
              <a:rPr lang="fr-FR" dirty="0" err="1"/>
              <a:t>constraints</a:t>
            </a:r>
            <a:r>
              <a:rPr lang="fr-FR" dirty="0"/>
              <a:t>)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6405F-B801-8101-A4D6-A8D8A63DF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831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0D425-2B45-F306-AE39-D78BC3216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A8706-AC42-CE65-1D1C-A47F3EB81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7C4D8-AF0E-F126-6A81-7F9D7B9B1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1A27A-47B7-703F-7557-CAA40FB0D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186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BB21-49BF-A36B-96D4-957D7BBA1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8B944-AFE3-64A7-4481-82FB04491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2D18B-85FF-32CB-8861-70132DF1D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DA3C9-A7B3-C942-A173-5BF7B14CE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2037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C2CFA-AF13-2647-7186-E5FD079B8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F2772-314E-2DD2-334A-546EF3382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0E6AF6-26C3-1C8E-2CA9-9156F9851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CC0A5-41B7-FD12-E142-F63E58932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47475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9E204-3E95-E0A1-838C-BFF09A92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9E412-9F26-9AB0-14DA-429CB3FB1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7FCC2-98CE-A715-6404-875E434F7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5DB2C-8D82-02BD-9329-CB4417131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6383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FF458-9BEB-7FE3-B990-3ACDD95F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2AAC3-261A-1580-0D4C-4C34BBE51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FA201-4BA9-254B-6147-4E5469433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B87D2-9062-389E-AF51-5967FD882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3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79F8-5C81-4686-9B96-1B1967411D06}" type="datetime1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526B-D870-4079-B65F-8D7D425250CD}" type="datetime1">
              <a:rPr lang="en-US" smtClean="0"/>
              <a:t>7/10/2026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F4C63-49FF-42C7-B5D1-EBBDAB6CD1EB}" type="datetime1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83B64-271E-4844-A132-A95A5700260D}" type="datetime1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EF0316B-DEBB-43F6-80BF-4DF46A17F596}" type="datetime1">
              <a:rPr lang="en-US" smtClean="0"/>
              <a:t>7/10/2026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14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797107F4-97C6-4F3A-BF20-3F985D21AFA0}" type="datetime1">
              <a:rPr lang="en-US" smtClean="0"/>
              <a:t>7/10/2026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  <p:sldLayoutId id="2147483672" r:id="rId10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svg"/><Relationship Id="rId3" Type="http://schemas.openxmlformats.org/officeDocument/2006/relationships/image" Target="../media/image19.png"/><Relationship Id="rId7" Type="http://schemas.openxmlformats.org/officeDocument/2006/relationships/image" Target="../media/image12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7.svg"/><Relationship Id="rId4" Type="http://schemas.openxmlformats.org/officeDocument/2006/relationships/image" Target="../media/image17.png"/><Relationship Id="rId9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9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31.svg"/><Relationship Id="rId4" Type="http://schemas.openxmlformats.org/officeDocument/2006/relationships/image" Target="../media/image17.png"/><Relationship Id="rId9" Type="http://schemas.openxmlformats.org/officeDocument/2006/relationships/image" Target="../media/image2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3.png"/><Relationship Id="rId3" Type="http://schemas.openxmlformats.org/officeDocument/2006/relationships/image" Target="../media/image19.png"/><Relationship Id="rId7" Type="http://schemas.openxmlformats.org/officeDocument/2006/relationships/image" Target="../media/image25.sv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24.png"/><Relationship Id="rId5" Type="http://schemas.openxmlformats.org/officeDocument/2006/relationships/image" Target="../media/image23.png"/><Relationship Id="rId15" Type="http://schemas.openxmlformats.org/officeDocument/2006/relationships/image" Target="../media/image35.png"/><Relationship Id="rId10" Type="http://schemas.openxmlformats.org/officeDocument/2006/relationships/image" Target="../media/image31.svg"/><Relationship Id="rId4" Type="http://schemas.openxmlformats.org/officeDocument/2006/relationships/image" Target="../media/image17.png"/><Relationship Id="rId9" Type="http://schemas.openxmlformats.org/officeDocument/2006/relationships/image" Target="../media/image27.svg"/><Relationship Id="rId1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9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31.svg"/><Relationship Id="rId4" Type="http://schemas.openxmlformats.org/officeDocument/2006/relationships/image" Target="../media/image17.png"/><Relationship Id="rId9" Type="http://schemas.openxmlformats.org/officeDocument/2006/relationships/image" Target="../media/image2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31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24.png"/><Relationship Id="rId5" Type="http://schemas.openxmlformats.org/officeDocument/2006/relationships/image" Target="../media/image17.pn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31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24.png"/><Relationship Id="rId5" Type="http://schemas.openxmlformats.org/officeDocument/2006/relationships/image" Target="../media/image17.pn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2.sv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31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24.png"/><Relationship Id="rId5" Type="http://schemas.openxmlformats.org/officeDocument/2006/relationships/image" Target="../media/image17.pn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31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24.png"/><Relationship Id="rId5" Type="http://schemas.openxmlformats.org/officeDocument/2006/relationships/image" Target="../media/image17.png"/><Relationship Id="rId10" Type="http://schemas.openxmlformats.org/officeDocument/2006/relationships/image" Target="../media/image27.svg"/><Relationship Id="rId4" Type="http://schemas.openxmlformats.org/officeDocument/2006/relationships/image" Target="../media/image19.png"/><Relationship Id="rId9" Type="http://schemas.openxmlformats.org/officeDocument/2006/relationships/image" Target="../media/image26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9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31.svg"/><Relationship Id="rId4" Type="http://schemas.openxmlformats.org/officeDocument/2006/relationships/image" Target="../media/image17.png"/><Relationship Id="rId9" Type="http://schemas.openxmlformats.org/officeDocument/2006/relationships/image" Target="../media/image27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49.sv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793" y="1741491"/>
            <a:ext cx="5795963" cy="2702071"/>
          </a:xfrm>
        </p:spPr>
        <p:txBody>
          <a:bodyPr/>
          <a:lstStyle/>
          <a:p>
            <a:r>
              <a:rPr lang="en-US" sz="3200" noProof="0" dirty="0"/>
              <a:t>An AI Tool for STM32Cube</a:t>
            </a:r>
            <a:br>
              <a:rPr lang="en-US" sz="3200" noProof="0" dirty="0"/>
            </a:br>
            <a:r>
              <a:rPr lang="en-US" sz="3200" noProof="0" dirty="0"/>
              <a:t>Technical Support</a:t>
            </a:r>
            <a:br>
              <a:rPr lang="en-US" sz="3200" noProof="0" dirty="0"/>
            </a:br>
            <a:br>
              <a:rPr lang="en-US" noProof="0" dirty="0"/>
            </a:br>
            <a:r>
              <a:rPr lang="en-US" sz="1400" b="0" noProof="0" dirty="0">
                <a:solidFill>
                  <a:srgbClr val="FFD200"/>
                </a:solidFill>
              </a:rPr>
              <a:t>From raw GitHub data to precise technical answers:</a:t>
            </a:r>
            <a:br>
              <a:rPr lang="en-US" sz="1400" b="0" noProof="0" dirty="0">
                <a:solidFill>
                  <a:srgbClr val="FFD200"/>
                </a:solidFill>
              </a:rPr>
            </a:br>
            <a:r>
              <a:rPr lang="en-US" sz="1400" b="0" noProof="0" dirty="0">
                <a:solidFill>
                  <a:srgbClr val="FFD200"/>
                </a:solidFill>
              </a:rPr>
              <a:t>Understanding how it works , step by step.</a:t>
            </a:r>
            <a:br>
              <a:rPr lang="en-US" sz="1400" b="0" noProof="0" dirty="0">
                <a:solidFill>
                  <a:srgbClr val="FFD200"/>
                </a:solidFill>
              </a:rPr>
            </a:br>
            <a:br>
              <a:rPr lang="en-US" b="0" noProof="0" dirty="0"/>
            </a:br>
            <a:endParaRPr lang="en-US" noProof="0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443562"/>
            <a:ext cx="6614858" cy="1077764"/>
          </a:xfrm>
        </p:spPr>
        <p:txBody>
          <a:bodyPr/>
          <a:lstStyle/>
          <a:p>
            <a:r>
              <a:rPr lang="en-US" sz="1400" noProof="0" dirty="0"/>
              <a:t>Presented by: Abir GHARBI</a:t>
            </a:r>
          </a:p>
          <a:p>
            <a:r>
              <a:rPr lang="en-US" sz="1400" noProof="0" dirty="0"/>
              <a:t>Supervised by: Ali LABBENE &amp; Omar SAKET</a:t>
            </a:r>
          </a:p>
          <a:p>
            <a:r>
              <a:rPr lang="en-US" sz="1400" noProof="0" dirty="0"/>
              <a:t>PFE - 2026 | STMicroelectronics Tunis </a:t>
            </a:r>
          </a:p>
          <a:p>
            <a:r>
              <a:rPr lang="en-US" sz="1400" noProof="0" dirty="0">
                <a:solidFill>
                  <a:srgbClr val="3CB4E6"/>
                </a:solidFill>
              </a:rPr>
              <a:t>STM32 MCU Embedded Software Support &amp; Maintenance Team</a:t>
            </a:r>
          </a:p>
          <a:p>
            <a:endParaRPr lang="en-US" sz="1600" noProof="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CB9452C-A8F1-3392-EFC2-16469AF87DE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1" r="9931"/>
          <a:stretch>
            <a:fillRect/>
          </a:stretch>
        </p:blipFill>
        <p:spPr>
          <a:xfrm>
            <a:off x="1509964" y="945499"/>
            <a:ext cx="4163410" cy="5195603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FF1"/>
          </a:solidFill>
        </p:spPr>
      </p:pic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3CB200B6-E899-4954-2A0F-ED520DD6A6F6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CB7097AA-F97E-84E6-C9A4-878757911C7D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C0053C2B-298B-93D9-97F2-9203DCE5CF0F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FA5C86C0-D4E8-DF25-8871-83A58B5D3F54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5308CD81-8CD9-4091-B6EB-D8BEBF0F41EF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B0771FB9-284C-8FE1-243A-D16FE18B32CD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AA98F3B6-0863-41FB-62FE-9582C2B7A465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6389ED17-84E7-C63D-FACE-53F8696A9581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Architecture Overview </a:t>
            </a:r>
            <a:endParaRPr lang="en-US" sz="1200" noProof="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07A81C4F-635A-7B98-3835-6B9DD17D7C7F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92FEC86C-BB5A-1D91-6A7E-49118EA970C4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D86D891C-C1F5-A692-9DC9-D94D77D39BB6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BCA273A2-EEA0-311D-5453-77990BADD877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F12DB912-11D5-2F77-C6B4-5F4842A2A505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4BF11FD2-AB41-C7D0-421D-73076609D7CE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BEC9AEC7-C1BF-07CE-B9C8-93043C5AA7BD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412D407E-3894-F323-668C-AAFE8362F062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6CD3CD78-7441-6A5A-F2C1-7A0EE7E38B72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The Data preprocessing pipeline and ALFRED Vision Integration </a:t>
            </a:r>
            <a:endParaRPr lang="en-US" sz="1200" noProof="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C59B4263-7F56-055A-76C2-71CECE0214D9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6DEED9C1-E6EF-67F3-2799-203EBC915CEA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A4ECB424-14EF-5603-1CAB-D6AEFB60BF98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457AD473-4FF8-7C87-441F-BF313FC30029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CA0625CB-51A9-BDD7-3454-C87247F5FC06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Value Proposition &amp; Impact</a:t>
            </a:r>
            <a:endParaRPr lang="en-US" sz="1200" dirty="0"/>
          </a:p>
          <a:p>
            <a:r>
              <a:rPr lang="en-US" sz="1200" b="1" noProof="0" dirty="0">
                <a:solidFill>
                  <a:srgbClr val="1B2A3B"/>
                </a:solidFill>
              </a:rPr>
              <a:t> </a:t>
            </a:r>
            <a:endParaRPr lang="en-US" sz="1200" noProof="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0F05D51A-E891-4135-9FF9-4FC027ED26C2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DBED9F42-2E84-D4B5-0E07-B7B918E9ED73}"/>
              </a:ext>
            </a:extLst>
          </p:cNvPr>
          <p:cNvSpPr/>
          <p:nvPr/>
        </p:nvSpPr>
        <p:spPr>
          <a:xfrm>
            <a:off x="1758295" y="535040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1B45B85D-5445-6805-E625-C804E78658F2}"/>
              </a:ext>
            </a:extLst>
          </p:cNvPr>
          <p:cNvSpPr/>
          <p:nvPr/>
        </p:nvSpPr>
        <p:spPr>
          <a:xfrm>
            <a:off x="1758295" y="535040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12857F2F-D73B-1325-5B12-DD9F761B7F97}"/>
              </a:ext>
            </a:extLst>
          </p:cNvPr>
          <p:cNvSpPr/>
          <p:nvPr/>
        </p:nvSpPr>
        <p:spPr>
          <a:xfrm>
            <a:off x="1758295" y="535040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5BFD3B2A-D775-5FAD-3140-FA567962A59B}"/>
              </a:ext>
            </a:extLst>
          </p:cNvPr>
          <p:cNvSpPr/>
          <p:nvPr/>
        </p:nvSpPr>
        <p:spPr>
          <a:xfrm>
            <a:off x="2233783" y="55607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Configuration &amp; Evaluation </a:t>
            </a:r>
            <a:endParaRPr lang="en-US" sz="1200" noProof="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D3BA0ECD-EF32-7AC6-A8F4-55CC5B328536}"/>
              </a:ext>
            </a:extLst>
          </p:cNvPr>
          <p:cNvSpPr/>
          <p:nvPr/>
        </p:nvSpPr>
        <p:spPr>
          <a:xfrm>
            <a:off x="2233783" y="575273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ABEA4CCD-294C-5D42-1C7F-C13A3707DF42}"/>
              </a:ext>
            </a:extLst>
          </p:cNvPr>
          <p:cNvSpPr/>
          <p:nvPr/>
        </p:nvSpPr>
        <p:spPr>
          <a:xfrm>
            <a:off x="6909008" y="3143994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DAF4469C-1D88-46C2-9ABB-CE13F8065E70}"/>
              </a:ext>
            </a:extLst>
          </p:cNvPr>
          <p:cNvSpPr/>
          <p:nvPr/>
        </p:nvSpPr>
        <p:spPr>
          <a:xfrm>
            <a:off x="6909008" y="3143994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A0F470A6-D7E4-61E3-A3D7-21D6A1BB6BC9}"/>
              </a:ext>
            </a:extLst>
          </p:cNvPr>
          <p:cNvSpPr/>
          <p:nvPr/>
        </p:nvSpPr>
        <p:spPr>
          <a:xfrm>
            <a:off x="6909008" y="314399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E9A0CB5E-5CE0-5BC3-049A-D87BFB67E2AA}"/>
              </a:ext>
            </a:extLst>
          </p:cNvPr>
          <p:cNvSpPr/>
          <p:nvPr/>
        </p:nvSpPr>
        <p:spPr>
          <a:xfrm>
            <a:off x="7384496" y="333904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Live Demo &amp; Hands-On</a:t>
            </a:r>
            <a:endParaRPr lang="en-US" sz="1200" noProof="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8B3F7385-CCB0-ACFA-530C-38CE6169DD63}"/>
              </a:ext>
            </a:extLst>
          </p:cNvPr>
          <p:cNvSpPr/>
          <p:nvPr/>
        </p:nvSpPr>
        <p:spPr>
          <a:xfrm>
            <a:off x="7384496" y="354633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68D0FC41-5B41-AAE6-D851-F18DC7C3091D}"/>
              </a:ext>
            </a:extLst>
          </p:cNvPr>
          <p:cNvSpPr/>
          <p:nvPr/>
        </p:nvSpPr>
        <p:spPr>
          <a:xfrm>
            <a:off x="6909008" y="4040106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7720CA3F-9378-E779-087C-8CFD216E1858}"/>
              </a:ext>
            </a:extLst>
          </p:cNvPr>
          <p:cNvSpPr/>
          <p:nvPr/>
        </p:nvSpPr>
        <p:spPr>
          <a:xfrm>
            <a:off x="6909008" y="4040106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1D6E690E-946F-58E5-581A-AC65A697C4FB}"/>
              </a:ext>
            </a:extLst>
          </p:cNvPr>
          <p:cNvSpPr/>
          <p:nvPr/>
        </p:nvSpPr>
        <p:spPr>
          <a:xfrm>
            <a:off x="6909008" y="404010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713CDE8E-119E-4722-6293-44FE3115C20F}"/>
              </a:ext>
            </a:extLst>
          </p:cNvPr>
          <p:cNvSpPr/>
          <p:nvPr/>
        </p:nvSpPr>
        <p:spPr>
          <a:xfrm>
            <a:off x="7397550" y="425956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Q&amp;A</a:t>
            </a:r>
            <a:endParaRPr lang="en-US" sz="1200" noProof="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E8EE5C7E-2B02-8D36-3BD9-E6AF8DC980B9}"/>
              </a:ext>
            </a:extLst>
          </p:cNvPr>
          <p:cNvSpPr/>
          <p:nvPr/>
        </p:nvSpPr>
        <p:spPr>
          <a:xfrm>
            <a:off x="7384496" y="444244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29754C-EDE4-7F3B-B3DA-26B89D65DD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B4379-F99A-44B6-8DCB-74187A64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>
            <a:extLst>
              <a:ext uri="{FF2B5EF4-FFF2-40B4-BE49-F238E27FC236}">
                <a16:creationId xmlns:a16="http://schemas.microsoft.com/office/drawing/2014/main" id="{E670D360-DA12-BD4B-814E-972625DF4D1F}"/>
              </a:ext>
            </a:extLst>
          </p:cNvPr>
          <p:cNvSpPr/>
          <p:nvPr/>
        </p:nvSpPr>
        <p:spPr>
          <a:xfrm>
            <a:off x="4251960" y="159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Project context ( </a:t>
            </a:r>
            <a:r>
              <a:rPr lang="en-US" sz="2600" b="1" noProof="0" dirty="0">
                <a:solidFill>
                  <a:srgbClr val="0D9488"/>
                </a:solidFill>
              </a:rPr>
              <a:t>Problem Statement , Solution</a:t>
            </a:r>
            <a:r>
              <a:rPr lang="en-US" sz="2600" b="1" noProof="0" dirty="0">
                <a:solidFill>
                  <a:srgbClr val="1B2A3B"/>
                </a:solidFill>
              </a:rPr>
              <a:t> )  </a:t>
            </a:r>
            <a:endParaRPr lang="en-US" sz="26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56359-F6A8-3E7F-948F-21330EDDA2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</a:t>
            </a:fld>
            <a:endParaRPr lang="en-US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126A32-A5A4-5491-1EC3-032117E79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14"/>
          <a:stretch>
            <a:fillRect/>
          </a:stretch>
        </p:blipFill>
        <p:spPr>
          <a:xfrm>
            <a:off x="545306" y="1665146"/>
            <a:ext cx="11101387" cy="385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33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1CD0F-FFC4-3C9B-7BD8-97A2A846A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2AACB370-1A96-F4F7-522E-45F722DCAB65}"/>
              </a:ext>
            </a:extLst>
          </p:cNvPr>
          <p:cNvGrpSpPr/>
          <p:nvPr/>
        </p:nvGrpSpPr>
        <p:grpSpPr>
          <a:xfrm>
            <a:off x="1072005" y="1004413"/>
            <a:ext cx="9834120" cy="5355717"/>
            <a:chOff x="915258" y="773038"/>
            <a:chExt cx="9773111" cy="534823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EABD46E-3EDB-EDD7-0E7B-A0810F3BE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3334" b="8036"/>
            <a:stretch>
              <a:fillRect/>
            </a:stretch>
          </p:blipFill>
          <p:spPr>
            <a:xfrm>
              <a:off x="915258" y="773038"/>
              <a:ext cx="9773111" cy="5348237"/>
            </a:xfrm>
            <a:prstGeom prst="rect">
              <a:avLst/>
            </a:prstGeom>
          </p:spPr>
        </p:pic>
        <p:pic>
          <p:nvPicPr>
            <p:cNvPr id="15" name="Picture 2" descr="Github Logo - Free social media icons">
              <a:extLst>
                <a:ext uri="{FF2B5EF4-FFF2-40B4-BE49-F238E27FC236}">
                  <a16:creationId xmlns:a16="http://schemas.microsoft.com/office/drawing/2014/main" id="{99EB5BAD-26EA-C7C4-A2DB-D5EDE30156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0279" y="1555372"/>
              <a:ext cx="371052" cy="3710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Graphic 15" descr="Arrow circle with solid fill">
              <a:extLst>
                <a:ext uri="{FF2B5EF4-FFF2-40B4-BE49-F238E27FC236}">
                  <a16:creationId xmlns:a16="http://schemas.microsoft.com/office/drawing/2014/main" id="{51B024FE-8ADF-D4D4-5D6C-43FAA95E1E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25520" y="3429000"/>
              <a:ext cx="537611" cy="537611"/>
            </a:xfrm>
            <a:prstGeom prst="rect">
              <a:avLst/>
            </a:prstGeom>
          </p:spPr>
        </p:pic>
        <p:pic>
          <p:nvPicPr>
            <p:cNvPr id="17" name="Graphic 13" descr="Users with solid fill">
              <a:extLst>
                <a:ext uri="{FF2B5EF4-FFF2-40B4-BE49-F238E27FC236}">
                  <a16:creationId xmlns:a16="http://schemas.microsoft.com/office/drawing/2014/main" id="{0523DAF9-31F6-03AE-CC12-76A9D078C3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800155" y="2400949"/>
              <a:ext cx="304780" cy="304780"/>
            </a:xfrm>
            <a:prstGeom prst="rect">
              <a:avLst/>
            </a:prstGeom>
          </p:spPr>
        </p:pic>
      </p:grpSp>
      <p:sp>
        <p:nvSpPr>
          <p:cNvPr id="88" name="Text 0">
            <a:extLst>
              <a:ext uri="{FF2B5EF4-FFF2-40B4-BE49-F238E27FC236}">
                <a16:creationId xmlns:a16="http://schemas.microsoft.com/office/drawing/2014/main" id="{4A7BD7B0-5860-51BC-0DA1-46D330459604}"/>
              </a:ext>
            </a:extLst>
          </p:cNvPr>
          <p:cNvSpPr/>
          <p:nvPr/>
        </p:nvSpPr>
        <p:spPr>
          <a:xfrm>
            <a:off x="6827894" y="273559"/>
            <a:ext cx="5944523" cy="292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noProof="0" dirty="0">
                <a:solidFill>
                  <a:srgbClr val="1B2A3B"/>
                </a:solidFill>
              </a:rPr>
              <a:t>Project context (</a:t>
            </a:r>
            <a:r>
              <a:rPr lang="en-US" sz="2600" b="1" noProof="0" dirty="0">
                <a:solidFill>
                  <a:srgbClr val="0D9488"/>
                </a:solidFill>
              </a:rPr>
              <a:t>Ongoing Work</a:t>
            </a:r>
            <a:r>
              <a:rPr lang="en-US" sz="2600" b="1" noProof="0" dirty="0">
                <a:solidFill>
                  <a:srgbClr val="1B2A3B"/>
                </a:solidFill>
              </a:rPr>
              <a:t>) </a:t>
            </a:r>
            <a:endParaRPr lang="en-US" sz="26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B59750-60BD-01F5-B78B-D89F824D53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82545" y="6360130"/>
            <a:ext cx="448220" cy="302133"/>
          </a:xfrm>
        </p:spPr>
        <p:txBody>
          <a:bodyPr/>
          <a:lstStyle/>
          <a:p>
            <a:fld id="{40A7B169-58CE-4E65-B1F9-ACF9E46440C2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5389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1678B-5452-1CA0-3F3E-5B07929CA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52D0A34F-6AA3-05B9-FFC6-0316D07B4100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F52C0DA2-0356-F3F7-F608-288270A8F892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23108162-3F4B-A269-95DA-6D6C591D4C87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5E57C2DA-0031-4F2B-72C3-1E8083468356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AFF46489-B4F0-5065-DCCE-61C6F340CD57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82FFE472-8176-9679-A453-2214C4A72B65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EE529AD4-9634-1521-8A57-0275D50BC579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53BEAF6E-F2CB-7595-9D43-41D419AAFE17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Architecture Overview </a:t>
            </a:r>
            <a:endParaRPr lang="en-US" sz="1200" noProof="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D8DFFE4A-C9C2-0A65-9875-59D7D0E7394C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09AD6343-E629-1307-DB6D-BBD31F95AFA4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B17E1B94-7154-9B64-1263-AF00CA2EFE0D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691FAAF8-FDF1-726A-53CF-98974404BE15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B78B37FE-91BD-E596-03A3-360041619EF7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B76BD1E1-14E6-4C66-E6FB-3C7BCF3FD6A9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58094F42-EB0C-5245-7FF8-18C88989C855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BFD48E26-150E-194A-C6A3-8C700459050C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E9833518-ACC0-0BF8-AEAB-C33470F06B4F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The Data preprocessing pipeline and ALFRED Vision Integration </a:t>
            </a:r>
            <a:endParaRPr lang="en-US" sz="1200" noProof="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F1CBAC3F-8A0D-38F4-5262-1835200018A2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007D8AA2-2F6A-7FCE-BAAA-FECA1667FB72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A535CC75-F237-D64F-1A10-1029454A2930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FA4B73AF-FC23-2D04-BB48-47CD41BAD7F7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2C9E4D55-F3B5-92ED-8523-4E26BDB184FE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Value Proposition &amp; Impact</a:t>
            </a:r>
            <a:endParaRPr lang="en-US" sz="1200" dirty="0"/>
          </a:p>
          <a:p>
            <a:r>
              <a:rPr lang="en-US" sz="1200" b="1" noProof="0" dirty="0">
                <a:solidFill>
                  <a:srgbClr val="1B2A3B"/>
                </a:solidFill>
              </a:rPr>
              <a:t> </a:t>
            </a:r>
            <a:endParaRPr lang="en-US" sz="1200" noProof="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25F8D288-DF0C-92F0-25E5-51110938CB6A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A0274518-205F-ED8E-CAFB-FBE8D02360EC}"/>
              </a:ext>
            </a:extLst>
          </p:cNvPr>
          <p:cNvSpPr/>
          <p:nvPr/>
        </p:nvSpPr>
        <p:spPr>
          <a:xfrm>
            <a:off x="1758295" y="535040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E5244A75-F22F-64A4-BEEC-7DE8521A762F}"/>
              </a:ext>
            </a:extLst>
          </p:cNvPr>
          <p:cNvSpPr/>
          <p:nvPr/>
        </p:nvSpPr>
        <p:spPr>
          <a:xfrm>
            <a:off x="1758295" y="535040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DECA6B7E-5318-5D8A-CDB9-5F8F8B3C1AE6}"/>
              </a:ext>
            </a:extLst>
          </p:cNvPr>
          <p:cNvSpPr/>
          <p:nvPr/>
        </p:nvSpPr>
        <p:spPr>
          <a:xfrm>
            <a:off x="1758295" y="535040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AD4C0514-7BF0-ACAB-B312-630302D7F747}"/>
              </a:ext>
            </a:extLst>
          </p:cNvPr>
          <p:cNvSpPr/>
          <p:nvPr/>
        </p:nvSpPr>
        <p:spPr>
          <a:xfrm>
            <a:off x="2233783" y="55607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Configuration &amp; Evaluation </a:t>
            </a:r>
            <a:endParaRPr lang="en-US" sz="1200" noProof="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6AD1EFBC-3D40-3182-DB9E-B4D72F61D490}"/>
              </a:ext>
            </a:extLst>
          </p:cNvPr>
          <p:cNvSpPr/>
          <p:nvPr/>
        </p:nvSpPr>
        <p:spPr>
          <a:xfrm>
            <a:off x="2233783" y="575273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53E7C6BC-AEBB-F739-1267-0FCAF1BEA388}"/>
              </a:ext>
            </a:extLst>
          </p:cNvPr>
          <p:cNvSpPr/>
          <p:nvPr/>
        </p:nvSpPr>
        <p:spPr>
          <a:xfrm>
            <a:off x="6909008" y="3143994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10B723E7-E9B4-C975-F058-7FDD28254A3D}"/>
              </a:ext>
            </a:extLst>
          </p:cNvPr>
          <p:cNvSpPr/>
          <p:nvPr/>
        </p:nvSpPr>
        <p:spPr>
          <a:xfrm>
            <a:off x="6909008" y="3143994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6742BAD9-B7C7-0373-A76F-743BE1257F8B}"/>
              </a:ext>
            </a:extLst>
          </p:cNvPr>
          <p:cNvSpPr/>
          <p:nvPr/>
        </p:nvSpPr>
        <p:spPr>
          <a:xfrm>
            <a:off x="6909008" y="314399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8CE9642E-2CDD-796A-06D3-C11FE43D33DE}"/>
              </a:ext>
            </a:extLst>
          </p:cNvPr>
          <p:cNvSpPr/>
          <p:nvPr/>
        </p:nvSpPr>
        <p:spPr>
          <a:xfrm>
            <a:off x="7384496" y="333904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Live Demo &amp; Hands-On</a:t>
            </a:r>
            <a:endParaRPr lang="en-US" sz="1200" noProof="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D9A8B003-B2B2-DC15-74DA-81040B2F0520}"/>
              </a:ext>
            </a:extLst>
          </p:cNvPr>
          <p:cNvSpPr/>
          <p:nvPr/>
        </p:nvSpPr>
        <p:spPr>
          <a:xfrm>
            <a:off x="7384496" y="354633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33C3909E-C725-55E1-CC27-AFAA9225A5E2}"/>
              </a:ext>
            </a:extLst>
          </p:cNvPr>
          <p:cNvSpPr/>
          <p:nvPr/>
        </p:nvSpPr>
        <p:spPr>
          <a:xfrm>
            <a:off x="6909008" y="4040106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C274350A-F2D2-2571-D0C2-7767B1B4633E}"/>
              </a:ext>
            </a:extLst>
          </p:cNvPr>
          <p:cNvSpPr/>
          <p:nvPr/>
        </p:nvSpPr>
        <p:spPr>
          <a:xfrm>
            <a:off x="6909008" y="4040106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FFBA39A7-F720-F39B-0BDD-32FDECB23C64}"/>
              </a:ext>
            </a:extLst>
          </p:cNvPr>
          <p:cNvSpPr/>
          <p:nvPr/>
        </p:nvSpPr>
        <p:spPr>
          <a:xfrm>
            <a:off x="6909008" y="404010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79108B1C-0F3E-2B8C-7511-877B3B452748}"/>
              </a:ext>
            </a:extLst>
          </p:cNvPr>
          <p:cNvSpPr/>
          <p:nvPr/>
        </p:nvSpPr>
        <p:spPr>
          <a:xfrm>
            <a:off x="7397550" y="425956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Q&amp;A</a:t>
            </a:r>
            <a:endParaRPr lang="en-US" sz="1200" noProof="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6632A314-9DB5-28DD-B98C-8B6437C8C721}"/>
              </a:ext>
            </a:extLst>
          </p:cNvPr>
          <p:cNvSpPr/>
          <p:nvPr/>
        </p:nvSpPr>
        <p:spPr>
          <a:xfrm>
            <a:off x="7384496" y="444244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095E5C-0A2F-40A3-8BA5-AF8DC95378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15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E9D9C-6BD0-F86E-8845-FFEE4181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7E58-D494-E4A9-1A07-F79C2A5B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2" y="-303652"/>
            <a:ext cx="11609159" cy="1247050"/>
          </a:xfrm>
        </p:spPr>
        <p:txBody>
          <a:bodyPr/>
          <a:lstStyle/>
          <a:p>
            <a:r>
              <a:rPr lang="en-US" sz="1800" b="1" dirty="0">
                <a:solidFill>
                  <a:srgbClr val="1B2A3B"/>
                </a:solidFill>
              </a:rPr>
              <a:t>Architecture</a:t>
            </a:r>
            <a:endParaRPr lang="en-US" sz="1800" b="1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682B64A3-9A9C-4F0A-9C3A-60D783FFBA4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AC4D1A09-9A39-7810-FE43-EAF70BD6D452}"/>
              </a:ext>
            </a:extLst>
          </p:cNvPr>
          <p:cNvSpPr/>
          <p:nvPr/>
        </p:nvSpPr>
        <p:spPr>
          <a:xfrm>
            <a:off x="3494961" y="686796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54E3B-4A8D-D322-C184-D6360F7E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</a:t>
            </a:fld>
            <a:endParaRPr lang="en-US" noProof="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7FAD67D8-388C-6558-87E1-1F45EF7E3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965" y="921524"/>
            <a:ext cx="8229600" cy="570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4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B338-5D31-4F29-CA31-B3A5993D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92D6-28C4-52B0-DDE8-31DCF172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910165"/>
          </a:xfrm>
        </p:spPr>
        <p:txBody>
          <a:bodyPr/>
          <a:lstStyle/>
          <a:p>
            <a:r>
              <a:rPr lang="en-US" sz="1800" b="1" noProof="0" dirty="0"/>
              <a:t>Data Sources Used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59B1C83-B658-ED13-81E0-3C8910854A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1571FE-576E-718C-8187-72D40F877950}"/>
              </a:ext>
            </a:extLst>
          </p:cNvPr>
          <p:cNvSpPr/>
          <p:nvPr/>
        </p:nvSpPr>
        <p:spPr>
          <a:xfrm>
            <a:off x="3572992" y="695125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25D1DEA3-8A83-683F-8382-A643A093A221}"/>
              </a:ext>
            </a:extLst>
          </p:cNvPr>
          <p:cNvSpPr/>
          <p:nvPr/>
        </p:nvSpPr>
        <p:spPr>
          <a:xfrm>
            <a:off x="1770885" y="1908506"/>
            <a:ext cx="4027937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B8741F6-241A-06A4-F1BE-E7248E7574B7}"/>
              </a:ext>
            </a:extLst>
          </p:cNvPr>
          <p:cNvSpPr/>
          <p:nvPr/>
        </p:nvSpPr>
        <p:spPr>
          <a:xfrm>
            <a:off x="1770885" y="1908507"/>
            <a:ext cx="4027937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65E0D42-7FF0-C3DB-4ED6-5C98C3307881}"/>
              </a:ext>
            </a:extLst>
          </p:cNvPr>
          <p:cNvSpPr/>
          <p:nvPr/>
        </p:nvSpPr>
        <p:spPr>
          <a:xfrm>
            <a:off x="2209797" y="1972515"/>
            <a:ext cx="250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Issues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14791E5D-5024-74F6-9172-94098D4FC0ED}"/>
              </a:ext>
            </a:extLst>
          </p:cNvPr>
          <p:cNvSpPr/>
          <p:nvPr/>
        </p:nvSpPr>
        <p:spPr>
          <a:xfrm>
            <a:off x="1898901" y="2654020"/>
            <a:ext cx="377731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User-reported bugs: title, body, comments, labels, state (open/resolved), </a:t>
            </a:r>
            <a:r>
              <a:rPr lang="en-US" sz="1050" noProof="0" dirty="0" err="1">
                <a:solidFill>
                  <a:srgbClr val="1B2A3B"/>
                </a:solidFill>
              </a:rPr>
              <a:t>github_url</a:t>
            </a:r>
            <a:r>
              <a:rPr lang="en-US" sz="1050" noProof="0" dirty="0">
                <a:solidFill>
                  <a:srgbClr val="1B2A3B"/>
                </a:solidFill>
              </a:rPr>
              <a:t>, timestamps </a:t>
            </a:r>
            <a:endParaRPr lang="en-US" sz="1050" noProof="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3E7F083B-D680-7824-E6B7-A1BD8EF0200C}"/>
              </a:ext>
            </a:extLst>
          </p:cNvPr>
          <p:cNvSpPr/>
          <p:nvPr/>
        </p:nvSpPr>
        <p:spPr>
          <a:xfrm>
            <a:off x="1880613" y="3577563"/>
            <a:ext cx="3777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STM32CubeH7 and extensible to other series</a:t>
            </a:r>
            <a:endParaRPr lang="en-US" sz="850" noProof="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D1BCCED1-BCAE-3E3C-829B-812F7076EF5B}"/>
              </a:ext>
            </a:extLst>
          </p:cNvPr>
          <p:cNvSpPr/>
          <p:nvPr/>
        </p:nvSpPr>
        <p:spPr>
          <a:xfrm>
            <a:off x="6397749" y="1925676"/>
            <a:ext cx="4027937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4F102B04-0932-D20C-180D-FD8717B721C8}"/>
              </a:ext>
            </a:extLst>
          </p:cNvPr>
          <p:cNvSpPr/>
          <p:nvPr/>
        </p:nvSpPr>
        <p:spPr>
          <a:xfrm>
            <a:off x="6397749" y="1925677"/>
            <a:ext cx="4027937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68DB4CA-A17C-60E2-FECA-07E1B54F9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77" y="1989685"/>
            <a:ext cx="250627" cy="256032"/>
          </a:xfrm>
          <a:prstGeom prst="rect">
            <a:avLst/>
          </a:prstGeom>
        </p:spPr>
      </p:pic>
      <p:sp>
        <p:nvSpPr>
          <p:cNvPr id="14" name="Text 14">
            <a:extLst>
              <a:ext uri="{FF2B5EF4-FFF2-40B4-BE49-F238E27FC236}">
                <a16:creationId xmlns:a16="http://schemas.microsoft.com/office/drawing/2014/main" id="{3F5A0BE5-8D55-A257-0F78-3B44C3A789EA}"/>
              </a:ext>
            </a:extLst>
          </p:cNvPr>
          <p:cNvSpPr/>
          <p:nvPr/>
        </p:nvSpPr>
        <p:spPr>
          <a:xfrm>
            <a:off x="6836661" y="1989685"/>
            <a:ext cx="250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Technical Files</a:t>
            </a:r>
            <a:endParaRPr lang="en-US" sz="1200" noProof="0" dirty="0">
              <a:solidFill>
                <a:srgbClr val="0D9488"/>
              </a:solidFill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8662DE01-52E9-7247-C0BC-841225D311B9}"/>
              </a:ext>
            </a:extLst>
          </p:cNvPr>
          <p:cNvSpPr/>
          <p:nvPr/>
        </p:nvSpPr>
        <p:spPr>
          <a:xfrm>
            <a:off x="6504995" y="3577563"/>
            <a:ext cx="3777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STM32CubeH7 and extensible to other series</a:t>
            </a:r>
            <a:endParaRPr lang="en-US" sz="850" noProof="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1F4761B-5A42-DC88-A38F-EFB062F8FB88}"/>
              </a:ext>
            </a:extLst>
          </p:cNvPr>
          <p:cNvSpPr/>
          <p:nvPr/>
        </p:nvSpPr>
        <p:spPr>
          <a:xfrm>
            <a:off x="1770885" y="4476122"/>
            <a:ext cx="4027937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D9AFA03F-DAB3-6123-2A5F-A2E85664E38A}"/>
              </a:ext>
            </a:extLst>
          </p:cNvPr>
          <p:cNvSpPr/>
          <p:nvPr/>
        </p:nvSpPr>
        <p:spPr>
          <a:xfrm>
            <a:off x="1770885" y="4476122"/>
            <a:ext cx="4027937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2630C6B3-609C-7335-C7B0-10AECFE1C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613" y="4540130"/>
            <a:ext cx="205872" cy="210312"/>
          </a:xfrm>
          <a:prstGeom prst="rect">
            <a:avLst/>
          </a:prstGeom>
        </p:spPr>
      </p:pic>
      <p:sp>
        <p:nvSpPr>
          <p:cNvPr id="22" name="Text 21">
            <a:extLst>
              <a:ext uri="{FF2B5EF4-FFF2-40B4-BE49-F238E27FC236}">
                <a16:creationId xmlns:a16="http://schemas.microsoft.com/office/drawing/2014/main" id="{CCACA7AD-5D05-D758-DA94-0D2E5C749A25}"/>
              </a:ext>
            </a:extLst>
          </p:cNvPr>
          <p:cNvSpPr/>
          <p:nvPr/>
        </p:nvSpPr>
        <p:spPr>
          <a:xfrm>
            <a:off x="2209797" y="4540130"/>
            <a:ext cx="250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PRs &amp; Commits</a:t>
            </a:r>
            <a:endParaRPr lang="en-US" sz="1200" noProof="0" dirty="0">
              <a:solidFill>
                <a:srgbClr val="0D9488"/>
              </a:solidFill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7C12B8DD-ECBC-1949-698B-21896818061D}"/>
              </a:ext>
            </a:extLst>
          </p:cNvPr>
          <p:cNvSpPr/>
          <p:nvPr/>
        </p:nvSpPr>
        <p:spPr>
          <a:xfrm>
            <a:off x="4509077" y="4576184"/>
            <a:ext cx="13511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noProof="0" dirty="0">
                <a:solidFill>
                  <a:schemeClr val="bg1"/>
                </a:solidFill>
              </a:rPr>
              <a:t>Resolver Cases</a:t>
            </a:r>
          </a:p>
          <a:p>
            <a:pPr marL="0" indent="0" algn="ctr">
              <a:buNone/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B622E726-7D2F-5CE7-9471-71373EFD6860}"/>
              </a:ext>
            </a:extLst>
          </p:cNvPr>
          <p:cNvSpPr/>
          <p:nvPr/>
        </p:nvSpPr>
        <p:spPr>
          <a:xfrm>
            <a:off x="1898901" y="4915034"/>
            <a:ext cx="377731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When a bug is resolved, we trace the PR and commit messages that provide the confirmed fix</a:t>
            </a:r>
            <a:endParaRPr lang="en-US" sz="1050" noProof="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9481BABC-BF29-6AD6-F059-0945D3788C32}"/>
              </a:ext>
            </a:extLst>
          </p:cNvPr>
          <p:cNvSpPr/>
          <p:nvPr/>
        </p:nvSpPr>
        <p:spPr>
          <a:xfrm>
            <a:off x="1898901" y="5829434"/>
            <a:ext cx="3777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Generated by pipeline</a:t>
            </a:r>
            <a:endParaRPr lang="en-US" sz="850" noProof="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D81FCE9E-069A-7940-1AC5-EAB2941BBF9A}"/>
              </a:ext>
            </a:extLst>
          </p:cNvPr>
          <p:cNvSpPr/>
          <p:nvPr/>
        </p:nvSpPr>
        <p:spPr>
          <a:xfrm>
            <a:off x="6397749" y="4448690"/>
            <a:ext cx="4027937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A1D4D34E-39BE-6E1D-6C92-74F0C85CC082}"/>
              </a:ext>
            </a:extLst>
          </p:cNvPr>
          <p:cNvSpPr/>
          <p:nvPr/>
        </p:nvSpPr>
        <p:spPr>
          <a:xfrm>
            <a:off x="6397749" y="4448690"/>
            <a:ext cx="4027937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C58D82D7-EACE-E29B-0B45-98F946588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477" y="4512698"/>
            <a:ext cx="232725" cy="237744"/>
          </a:xfrm>
          <a:prstGeom prst="rect">
            <a:avLst/>
          </a:prstGeom>
        </p:spPr>
      </p:pic>
      <p:sp>
        <p:nvSpPr>
          <p:cNvPr id="30" name="Text 28">
            <a:extLst>
              <a:ext uri="{FF2B5EF4-FFF2-40B4-BE49-F238E27FC236}">
                <a16:creationId xmlns:a16="http://schemas.microsoft.com/office/drawing/2014/main" id="{36E51ACE-B701-E7CA-72E6-F1300BCBDBF4}"/>
              </a:ext>
            </a:extLst>
          </p:cNvPr>
          <p:cNvSpPr/>
          <p:nvPr/>
        </p:nvSpPr>
        <p:spPr>
          <a:xfrm>
            <a:off x="6836661" y="4512698"/>
            <a:ext cx="250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Diagnostic cards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AFAE803-629D-2B00-9018-2EC5D484BBAA}"/>
              </a:ext>
            </a:extLst>
          </p:cNvPr>
          <p:cNvSpPr/>
          <p:nvPr/>
        </p:nvSpPr>
        <p:spPr>
          <a:xfrm>
            <a:off x="8521333" y="4476122"/>
            <a:ext cx="1941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noProof="0" dirty="0">
                <a:solidFill>
                  <a:srgbClr val="FFFFFF"/>
                </a:solidFill>
              </a:rPr>
              <a:t>Intelligent synthesis layer </a:t>
            </a:r>
            <a:endParaRPr lang="en-US" sz="1100" noProof="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F8161AF-6C39-BBD8-46FF-47022F5025DD}"/>
              </a:ext>
            </a:extLst>
          </p:cNvPr>
          <p:cNvSpPr/>
          <p:nvPr/>
        </p:nvSpPr>
        <p:spPr>
          <a:xfrm>
            <a:off x="6525765" y="4887602"/>
            <a:ext cx="377731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Structured cards: Problem → Evidence → Solution. Built automatically from resolved issues</a:t>
            </a:r>
            <a:endParaRPr lang="en-US" sz="1050" noProof="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F49356-2B38-18EE-D423-E83010E7DF04}"/>
              </a:ext>
            </a:extLst>
          </p:cNvPr>
          <p:cNvSpPr/>
          <p:nvPr/>
        </p:nvSpPr>
        <p:spPr>
          <a:xfrm>
            <a:off x="6525765" y="5802002"/>
            <a:ext cx="3777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noProof="0" dirty="0">
                <a:solidFill>
                  <a:srgbClr val="64748B"/>
                </a:solidFill>
              </a:rPr>
              <a:t>Source: Generated by pipeline</a:t>
            </a:r>
            <a:endParaRPr lang="en-US" sz="850" noProof="0" dirty="0"/>
          </a:p>
        </p:txBody>
      </p:sp>
      <p:pic>
        <p:nvPicPr>
          <p:cNvPr id="36" name="Graphic 35" descr="Exclamation mark with solid fill">
            <a:extLst>
              <a:ext uri="{FF2B5EF4-FFF2-40B4-BE49-F238E27FC236}">
                <a16:creationId xmlns:a16="http://schemas.microsoft.com/office/drawing/2014/main" id="{FAD1758D-232D-57CA-E224-0CFDE09CE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91735" y="1965359"/>
            <a:ext cx="214823" cy="219456"/>
          </a:xfrm>
          <a:prstGeom prst="rect">
            <a:avLst/>
          </a:prstGeom>
        </p:spPr>
      </p:pic>
      <p:sp>
        <p:nvSpPr>
          <p:cNvPr id="5" name="Plus Sign 4">
            <a:extLst>
              <a:ext uri="{FF2B5EF4-FFF2-40B4-BE49-F238E27FC236}">
                <a16:creationId xmlns:a16="http://schemas.microsoft.com/office/drawing/2014/main" id="{A3C03228-7527-80F9-72DF-A79AB1936DDB}"/>
              </a:ext>
            </a:extLst>
          </p:cNvPr>
          <p:cNvSpPr/>
          <p:nvPr/>
        </p:nvSpPr>
        <p:spPr>
          <a:xfrm>
            <a:off x="5892115" y="3978611"/>
            <a:ext cx="407770" cy="408518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9628CE-B624-73A0-5FF4-8D4AF3CD9ADA}"/>
              </a:ext>
            </a:extLst>
          </p:cNvPr>
          <p:cNvSpPr txBox="1"/>
          <p:nvPr/>
        </p:nvSpPr>
        <p:spPr>
          <a:xfrm>
            <a:off x="1415279" y="6330968"/>
            <a:ext cx="125450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u="sng" noProof="0" dirty="0"/>
              <a:t>For Each </a:t>
            </a:r>
            <a:r>
              <a:rPr lang="en-US" sz="1200" b="1" i="1" u="sng" noProof="0" dirty="0">
                <a:effectLst/>
              </a:rPr>
              <a:t>STM32Cube series</a:t>
            </a:r>
            <a:r>
              <a:rPr lang="en-US" sz="1200" b="1" i="1" u="sng" noProof="0" dirty="0"/>
              <a:t> </a:t>
            </a:r>
            <a:r>
              <a:rPr lang="en-US" sz="1200" noProof="0" dirty="0"/>
              <a:t>: </a:t>
            </a:r>
            <a:r>
              <a:rPr lang="en-US" sz="1200" b="0" i="0" noProof="0" dirty="0">
                <a:effectLst/>
              </a:rPr>
              <a:t>we unify </a:t>
            </a:r>
            <a:r>
              <a:rPr lang="en-US" sz="1200" b="1" i="0" noProof="0" dirty="0">
                <a:solidFill>
                  <a:srgbClr val="0D9589"/>
                </a:solidFill>
                <a:effectLst/>
              </a:rPr>
              <a:t>issues</a:t>
            </a:r>
            <a:r>
              <a:rPr lang="en-US" sz="1200" b="1" i="0" noProof="0" dirty="0">
                <a:effectLst/>
              </a:rPr>
              <a:t>, </a:t>
            </a:r>
            <a:r>
              <a:rPr lang="en-US" sz="1200" b="1" i="0" noProof="0" dirty="0">
                <a:solidFill>
                  <a:srgbClr val="0D9589"/>
                </a:solidFill>
                <a:effectLst/>
              </a:rPr>
              <a:t>PRs and commits (</a:t>
            </a:r>
            <a:r>
              <a:rPr lang="en-US" sz="1200" b="1" noProof="0" dirty="0">
                <a:solidFill>
                  <a:srgbClr val="0D9589"/>
                </a:solidFill>
              </a:rPr>
              <a:t>Resolver Cases</a:t>
            </a:r>
            <a:r>
              <a:rPr lang="en-US" sz="1200" b="0" i="0" noProof="0" dirty="0">
                <a:solidFill>
                  <a:srgbClr val="0D9589"/>
                </a:solidFill>
                <a:effectLst/>
              </a:rPr>
              <a:t>) </a:t>
            </a:r>
            <a:r>
              <a:rPr lang="en-US" sz="1200" b="0" i="0" noProof="0" dirty="0">
                <a:effectLst/>
              </a:rPr>
              <a:t>to produce </a:t>
            </a:r>
            <a:r>
              <a:rPr lang="en-US" sz="1200" b="1" noProof="0" dirty="0">
                <a:solidFill>
                  <a:srgbClr val="0D9589"/>
                </a:solidFill>
              </a:rPr>
              <a:t>d</a:t>
            </a:r>
            <a:r>
              <a:rPr lang="en-US" sz="1200" b="1" i="0" noProof="0" dirty="0">
                <a:solidFill>
                  <a:srgbClr val="0D9589"/>
                </a:solidFill>
                <a:effectLst/>
              </a:rPr>
              <a:t>iagnostic cards</a:t>
            </a:r>
            <a:r>
              <a:rPr lang="en-US" sz="1200" b="0" i="0" noProof="0" dirty="0">
                <a:effectLst/>
              </a:rPr>
              <a:t>.</a:t>
            </a:r>
            <a:endParaRPr lang="en-US" sz="1200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1EBE23-EEF6-6B6E-A5A3-7D44E5B5E367}"/>
              </a:ext>
            </a:extLst>
          </p:cNvPr>
          <p:cNvSpPr txBox="1"/>
          <p:nvPr/>
        </p:nvSpPr>
        <p:spPr>
          <a:xfrm>
            <a:off x="6504995" y="2488748"/>
            <a:ext cx="38513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00000"/>
                </a:solidFill>
                <a:effectLst/>
              </a:rPr>
              <a:t>Source code files:</a:t>
            </a:r>
            <a:r>
              <a:rPr lang="en-US" sz="1000" b="0" i="0" noProof="0" dirty="0">
                <a:solidFill>
                  <a:srgbClr val="000000"/>
                </a:solidFill>
                <a:effectLst/>
              </a:rPr>
              <a:t> drivers (HAL, LL) , middleware, utilities, components, BSP board files.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00000"/>
                </a:solidFill>
                <a:effectLst/>
              </a:rPr>
              <a:t>Technical documentation:</a:t>
            </a:r>
            <a:r>
              <a:rPr lang="en-US" sz="1000" b="0" i="0" noProof="0" dirty="0">
                <a:solidFill>
                  <a:srgbClr val="000000"/>
                </a:solidFill>
                <a:effectLst/>
              </a:rPr>
              <a:t> release notes, project README, PDF documentation.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00000"/>
                </a:solidFill>
                <a:effectLst/>
              </a:rPr>
              <a:t>Configuration/metadata files useful for context:</a:t>
            </a:r>
            <a:r>
              <a:rPr lang="en-US" sz="1000" b="0" i="0" noProof="0" dirty="0">
                <a:solidFill>
                  <a:srgbClr val="000000"/>
                </a:solidFill>
                <a:effectLst/>
              </a:rPr>
              <a:t> package.xml, security-related files, etc.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EBFA1-08A8-668B-3FE0-6DECDAE5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7</a:t>
            </a:fld>
            <a:endParaRPr lang="en-US" noProof="0" dirty="0"/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6B9618AA-33E4-4CC3-4048-64A14060707F}"/>
              </a:ext>
            </a:extLst>
          </p:cNvPr>
          <p:cNvSpPr/>
          <p:nvPr/>
        </p:nvSpPr>
        <p:spPr>
          <a:xfrm>
            <a:off x="1788343" y="1020946"/>
            <a:ext cx="1224000" cy="503999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dirty="0"/>
              <a:t>GitHub</a:t>
            </a:r>
            <a:br>
              <a:rPr dirty="0"/>
            </a:br>
            <a:r>
              <a:rPr dirty="0"/>
              <a:t>25 series</a:t>
            </a:r>
            <a:br>
              <a:rPr dirty="0"/>
            </a:br>
            <a:r>
              <a:rPr dirty="0"/>
              <a:t>200+ repos</a:t>
            </a:r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EB47F285-5D53-ADA8-EFCD-B9D7C0E2546E}"/>
              </a:ext>
            </a:extLst>
          </p:cNvPr>
          <p:cNvSpPr/>
          <p:nvPr/>
        </p:nvSpPr>
        <p:spPr>
          <a:xfrm>
            <a:off x="3300343" y="1020946"/>
            <a:ext cx="1224000" cy="503999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Pipeline</a:t>
            </a:r>
            <a:br/>
            <a:r>
              <a:t>7 stages</a:t>
            </a:r>
            <a:br/>
            <a:r>
              <a:t>23 steps</a:t>
            </a:r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CC2D8BEF-119E-266A-DEFF-5B6551F798B5}"/>
              </a:ext>
            </a:extLst>
          </p:cNvPr>
          <p:cNvSpPr/>
          <p:nvPr/>
        </p:nvSpPr>
        <p:spPr>
          <a:xfrm>
            <a:off x="4812342" y="1020946"/>
            <a:ext cx="1224000" cy="503999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sz="900" dirty="0"/>
              <a:t>ST-ready JSON</a:t>
            </a:r>
            <a:br>
              <a:rPr sz="900" dirty="0"/>
            </a:br>
            <a:r>
              <a:rPr sz="900" dirty="0"/>
              <a:t>4 artifact types</a:t>
            </a:r>
          </a:p>
        </p:txBody>
      </p:sp>
      <p:sp>
        <p:nvSpPr>
          <p:cNvPr id="31" name="Rounded Rectangle 6">
            <a:extLst>
              <a:ext uri="{FF2B5EF4-FFF2-40B4-BE49-F238E27FC236}">
                <a16:creationId xmlns:a16="http://schemas.microsoft.com/office/drawing/2014/main" id="{C69ECA93-41E1-3632-3B4E-294A243BB18E}"/>
              </a:ext>
            </a:extLst>
          </p:cNvPr>
          <p:cNvSpPr/>
          <p:nvPr/>
        </p:nvSpPr>
        <p:spPr>
          <a:xfrm>
            <a:off x="6324343" y="1020946"/>
            <a:ext cx="1224000" cy="503999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sz="900" dirty="0"/>
              <a:t>KB</a:t>
            </a:r>
            <a:br>
              <a:rPr sz="900" dirty="0"/>
            </a:br>
            <a:r>
              <a:rPr lang="fr-FR" sz="900" dirty="0"/>
              <a:t>83 </a:t>
            </a:r>
            <a:r>
              <a:rPr lang="en-US" sz="900" dirty="0"/>
              <a:t>data sources</a:t>
            </a:r>
            <a:endParaRPr sz="900" dirty="0"/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9ABA8C37-912A-60E5-1544-A098B61E6B45}"/>
              </a:ext>
            </a:extLst>
          </p:cNvPr>
          <p:cNvSpPr/>
          <p:nvPr/>
        </p:nvSpPr>
        <p:spPr>
          <a:xfrm>
            <a:off x="7836343" y="1020946"/>
            <a:ext cx="1224000" cy="503999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64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sz="1000" dirty="0"/>
              <a:t>ST ChatGPT</a:t>
            </a:r>
            <a:br>
              <a:rPr sz="1000" dirty="0"/>
            </a:br>
            <a:r>
              <a:rPr sz="1000" dirty="0"/>
              <a:t>GPT-5.1</a:t>
            </a:r>
          </a:p>
        </p:txBody>
      </p: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0CB8C54C-A032-6B04-2080-12904EAD00FC}"/>
              </a:ext>
            </a:extLst>
          </p:cNvPr>
          <p:cNvSpPr/>
          <p:nvPr/>
        </p:nvSpPr>
        <p:spPr>
          <a:xfrm>
            <a:off x="9348343" y="1020946"/>
            <a:ext cx="1007999" cy="503999"/>
          </a:xfrm>
          <a:prstGeom prst="roundRect">
            <a:avLst/>
          </a:prstGeom>
          <a:solidFill>
            <a:srgbClr val="E6FAE6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sz="1050" dirty="0"/>
              <a:t>Sourced</a:t>
            </a:r>
            <a:br>
              <a:rPr sz="1050" dirty="0"/>
            </a:br>
            <a:r>
              <a:rPr sz="1050" dirty="0"/>
              <a:t>answer</a:t>
            </a:r>
          </a:p>
        </p:txBody>
      </p:sp>
      <p:cxnSp>
        <p:nvCxnSpPr>
          <p:cNvPr id="38" name="Connector 9">
            <a:extLst>
              <a:ext uri="{FF2B5EF4-FFF2-40B4-BE49-F238E27FC236}">
                <a16:creationId xmlns:a16="http://schemas.microsoft.com/office/drawing/2014/main" id="{11A70779-3FF2-6BFB-A272-F0418D068D8E}"/>
              </a:ext>
            </a:extLst>
          </p:cNvPr>
          <p:cNvCxnSpPr>
            <a:cxnSpLocks/>
          </p:cNvCxnSpPr>
          <p:nvPr/>
        </p:nvCxnSpPr>
        <p:spPr>
          <a:xfrm>
            <a:off x="3030343" y="1272947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10">
            <a:extLst>
              <a:ext uri="{FF2B5EF4-FFF2-40B4-BE49-F238E27FC236}">
                <a16:creationId xmlns:a16="http://schemas.microsoft.com/office/drawing/2014/main" id="{33278825-701D-68C3-7D39-C0AE2573D5BD}"/>
              </a:ext>
            </a:extLst>
          </p:cNvPr>
          <p:cNvCxnSpPr>
            <a:cxnSpLocks/>
          </p:cNvCxnSpPr>
          <p:nvPr/>
        </p:nvCxnSpPr>
        <p:spPr>
          <a:xfrm>
            <a:off x="4542342" y="1272947"/>
            <a:ext cx="234001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11">
            <a:extLst>
              <a:ext uri="{FF2B5EF4-FFF2-40B4-BE49-F238E27FC236}">
                <a16:creationId xmlns:a16="http://schemas.microsoft.com/office/drawing/2014/main" id="{7D216977-807A-557B-D92B-BEB0ABB1581A}"/>
              </a:ext>
            </a:extLst>
          </p:cNvPr>
          <p:cNvCxnSpPr>
            <a:cxnSpLocks/>
          </p:cNvCxnSpPr>
          <p:nvPr/>
        </p:nvCxnSpPr>
        <p:spPr>
          <a:xfrm>
            <a:off x="6054343" y="1272947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12">
            <a:extLst>
              <a:ext uri="{FF2B5EF4-FFF2-40B4-BE49-F238E27FC236}">
                <a16:creationId xmlns:a16="http://schemas.microsoft.com/office/drawing/2014/main" id="{6B6B2C00-C329-A7DA-85B2-D270161E23B2}"/>
              </a:ext>
            </a:extLst>
          </p:cNvPr>
          <p:cNvCxnSpPr>
            <a:cxnSpLocks/>
          </p:cNvCxnSpPr>
          <p:nvPr/>
        </p:nvCxnSpPr>
        <p:spPr>
          <a:xfrm>
            <a:off x="7566343" y="1272947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13">
            <a:extLst>
              <a:ext uri="{FF2B5EF4-FFF2-40B4-BE49-F238E27FC236}">
                <a16:creationId xmlns:a16="http://schemas.microsoft.com/office/drawing/2014/main" id="{F57DDBEC-57D8-9068-1782-F67243695D3B}"/>
              </a:ext>
            </a:extLst>
          </p:cNvPr>
          <p:cNvCxnSpPr>
            <a:cxnSpLocks/>
          </p:cNvCxnSpPr>
          <p:nvPr/>
        </p:nvCxnSpPr>
        <p:spPr>
          <a:xfrm>
            <a:off x="9078343" y="1272947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076D37C-6CE1-2F82-A3C6-D0B987A2FCAC}"/>
              </a:ext>
            </a:extLst>
          </p:cNvPr>
          <p:cNvSpPr/>
          <p:nvPr/>
        </p:nvSpPr>
        <p:spPr>
          <a:xfrm>
            <a:off x="4684583" y="943886"/>
            <a:ext cx="1497142" cy="7099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397563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B645-E870-A9ED-CE70-88F648BD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BBAB-9699-D0C7-28BC-1F0CEB27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 The ST ChatGPT Platform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982F0C-A12C-915A-D0ED-FC61F14C39F8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32EE9F63-FEE1-5B84-D3EC-AD04C353B880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Full chain: from question to sourced, traceable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1795EE5-DF70-D42A-1E36-DF72192E0517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01F71E1C-F78E-6EAF-833B-C34D0D0D83D7}"/>
              </a:ext>
            </a:extLst>
          </p:cNvPr>
          <p:cNvSpPr/>
          <p:nvPr/>
        </p:nvSpPr>
        <p:spPr>
          <a:xfrm>
            <a:off x="1978612" y="2258568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1CF819DA-01B6-56A2-777B-AACE2D2E3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084" y="2555748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936C4325-AD2B-9814-8A73-2F835203DD59}"/>
              </a:ext>
            </a:extLst>
          </p:cNvPr>
          <p:cNvSpPr/>
          <p:nvPr/>
        </p:nvSpPr>
        <p:spPr>
          <a:xfrm>
            <a:off x="1868884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6E7FAFB5-53C5-01E1-8162-7E0C38AF5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772" y="2715768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2F1CB542-2A72-D4AA-B76C-FC1AAB3566A6}"/>
              </a:ext>
            </a:extLst>
          </p:cNvPr>
          <p:cNvSpPr/>
          <p:nvPr/>
        </p:nvSpPr>
        <p:spPr>
          <a:xfrm>
            <a:off x="3697684" y="225856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DD724B51-12E0-0D44-3931-FBED0C2F1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5156" y="2630822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D124B230-A157-9B1E-7E09-3D761AA0ADE9}"/>
              </a:ext>
            </a:extLst>
          </p:cNvPr>
          <p:cNvSpPr/>
          <p:nvPr/>
        </p:nvSpPr>
        <p:spPr>
          <a:xfrm>
            <a:off x="3587956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9B11BBDB-F3F1-5D30-7D90-11AC12BB8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844" y="2715768"/>
            <a:ext cx="329184" cy="329184"/>
          </a:xfrm>
          <a:prstGeom prst="rect">
            <a:avLst/>
          </a:prstGeom>
        </p:spPr>
      </p:pic>
      <p:sp>
        <p:nvSpPr>
          <p:cNvPr id="73" name="Shape 11">
            <a:extLst>
              <a:ext uri="{FF2B5EF4-FFF2-40B4-BE49-F238E27FC236}">
                <a16:creationId xmlns:a16="http://schemas.microsoft.com/office/drawing/2014/main" id="{318E120B-BD81-780F-5920-77BE1C67D411}"/>
              </a:ext>
            </a:extLst>
          </p:cNvPr>
          <p:cNvSpPr/>
          <p:nvPr/>
        </p:nvSpPr>
        <p:spPr>
          <a:xfrm>
            <a:off x="5416756" y="225856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6C7AD692-4B95-3507-CA1E-C4877DC49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5084" y="2603800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2340E1D-CD82-4691-9203-A607082964ED}"/>
              </a:ext>
            </a:extLst>
          </p:cNvPr>
          <p:cNvSpPr/>
          <p:nvPr/>
        </p:nvSpPr>
        <p:spPr>
          <a:xfrm>
            <a:off x="5307028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Knowledge Base</a:t>
            </a:r>
            <a:endParaRPr lang="en-US" sz="1000" noProof="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C16BB8BF-4E52-D866-B745-1703FC9BA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916" y="2842459"/>
            <a:ext cx="329184" cy="329184"/>
          </a:xfrm>
          <a:prstGeom prst="rect">
            <a:avLst/>
          </a:prstGeom>
        </p:spPr>
      </p:pic>
      <p:sp>
        <p:nvSpPr>
          <p:cNvPr id="78" name="Shape 14">
            <a:extLst>
              <a:ext uri="{FF2B5EF4-FFF2-40B4-BE49-F238E27FC236}">
                <a16:creationId xmlns:a16="http://schemas.microsoft.com/office/drawing/2014/main" id="{6F5CBF2F-EC37-E4D1-09AF-457892F4864C}"/>
              </a:ext>
            </a:extLst>
          </p:cNvPr>
          <p:cNvSpPr/>
          <p:nvPr/>
        </p:nvSpPr>
        <p:spPr>
          <a:xfrm>
            <a:off x="7135828" y="225856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AFB0EB77-F699-FF35-0634-0A42D3D1B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676" y="259670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DFEC622B-A731-A2D0-CDA1-700079D645A0}"/>
              </a:ext>
            </a:extLst>
          </p:cNvPr>
          <p:cNvSpPr/>
          <p:nvPr/>
        </p:nvSpPr>
        <p:spPr>
          <a:xfrm>
            <a:off x="7026100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(AI)</a:t>
            </a:r>
            <a:endParaRPr lang="en-US" sz="1000" noProof="0" dirty="0"/>
          </a:p>
        </p:txBody>
      </p:sp>
      <p:sp>
        <p:nvSpPr>
          <p:cNvPr id="83" name="Shape 17">
            <a:extLst>
              <a:ext uri="{FF2B5EF4-FFF2-40B4-BE49-F238E27FC236}">
                <a16:creationId xmlns:a16="http://schemas.microsoft.com/office/drawing/2014/main" id="{504023C6-077F-3C1B-0334-3FCBAA8162F7}"/>
              </a:ext>
            </a:extLst>
          </p:cNvPr>
          <p:cNvSpPr/>
          <p:nvPr/>
        </p:nvSpPr>
        <p:spPr>
          <a:xfrm>
            <a:off x="8854900" y="225856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57A45F68-29E0-0445-E625-116FC0DF4F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2372" y="261909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A25853B7-05E5-92B7-97F4-E6F43F810DA8}"/>
              </a:ext>
            </a:extLst>
          </p:cNvPr>
          <p:cNvSpPr/>
          <p:nvPr/>
        </p:nvSpPr>
        <p:spPr>
          <a:xfrm>
            <a:off x="8745172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0BE773ED-3950-D9A4-0464-8A031FA5AB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44172" y="2610287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F5638596-C122-9F55-D264-4088BE65B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43190" y="263082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2B698DB1-7338-3C6D-58C0-8D7F523EA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76433" y="263476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95E8CF2C-3F57-CC60-4162-70BADE22FB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49893" y="2622561"/>
            <a:ext cx="417157" cy="41715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234054-65D3-DF09-E42A-5B689DFC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6" name="Shape 33">
            <a:extLst>
              <a:ext uri="{FF2B5EF4-FFF2-40B4-BE49-F238E27FC236}">
                <a16:creationId xmlns:a16="http://schemas.microsoft.com/office/drawing/2014/main" id="{E935AA7B-E14B-86F9-5371-90E28E4F9B3D}"/>
              </a:ext>
            </a:extLst>
          </p:cNvPr>
          <p:cNvSpPr/>
          <p:nvPr/>
        </p:nvSpPr>
        <p:spPr>
          <a:xfrm>
            <a:off x="1096831" y="4659085"/>
            <a:ext cx="10267481" cy="896112"/>
          </a:xfrm>
          <a:prstGeom prst="roundRect">
            <a:avLst>
              <a:gd name="adj" fmla="val 918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" name="Text 34">
            <a:extLst>
              <a:ext uri="{FF2B5EF4-FFF2-40B4-BE49-F238E27FC236}">
                <a16:creationId xmlns:a16="http://schemas.microsoft.com/office/drawing/2014/main" id="{039A410C-15BD-0F72-15BE-887DDDCB7BB6}"/>
              </a:ext>
            </a:extLst>
          </p:cNvPr>
          <p:cNvSpPr/>
          <p:nvPr/>
        </p:nvSpPr>
        <p:spPr>
          <a:xfrm>
            <a:off x="1371152" y="4659085"/>
            <a:ext cx="9993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preparation (once):  </a:t>
            </a:r>
            <a:r>
              <a:rPr lang="en-US" sz="13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</a:t>
            </a:r>
            <a:r>
              <a:rPr lang="en-US" sz="13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turned into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en-US" sz="13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(numeric meaning) →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</a:t>
            </a:r>
            <a:r>
              <a:rPr lang="en-US" sz="13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retrieval works on meaning, not just keywords.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42597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D9EB3-6346-C060-BA60-3E87FC8C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CCD4-A597-7012-D3D7-6B74109F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 The ST ChatGPT Platform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AD64F1-8233-71F1-1A66-C403606727F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4CBC27D3-B56C-04D7-2347-DC1208AE8129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Full chain: from question to sourced, traceable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D1E40C5A-89C0-5416-0C43-D57172B2B4FF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9ACB6311-80A2-BFA7-6161-E1F557CE6E86}"/>
              </a:ext>
            </a:extLst>
          </p:cNvPr>
          <p:cNvSpPr/>
          <p:nvPr/>
        </p:nvSpPr>
        <p:spPr>
          <a:xfrm>
            <a:off x="1891063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F374A291-18C3-E4D2-7CC7-83A39E535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35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443DA998-047D-CAE6-C70E-1C6D5670A9A0}"/>
              </a:ext>
            </a:extLst>
          </p:cNvPr>
          <p:cNvSpPr/>
          <p:nvPr/>
        </p:nvSpPr>
        <p:spPr>
          <a:xfrm>
            <a:off x="1781335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98C2B48-EEDD-B6C3-D13B-1B583D6D595B}"/>
              </a:ext>
            </a:extLst>
          </p:cNvPr>
          <p:cNvSpPr/>
          <p:nvPr/>
        </p:nvSpPr>
        <p:spPr>
          <a:xfrm>
            <a:off x="1763047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257FDA79-8D01-D6D4-0A85-BC2D7B53F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223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14C765FC-109E-69AA-4279-25F578EC5ED9}"/>
              </a:ext>
            </a:extLst>
          </p:cNvPr>
          <p:cNvSpPr/>
          <p:nvPr/>
        </p:nvSpPr>
        <p:spPr>
          <a:xfrm>
            <a:off x="3610135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0C85453C-3CA7-4983-DB72-DA067C854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607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B7DE301D-8B30-8666-96D6-C5F98A47713E}"/>
              </a:ext>
            </a:extLst>
          </p:cNvPr>
          <p:cNvSpPr/>
          <p:nvPr/>
        </p:nvSpPr>
        <p:spPr>
          <a:xfrm>
            <a:off x="3500407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05987185-7356-1741-15FE-C9AF09285406}"/>
              </a:ext>
            </a:extLst>
          </p:cNvPr>
          <p:cNvSpPr/>
          <p:nvPr/>
        </p:nvSpPr>
        <p:spPr>
          <a:xfrm>
            <a:off x="3482119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8918E269-E95D-F821-E16C-8F0E181A5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95" y="2616951"/>
            <a:ext cx="329184" cy="329184"/>
          </a:xfrm>
          <a:prstGeom prst="rect">
            <a:avLst/>
          </a:prstGeom>
        </p:spPr>
      </p:pic>
      <p:sp>
        <p:nvSpPr>
          <p:cNvPr id="73" name="Shape 11">
            <a:extLst>
              <a:ext uri="{FF2B5EF4-FFF2-40B4-BE49-F238E27FC236}">
                <a16:creationId xmlns:a16="http://schemas.microsoft.com/office/drawing/2014/main" id="{C021FEF5-277A-1A46-655B-CDB7B6EF0312}"/>
              </a:ext>
            </a:extLst>
          </p:cNvPr>
          <p:cNvSpPr/>
          <p:nvPr/>
        </p:nvSpPr>
        <p:spPr>
          <a:xfrm>
            <a:off x="5329207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F7B2EE91-0100-83D8-64A2-90997C53D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535" y="2504983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2F267FE-5FCD-55C3-E122-0D00DFCFC5B7}"/>
              </a:ext>
            </a:extLst>
          </p:cNvPr>
          <p:cNvSpPr/>
          <p:nvPr/>
        </p:nvSpPr>
        <p:spPr>
          <a:xfrm>
            <a:off x="5219479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Knowledge Base</a:t>
            </a:r>
            <a:endParaRPr lang="en-US" sz="1000" noProof="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F4F73A8E-4265-B697-057E-FA560BB98FE4}"/>
              </a:ext>
            </a:extLst>
          </p:cNvPr>
          <p:cNvSpPr/>
          <p:nvPr/>
        </p:nvSpPr>
        <p:spPr>
          <a:xfrm>
            <a:off x="5201191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10B3579F-4CD8-1914-80C1-3D3C1F45C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367" y="2743642"/>
            <a:ext cx="329184" cy="329184"/>
          </a:xfrm>
          <a:prstGeom prst="rect">
            <a:avLst/>
          </a:prstGeom>
        </p:spPr>
      </p:pic>
      <p:sp>
        <p:nvSpPr>
          <p:cNvPr id="78" name="Shape 14">
            <a:extLst>
              <a:ext uri="{FF2B5EF4-FFF2-40B4-BE49-F238E27FC236}">
                <a16:creationId xmlns:a16="http://schemas.microsoft.com/office/drawing/2014/main" id="{7413AB44-7CAE-6613-ABAC-25CCEB4A8100}"/>
              </a:ext>
            </a:extLst>
          </p:cNvPr>
          <p:cNvSpPr/>
          <p:nvPr/>
        </p:nvSpPr>
        <p:spPr>
          <a:xfrm>
            <a:off x="7048279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89A4023C-2F56-79F3-33E3-F09BC30D58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127" y="2497892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CC299AE1-C47B-1538-5EF1-D2C675497AB2}"/>
              </a:ext>
            </a:extLst>
          </p:cNvPr>
          <p:cNvSpPr/>
          <p:nvPr/>
        </p:nvSpPr>
        <p:spPr>
          <a:xfrm>
            <a:off x="6938551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(AI)</a:t>
            </a:r>
            <a:endParaRPr lang="en-US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211DC969-3244-EA71-5720-BA2C1AAF022E}"/>
              </a:ext>
            </a:extLst>
          </p:cNvPr>
          <p:cNvSpPr/>
          <p:nvPr/>
        </p:nvSpPr>
        <p:spPr>
          <a:xfrm>
            <a:off x="6920263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4EE1F258-DB54-3BAE-EB90-2AC875F9C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087" y="2611717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B2A6D0FE-F5FB-D0D6-6079-14B7DEC248CE}"/>
              </a:ext>
            </a:extLst>
          </p:cNvPr>
          <p:cNvSpPr/>
          <p:nvPr/>
        </p:nvSpPr>
        <p:spPr>
          <a:xfrm>
            <a:off x="8767351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297088A8-1EA8-EC8D-A6B9-5779509AE2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4823" y="2520277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9C3F010B-3856-5F04-8E3C-868D37C4C0AA}"/>
              </a:ext>
            </a:extLst>
          </p:cNvPr>
          <p:cNvSpPr/>
          <p:nvPr/>
        </p:nvSpPr>
        <p:spPr>
          <a:xfrm>
            <a:off x="8657623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A44B9DE0-EEFD-7CD7-2676-E17F5D469D24}"/>
              </a:ext>
            </a:extLst>
          </p:cNvPr>
          <p:cNvSpPr/>
          <p:nvPr/>
        </p:nvSpPr>
        <p:spPr>
          <a:xfrm>
            <a:off x="8639335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19727760-8705-1AA9-09D0-915AFA8C1E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56623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87B52E17-AF15-1556-1EA3-118C275E6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5641" y="2532005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42AA5D48-3934-4437-D743-AABAD70EFD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8884" y="2535947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658EB652-276D-F09A-D7B5-23A3FAB842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344" y="2523744"/>
            <a:ext cx="417157" cy="417157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3637564" y="4292527"/>
            <a:ext cx="10336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i="0" noProof="0" dirty="0">
                <a:solidFill>
                  <a:srgbClr val="0D9488"/>
                </a:solidFill>
              </a:rPr>
              <a:t>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310216" y="4403271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1" noProof="0" dirty="0" err="1">
                <a:solidFill>
                  <a:srgbClr val="14B8A6"/>
                </a:solidFill>
              </a:rPr>
              <a:t>etrieval</a:t>
            </a:r>
            <a:endParaRPr lang="en-US" sz="1600" b="0" i="1" noProof="0" dirty="0">
              <a:solidFill>
                <a:srgbClr val="14B8A6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4964981" y="4348344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i="0" noProof="0" dirty="0">
                <a:solidFill>
                  <a:srgbClr val="F59E0B"/>
                </a:solidFill>
              </a:rPr>
              <a:t>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681495" y="4382861"/>
            <a:ext cx="1298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1" noProof="0" dirty="0" err="1">
                <a:solidFill>
                  <a:srgbClr val="F59E0B"/>
                </a:solidFill>
              </a:rPr>
              <a:t>ugmented</a:t>
            </a:r>
            <a:endParaRPr lang="en-US" sz="1600" b="0" i="1" noProof="0" dirty="0">
              <a:solidFill>
                <a:srgbClr val="F59E0B"/>
              </a:solidFill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426099" y="4389771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i="0" noProof="0" dirty="0">
                <a:solidFill>
                  <a:srgbClr val="EF4444"/>
                </a:solidFill>
              </a:rPr>
              <a:t>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00944" y="4403271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1" noProof="0" dirty="0" err="1">
                <a:solidFill>
                  <a:srgbClr val="EF4444"/>
                </a:solidFill>
              </a:rPr>
              <a:t>eneration</a:t>
            </a:r>
            <a:endParaRPr lang="en-US" sz="1600" b="0" i="1" noProof="0" dirty="0">
              <a:solidFill>
                <a:srgbClr val="EF4444"/>
              </a:solidFill>
            </a:endParaRPr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4377E528-74C2-10B4-B777-42F4E34A8B44}"/>
              </a:ext>
            </a:extLst>
          </p:cNvPr>
          <p:cNvSpPr/>
          <p:nvPr/>
        </p:nvSpPr>
        <p:spPr>
          <a:xfrm>
            <a:off x="3299240" y="1952424"/>
            <a:ext cx="5233032" cy="2156117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33ACF4-D561-BB7F-CBE8-8AABF4A8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6590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10FAC-5EFE-45D6-B3A4-43220EBE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A4B5-A2A2-DC04-78B8-63FD66DA3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Why RAG , not just standard ChatGPT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71609689-8885-4F85-BAA1-AD66C9B0483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4300E70-3F4A-195B-F0C7-9EB64627DE28}"/>
              </a:ext>
            </a:extLst>
          </p:cNvPr>
          <p:cNvSpPr/>
          <p:nvPr/>
        </p:nvSpPr>
        <p:spPr>
          <a:xfrm>
            <a:off x="1254548" y="901271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D40BA2-D6A8-F488-1EFC-3A995CA9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31A7519-5666-F2A3-CC94-A5DB97879FA1}"/>
              </a:ext>
            </a:extLst>
          </p:cNvPr>
          <p:cNvSpPr/>
          <p:nvPr/>
        </p:nvSpPr>
        <p:spPr>
          <a:xfrm>
            <a:off x="431804" y="1193607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Without RAG the model invents. With RAG, every answer is grounded in real STM32 documents.</a:t>
            </a:r>
            <a:endParaRPr lang="en-US" sz="13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9" name="Shape 4">
            <a:extLst>
              <a:ext uri="{FF2B5EF4-FFF2-40B4-BE49-F238E27FC236}">
                <a16:creationId xmlns:a16="http://schemas.microsoft.com/office/drawing/2014/main" id="{0ABA53A5-492C-4D0E-48F3-BE091562AB4E}"/>
              </a:ext>
            </a:extLst>
          </p:cNvPr>
          <p:cNvSpPr/>
          <p:nvPr/>
        </p:nvSpPr>
        <p:spPr>
          <a:xfrm>
            <a:off x="588834" y="1683012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11" name="Shape 5">
            <a:extLst>
              <a:ext uri="{FF2B5EF4-FFF2-40B4-BE49-F238E27FC236}">
                <a16:creationId xmlns:a16="http://schemas.microsoft.com/office/drawing/2014/main" id="{B5908588-9E59-4E46-F799-C1A7D266557F}"/>
              </a:ext>
            </a:extLst>
          </p:cNvPr>
          <p:cNvSpPr/>
          <p:nvPr/>
        </p:nvSpPr>
        <p:spPr>
          <a:xfrm>
            <a:off x="725994" y="18201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3" name="Text 6">
            <a:extLst>
              <a:ext uri="{FF2B5EF4-FFF2-40B4-BE49-F238E27FC236}">
                <a16:creationId xmlns:a16="http://schemas.microsoft.com/office/drawing/2014/main" id="{C031CF7C-5864-A6E4-D118-B3B562F6A62A}"/>
              </a:ext>
            </a:extLst>
          </p:cNvPr>
          <p:cNvSpPr/>
          <p:nvPr/>
        </p:nvSpPr>
        <p:spPr>
          <a:xfrm>
            <a:off x="725994" y="1820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15" name="Text 7">
            <a:extLst>
              <a:ext uri="{FF2B5EF4-FFF2-40B4-BE49-F238E27FC236}">
                <a16:creationId xmlns:a16="http://schemas.microsoft.com/office/drawing/2014/main" id="{2B8DB9A6-F86E-54A5-E299-F4324A8E3EEE}"/>
              </a:ext>
            </a:extLst>
          </p:cNvPr>
          <p:cNvSpPr/>
          <p:nvPr/>
        </p:nvSpPr>
        <p:spPr>
          <a:xfrm>
            <a:off x="1137474" y="18201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ask</a:t>
            </a:r>
            <a:endParaRPr lang="en-US" sz="1200" dirty="0"/>
          </a:p>
        </p:txBody>
      </p:sp>
      <p:sp>
        <p:nvSpPr>
          <p:cNvPr id="217" name="Text 8">
            <a:extLst>
              <a:ext uri="{FF2B5EF4-FFF2-40B4-BE49-F238E27FC236}">
                <a16:creationId xmlns:a16="http://schemas.microsoft.com/office/drawing/2014/main" id="{47DEEDF3-D5BF-0125-A774-69AAFE4367D9}"/>
              </a:ext>
            </a:extLst>
          </p:cNvPr>
          <p:cNvSpPr/>
          <p:nvPr/>
        </p:nvSpPr>
        <p:spPr>
          <a:xfrm>
            <a:off x="725994" y="22316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does my STM32H7 DMA give wrong values after cache is enabled?"</a:t>
            </a:r>
            <a:endParaRPr lang="en-US" sz="1000" dirty="0"/>
          </a:p>
        </p:txBody>
      </p:sp>
      <p:sp>
        <p:nvSpPr>
          <p:cNvPr id="219" name="Shape 9">
            <a:extLst>
              <a:ext uri="{FF2B5EF4-FFF2-40B4-BE49-F238E27FC236}">
                <a16:creationId xmlns:a16="http://schemas.microsoft.com/office/drawing/2014/main" id="{8A721035-BF1E-B524-A7E3-A9C2B29A66D9}"/>
              </a:ext>
            </a:extLst>
          </p:cNvPr>
          <p:cNvSpPr/>
          <p:nvPr/>
        </p:nvSpPr>
        <p:spPr>
          <a:xfrm>
            <a:off x="3423474" y="1683012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1" name="Shape 10">
            <a:extLst>
              <a:ext uri="{FF2B5EF4-FFF2-40B4-BE49-F238E27FC236}">
                <a16:creationId xmlns:a16="http://schemas.microsoft.com/office/drawing/2014/main" id="{869BB9D2-CFDC-327E-F3A5-E9737A2439CF}"/>
              </a:ext>
            </a:extLst>
          </p:cNvPr>
          <p:cNvSpPr/>
          <p:nvPr/>
        </p:nvSpPr>
        <p:spPr>
          <a:xfrm>
            <a:off x="3560634" y="18201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3" name="Text 11">
            <a:extLst>
              <a:ext uri="{FF2B5EF4-FFF2-40B4-BE49-F238E27FC236}">
                <a16:creationId xmlns:a16="http://schemas.microsoft.com/office/drawing/2014/main" id="{5336A511-0781-D599-F58A-A55CF07F9166}"/>
              </a:ext>
            </a:extLst>
          </p:cNvPr>
          <p:cNvSpPr/>
          <p:nvPr/>
        </p:nvSpPr>
        <p:spPr>
          <a:xfrm>
            <a:off x="3560634" y="1820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25" name="Text 12">
            <a:extLst>
              <a:ext uri="{FF2B5EF4-FFF2-40B4-BE49-F238E27FC236}">
                <a16:creationId xmlns:a16="http://schemas.microsoft.com/office/drawing/2014/main" id="{70803CC8-5773-3335-98EA-87D9459911D9}"/>
              </a:ext>
            </a:extLst>
          </p:cNvPr>
          <p:cNvSpPr/>
          <p:nvPr/>
        </p:nvSpPr>
        <p:spPr>
          <a:xfrm>
            <a:off x="3972114" y="18201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searches</a:t>
            </a:r>
            <a:endParaRPr lang="en-US" sz="1200" dirty="0"/>
          </a:p>
        </p:txBody>
      </p:sp>
      <p:sp>
        <p:nvSpPr>
          <p:cNvPr id="227" name="Text 13">
            <a:extLst>
              <a:ext uri="{FF2B5EF4-FFF2-40B4-BE49-F238E27FC236}">
                <a16:creationId xmlns:a16="http://schemas.microsoft.com/office/drawing/2014/main" id="{E15130C7-96A3-ACA2-809F-23B2F9B67F9E}"/>
              </a:ext>
            </a:extLst>
          </p:cNvPr>
          <p:cNvSpPr/>
          <p:nvPr/>
        </p:nvSpPr>
        <p:spPr>
          <a:xfrm>
            <a:off x="3560634" y="22316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3 most relevant passages in STM32 documents</a:t>
            </a:r>
            <a:endParaRPr lang="en-US" sz="1000" dirty="0"/>
          </a:p>
        </p:txBody>
      </p:sp>
      <p:sp>
        <p:nvSpPr>
          <p:cNvPr id="229" name="Shape 14">
            <a:extLst>
              <a:ext uri="{FF2B5EF4-FFF2-40B4-BE49-F238E27FC236}">
                <a16:creationId xmlns:a16="http://schemas.microsoft.com/office/drawing/2014/main" id="{46429EA2-391B-82DA-7686-475262DA934A}"/>
              </a:ext>
            </a:extLst>
          </p:cNvPr>
          <p:cNvSpPr/>
          <p:nvPr/>
        </p:nvSpPr>
        <p:spPr>
          <a:xfrm>
            <a:off x="6258114" y="1683012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1" name="Shape 15">
            <a:extLst>
              <a:ext uri="{FF2B5EF4-FFF2-40B4-BE49-F238E27FC236}">
                <a16:creationId xmlns:a16="http://schemas.microsoft.com/office/drawing/2014/main" id="{85A70082-956C-552C-3CA0-9BAB9E2F750D}"/>
              </a:ext>
            </a:extLst>
          </p:cNvPr>
          <p:cNvSpPr/>
          <p:nvPr/>
        </p:nvSpPr>
        <p:spPr>
          <a:xfrm>
            <a:off x="6395274" y="18201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3" name="Text 16">
            <a:extLst>
              <a:ext uri="{FF2B5EF4-FFF2-40B4-BE49-F238E27FC236}">
                <a16:creationId xmlns:a16="http://schemas.microsoft.com/office/drawing/2014/main" id="{B7C1DC84-0071-CC20-1532-62941E61ACF2}"/>
              </a:ext>
            </a:extLst>
          </p:cNvPr>
          <p:cNvSpPr/>
          <p:nvPr/>
        </p:nvSpPr>
        <p:spPr>
          <a:xfrm>
            <a:off x="6395274" y="1820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5" name="Text 17">
            <a:extLst>
              <a:ext uri="{FF2B5EF4-FFF2-40B4-BE49-F238E27FC236}">
                <a16:creationId xmlns:a16="http://schemas.microsoft.com/office/drawing/2014/main" id="{04F45200-7EC1-C4AC-CBD3-C31BC249232E}"/>
              </a:ext>
            </a:extLst>
          </p:cNvPr>
          <p:cNvSpPr/>
          <p:nvPr/>
        </p:nvSpPr>
        <p:spPr>
          <a:xfrm>
            <a:off x="6806754" y="18201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injects</a:t>
            </a:r>
            <a:endParaRPr lang="en-US" sz="1200" dirty="0"/>
          </a:p>
        </p:txBody>
      </p:sp>
      <p:sp>
        <p:nvSpPr>
          <p:cNvPr id="237" name="Text 18">
            <a:extLst>
              <a:ext uri="{FF2B5EF4-FFF2-40B4-BE49-F238E27FC236}">
                <a16:creationId xmlns:a16="http://schemas.microsoft.com/office/drawing/2014/main" id="{DFFEC47D-7B87-F06F-C572-FC5BC72FE9A8}"/>
              </a:ext>
            </a:extLst>
          </p:cNvPr>
          <p:cNvSpPr/>
          <p:nvPr/>
        </p:nvSpPr>
        <p:spPr>
          <a:xfrm>
            <a:off x="6395274" y="22316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those passages to the AI as augmented context</a:t>
            </a:r>
            <a:endParaRPr lang="en-US" sz="1000" dirty="0"/>
          </a:p>
        </p:txBody>
      </p:sp>
      <p:sp>
        <p:nvSpPr>
          <p:cNvPr id="239" name="Shape 19">
            <a:extLst>
              <a:ext uri="{FF2B5EF4-FFF2-40B4-BE49-F238E27FC236}">
                <a16:creationId xmlns:a16="http://schemas.microsoft.com/office/drawing/2014/main" id="{37D3EFEF-21EB-9D22-8FD4-07F30FAB453A}"/>
              </a:ext>
            </a:extLst>
          </p:cNvPr>
          <p:cNvSpPr/>
          <p:nvPr/>
        </p:nvSpPr>
        <p:spPr>
          <a:xfrm>
            <a:off x="9092754" y="1683012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1" name="Shape 20">
            <a:extLst>
              <a:ext uri="{FF2B5EF4-FFF2-40B4-BE49-F238E27FC236}">
                <a16:creationId xmlns:a16="http://schemas.microsoft.com/office/drawing/2014/main" id="{54D34DA0-0E76-00B8-35F6-6DAAF1CEA7E0}"/>
              </a:ext>
            </a:extLst>
          </p:cNvPr>
          <p:cNvSpPr/>
          <p:nvPr/>
        </p:nvSpPr>
        <p:spPr>
          <a:xfrm>
            <a:off x="9229914" y="18201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3" name="Text 21">
            <a:extLst>
              <a:ext uri="{FF2B5EF4-FFF2-40B4-BE49-F238E27FC236}">
                <a16:creationId xmlns:a16="http://schemas.microsoft.com/office/drawing/2014/main" id="{A09514CC-D0AC-A7B6-983C-61B9C5324946}"/>
              </a:ext>
            </a:extLst>
          </p:cNvPr>
          <p:cNvSpPr/>
          <p:nvPr/>
        </p:nvSpPr>
        <p:spPr>
          <a:xfrm>
            <a:off x="9229914" y="1820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5" name="Text 22">
            <a:extLst>
              <a:ext uri="{FF2B5EF4-FFF2-40B4-BE49-F238E27FC236}">
                <a16:creationId xmlns:a16="http://schemas.microsoft.com/office/drawing/2014/main" id="{A3FA49F1-DB77-3317-7EF9-F3A7EDBA3789}"/>
              </a:ext>
            </a:extLst>
          </p:cNvPr>
          <p:cNvSpPr/>
          <p:nvPr/>
        </p:nvSpPr>
        <p:spPr>
          <a:xfrm>
            <a:off x="9641394" y="18201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answers</a:t>
            </a:r>
            <a:endParaRPr lang="en-US" sz="1200" dirty="0"/>
          </a:p>
        </p:txBody>
      </p:sp>
      <p:sp>
        <p:nvSpPr>
          <p:cNvPr id="247" name="Text 23">
            <a:extLst>
              <a:ext uri="{FF2B5EF4-FFF2-40B4-BE49-F238E27FC236}">
                <a16:creationId xmlns:a16="http://schemas.microsoft.com/office/drawing/2014/main" id="{AB8CAD35-7CF8-729E-6B39-33C217E8BF7B}"/>
              </a:ext>
            </a:extLst>
          </p:cNvPr>
          <p:cNvSpPr/>
          <p:nvPr/>
        </p:nvSpPr>
        <p:spPr>
          <a:xfrm>
            <a:off x="9229914" y="22316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answer with source: Issue #1234, PR #456</a:t>
            </a:r>
            <a:endParaRPr lang="en-US" sz="1000" dirty="0"/>
          </a:p>
        </p:txBody>
      </p:sp>
      <p:sp>
        <p:nvSpPr>
          <p:cNvPr id="249" name="Shape 24">
            <a:extLst>
              <a:ext uri="{FF2B5EF4-FFF2-40B4-BE49-F238E27FC236}">
                <a16:creationId xmlns:a16="http://schemas.microsoft.com/office/drawing/2014/main" id="{154F1276-B13D-AD64-B812-673B9EC4BEAC}"/>
              </a:ext>
            </a:extLst>
          </p:cNvPr>
          <p:cNvSpPr/>
          <p:nvPr/>
        </p:nvSpPr>
        <p:spPr>
          <a:xfrm>
            <a:off x="3423474" y="2368812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251" name="Shape 25">
            <a:extLst>
              <a:ext uri="{FF2B5EF4-FFF2-40B4-BE49-F238E27FC236}">
                <a16:creationId xmlns:a16="http://schemas.microsoft.com/office/drawing/2014/main" id="{9B4D8730-138F-9F82-1104-F06A5C7E7B92}"/>
              </a:ext>
            </a:extLst>
          </p:cNvPr>
          <p:cNvSpPr/>
          <p:nvPr/>
        </p:nvSpPr>
        <p:spPr>
          <a:xfrm>
            <a:off x="6258114" y="2368812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253" name="Shape 26">
            <a:extLst>
              <a:ext uri="{FF2B5EF4-FFF2-40B4-BE49-F238E27FC236}">
                <a16:creationId xmlns:a16="http://schemas.microsoft.com/office/drawing/2014/main" id="{816ADB59-40BB-6B60-B34B-776AF34523EE}"/>
              </a:ext>
            </a:extLst>
          </p:cNvPr>
          <p:cNvSpPr/>
          <p:nvPr/>
        </p:nvSpPr>
        <p:spPr>
          <a:xfrm>
            <a:off x="9092754" y="2368812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255" name="Shape 27">
            <a:extLst>
              <a:ext uri="{FF2B5EF4-FFF2-40B4-BE49-F238E27FC236}">
                <a16:creationId xmlns:a16="http://schemas.microsoft.com/office/drawing/2014/main" id="{C4B96512-8A51-B51E-6CA4-F2E00BE452FA}"/>
              </a:ext>
            </a:extLst>
          </p:cNvPr>
          <p:cNvSpPr/>
          <p:nvPr/>
        </p:nvSpPr>
        <p:spPr>
          <a:xfrm>
            <a:off x="588834" y="3237492"/>
            <a:ext cx="5577840" cy="2148840"/>
          </a:xfrm>
          <a:prstGeom prst="roundRect">
            <a:avLst>
              <a:gd name="adj" fmla="val 2540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57" name="Text 28">
            <a:extLst>
              <a:ext uri="{FF2B5EF4-FFF2-40B4-BE49-F238E27FC236}">
                <a16:creationId xmlns:a16="http://schemas.microsoft.com/office/drawing/2014/main" id="{DA3EFB01-F43A-8B4E-FF52-BA5706043F5F}"/>
              </a:ext>
            </a:extLst>
          </p:cNvPr>
          <p:cNvSpPr/>
          <p:nvPr/>
        </p:nvSpPr>
        <p:spPr>
          <a:xfrm>
            <a:off x="817434" y="33746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ChatGPT</a:t>
            </a:r>
            <a:endParaRPr lang="en-US" sz="1500" dirty="0"/>
          </a:p>
        </p:txBody>
      </p:sp>
      <p:sp>
        <p:nvSpPr>
          <p:cNvPr id="259" name="Text 29">
            <a:extLst>
              <a:ext uri="{FF2B5EF4-FFF2-40B4-BE49-F238E27FC236}">
                <a16:creationId xmlns:a16="http://schemas.microsoft.com/office/drawing/2014/main" id="{A2C79E4B-5C8A-1575-11E6-9E95B3E8BD8B}"/>
              </a:ext>
            </a:extLst>
          </p:cNvPr>
          <p:cNvSpPr/>
          <p:nvPr/>
        </p:nvSpPr>
        <p:spPr>
          <a:xfrm>
            <a:off x="817434" y="3786132"/>
            <a:ext cx="5166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generic internet data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knowledge of your STM32 project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plausible-sounding answers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cite the source of its answer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for technical support</a:t>
            </a:r>
            <a:endParaRPr lang="en-US" sz="1100" dirty="0"/>
          </a:p>
        </p:txBody>
      </p:sp>
      <p:sp>
        <p:nvSpPr>
          <p:cNvPr id="261" name="Shape 30">
            <a:extLst>
              <a:ext uri="{FF2B5EF4-FFF2-40B4-BE49-F238E27FC236}">
                <a16:creationId xmlns:a16="http://schemas.microsoft.com/office/drawing/2014/main" id="{4E22CFC1-83B4-F3F4-8FA0-87F2EAF5224C}"/>
              </a:ext>
            </a:extLst>
          </p:cNvPr>
          <p:cNvSpPr/>
          <p:nvPr/>
        </p:nvSpPr>
        <p:spPr>
          <a:xfrm>
            <a:off x="6349554" y="3237492"/>
            <a:ext cx="5577840" cy="2148839"/>
          </a:xfrm>
          <a:prstGeom prst="roundRect">
            <a:avLst>
              <a:gd name="adj" fmla="val 2540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63" name="Text 31">
            <a:extLst>
              <a:ext uri="{FF2B5EF4-FFF2-40B4-BE49-F238E27FC236}">
                <a16:creationId xmlns:a16="http://schemas.microsoft.com/office/drawing/2014/main" id="{E0D22308-8BE3-E76B-F981-9AE54C93F64A}"/>
              </a:ext>
            </a:extLst>
          </p:cNvPr>
          <p:cNvSpPr/>
          <p:nvPr/>
        </p:nvSpPr>
        <p:spPr>
          <a:xfrm>
            <a:off x="6578154" y="33746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 ChatGPT with RAG</a:t>
            </a:r>
            <a:endParaRPr lang="en-US" sz="1500" dirty="0"/>
          </a:p>
        </p:txBody>
      </p:sp>
      <p:sp>
        <p:nvSpPr>
          <p:cNvPr id="265" name="Text 32">
            <a:extLst>
              <a:ext uri="{FF2B5EF4-FFF2-40B4-BE49-F238E27FC236}">
                <a16:creationId xmlns:a16="http://schemas.microsoft.com/office/drawing/2014/main" id="{6CAC1BEF-DFBB-E2EF-6B21-00A12C2D3A5D}"/>
              </a:ext>
            </a:extLst>
          </p:cNvPr>
          <p:cNvSpPr/>
          <p:nvPr/>
        </p:nvSpPr>
        <p:spPr>
          <a:xfrm>
            <a:off x="6578154" y="3786132"/>
            <a:ext cx="5166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real STM32 data (issues, docs, fixes)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your exact project context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built from retrieved passages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cites the source (issue / PR / doc)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for technical support teams</a:t>
            </a:r>
            <a:endParaRPr lang="en-US" sz="1100" dirty="0"/>
          </a:p>
        </p:txBody>
      </p:sp>
      <p:sp>
        <p:nvSpPr>
          <p:cNvPr id="267" name="Shape 33">
            <a:extLst>
              <a:ext uri="{FF2B5EF4-FFF2-40B4-BE49-F238E27FC236}">
                <a16:creationId xmlns:a16="http://schemas.microsoft.com/office/drawing/2014/main" id="{8FDFB3E0-DA8A-9EBD-6EF7-1AAF620122EB}"/>
              </a:ext>
            </a:extLst>
          </p:cNvPr>
          <p:cNvSpPr/>
          <p:nvPr/>
        </p:nvSpPr>
        <p:spPr>
          <a:xfrm>
            <a:off x="5979608" y="4426212"/>
            <a:ext cx="457200" cy="457200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9" name="Text 34">
            <a:extLst>
              <a:ext uri="{FF2B5EF4-FFF2-40B4-BE49-F238E27FC236}">
                <a16:creationId xmlns:a16="http://schemas.microsoft.com/office/drawing/2014/main" id="{7C194E8D-E58A-55E2-B435-59C5107F1ABE}"/>
              </a:ext>
            </a:extLst>
          </p:cNvPr>
          <p:cNvSpPr/>
          <p:nvPr/>
        </p:nvSpPr>
        <p:spPr>
          <a:xfrm>
            <a:off x="5979608" y="44262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100" dirty="0"/>
          </a:p>
        </p:txBody>
      </p:sp>
      <p:sp>
        <p:nvSpPr>
          <p:cNvPr id="271" name="Text 35">
            <a:extLst>
              <a:ext uri="{FF2B5EF4-FFF2-40B4-BE49-F238E27FC236}">
                <a16:creationId xmlns:a16="http://schemas.microsoft.com/office/drawing/2014/main" id="{06B05FF4-A266-4DA1-5BB4-6C26317D1ECA}"/>
              </a:ext>
            </a:extLst>
          </p:cNvPr>
          <p:cNvSpPr/>
          <p:nvPr/>
        </p:nvSpPr>
        <p:spPr>
          <a:xfrm>
            <a:off x="767528" y="5675729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= Retrieval-Augmented Generation.  The engine retrieves before the LLM generates.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58273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635F5-4B85-1B49-A46F-94F92FD9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FBA2C-9428-0411-A71C-BAA4E7475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910165"/>
          </a:xfrm>
        </p:spPr>
        <p:txBody>
          <a:bodyPr/>
          <a:lstStyle/>
          <a:p>
            <a:r>
              <a:rPr lang="en-US" sz="1800" b="1" noProof="0"/>
              <a:t>Existing Platform Constraints</a:t>
            </a:r>
            <a:endParaRPr lang="en-US" sz="1800" b="1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0B129508-EFA0-CD46-A001-C25BD1F438C6}"/>
              </a:ext>
            </a:extLst>
          </p:cNvPr>
          <p:cNvSpPr/>
          <p:nvPr/>
        </p:nvSpPr>
        <p:spPr>
          <a:xfrm>
            <a:off x="3380661" y="870785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47875-602D-0DAA-7991-F8B8E6F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C76AFA-37F2-C157-674A-501A8EE1889F}"/>
              </a:ext>
            </a:extLst>
          </p:cNvPr>
          <p:cNvSpPr txBox="1"/>
          <p:nvPr/>
        </p:nvSpPr>
        <p:spPr>
          <a:xfrm>
            <a:off x="674834" y="1030492"/>
            <a:ext cx="62722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We adapt to the platform,  we don't redesign it </a:t>
            </a: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BE4F0055-0392-3200-E383-6A319C36729D}"/>
              </a:ext>
            </a:extLst>
          </p:cNvPr>
          <p:cNvSpPr/>
          <p:nvPr/>
        </p:nvSpPr>
        <p:spPr>
          <a:xfrm>
            <a:off x="866714" y="1362751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ST ChatGPT's retrieval engine is a given. Its settings dictate what a 'good' document looks like.</a:t>
            </a:r>
            <a:endParaRPr lang="en-US" sz="13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2526253-848C-2457-5D3A-B6A966D74560}"/>
              </a:ext>
            </a:extLst>
          </p:cNvPr>
          <p:cNvSpPr/>
          <p:nvPr/>
        </p:nvSpPr>
        <p:spPr>
          <a:xfrm>
            <a:off x="546021" y="184557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A303DD4-6ABE-F70D-B5AF-904AFFE14E8C}"/>
              </a:ext>
            </a:extLst>
          </p:cNvPr>
          <p:cNvSpPr/>
          <p:nvPr/>
        </p:nvSpPr>
        <p:spPr>
          <a:xfrm>
            <a:off x="728901" y="198273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chunkStrategy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6EC10DA-E248-7BC3-7735-0665D5A1F056}"/>
              </a:ext>
            </a:extLst>
          </p:cNvPr>
          <p:cNvSpPr/>
          <p:nvPr/>
        </p:nvSpPr>
        <p:spPr>
          <a:xfrm>
            <a:off x="728901" y="230277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PARENT_CHILD</a:t>
            </a:r>
            <a:endParaRPr lang="en-US" sz="2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B15A9E2-CD12-7580-DFBD-5FEF2124F0F9}"/>
              </a:ext>
            </a:extLst>
          </p:cNvPr>
          <p:cNvSpPr/>
          <p:nvPr/>
        </p:nvSpPr>
        <p:spPr>
          <a:xfrm>
            <a:off x="728901" y="285141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Small-to-big retrieval</a:t>
            </a:r>
            <a:endParaRPr lang="en-US" sz="10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BD266485-5175-9450-4922-522F7369E0DA}"/>
              </a:ext>
            </a:extLst>
          </p:cNvPr>
          <p:cNvSpPr/>
          <p:nvPr/>
        </p:nvSpPr>
        <p:spPr>
          <a:xfrm>
            <a:off x="4340781" y="184557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63423DE2-C2A0-D33E-3144-1E95008F2CDD}"/>
              </a:ext>
            </a:extLst>
          </p:cNvPr>
          <p:cNvSpPr/>
          <p:nvPr/>
        </p:nvSpPr>
        <p:spPr>
          <a:xfrm>
            <a:off x="4523661" y="198273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childChunkSize</a:t>
            </a:r>
            <a:endParaRPr lang="en-US" sz="11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0329AFC-6A2F-00EC-EB4D-D31667685915}"/>
              </a:ext>
            </a:extLst>
          </p:cNvPr>
          <p:cNvSpPr/>
          <p:nvPr/>
        </p:nvSpPr>
        <p:spPr>
          <a:xfrm>
            <a:off x="4523661" y="230277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</a:t>
            </a:r>
            <a:endParaRPr lang="en-US" sz="26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B1DC4538-02D7-373A-F95D-23C6E678DEA2}"/>
              </a:ext>
            </a:extLst>
          </p:cNvPr>
          <p:cNvSpPr/>
          <p:nvPr/>
        </p:nvSpPr>
        <p:spPr>
          <a:xfrm>
            <a:off x="4523661" y="285141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· indexed</a:t>
            </a:r>
            <a:endParaRPr lang="en-US" sz="10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1B03158A-3F67-FB91-BC08-413466BF18C0}"/>
              </a:ext>
            </a:extLst>
          </p:cNvPr>
          <p:cNvSpPr/>
          <p:nvPr/>
        </p:nvSpPr>
        <p:spPr>
          <a:xfrm>
            <a:off x="8135541" y="184557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841636C9-E642-CCF8-DA62-09535BB83803}"/>
              </a:ext>
            </a:extLst>
          </p:cNvPr>
          <p:cNvSpPr/>
          <p:nvPr/>
        </p:nvSpPr>
        <p:spPr>
          <a:xfrm>
            <a:off x="8318421" y="198273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parentChunkSize</a:t>
            </a:r>
            <a:endParaRPr lang="en-US" sz="11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14CEA4EC-C2C7-4D48-C353-654A198D5837}"/>
              </a:ext>
            </a:extLst>
          </p:cNvPr>
          <p:cNvSpPr/>
          <p:nvPr/>
        </p:nvSpPr>
        <p:spPr>
          <a:xfrm>
            <a:off x="8318421" y="230277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3 000</a:t>
            </a:r>
            <a:endParaRPr lang="en-US" sz="26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43C71A5F-E07F-4D92-BF64-BF126DC2E6B7}"/>
              </a:ext>
            </a:extLst>
          </p:cNvPr>
          <p:cNvSpPr/>
          <p:nvPr/>
        </p:nvSpPr>
        <p:spPr>
          <a:xfrm>
            <a:off x="8318421" y="285141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· restored context</a:t>
            </a:r>
            <a:endParaRPr lang="en-US" sz="10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52AB0DF2-1010-EC3E-A588-ACA785BFA2F9}"/>
              </a:ext>
            </a:extLst>
          </p:cNvPr>
          <p:cNvSpPr/>
          <p:nvPr/>
        </p:nvSpPr>
        <p:spPr>
          <a:xfrm>
            <a:off x="546021" y="335433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315EBD4C-7FAD-B79A-B0D5-DC267DBD11E3}"/>
              </a:ext>
            </a:extLst>
          </p:cNvPr>
          <p:cNvSpPr/>
          <p:nvPr/>
        </p:nvSpPr>
        <p:spPr>
          <a:xfrm>
            <a:off x="728901" y="349149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1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E477A12E-9ECE-2B98-F6C0-1D0EC1FE2086}"/>
              </a:ext>
            </a:extLst>
          </p:cNvPr>
          <p:cNvSpPr/>
          <p:nvPr/>
        </p:nvSpPr>
        <p:spPr>
          <a:xfrm>
            <a:off x="728901" y="381153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AdaV2</a:t>
            </a:r>
            <a:endParaRPr lang="en-US" sz="26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933B993C-93AB-BBBA-435C-61089EAE11C8}"/>
              </a:ext>
            </a:extLst>
          </p:cNvPr>
          <p:cNvSpPr/>
          <p:nvPr/>
        </p:nvSpPr>
        <p:spPr>
          <a:xfrm>
            <a:off x="728901" y="436017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1536-dim vectors</a:t>
            </a:r>
            <a:endParaRPr lang="en-US" sz="1000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905AE459-0FA9-19C1-97E7-3860FA91F6A6}"/>
              </a:ext>
            </a:extLst>
          </p:cNvPr>
          <p:cNvSpPr/>
          <p:nvPr/>
        </p:nvSpPr>
        <p:spPr>
          <a:xfrm>
            <a:off x="4340781" y="335433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2D4714D4-7117-DCE8-FAB2-A2C867A9E1DF}"/>
              </a:ext>
            </a:extLst>
          </p:cNvPr>
          <p:cNvSpPr/>
          <p:nvPr/>
        </p:nvSpPr>
        <p:spPr>
          <a:xfrm>
            <a:off x="4523661" y="349149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jobBatchSize</a:t>
            </a:r>
            <a:endParaRPr lang="en-US" sz="11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101B42EC-4E42-5813-308D-F6B27E3D618C}"/>
              </a:ext>
            </a:extLst>
          </p:cNvPr>
          <p:cNvSpPr/>
          <p:nvPr/>
        </p:nvSpPr>
        <p:spPr>
          <a:xfrm>
            <a:off x="4523661" y="381153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6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ECFD8934-71E9-7428-95CD-A8ACE0B978BA}"/>
              </a:ext>
            </a:extLst>
          </p:cNvPr>
          <p:cNvSpPr/>
          <p:nvPr/>
        </p:nvSpPr>
        <p:spPr>
          <a:xfrm>
            <a:off x="4523661" y="436017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per indexing job</a:t>
            </a:r>
            <a:endParaRPr lang="en-US" sz="100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14FED882-8B02-6F92-3BC3-135349AF3B24}"/>
              </a:ext>
            </a:extLst>
          </p:cNvPr>
          <p:cNvSpPr/>
          <p:nvPr/>
        </p:nvSpPr>
        <p:spPr>
          <a:xfrm>
            <a:off x="8135541" y="335433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80517FD7-DEDD-F99C-C47D-80474020F278}"/>
              </a:ext>
            </a:extLst>
          </p:cNvPr>
          <p:cNvSpPr/>
          <p:nvPr/>
        </p:nvSpPr>
        <p:spPr>
          <a:xfrm>
            <a:off x="8318421" y="349149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embeddingsBatchSize</a:t>
            </a:r>
            <a:endParaRPr lang="en-US" sz="11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C0C7414E-420A-800B-086A-2CBC2592067E}"/>
              </a:ext>
            </a:extLst>
          </p:cNvPr>
          <p:cNvSpPr/>
          <p:nvPr/>
        </p:nvSpPr>
        <p:spPr>
          <a:xfrm>
            <a:off x="8318421" y="381153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11C66E1B-49D1-5C4C-96D2-D950DB29D6CA}"/>
              </a:ext>
            </a:extLst>
          </p:cNvPr>
          <p:cNvSpPr/>
          <p:nvPr/>
        </p:nvSpPr>
        <p:spPr>
          <a:xfrm>
            <a:off x="8318421" y="436017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 per API call</a:t>
            </a:r>
            <a:endParaRPr lang="en-US" sz="1000" dirty="0"/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2890E7FE-4B8E-D63D-FD84-800B6FFBC0BF}"/>
              </a:ext>
            </a:extLst>
          </p:cNvPr>
          <p:cNvSpPr/>
          <p:nvPr/>
        </p:nvSpPr>
        <p:spPr>
          <a:xfrm>
            <a:off x="546021" y="4863093"/>
            <a:ext cx="11338560" cy="1143000"/>
          </a:xfrm>
          <a:prstGeom prst="roundRect">
            <a:avLst>
              <a:gd name="adj" fmla="val 4211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0" name="Text 29">
            <a:extLst>
              <a:ext uri="{FF2B5EF4-FFF2-40B4-BE49-F238E27FC236}">
                <a16:creationId xmlns:a16="http://schemas.microsoft.com/office/drawing/2014/main" id="{80DEE4AC-6C79-7277-855D-26E75EA42FB1}"/>
              </a:ext>
            </a:extLst>
          </p:cNvPr>
          <p:cNvSpPr/>
          <p:nvPr/>
        </p:nvSpPr>
        <p:spPr>
          <a:xfrm>
            <a:off x="774621" y="5000253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consequence</a:t>
            </a:r>
            <a:endParaRPr lang="en-US" sz="1500" dirty="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BF67BD94-2C84-F96A-F2D9-75B10EB0CCE9}"/>
              </a:ext>
            </a:extLst>
          </p:cNvPr>
          <p:cNvSpPr/>
          <p:nvPr/>
        </p:nvSpPr>
        <p:spPr>
          <a:xfrm>
            <a:off x="774621" y="5366013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exported document must be:  clean,  compact,  semantically dense,  traceable,  and stable under platform-side PARENT_CHILD chunking. These values are the project's input, not its output.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096658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EFD3E-4506-3A33-DE24-81E7F18D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1E2BF-94AC-1FA3-9482-779C6CA2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910165"/>
          </a:xfrm>
        </p:spPr>
        <p:txBody>
          <a:bodyPr/>
          <a:lstStyle/>
          <a:p>
            <a:r>
              <a:rPr lang="en-US" sz="1800" b="1" noProof="0" dirty="0"/>
              <a:t>How the Pipeline Adapts to the Existing RAG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0C850F99-C268-EDD5-8E10-AFC619BDDC8E}"/>
              </a:ext>
            </a:extLst>
          </p:cNvPr>
          <p:cNvSpPr/>
          <p:nvPr/>
        </p:nvSpPr>
        <p:spPr>
          <a:xfrm>
            <a:off x="3380661" y="747505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81A76-6C1D-5393-F465-1A06BE1C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F7F96F-B5B1-6065-999D-1398072680F9}"/>
              </a:ext>
            </a:extLst>
          </p:cNvPr>
          <p:cNvSpPr txBox="1"/>
          <p:nvPr/>
        </p:nvSpPr>
        <p:spPr>
          <a:xfrm>
            <a:off x="603397" y="895635"/>
            <a:ext cx="9983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Each platform constraint on the left maps to a concrete pipeline design decision on the right</a:t>
            </a: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D6BA5337-FEF1-F2B3-AF3E-E56C95C9D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494012"/>
              </p:ext>
            </p:extLst>
          </p:nvPr>
        </p:nvGraphicFramePr>
        <p:xfrm>
          <a:off x="477203" y="1282463"/>
          <a:ext cx="11338560" cy="4828032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constraint (fixed)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design decision (our lever)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PARENT_CHILD chunking · 1 000-char children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Discriminating terms (HAL_UART, NUCLEO-H743ZI, error codes) placed at the top of every card, guaranteed to fall inside the first child.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AdaV2 embeddings · no fine-tuning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Diagnostic Cards + query_aliases add multiple lexical phrasings so retrieval catches user reformulations.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search (semantic + full-text)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 carry both natural-language summaries (semantic) and exact API/board names (full-text) — feeding both retrieval branches.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threshold 0.55 · top-25 candidates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stage links closely-related issues offline — even if two card texts don't cross the 0.55 bar, related_issue_ids brings them together.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jobBatchSize 60 · ~57 MB per upload batch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step emits N smaller JSON parts; Upload_All_Drivers.ps1 iterates deterministically with 5-second throttle between batches.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control over ranker or re-ranker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Restrictive NovaX tool description forces KB-first routing. The tool description is a configuration parameter as critical as the threshold.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 is a black box — retrieval internals inaccessible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quality is measured OUTSIDE the platform: TF-IDF smoke tests + schema validation before every upload; QI campaigns after.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Shape 4">
            <a:extLst>
              <a:ext uri="{FF2B5EF4-FFF2-40B4-BE49-F238E27FC236}">
                <a16:creationId xmlns:a16="http://schemas.microsoft.com/office/drawing/2014/main" id="{DA27FA5F-5ED0-325C-BF5C-7E752D7E2EDE}"/>
              </a:ext>
            </a:extLst>
          </p:cNvPr>
          <p:cNvSpPr/>
          <p:nvPr/>
        </p:nvSpPr>
        <p:spPr>
          <a:xfrm>
            <a:off x="1797337" y="6220324"/>
            <a:ext cx="8978818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EEF3DA21-8264-8010-D2CD-E629B3568964}"/>
              </a:ext>
            </a:extLst>
          </p:cNvPr>
          <p:cNvSpPr/>
          <p:nvPr/>
        </p:nvSpPr>
        <p:spPr>
          <a:xfrm>
            <a:off x="1797337" y="6220324"/>
            <a:ext cx="8978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is not a workaround for the platform. It is a data-shaping layer built on top of measured platform behavior.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99904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E0F60-E556-0DB8-59F0-53E7101A6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24349303-C1D5-12C1-CA30-855C8A7F680C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3AB07B4D-2DE7-E079-672D-80070EA15577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84FD3C6D-3A77-6882-1827-8DECF6882B1E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79F1ABDF-7E3E-D762-4B9B-6B49F3BC1608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CF0EC5C7-F69E-6F1A-D545-BBDE5399E2A0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DA8EDE35-E31B-A588-F423-19C172C82F79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DD05BEC5-60CF-FD70-5E8A-C6C3A107C9B3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097A3C64-3955-63B2-C1EF-4E1DF5D99FBC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Architecture Overview </a:t>
            </a:r>
            <a:endParaRPr lang="en-US" sz="1200" noProof="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8EE3CF03-5BB4-5B67-594F-4F56DD2AA54B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92EC8B08-ACB8-8071-FFC6-3F6631D15CF2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0395CA68-7D72-1254-5B68-4EBBDA2FC4DB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323A421B-6F48-68E0-AE27-EC42D891A330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8602C26B-E653-FC77-1D2D-7A8D838141D0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42D39041-34F4-0F27-49E4-0695043C3DBC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6E2CDD37-A013-5D39-0ACC-3FF768F4DB0C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98B2E845-7FED-991C-BAE6-A1E22138FB98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F1362F8C-E748-B398-303F-2AFC05B7EBDF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The Data preprocessing pipeline and ALFRED Vision Integration </a:t>
            </a:r>
            <a:endParaRPr lang="en-US" sz="1200" noProof="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2AC54F72-2EC3-FE6D-591B-2EA7BF073176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667C3053-7728-4857-A735-834542366CF1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2A98B6FC-8049-D237-7CC1-C3D38B29416B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3919ADD9-10E5-09E4-06A0-07391204041C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A920F1CF-C381-5E1C-5DC6-12CC91CA5607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Value Proposition &amp; Impact</a:t>
            </a:r>
            <a:endParaRPr lang="en-US" sz="1200" dirty="0"/>
          </a:p>
          <a:p>
            <a:r>
              <a:rPr lang="en-US" sz="1200" b="1" noProof="0" dirty="0">
                <a:solidFill>
                  <a:srgbClr val="1B2A3B"/>
                </a:solidFill>
              </a:rPr>
              <a:t> </a:t>
            </a:r>
            <a:endParaRPr lang="en-US" sz="1200" noProof="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4C4D6C75-FB72-E70F-3CE9-FF0F6922E210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F7C2AAB9-F96C-1276-BE8B-7A6E2270EA64}"/>
              </a:ext>
            </a:extLst>
          </p:cNvPr>
          <p:cNvSpPr/>
          <p:nvPr/>
        </p:nvSpPr>
        <p:spPr>
          <a:xfrm>
            <a:off x="1758295" y="535040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E101A163-9E1C-00B4-5102-B78D08BD57A8}"/>
              </a:ext>
            </a:extLst>
          </p:cNvPr>
          <p:cNvSpPr/>
          <p:nvPr/>
        </p:nvSpPr>
        <p:spPr>
          <a:xfrm>
            <a:off x="1758295" y="535040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ABB536B5-9D41-F672-E094-69D4648D3EA1}"/>
              </a:ext>
            </a:extLst>
          </p:cNvPr>
          <p:cNvSpPr/>
          <p:nvPr/>
        </p:nvSpPr>
        <p:spPr>
          <a:xfrm>
            <a:off x="1758295" y="535040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D8DF4CD3-4A80-7412-5FC6-0DBFCC6B3967}"/>
              </a:ext>
            </a:extLst>
          </p:cNvPr>
          <p:cNvSpPr/>
          <p:nvPr/>
        </p:nvSpPr>
        <p:spPr>
          <a:xfrm>
            <a:off x="2233783" y="55607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Configuration &amp; Evaluation </a:t>
            </a:r>
            <a:endParaRPr lang="en-US" sz="1200" noProof="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C6952D65-6353-F1B8-A4A4-A8A5F858D1EB}"/>
              </a:ext>
            </a:extLst>
          </p:cNvPr>
          <p:cNvSpPr/>
          <p:nvPr/>
        </p:nvSpPr>
        <p:spPr>
          <a:xfrm>
            <a:off x="2233783" y="575273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C057E6CD-DA3F-F342-5D47-DD9FBDA8EF72}"/>
              </a:ext>
            </a:extLst>
          </p:cNvPr>
          <p:cNvSpPr/>
          <p:nvPr/>
        </p:nvSpPr>
        <p:spPr>
          <a:xfrm>
            <a:off x="6909008" y="3143994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DD918A48-E53D-DFCC-CD8D-F912496ADEDC}"/>
              </a:ext>
            </a:extLst>
          </p:cNvPr>
          <p:cNvSpPr/>
          <p:nvPr/>
        </p:nvSpPr>
        <p:spPr>
          <a:xfrm>
            <a:off x="6909008" y="3143994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D5B11625-633A-478A-0B26-C55ED8F8B653}"/>
              </a:ext>
            </a:extLst>
          </p:cNvPr>
          <p:cNvSpPr/>
          <p:nvPr/>
        </p:nvSpPr>
        <p:spPr>
          <a:xfrm>
            <a:off x="6909008" y="314399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31B5BE75-6AB2-F215-E656-5B220247C59D}"/>
              </a:ext>
            </a:extLst>
          </p:cNvPr>
          <p:cNvSpPr/>
          <p:nvPr/>
        </p:nvSpPr>
        <p:spPr>
          <a:xfrm>
            <a:off x="7384496" y="333904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Live Demo &amp; Hands-On</a:t>
            </a:r>
            <a:endParaRPr lang="en-US" sz="1200" noProof="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F40DF4FA-FF43-0C7F-38C8-8F8BC97CE975}"/>
              </a:ext>
            </a:extLst>
          </p:cNvPr>
          <p:cNvSpPr/>
          <p:nvPr/>
        </p:nvSpPr>
        <p:spPr>
          <a:xfrm>
            <a:off x="7384496" y="354633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E9488B11-72AB-2623-CC1E-62864DA7E245}"/>
              </a:ext>
            </a:extLst>
          </p:cNvPr>
          <p:cNvSpPr/>
          <p:nvPr/>
        </p:nvSpPr>
        <p:spPr>
          <a:xfrm>
            <a:off x="6909008" y="4040106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5408F17B-EABC-62BD-00CD-50BA5DBA9580}"/>
              </a:ext>
            </a:extLst>
          </p:cNvPr>
          <p:cNvSpPr/>
          <p:nvPr/>
        </p:nvSpPr>
        <p:spPr>
          <a:xfrm>
            <a:off x="6909008" y="4040106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2F2AFDA3-B695-D8E7-6E1E-34A0A61782AC}"/>
              </a:ext>
            </a:extLst>
          </p:cNvPr>
          <p:cNvSpPr/>
          <p:nvPr/>
        </p:nvSpPr>
        <p:spPr>
          <a:xfrm>
            <a:off x="6909008" y="404010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0708ED3A-9AD5-5B30-0E79-F3219AF7C922}"/>
              </a:ext>
            </a:extLst>
          </p:cNvPr>
          <p:cNvSpPr/>
          <p:nvPr/>
        </p:nvSpPr>
        <p:spPr>
          <a:xfrm>
            <a:off x="7397550" y="425956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Q&amp;A</a:t>
            </a:r>
            <a:endParaRPr lang="en-US" sz="1200" noProof="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44A41E64-1491-DBF9-0A7D-21393B74E621}"/>
              </a:ext>
            </a:extLst>
          </p:cNvPr>
          <p:cNvSpPr/>
          <p:nvPr/>
        </p:nvSpPr>
        <p:spPr>
          <a:xfrm>
            <a:off x="7384496" y="444244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467A6C-5017-1B5D-A0FB-8F5E196190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9682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DFB53-F1F7-64BF-952E-4A1E6091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ZoneTexte 153">
            <a:extLst>
              <a:ext uri="{FF2B5EF4-FFF2-40B4-BE49-F238E27FC236}">
                <a16:creationId xmlns:a16="http://schemas.microsoft.com/office/drawing/2014/main" id="{4E2951BE-D8B7-4619-150D-A5B9C4F11D37}"/>
              </a:ext>
            </a:extLst>
          </p:cNvPr>
          <p:cNvSpPr txBox="1"/>
          <p:nvPr/>
        </p:nvSpPr>
        <p:spPr>
          <a:xfrm>
            <a:off x="3538448" y="5571838"/>
            <a:ext cx="48836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noProof="0" dirty="0">
                <a:solidFill>
                  <a:srgbClr val="1B2A3B"/>
                </a:solidFill>
              </a:rPr>
              <a:t>The Internal Steps of the ST ChatGPT Platform</a:t>
            </a:r>
            <a:endParaRPr lang="en-US" sz="14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BD2AB-F36F-F3ED-78E4-58A27B0D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61D190A-B00E-7CDF-E907-21B0FA987CA3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DCDE629-FA8C-4E03-48FD-DEBA730E21E6}"/>
              </a:ext>
            </a:extLst>
          </p:cNvPr>
          <p:cNvSpPr/>
          <p:nvPr/>
        </p:nvSpPr>
        <p:spPr>
          <a:xfrm>
            <a:off x="2618730" y="100765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70A901F9-AB5A-C5DE-97AB-57AFC90284FD}"/>
              </a:ext>
            </a:extLst>
          </p:cNvPr>
          <p:cNvSpPr/>
          <p:nvPr/>
        </p:nvSpPr>
        <p:spPr>
          <a:xfrm>
            <a:off x="0" y="1533440"/>
            <a:ext cx="1115528" cy="1981142"/>
          </a:xfrm>
          <a:prstGeom prst="rect">
            <a:avLst/>
          </a:prstGeom>
          <a:solidFill>
            <a:srgbClr val="E8F7FE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6F8628D9-F511-B031-85C7-BB11A8F86CCA}"/>
              </a:ext>
            </a:extLst>
          </p:cNvPr>
          <p:cNvSpPr/>
          <p:nvPr/>
        </p:nvSpPr>
        <p:spPr>
          <a:xfrm>
            <a:off x="0" y="1533440"/>
            <a:ext cx="11155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CD74DB2F-FDAE-38EC-0E95-E03BF7DD5039}"/>
              </a:ext>
            </a:extLst>
          </p:cNvPr>
          <p:cNvSpPr/>
          <p:nvPr/>
        </p:nvSpPr>
        <p:spPr>
          <a:xfrm>
            <a:off x="0" y="153344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8660898D-9D32-D198-50B5-ED064C05A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17" y="1601333"/>
            <a:ext cx="329184" cy="329184"/>
          </a:xfrm>
          <a:prstGeom prst="rect">
            <a:avLst/>
          </a:prstGeom>
        </p:spPr>
      </p:pic>
      <p:sp>
        <p:nvSpPr>
          <p:cNvPr id="47" name="Text 8">
            <a:extLst>
              <a:ext uri="{FF2B5EF4-FFF2-40B4-BE49-F238E27FC236}">
                <a16:creationId xmlns:a16="http://schemas.microsoft.com/office/drawing/2014/main" id="{0955BCF8-64BE-BC79-AF99-F6EAD36F9DED}"/>
              </a:ext>
            </a:extLst>
          </p:cNvPr>
          <p:cNvSpPr/>
          <p:nvPr/>
        </p:nvSpPr>
        <p:spPr>
          <a:xfrm>
            <a:off x="81210" y="213218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CDB5AA7C-36B8-3AFE-0DE0-1EDFF72B4E58}"/>
              </a:ext>
            </a:extLst>
          </p:cNvPr>
          <p:cNvSpPr/>
          <p:nvPr/>
        </p:nvSpPr>
        <p:spPr>
          <a:xfrm>
            <a:off x="67762" y="248223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DF3252E8-C492-461F-5C8F-72A09F33A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382" y="2565889"/>
            <a:ext cx="237744" cy="237744"/>
          </a:xfrm>
          <a:prstGeom prst="rect">
            <a:avLst/>
          </a:prstGeom>
        </p:spPr>
      </p:pic>
      <p:pic>
        <p:nvPicPr>
          <p:cNvPr id="50" name="Image 3" descr="preencoded.png">
            <a:extLst>
              <a:ext uri="{FF2B5EF4-FFF2-40B4-BE49-F238E27FC236}">
                <a16:creationId xmlns:a16="http://schemas.microsoft.com/office/drawing/2014/main" id="{8964A70E-5FC7-6040-F402-5C4B40F0E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1436" y="2554314"/>
            <a:ext cx="237744" cy="237744"/>
          </a:xfrm>
          <a:prstGeom prst="rect">
            <a:avLst/>
          </a:prstGeom>
        </p:spPr>
      </p:pic>
      <p:sp>
        <p:nvSpPr>
          <p:cNvPr id="51" name="Shape 15">
            <a:extLst>
              <a:ext uri="{FF2B5EF4-FFF2-40B4-BE49-F238E27FC236}">
                <a16:creationId xmlns:a16="http://schemas.microsoft.com/office/drawing/2014/main" id="{1823C977-ADAA-A321-1B29-443F3FAD1FC3}"/>
              </a:ext>
            </a:extLst>
          </p:cNvPr>
          <p:cNvSpPr/>
          <p:nvPr/>
        </p:nvSpPr>
        <p:spPr>
          <a:xfrm>
            <a:off x="2611480" y="1521042"/>
            <a:ext cx="1244567" cy="1981141"/>
          </a:xfrm>
          <a:prstGeom prst="rect">
            <a:avLst/>
          </a:prstGeom>
          <a:solidFill>
            <a:srgbClr val="E8F7FE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9056DFC3-733B-20E4-0204-AC429355B151}"/>
              </a:ext>
            </a:extLst>
          </p:cNvPr>
          <p:cNvSpPr/>
          <p:nvPr/>
        </p:nvSpPr>
        <p:spPr>
          <a:xfrm>
            <a:off x="2617345" y="1531623"/>
            <a:ext cx="123870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2343F6A6-301D-28E0-A6E7-AEB537E88667}"/>
              </a:ext>
            </a:extLst>
          </p:cNvPr>
          <p:cNvSpPr/>
          <p:nvPr/>
        </p:nvSpPr>
        <p:spPr>
          <a:xfrm>
            <a:off x="2682020" y="152104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55" name="Image 4" descr="preencoded.png">
            <a:extLst>
              <a:ext uri="{FF2B5EF4-FFF2-40B4-BE49-F238E27FC236}">
                <a16:creationId xmlns:a16="http://schemas.microsoft.com/office/drawing/2014/main" id="{25C9B30B-4990-A24E-BE33-879C4E889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0270" y="1577874"/>
            <a:ext cx="329184" cy="329184"/>
          </a:xfrm>
          <a:prstGeom prst="rect">
            <a:avLst/>
          </a:prstGeom>
        </p:spPr>
      </p:pic>
      <p:sp>
        <p:nvSpPr>
          <p:cNvPr id="59" name="Text 18">
            <a:extLst>
              <a:ext uri="{FF2B5EF4-FFF2-40B4-BE49-F238E27FC236}">
                <a16:creationId xmlns:a16="http://schemas.microsoft.com/office/drawing/2014/main" id="{8A890371-4DCD-068F-CFF5-D46C8518FB80}"/>
              </a:ext>
            </a:extLst>
          </p:cNvPr>
          <p:cNvSpPr/>
          <p:nvPr/>
        </p:nvSpPr>
        <p:spPr>
          <a:xfrm>
            <a:off x="2606101" y="2157340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09DD9877-545B-2419-24F0-393FBDA9E4B5}"/>
              </a:ext>
            </a:extLst>
          </p:cNvPr>
          <p:cNvSpPr/>
          <p:nvPr/>
        </p:nvSpPr>
        <p:spPr>
          <a:xfrm>
            <a:off x="2681412" y="2581742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71" name="Image 5" descr="preencoded.png">
            <a:extLst>
              <a:ext uri="{FF2B5EF4-FFF2-40B4-BE49-F238E27FC236}">
                <a16:creationId xmlns:a16="http://schemas.microsoft.com/office/drawing/2014/main" id="{00BD13EC-B691-19A1-3144-712E07C2E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998" y="2554314"/>
            <a:ext cx="237744" cy="237744"/>
          </a:xfrm>
          <a:prstGeom prst="rect">
            <a:avLst/>
          </a:prstGeom>
        </p:spPr>
      </p:pic>
      <p:sp>
        <p:nvSpPr>
          <p:cNvPr id="72" name="Shape 20">
            <a:extLst>
              <a:ext uri="{FF2B5EF4-FFF2-40B4-BE49-F238E27FC236}">
                <a16:creationId xmlns:a16="http://schemas.microsoft.com/office/drawing/2014/main" id="{914745D1-CAF5-3B02-5859-4A93904390EE}"/>
              </a:ext>
            </a:extLst>
          </p:cNvPr>
          <p:cNvSpPr/>
          <p:nvPr/>
        </p:nvSpPr>
        <p:spPr>
          <a:xfrm>
            <a:off x="4027127" y="1536443"/>
            <a:ext cx="1238702" cy="1981141"/>
          </a:xfrm>
          <a:prstGeom prst="rect">
            <a:avLst/>
          </a:prstGeom>
          <a:solidFill>
            <a:srgbClr val="E8F7FE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056CE9F8-AD39-64D6-7744-FD583C720CC6}"/>
              </a:ext>
            </a:extLst>
          </p:cNvPr>
          <p:cNvSpPr/>
          <p:nvPr/>
        </p:nvSpPr>
        <p:spPr>
          <a:xfrm>
            <a:off x="4015174" y="1536442"/>
            <a:ext cx="1250656" cy="423511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EEB92494-D301-A831-D489-00B88B6A0FC1}"/>
              </a:ext>
            </a:extLst>
          </p:cNvPr>
          <p:cNvSpPr/>
          <p:nvPr/>
        </p:nvSpPr>
        <p:spPr>
          <a:xfrm>
            <a:off x="4040582" y="152104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D37DB274-EC7D-B2CC-897C-B7783797E904}"/>
              </a:ext>
            </a:extLst>
          </p:cNvPr>
          <p:cNvSpPr/>
          <p:nvPr/>
        </p:nvSpPr>
        <p:spPr>
          <a:xfrm>
            <a:off x="4136396" y="203249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7336716B-EA87-33F4-70F1-7EAD2D2FA64D}"/>
              </a:ext>
            </a:extLst>
          </p:cNvPr>
          <p:cNvSpPr/>
          <p:nvPr/>
        </p:nvSpPr>
        <p:spPr>
          <a:xfrm>
            <a:off x="4159628" y="2528353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pic>
        <p:nvPicPr>
          <p:cNvPr id="77" name="Image 7" descr="preencoded.png">
            <a:extLst>
              <a:ext uri="{FF2B5EF4-FFF2-40B4-BE49-F238E27FC236}">
                <a16:creationId xmlns:a16="http://schemas.microsoft.com/office/drawing/2014/main" id="{36CCED68-D864-3E5C-A685-5F4B2F752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2489" y="4105614"/>
            <a:ext cx="237744" cy="237744"/>
          </a:xfrm>
          <a:prstGeom prst="rect">
            <a:avLst/>
          </a:prstGeom>
        </p:spPr>
      </p:pic>
      <p:sp>
        <p:nvSpPr>
          <p:cNvPr id="87" name="Shape 30">
            <a:extLst>
              <a:ext uri="{FF2B5EF4-FFF2-40B4-BE49-F238E27FC236}">
                <a16:creationId xmlns:a16="http://schemas.microsoft.com/office/drawing/2014/main" id="{27F96EA1-FF55-A9B6-50F5-33CDE9217E95}"/>
              </a:ext>
            </a:extLst>
          </p:cNvPr>
          <p:cNvSpPr/>
          <p:nvPr/>
        </p:nvSpPr>
        <p:spPr>
          <a:xfrm>
            <a:off x="8768792" y="3977131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Shape 31">
            <a:extLst>
              <a:ext uri="{FF2B5EF4-FFF2-40B4-BE49-F238E27FC236}">
                <a16:creationId xmlns:a16="http://schemas.microsoft.com/office/drawing/2014/main" id="{8DC765FD-10D4-B244-6622-9E94E075F090}"/>
              </a:ext>
            </a:extLst>
          </p:cNvPr>
          <p:cNvSpPr/>
          <p:nvPr/>
        </p:nvSpPr>
        <p:spPr>
          <a:xfrm>
            <a:off x="8768792" y="3977132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9" name="Text 32">
            <a:extLst>
              <a:ext uri="{FF2B5EF4-FFF2-40B4-BE49-F238E27FC236}">
                <a16:creationId xmlns:a16="http://schemas.microsoft.com/office/drawing/2014/main" id="{7EC8B826-29BA-B4BF-47BA-8D5170B86331}"/>
              </a:ext>
            </a:extLst>
          </p:cNvPr>
          <p:cNvSpPr/>
          <p:nvPr/>
        </p:nvSpPr>
        <p:spPr>
          <a:xfrm>
            <a:off x="8768792" y="397713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10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90" name="Image 10" descr="preencoded.png">
            <a:extLst>
              <a:ext uri="{FF2B5EF4-FFF2-40B4-BE49-F238E27FC236}">
                <a16:creationId xmlns:a16="http://schemas.microsoft.com/office/drawing/2014/main" id="{8B12F919-448C-CF12-2AE4-5FE8FA353F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1950" y="4070119"/>
            <a:ext cx="263059" cy="263059"/>
          </a:xfrm>
          <a:prstGeom prst="rect">
            <a:avLst/>
          </a:prstGeom>
        </p:spPr>
      </p:pic>
      <p:sp>
        <p:nvSpPr>
          <p:cNvPr id="91" name="Text 33">
            <a:extLst>
              <a:ext uri="{FF2B5EF4-FFF2-40B4-BE49-F238E27FC236}">
                <a16:creationId xmlns:a16="http://schemas.microsoft.com/office/drawing/2014/main" id="{67CE7BDC-1C0A-8D28-F2E6-B84C157B6926}"/>
              </a:ext>
            </a:extLst>
          </p:cNvPr>
          <p:cNvSpPr/>
          <p:nvPr/>
        </p:nvSpPr>
        <p:spPr>
          <a:xfrm>
            <a:off x="8964591" y="455528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Quality Index</a:t>
            </a:r>
          </a:p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  <a:endParaRPr lang="en-US" sz="900" b="1" noProof="0" dirty="0"/>
          </a:p>
        </p:txBody>
      </p:sp>
      <p:sp>
        <p:nvSpPr>
          <p:cNvPr id="92" name="Text 34">
            <a:extLst>
              <a:ext uri="{FF2B5EF4-FFF2-40B4-BE49-F238E27FC236}">
                <a16:creationId xmlns:a16="http://schemas.microsoft.com/office/drawing/2014/main" id="{68292BFF-4684-FCEC-3A51-7E73520A5C5A}"/>
              </a:ext>
            </a:extLst>
          </p:cNvPr>
          <p:cNvSpPr/>
          <p:nvPr/>
        </p:nvSpPr>
        <p:spPr>
          <a:xfrm>
            <a:off x="8983594" y="507649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93" name="Image 11" descr="preencoded.png">
            <a:extLst>
              <a:ext uri="{FF2B5EF4-FFF2-40B4-BE49-F238E27FC236}">
                <a16:creationId xmlns:a16="http://schemas.microsoft.com/office/drawing/2014/main" id="{72CD3E76-4DB9-9598-E65D-BE356AC8B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1792" y="5010404"/>
            <a:ext cx="237744" cy="237744"/>
          </a:xfrm>
          <a:prstGeom prst="rect">
            <a:avLst/>
          </a:prstGeom>
        </p:spPr>
      </p:pic>
      <p:sp>
        <p:nvSpPr>
          <p:cNvPr id="94" name="Shape 35">
            <a:extLst>
              <a:ext uri="{FF2B5EF4-FFF2-40B4-BE49-F238E27FC236}">
                <a16:creationId xmlns:a16="http://schemas.microsoft.com/office/drawing/2014/main" id="{C427FDD5-FA00-F332-FAD8-D86FF1EC3F0F}"/>
              </a:ext>
            </a:extLst>
          </p:cNvPr>
          <p:cNvSpPr/>
          <p:nvPr/>
        </p:nvSpPr>
        <p:spPr>
          <a:xfrm>
            <a:off x="6696325" y="1537734"/>
            <a:ext cx="1218608" cy="1990773"/>
          </a:xfrm>
          <a:prstGeom prst="rect">
            <a:avLst/>
          </a:prstGeom>
          <a:solidFill>
            <a:srgbClr val="E8F7FE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5" name="Shape 36">
            <a:extLst>
              <a:ext uri="{FF2B5EF4-FFF2-40B4-BE49-F238E27FC236}">
                <a16:creationId xmlns:a16="http://schemas.microsoft.com/office/drawing/2014/main" id="{1ED275D9-F82C-E6FF-B10F-640E9401A139}"/>
              </a:ext>
            </a:extLst>
          </p:cNvPr>
          <p:cNvSpPr/>
          <p:nvPr/>
        </p:nvSpPr>
        <p:spPr>
          <a:xfrm>
            <a:off x="6696325" y="1537735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E2327952-B75D-6BE1-1A6A-648D8463729C}"/>
              </a:ext>
            </a:extLst>
          </p:cNvPr>
          <p:cNvSpPr/>
          <p:nvPr/>
        </p:nvSpPr>
        <p:spPr>
          <a:xfrm>
            <a:off x="6696325" y="153773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97" name="Image 12" descr="preencoded.png">
            <a:extLst>
              <a:ext uri="{FF2B5EF4-FFF2-40B4-BE49-F238E27FC236}">
                <a16:creationId xmlns:a16="http://schemas.microsoft.com/office/drawing/2014/main" id="{A8DB4F71-C036-3503-CD31-4BEB32E652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692" y="1622804"/>
            <a:ext cx="288037" cy="288037"/>
          </a:xfrm>
          <a:prstGeom prst="rect">
            <a:avLst/>
          </a:prstGeom>
        </p:spPr>
      </p:pic>
      <p:sp>
        <p:nvSpPr>
          <p:cNvPr id="98" name="Text 38">
            <a:extLst>
              <a:ext uri="{FF2B5EF4-FFF2-40B4-BE49-F238E27FC236}">
                <a16:creationId xmlns:a16="http://schemas.microsoft.com/office/drawing/2014/main" id="{A1EB35EB-41DD-62EC-63A0-78F4D2A6506D}"/>
              </a:ext>
            </a:extLst>
          </p:cNvPr>
          <p:cNvSpPr/>
          <p:nvPr/>
        </p:nvSpPr>
        <p:spPr>
          <a:xfrm>
            <a:off x="6684791" y="2132770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04E8B7B6-02F8-63CD-F08A-7049A2F1C85A}"/>
              </a:ext>
            </a:extLst>
          </p:cNvPr>
          <p:cNvSpPr/>
          <p:nvPr/>
        </p:nvSpPr>
        <p:spPr>
          <a:xfrm>
            <a:off x="6795315" y="249953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00" name="Graphic 99" descr="Dice with solid fill">
            <a:extLst>
              <a:ext uri="{FF2B5EF4-FFF2-40B4-BE49-F238E27FC236}">
                <a16:creationId xmlns:a16="http://schemas.microsoft.com/office/drawing/2014/main" id="{3AE2B911-F364-0AD0-64EE-989F7808A6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0564" y="1574553"/>
            <a:ext cx="402338" cy="402338"/>
          </a:xfrm>
          <a:prstGeom prst="rect">
            <a:avLst/>
          </a:prstGeom>
        </p:spPr>
      </p:pic>
      <p:sp>
        <p:nvSpPr>
          <p:cNvPr id="101" name="Shape 20">
            <a:extLst>
              <a:ext uri="{FF2B5EF4-FFF2-40B4-BE49-F238E27FC236}">
                <a16:creationId xmlns:a16="http://schemas.microsoft.com/office/drawing/2014/main" id="{7F220865-45F5-3C21-F0D7-FD8BEDE37474}"/>
              </a:ext>
            </a:extLst>
          </p:cNvPr>
          <p:cNvSpPr/>
          <p:nvPr/>
        </p:nvSpPr>
        <p:spPr>
          <a:xfrm>
            <a:off x="5379020" y="1533440"/>
            <a:ext cx="1238702" cy="1981141"/>
          </a:xfrm>
          <a:prstGeom prst="rect">
            <a:avLst/>
          </a:prstGeom>
          <a:solidFill>
            <a:srgbClr val="E8F7FE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38A410F1-93BE-9F2F-6087-41702227471F}"/>
              </a:ext>
            </a:extLst>
          </p:cNvPr>
          <p:cNvSpPr/>
          <p:nvPr/>
        </p:nvSpPr>
        <p:spPr>
          <a:xfrm>
            <a:off x="5379020" y="1528866"/>
            <a:ext cx="123870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7FBB1072-B0E0-366C-DE06-3C0A10E49B0E}"/>
              </a:ext>
            </a:extLst>
          </p:cNvPr>
          <p:cNvSpPr/>
          <p:nvPr/>
        </p:nvSpPr>
        <p:spPr>
          <a:xfrm>
            <a:off x="5453661" y="152886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04" name="Text 23">
            <a:extLst>
              <a:ext uri="{FF2B5EF4-FFF2-40B4-BE49-F238E27FC236}">
                <a16:creationId xmlns:a16="http://schemas.microsoft.com/office/drawing/2014/main" id="{5BDB9A77-F80D-FA8C-E423-C577A7DCD76F}"/>
              </a:ext>
            </a:extLst>
          </p:cNvPr>
          <p:cNvSpPr/>
          <p:nvPr/>
        </p:nvSpPr>
        <p:spPr>
          <a:xfrm>
            <a:off x="5495451" y="207092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6896790-22CC-9FE7-E816-FEC24AF98ACA}"/>
              </a:ext>
            </a:extLst>
          </p:cNvPr>
          <p:cNvSpPr/>
          <p:nvPr/>
        </p:nvSpPr>
        <p:spPr>
          <a:xfrm>
            <a:off x="5527739" y="254550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06" name="Graphic 105" descr="Database with solid fill">
            <a:extLst>
              <a:ext uri="{FF2B5EF4-FFF2-40B4-BE49-F238E27FC236}">
                <a16:creationId xmlns:a16="http://schemas.microsoft.com/office/drawing/2014/main" id="{2C514C09-5691-7149-709F-E5212AB6B4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9230" y="1551653"/>
            <a:ext cx="390272" cy="390272"/>
          </a:xfrm>
          <a:prstGeom prst="rect">
            <a:avLst/>
          </a:prstGeom>
        </p:spPr>
      </p:pic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16BC2F0B-0389-7020-7A64-7C29CE15ED76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3856047" y="2510080"/>
            <a:ext cx="191003" cy="1533"/>
          </a:xfrm>
          <a:prstGeom prst="straightConnector1">
            <a:avLst/>
          </a:prstGeom>
          <a:ln w="22225">
            <a:solidFill>
              <a:srgbClr val="C0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8D12C6B-9F8E-706A-2F54-67976564477D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5265829" y="2527014"/>
            <a:ext cx="153183" cy="6107"/>
          </a:xfrm>
          <a:prstGeom prst="straightConnector1">
            <a:avLst/>
          </a:prstGeom>
          <a:ln w="22225">
            <a:solidFill>
              <a:srgbClr val="C0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5C9E4BD2-87A2-899B-6F85-B2169944622A}"/>
              </a:ext>
            </a:extLst>
          </p:cNvPr>
          <p:cNvCxnSpPr>
            <a:cxnSpLocks/>
          </p:cNvCxnSpPr>
          <p:nvPr/>
        </p:nvCxnSpPr>
        <p:spPr>
          <a:xfrm>
            <a:off x="6588747" y="2524011"/>
            <a:ext cx="127965" cy="9691"/>
          </a:xfrm>
          <a:prstGeom prst="bentConnector3">
            <a:avLst>
              <a:gd name="adj1" fmla="val 50000"/>
            </a:avLst>
          </a:prstGeom>
          <a:ln w="22225">
            <a:solidFill>
              <a:srgbClr val="C0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Image 1" descr="preencoded.png">
            <a:extLst>
              <a:ext uri="{FF2B5EF4-FFF2-40B4-BE49-F238E27FC236}">
                <a16:creationId xmlns:a16="http://schemas.microsoft.com/office/drawing/2014/main" id="{B3AF6965-D646-7C83-4AD5-21AA1B42B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123" y="2578634"/>
            <a:ext cx="237744" cy="237744"/>
          </a:xfrm>
          <a:prstGeom prst="rect">
            <a:avLst/>
          </a:prstGeom>
        </p:spPr>
      </p:pic>
      <p:sp>
        <p:nvSpPr>
          <p:cNvPr id="113" name="Shape 10">
            <a:extLst>
              <a:ext uri="{FF2B5EF4-FFF2-40B4-BE49-F238E27FC236}">
                <a16:creationId xmlns:a16="http://schemas.microsoft.com/office/drawing/2014/main" id="{497B62D5-C945-EBB3-48E5-A1A5C99FEF89}"/>
              </a:ext>
            </a:extLst>
          </p:cNvPr>
          <p:cNvSpPr/>
          <p:nvPr/>
        </p:nvSpPr>
        <p:spPr>
          <a:xfrm>
            <a:off x="1238640" y="1523010"/>
            <a:ext cx="1250656" cy="1974140"/>
          </a:xfrm>
          <a:prstGeom prst="rect">
            <a:avLst/>
          </a:prstGeom>
          <a:solidFill>
            <a:srgbClr val="E8F7FE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4" name="Shape 11">
            <a:extLst>
              <a:ext uri="{FF2B5EF4-FFF2-40B4-BE49-F238E27FC236}">
                <a16:creationId xmlns:a16="http://schemas.microsoft.com/office/drawing/2014/main" id="{CF66A3A9-4CB9-95DF-9115-8FA5C9C61081}"/>
              </a:ext>
            </a:extLst>
          </p:cNvPr>
          <p:cNvSpPr/>
          <p:nvPr/>
        </p:nvSpPr>
        <p:spPr>
          <a:xfrm>
            <a:off x="1238640" y="1523010"/>
            <a:ext cx="1250656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5" name="Text 12">
            <a:extLst>
              <a:ext uri="{FF2B5EF4-FFF2-40B4-BE49-F238E27FC236}">
                <a16:creationId xmlns:a16="http://schemas.microsoft.com/office/drawing/2014/main" id="{D2E17463-B5A6-8535-722E-24C447445EFE}"/>
              </a:ext>
            </a:extLst>
          </p:cNvPr>
          <p:cNvSpPr/>
          <p:nvPr/>
        </p:nvSpPr>
        <p:spPr>
          <a:xfrm>
            <a:off x="1238640" y="152301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16" name="Text 13">
            <a:extLst>
              <a:ext uri="{FF2B5EF4-FFF2-40B4-BE49-F238E27FC236}">
                <a16:creationId xmlns:a16="http://schemas.microsoft.com/office/drawing/2014/main" id="{38F92C34-FF05-71E1-42DF-8868FC5CFCD1}"/>
              </a:ext>
            </a:extLst>
          </p:cNvPr>
          <p:cNvSpPr/>
          <p:nvPr/>
        </p:nvSpPr>
        <p:spPr>
          <a:xfrm>
            <a:off x="1354535" y="213335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17" name="Text 14">
            <a:extLst>
              <a:ext uri="{FF2B5EF4-FFF2-40B4-BE49-F238E27FC236}">
                <a16:creationId xmlns:a16="http://schemas.microsoft.com/office/drawing/2014/main" id="{6CCFD30A-D193-35F5-8DF6-1A055082D715}"/>
              </a:ext>
            </a:extLst>
          </p:cNvPr>
          <p:cNvSpPr/>
          <p:nvPr/>
        </p:nvSpPr>
        <p:spPr>
          <a:xfrm>
            <a:off x="1248818" y="2480342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remove HTML,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Noisy text</a:t>
            </a:r>
            <a:endParaRPr lang="en-US" sz="1000" noProof="0" dirty="0"/>
          </a:p>
        </p:txBody>
      </p:sp>
      <p:pic>
        <p:nvPicPr>
          <p:cNvPr id="118" name="Graphic 117" descr="Eraser with solid fill">
            <a:extLst>
              <a:ext uri="{FF2B5EF4-FFF2-40B4-BE49-F238E27FC236}">
                <a16:creationId xmlns:a16="http://schemas.microsoft.com/office/drawing/2014/main" id="{2788313E-026B-A063-6842-2BDC6A4682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82774" y="1588670"/>
            <a:ext cx="329184" cy="329184"/>
          </a:xfrm>
          <a:prstGeom prst="rect">
            <a:avLst/>
          </a:prstGeom>
        </p:spPr>
      </p:pic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F5996187-E3E5-8D68-64D6-1E3EA9CEE1AE}"/>
              </a:ext>
            </a:extLst>
          </p:cNvPr>
          <p:cNvCxnSpPr>
            <a:cxnSpLocks/>
            <a:stCxn id="3" idx="3"/>
            <a:endCxn id="113" idx="1"/>
          </p:cNvCxnSpPr>
          <p:nvPr/>
        </p:nvCxnSpPr>
        <p:spPr>
          <a:xfrm flipV="1">
            <a:off x="1115528" y="2510080"/>
            <a:ext cx="123112" cy="13931"/>
          </a:xfrm>
          <a:prstGeom prst="straightConnector1">
            <a:avLst/>
          </a:prstGeom>
          <a:ln w="22225">
            <a:solidFill>
              <a:srgbClr val="C0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05C74CF0-3F85-3927-3593-10034C696042}"/>
              </a:ext>
            </a:extLst>
          </p:cNvPr>
          <p:cNvCxnSpPr>
            <a:cxnSpLocks/>
            <a:stCxn id="113" idx="3"/>
            <a:endCxn id="51" idx="1"/>
          </p:cNvCxnSpPr>
          <p:nvPr/>
        </p:nvCxnSpPr>
        <p:spPr>
          <a:xfrm>
            <a:off x="2489296" y="2510080"/>
            <a:ext cx="122184" cy="1533"/>
          </a:xfrm>
          <a:prstGeom prst="straightConnector1">
            <a:avLst/>
          </a:prstGeom>
          <a:ln w="22225">
            <a:solidFill>
              <a:srgbClr val="C0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E3C92-FF2C-17A6-E867-95B3C853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14</a:t>
            </a:fld>
            <a:endParaRPr lang="en-US" noProof="0" dirty="0"/>
          </a:p>
        </p:txBody>
      </p:sp>
      <p:sp>
        <p:nvSpPr>
          <p:cNvPr id="25" name="Shape 35">
            <a:extLst>
              <a:ext uri="{FF2B5EF4-FFF2-40B4-BE49-F238E27FC236}">
                <a16:creationId xmlns:a16="http://schemas.microsoft.com/office/drawing/2014/main" id="{7EC9AE5D-A4A0-B74A-7288-898595AEC87F}"/>
              </a:ext>
            </a:extLst>
          </p:cNvPr>
          <p:cNvSpPr/>
          <p:nvPr/>
        </p:nvSpPr>
        <p:spPr>
          <a:xfrm>
            <a:off x="8092906" y="1534659"/>
            <a:ext cx="1218608" cy="1990773"/>
          </a:xfrm>
          <a:prstGeom prst="rect">
            <a:avLst/>
          </a:prstGeom>
          <a:solidFill>
            <a:srgbClr val="F4FEF7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36">
            <a:extLst>
              <a:ext uri="{FF2B5EF4-FFF2-40B4-BE49-F238E27FC236}">
                <a16:creationId xmlns:a16="http://schemas.microsoft.com/office/drawing/2014/main" id="{A7CB1504-1247-CCE3-E596-82AA236340A4}"/>
              </a:ext>
            </a:extLst>
          </p:cNvPr>
          <p:cNvSpPr/>
          <p:nvPr/>
        </p:nvSpPr>
        <p:spPr>
          <a:xfrm>
            <a:off x="8092906" y="1534660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37">
            <a:extLst>
              <a:ext uri="{FF2B5EF4-FFF2-40B4-BE49-F238E27FC236}">
                <a16:creationId xmlns:a16="http://schemas.microsoft.com/office/drawing/2014/main" id="{BC1ABF9B-800C-E67E-D8BD-331D7C6EA66A}"/>
              </a:ext>
            </a:extLst>
          </p:cNvPr>
          <p:cNvSpPr/>
          <p:nvPr/>
        </p:nvSpPr>
        <p:spPr>
          <a:xfrm>
            <a:off x="8092906" y="153466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30" name="Text 38">
            <a:extLst>
              <a:ext uri="{FF2B5EF4-FFF2-40B4-BE49-F238E27FC236}">
                <a16:creationId xmlns:a16="http://schemas.microsoft.com/office/drawing/2014/main" id="{EB724505-630A-D824-6995-C182C8843ADF}"/>
              </a:ext>
            </a:extLst>
          </p:cNvPr>
          <p:cNvSpPr/>
          <p:nvPr/>
        </p:nvSpPr>
        <p:spPr>
          <a:xfrm>
            <a:off x="8030492" y="2153809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Chunking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31" name="Text 39">
            <a:extLst>
              <a:ext uri="{FF2B5EF4-FFF2-40B4-BE49-F238E27FC236}">
                <a16:creationId xmlns:a16="http://schemas.microsoft.com/office/drawing/2014/main" id="{A36B8263-2C32-2903-38AD-8E3316F5C527}"/>
              </a:ext>
            </a:extLst>
          </p:cNvPr>
          <p:cNvSpPr/>
          <p:nvPr/>
        </p:nvSpPr>
        <p:spPr>
          <a:xfrm>
            <a:off x="8191896" y="249645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Split into chunks</a:t>
            </a:r>
          </a:p>
        </p:txBody>
      </p:sp>
      <p:sp>
        <p:nvSpPr>
          <p:cNvPr id="32" name="Shape 35">
            <a:extLst>
              <a:ext uri="{FF2B5EF4-FFF2-40B4-BE49-F238E27FC236}">
                <a16:creationId xmlns:a16="http://schemas.microsoft.com/office/drawing/2014/main" id="{2CD499DF-440D-FB36-C648-7B6EE5D0FB1F}"/>
              </a:ext>
            </a:extLst>
          </p:cNvPr>
          <p:cNvSpPr/>
          <p:nvPr/>
        </p:nvSpPr>
        <p:spPr>
          <a:xfrm>
            <a:off x="9460758" y="1537734"/>
            <a:ext cx="1218608" cy="1990773"/>
          </a:xfrm>
          <a:prstGeom prst="rect">
            <a:avLst/>
          </a:prstGeom>
          <a:solidFill>
            <a:srgbClr val="F4FEF7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36">
            <a:extLst>
              <a:ext uri="{FF2B5EF4-FFF2-40B4-BE49-F238E27FC236}">
                <a16:creationId xmlns:a16="http://schemas.microsoft.com/office/drawing/2014/main" id="{BDDF4AEA-EF41-3748-1AC2-E9B780875BD5}"/>
              </a:ext>
            </a:extLst>
          </p:cNvPr>
          <p:cNvSpPr/>
          <p:nvPr/>
        </p:nvSpPr>
        <p:spPr>
          <a:xfrm>
            <a:off x="9460758" y="1537735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37">
            <a:extLst>
              <a:ext uri="{FF2B5EF4-FFF2-40B4-BE49-F238E27FC236}">
                <a16:creationId xmlns:a16="http://schemas.microsoft.com/office/drawing/2014/main" id="{8CDBA055-7821-0BF3-616A-2724EE2B23C3}"/>
              </a:ext>
            </a:extLst>
          </p:cNvPr>
          <p:cNvSpPr/>
          <p:nvPr/>
        </p:nvSpPr>
        <p:spPr>
          <a:xfrm>
            <a:off x="9460758" y="153773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8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5FEF1F6A-5001-E794-EDC2-742630515EFB}"/>
              </a:ext>
            </a:extLst>
          </p:cNvPr>
          <p:cNvSpPr/>
          <p:nvPr/>
        </p:nvSpPr>
        <p:spPr>
          <a:xfrm>
            <a:off x="9497897" y="2137303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Embeddings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37" name="Text 39">
            <a:extLst>
              <a:ext uri="{FF2B5EF4-FFF2-40B4-BE49-F238E27FC236}">
                <a16:creationId xmlns:a16="http://schemas.microsoft.com/office/drawing/2014/main" id="{6BC562A3-7331-C2FE-3515-C8D1C119A8BB}"/>
              </a:ext>
            </a:extLst>
          </p:cNvPr>
          <p:cNvSpPr/>
          <p:nvPr/>
        </p:nvSpPr>
        <p:spPr>
          <a:xfrm>
            <a:off x="9559748" y="249953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Numerical representation of a text.</a:t>
            </a:r>
            <a:endParaRPr lang="en-US" sz="1000" noProof="0" dirty="0"/>
          </a:p>
        </p:txBody>
      </p:sp>
      <p:sp>
        <p:nvSpPr>
          <p:cNvPr id="42" name="Shape 35">
            <a:extLst>
              <a:ext uri="{FF2B5EF4-FFF2-40B4-BE49-F238E27FC236}">
                <a16:creationId xmlns:a16="http://schemas.microsoft.com/office/drawing/2014/main" id="{85658D8D-CA53-A7E8-D7EA-AD775F4B5388}"/>
              </a:ext>
            </a:extLst>
          </p:cNvPr>
          <p:cNvSpPr/>
          <p:nvPr/>
        </p:nvSpPr>
        <p:spPr>
          <a:xfrm>
            <a:off x="10828609" y="1528866"/>
            <a:ext cx="1218608" cy="1990773"/>
          </a:xfrm>
          <a:prstGeom prst="rect">
            <a:avLst/>
          </a:prstGeom>
          <a:solidFill>
            <a:srgbClr val="F4FEF7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3" name="Shape 36">
            <a:extLst>
              <a:ext uri="{FF2B5EF4-FFF2-40B4-BE49-F238E27FC236}">
                <a16:creationId xmlns:a16="http://schemas.microsoft.com/office/drawing/2014/main" id="{93181A50-0CEB-9D07-22E6-A3BCA52032AD}"/>
              </a:ext>
            </a:extLst>
          </p:cNvPr>
          <p:cNvSpPr/>
          <p:nvPr/>
        </p:nvSpPr>
        <p:spPr>
          <a:xfrm>
            <a:off x="10828609" y="1528867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4" name="Text 37">
            <a:extLst>
              <a:ext uri="{FF2B5EF4-FFF2-40B4-BE49-F238E27FC236}">
                <a16:creationId xmlns:a16="http://schemas.microsoft.com/office/drawing/2014/main" id="{36ED8063-BC30-C28B-64EB-2175A1F3DA42}"/>
              </a:ext>
            </a:extLst>
          </p:cNvPr>
          <p:cNvSpPr/>
          <p:nvPr/>
        </p:nvSpPr>
        <p:spPr>
          <a:xfrm>
            <a:off x="10828609" y="152886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9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65" name="Text 38">
            <a:extLst>
              <a:ext uri="{FF2B5EF4-FFF2-40B4-BE49-F238E27FC236}">
                <a16:creationId xmlns:a16="http://schemas.microsoft.com/office/drawing/2014/main" id="{D1723D02-D4DD-4812-CF5A-53ECBBFA0DBB}"/>
              </a:ext>
            </a:extLst>
          </p:cNvPr>
          <p:cNvSpPr/>
          <p:nvPr/>
        </p:nvSpPr>
        <p:spPr>
          <a:xfrm>
            <a:off x="10817074" y="2132182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Indexing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66" name="Text 39">
            <a:extLst>
              <a:ext uri="{FF2B5EF4-FFF2-40B4-BE49-F238E27FC236}">
                <a16:creationId xmlns:a16="http://schemas.microsoft.com/office/drawing/2014/main" id="{66606AFD-9A16-55CD-44C2-08B1DDC06AF7}"/>
              </a:ext>
            </a:extLst>
          </p:cNvPr>
          <p:cNvSpPr/>
          <p:nvPr/>
        </p:nvSpPr>
        <p:spPr>
          <a:xfrm>
            <a:off x="10940498" y="2039589"/>
            <a:ext cx="994829" cy="170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noProof="0" dirty="0">
                <a:solidFill>
                  <a:srgbClr val="64748B"/>
                </a:solidFill>
              </a:rPr>
              <a:t>Store and organize the chunks, their embeddings, and their metadata inside the knowledge base.</a:t>
            </a:r>
          </a:p>
        </p:txBody>
      </p:sp>
      <p:pic>
        <p:nvPicPr>
          <p:cNvPr id="67" name="Image 8" descr="preencoded.png">
            <a:extLst>
              <a:ext uri="{FF2B5EF4-FFF2-40B4-BE49-F238E27FC236}">
                <a16:creationId xmlns:a16="http://schemas.microsoft.com/office/drawing/2014/main" id="{1E9BB13F-0395-4ECD-7A9A-8897575CBA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8317" y="1655461"/>
            <a:ext cx="256032" cy="256032"/>
          </a:xfrm>
          <a:prstGeom prst="rect">
            <a:avLst/>
          </a:prstGeom>
        </p:spPr>
      </p:pic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D95F9E8F-755B-1E04-0273-2A57477304CA}"/>
              </a:ext>
            </a:extLst>
          </p:cNvPr>
          <p:cNvCxnSpPr>
            <a:cxnSpLocks/>
            <a:stCxn id="94" idx="3"/>
            <a:endCxn id="25" idx="1"/>
          </p:cNvCxnSpPr>
          <p:nvPr/>
        </p:nvCxnSpPr>
        <p:spPr>
          <a:xfrm flipV="1">
            <a:off x="7914933" y="2530046"/>
            <a:ext cx="177973" cy="3075"/>
          </a:xfrm>
          <a:prstGeom prst="straightConnector1">
            <a:avLst/>
          </a:prstGeom>
          <a:ln w="22225">
            <a:solidFill>
              <a:srgbClr val="C0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0DF94121-484D-0856-BE0F-BE2B455A4862}"/>
              </a:ext>
            </a:extLst>
          </p:cNvPr>
          <p:cNvCxnSpPr>
            <a:cxnSpLocks/>
            <a:stCxn id="25" idx="3"/>
            <a:endCxn id="32" idx="1"/>
          </p:cNvCxnSpPr>
          <p:nvPr/>
        </p:nvCxnSpPr>
        <p:spPr>
          <a:xfrm>
            <a:off x="9311514" y="2530046"/>
            <a:ext cx="149244" cy="3075"/>
          </a:xfrm>
          <a:prstGeom prst="straightConnector1">
            <a:avLst/>
          </a:prstGeom>
          <a:ln w="22225">
            <a:solidFill>
              <a:srgbClr val="C0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247A898C-92B2-E0E5-2F6B-77A16D5FB46A}"/>
              </a:ext>
            </a:extLst>
          </p:cNvPr>
          <p:cNvCxnSpPr>
            <a:cxnSpLocks/>
            <a:stCxn id="32" idx="3"/>
            <a:endCxn id="42" idx="1"/>
          </p:cNvCxnSpPr>
          <p:nvPr/>
        </p:nvCxnSpPr>
        <p:spPr>
          <a:xfrm flipV="1">
            <a:off x="10679366" y="2524253"/>
            <a:ext cx="149243" cy="8868"/>
          </a:xfrm>
          <a:prstGeom prst="straightConnector1">
            <a:avLst/>
          </a:prstGeom>
          <a:ln w="22225">
            <a:solidFill>
              <a:srgbClr val="C0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5" name="Graphique 134" descr="Binaire avec un remplissage uni">
            <a:extLst>
              <a:ext uri="{FF2B5EF4-FFF2-40B4-BE49-F238E27FC236}">
                <a16:creationId xmlns:a16="http://schemas.microsoft.com/office/drawing/2014/main" id="{D54E21EE-601C-CB10-7626-D2BB4D92E9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28318" y="1595249"/>
            <a:ext cx="366709" cy="366709"/>
          </a:xfrm>
          <a:prstGeom prst="rect">
            <a:avLst/>
          </a:prstGeom>
        </p:spPr>
      </p:pic>
      <p:pic>
        <p:nvPicPr>
          <p:cNvPr id="137" name="Graphique 136" descr="Formes simples avec un remplissage uni">
            <a:extLst>
              <a:ext uri="{FF2B5EF4-FFF2-40B4-BE49-F238E27FC236}">
                <a16:creationId xmlns:a16="http://schemas.microsoft.com/office/drawing/2014/main" id="{E2EF378E-076A-6585-F52F-020A9AD46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92202" y="1541800"/>
            <a:ext cx="457200" cy="457200"/>
          </a:xfrm>
          <a:prstGeom prst="rect">
            <a:avLst/>
          </a:prstGeom>
        </p:spPr>
      </p:pic>
      <p:cxnSp>
        <p:nvCxnSpPr>
          <p:cNvPr id="139" name="Connecteur : en angle 138">
            <a:extLst>
              <a:ext uri="{FF2B5EF4-FFF2-40B4-BE49-F238E27FC236}">
                <a16:creationId xmlns:a16="http://schemas.microsoft.com/office/drawing/2014/main" id="{1BA89D91-9F33-2BFB-0B45-E1A853A92D63}"/>
              </a:ext>
            </a:extLst>
          </p:cNvPr>
          <p:cNvCxnSpPr>
            <a:cxnSpLocks/>
            <a:stCxn id="42" idx="2"/>
            <a:endCxn id="93" idx="3"/>
          </p:cNvCxnSpPr>
          <p:nvPr/>
        </p:nvCxnSpPr>
        <p:spPr>
          <a:xfrm rot="5400000">
            <a:off x="9988907" y="3680269"/>
            <a:ext cx="1609637" cy="1288377"/>
          </a:xfrm>
          <a:prstGeom prst="bentConnector2">
            <a:avLst/>
          </a:prstGeom>
          <a:ln w="22225">
            <a:solidFill>
              <a:srgbClr val="C0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eur : en angle 144">
            <a:extLst>
              <a:ext uri="{FF2B5EF4-FFF2-40B4-BE49-F238E27FC236}">
                <a16:creationId xmlns:a16="http://schemas.microsoft.com/office/drawing/2014/main" id="{326BE1DA-1A29-31B0-9050-CE4019C7A655}"/>
              </a:ext>
            </a:extLst>
          </p:cNvPr>
          <p:cNvCxnSpPr>
            <a:cxnSpLocks/>
            <a:endCxn id="113" idx="2"/>
          </p:cNvCxnSpPr>
          <p:nvPr/>
        </p:nvCxnSpPr>
        <p:spPr>
          <a:xfrm rot="10800000">
            <a:off x="1863968" y="3497150"/>
            <a:ext cx="6904824" cy="1682990"/>
          </a:xfrm>
          <a:prstGeom prst="bentConnector2">
            <a:avLst/>
          </a:prstGeom>
          <a:ln w="22225">
            <a:prstDash val="sysDot"/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Ellipse 147">
            <a:extLst>
              <a:ext uri="{FF2B5EF4-FFF2-40B4-BE49-F238E27FC236}">
                <a16:creationId xmlns:a16="http://schemas.microsoft.com/office/drawing/2014/main" id="{F7C42C9F-6F57-A3F3-F8B2-69EBCE9D2614}"/>
              </a:ext>
            </a:extLst>
          </p:cNvPr>
          <p:cNvSpPr/>
          <p:nvPr/>
        </p:nvSpPr>
        <p:spPr>
          <a:xfrm>
            <a:off x="528821" y="5610733"/>
            <a:ext cx="289907" cy="292554"/>
          </a:xfrm>
          <a:prstGeom prst="ellipse">
            <a:avLst/>
          </a:prstGeom>
          <a:solidFill>
            <a:srgbClr val="BAE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152" name="ZoneTexte 151">
            <a:extLst>
              <a:ext uri="{FF2B5EF4-FFF2-40B4-BE49-F238E27FC236}">
                <a16:creationId xmlns:a16="http://schemas.microsoft.com/office/drawing/2014/main" id="{98082039-C75A-A496-3D40-8180C81A2E0D}"/>
              </a:ext>
            </a:extLst>
          </p:cNvPr>
          <p:cNvSpPr txBox="1"/>
          <p:nvPr/>
        </p:nvSpPr>
        <p:spPr>
          <a:xfrm>
            <a:off x="343544" y="5586612"/>
            <a:ext cx="37780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noProof="0" dirty="0">
                <a:solidFill>
                  <a:srgbClr val="1B2A3B"/>
                </a:solidFill>
              </a:rPr>
              <a:t>The Data Preprocessing Pipeline</a:t>
            </a:r>
            <a:endParaRPr lang="en-US" sz="1400" noProof="0" dirty="0"/>
          </a:p>
        </p:txBody>
      </p:sp>
      <p:sp>
        <p:nvSpPr>
          <p:cNvPr id="153" name="Ellipse 152">
            <a:extLst>
              <a:ext uri="{FF2B5EF4-FFF2-40B4-BE49-F238E27FC236}">
                <a16:creationId xmlns:a16="http://schemas.microsoft.com/office/drawing/2014/main" id="{A13E8160-1480-68A4-2048-BA092EDB6D26}"/>
              </a:ext>
            </a:extLst>
          </p:cNvPr>
          <p:cNvSpPr/>
          <p:nvPr/>
        </p:nvSpPr>
        <p:spPr>
          <a:xfrm>
            <a:off x="3721795" y="5595959"/>
            <a:ext cx="289907" cy="292554"/>
          </a:xfrm>
          <a:prstGeom prst="ellipse">
            <a:avLst/>
          </a:prstGeom>
          <a:solidFill>
            <a:srgbClr val="E3F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253C0C-63A8-6F10-4C1D-99528D7F52F6}"/>
              </a:ext>
            </a:extLst>
          </p:cNvPr>
          <p:cNvSpPr txBox="1"/>
          <p:nvPr/>
        </p:nvSpPr>
        <p:spPr>
          <a:xfrm>
            <a:off x="4500564" y="4897775"/>
            <a:ext cx="63120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noProof="0" dirty="0">
                <a:solidFill>
                  <a:srgbClr val="0D9488"/>
                </a:solidFill>
              </a:rPr>
              <a:t>Continuous improvement</a:t>
            </a:r>
            <a:endParaRPr lang="en-US" sz="1100" noProof="0" dirty="0">
              <a:solidFill>
                <a:srgbClr val="0D9488"/>
              </a:solidFill>
            </a:endParaRPr>
          </a:p>
        </p:txBody>
      </p:sp>
      <p:cxnSp>
        <p:nvCxnSpPr>
          <p:cNvPr id="5" name="Straight Arrow Connector 60">
            <a:extLst>
              <a:ext uri="{FF2B5EF4-FFF2-40B4-BE49-F238E27FC236}">
                <a16:creationId xmlns:a16="http://schemas.microsoft.com/office/drawing/2014/main" id="{4D501FE0-D3C9-F6EE-954C-B17444FE67D0}"/>
              </a:ext>
            </a:extLst>
          </p:cNvPr>
          <p:cNvCxnSpPr/>
          <p:nvPr/>
        </p:nvCxnSpPr>
        <p:spPr>
          <a:xfrm>
            <a:off x="1398418" y="6474462"/>
            <a:ext cx="205738" cy="3501"/>
          </a:xfrm>
          <a:prstGeom prst="straightConnector1">
            <a:avLst/>
          </a:prstGeom>
          <a:ln w="22225">
            <a:solidFill>
              <a:srgbClr val="C0000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21">
            <a:extLst>
              <a:ext uri="{FF2B5EF4-FFF2-40B4-BE49-F238E27FC236}">
                <a16:creationId xmlns:a16="http://schemas.microsoft.com/office/drawing/2014/main" id="{AD7ED43D-1919-1188-EBD5-F1D30BD1BC78}"/>
              </a:ext>
            </a:extLst>
          </p:cNvPr>
          <p:cNvSpPr txBox="1"/>
          <p:nvPr/>
        </p:nvSpPr>
        <p:spPr>
          <a:xfrm>
            <a:off x="1596615" y="6350392"/>
            <a:ext cx="5870114" cy="4995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 b="0">
                <a:solidFill>
                  <a:srgbClr val="16181D"/>
                </a:solidFill>
              </a:defRPr>
            </a:pPr>
            <a:r>
              <a:rPr lang="fr-TN" sz="1100" b="1" dirty="0" err="1"/>
              <a:t>Each</a:t>
            </a:r>
            <a:r>
              <a:rPr lang="fr-TN" sz="1100" b="1" dirty="0"/>
              <a:t> </a:t>
            </a:r>
            <a:r>
              <a:rPr lang="fr-TN" sz="1100" b="1" dirty="0" err="1"/>
              <a:t>step</a:t>
            </a:r>
            <a:r>
              <a:rPr lang="fr-TN" sz="1100" b="1" dirty="0"/>
              <a:t> </a:t>
            </a:r>
            <a:r>
              <a:rPr lang="fr-TN" sz="1100" b="1" dirty="0" err="1"/>
              <a:t>is</a:t>
            </a:r>
            <a:r>
              <a:rPr lang="fr-TN" sz="1100" b="1" dirty="0"/>
              <a:t> </a:t>
            </a:r>
            <a:r>
              <a:rPr lang="fr-TN" sz="1100" b="1" dirty="0" err="1"/>
              <a:t>evaluated</a:t>
            </a:r>
            <a:r>
              <a:rPr lang="fr-TN" sz="1100" b="1" dirty="0"/>
              <a:t> to </a:t>
            </a:r>
            <a:r>
              <a:rPr lang="fr-TN" sz="1100" b="1" dirty="0" err="1"/>
              <a:t>ensure</a:t>
            </a:r>
            <a:r>
              <a:rPr lang="fr-TN" sz="1100" b="1" dirty="0"/>
              <a:t> </a:t>
            </a:r>
            <a:r>
              <a:rPr lang="fr-TN" sz="1100" b="1" dirty="0" err="1"/>
              <a:t>it</a:t>
            </a:r>
            <a:r>
              <a:rPr lang="fr-TN" sz="1100" b="1" dirty="0"/>
              <a:t> </a:t>
            </a:r>
            <a:r>
              <a:rPr lang="fr-TN" sz="1100" b="1" dirty="0" err="1"/>
              <a:t>produces</a:t>
            </a:r>
            <a:r>
              <a:rPr lang="fr-TN" sz="1100" b="1" dirty="0"/>
              <a:t> </a:t>
            </a:r>
            <a:r>
              <a:rPr lang="fr-TN" sz="1100" b="1" dirty="0" err="1"/>
              <a:t>valid</a:t>
            </a:r>
            <a:r>
              <a:rPr lang="fr-TN" sz="1100" b="1" dirty="0"/>
              <a:t> </a:t>
            </a:r>
            <a:r>
              <a:rPr lang="fr-TN" sz="1100" b="1" dirty="0" err="1"/>
              <a:t>results</a:t>
            </a:r>
            <a:endParaRPr sz="1000" b="1" dirty="0"/>
          </a:p>
        </p:txBody>
      </p:sp>
    </p:spTree>
    <p:extLst>
      <p:ext uri="{BB962C8B-B14F-4D97-AF65-F5344CB8AC3E}">
        <p14:creationId xmlns:p14="http://schemas.microsoft.com/office/powerpoint/2010/main" val="2043098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1977-5E3A-3D7B-168D-775BCEBDF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56B-9296-1B8A-D3BE-E03A72CE1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42A24286-315A-4242-1591-FC9A9D9B4E8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610177B-EC72-CCC5-4CF8-73641B7FD799}"/>
              </a:ext>
            </a:extLst>
          </p:cNvPr>
          <p:cNvSpPr/>
          <p:nvPr/>
        </p:nvSpPr>
        <p:spPr>
          <a:xfrm>
            <a:off x="1383920" y="105128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F416DC3-3731-3D0C-27EE-81CF7BBFD20E}"/>
              </a:ext>
            </a:extLst>
          </p:cNvPr>
          <p:cNvSpPr/>
          <p:nvPr/>
        </p:nvSpPr>
        <p:spPr>
          <a:xfrm>
            <a:off x="904685" y="184201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1CA3093-8C79-1619-0334-3C9D2E425CA5}"/>
              </a:ext>
            </a:extLst>
          </p:cNvPr>
          <p:cNvSpPr/>
          <p:nvPr/>
        </p:nvSpPr>
        <p:spPr>
          <a:xfrm>
            <a:off x="904685" y="1842012"/>
            <a:ext cx="1294372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8496A07-834E-6831-0433-3FAB6073ABC6}"/>
              </a:ext>
            </a:extLst>
          </p:cNvPr>
          <p:cNvSpPr/>
          <p:nvPr/>
        </p:nvSpPr>
        <p:spPr>
          <a:xfrm>
            <a:off x="904685" y="184201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8F4A7677-7151-CD32-4270-9896E8054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897" y="1910355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1FB3D1EB-9A7A-17CF-DDD9-64DBC442A602}"/>
              </a:ext>
            </a:extLst>
          </p:cNvPr>
          <p:cNvSpPr/>
          <p:nvPr/>
        </p:nvSpPr>
        <p:spPr>
          <a:xfrm>
            <a:off x="1110425" y="235855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458A78E-0C1B-538F-0A1D-A5CE02306D21}"/>
              </a:ext>
            </a:extLst>
          </p:cNvPr>
          <p:cNvSpPr/>
          <p:nvPr/>
        </p:nvSpPr>
        <p:spPr>
          <a:xfrm>
            <a:off x="1068387" y="28104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2D7E64E0-D8E6-29F0-B199-0C3741702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827" y="2882285"/>
            <a:ext cx="237744" cy="237744"/>
          </a:xfrm>
          <a:prstGeom prst="rect">
            <a:avLst/>
          </a:prstGeom>
        </p:spPr>
      </p:pic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B25B85D1-5470-A83F-26D0-CB889CC1D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656" y="2870710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2FE6FC93-D399-2083-DC86-522820709509}"/>
              </a:ext>
            </a:extLst>
          </p:cNvPr>
          <p:cNvSpPr/>
          <p:nvPr/>
        </p:nvSpPr>
        <p:spPr>
          <a:xfrm>
            <a:off x="3883700" y="183743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4455A9D-5EEF-3FF1-1219-2734C269F92B}"/>
              </a:ext>
            </a:extLst>
          </p:cNvPr>
          <p:cNvSpPr/>
          <p:nvPr/>
        </p:nvSpPr>
        <p:spPr>
          <a:xfrm>
            <a:off x="3889565" y="1848019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D633AEE-BB70-510B-D087-F8AFFA9A090F}"/>
              </a:ext>
            </a:extLst>
          </p:cNvPr>
          <p:cNvSpPr/>
          <p:nvPr/>
        </p:nvSpPr>
        <p:spPr>
          <a:xfrm>
            <a:off x="3954240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DB3FA906-34FD-D508-C20F-ED5F8B3D1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162" y="1914672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AEE5053F-DF5D-5079-2A04-E4071968BEF8}"/>
              </a:ext>
            </a:extLst>
          </p:cNvPr>
          <p:cNvSpPr/>
          <p:nvPr/>
        </p:nvSpPr>
        <p:spPr>
          <a:xfrm>
            <a:off x="3970606" y="2473203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B214949-0C47-EA3D-648F-8F6FB702FD6D}"/>
              </a:ext>
            </a:extLst>
          </p:cNvPr>
          <p:cNvSpPr/>
          <p:nvPr/>
        </p:nvSpPr>
        <p:spPr>
          <a:xfrm>
            <a:off x="4064784" y="2920413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89F1E30B-428B-0147-8ECA-749C8AB49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136" y="2865890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2F3A6459-29B4-22DF-9860-86224F564653}"/>
              </a:ext>
            </a:extLst>
          </p:cNvPr>
          <p:cNvSpPr/>
          <p:nvPr/>
        </p:nvSpPr>
        <p:spPr>
          <a:xfrm>
            <a:off x="5485265" y="184801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57409F07-2A53-C1DF-0A8E-078493DC072C}"/>
              </a:ext>
            </a:extLst>
          </p:cNvPr>
          <p:cNvSpPr/>
          <p:nvPr/>
        </p:nvSpPr>
        <p:spPr>
          <a:xfrm>
            <a:off x="5498720" y="183261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507EB61D-FD60-2228-5DFA-622F45B4E6A1}"/>
              </a:ext>
            </a:extLst>
          </p:cNvPr>
          <p:cNvSpPr/>
          <p:nvPr/>
        </p:nvSpPr>
        <p:spPr>
          <a:xfrm>
            <a:off x="5498720" y="183261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C5ACA786-1549-E416-2268-5D14564CA043}"/>
              </a:ext>
            </a:extLst>
          </p:cNvPr>
          <p:cNvSpPr/>
          <p:nvPr/>
        </p:nvSpPr>
        <p:spPr>
          <a:xfrm>
            <a:off x="5685038" y="235614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D201729A-DA70-A526-5251-B96B62616F3D}"/>
              </a:ext>
            </a:extLst>
          </p:cNvPr>
          <p:cNvSpPr/>
          <p:nvPr/>
        </p:nvSpPr>
        <p:spPr>
          <a:xfrm>
            <a:off x="5694519" y="273336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C8CF8AB3-F125-9F59-367A-CAD4DDDE7FFE}"/>
              </a:ext>
            </a:extLst>
          </p:cNvPr>
          <p:cNvSpPr/>
          <p:nvPr/>
        </p:nvSpPr>
        <p:spPr>
          <a:xfrm>
            <a:off x="8676300" y="1832618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C6DAAB17-149E-F008-AD5E-42FC577B33D0}"/>
              </a:ext>
            </a:extLst>
          </p:cNvPr>
          <p:cNvSpPr/>
          <p:nvPr/>
        </p:nvSpPr>
        <p:spPr>
          <a:xfrm>
            <a:off x="8676300" y="1832619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D74ECAE5-A852-503B-65C2-01CC4710E780}"/>
              </a:ext>
            </a:extLst>
          </p:cNvPr>
          <p:cNvSpPr/>
          <p:nvPr/>
        </p:nvSpPr>
        <p:spPr>
          <a:xfrm>
            <a:off x="8676300" y="183261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962913B5-1B5D-7DED-CCA7-8B03AF1010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8667" y="1917688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B65621C4-695B-A15E-A2E5-CE5298B01E35}"/>
              </a:ext>
            </a:extLst>
          </p:cNvPr>
          <p:cNvSpPr/>
          <p:nvPr/>
        </p:nvSpPr>
        <p:spPr>
          <a:xfrm>
            <a:off x="8613886" y="2451768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04023813-FF80-5743-C039-7BB817F1760E}"/>
              </a:ext>
            </a:extLst>
          </p:cNvPr>
          <p:cNvSpPr/>
          <p:nvPr/>
        </p:nvSpPr>
        <p:spPr>
          <a:xfrm>
            <a:off x="8775290" y="27944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0C4C70C4-E622-7168-F050-D08768D196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0901" y="1860049"/>
            <a:ext cx="402338" cy="402338"/>
          </a:xfrm>
          <a:prstGeom prst="rect">
            <a:avLst/>
          </a:prstGeom>
        </p:spPr>
      </p:pic>
      <p:sp>
        <p:nvSpPr>
          <p:cNvPr id="3" name="Shape 20">
            <a:extLst>
              <a:ext uri="{FF2B5EF4-FFF2-40B4-BE49-F238E27FC236}">
                <a16:creationId xmlns:a16="http://schemas.microsoft.com/office/drawing/2014/main" id="{C4DAFAF8-6179-2426-3DD0-79A1BF7A4EBC}"/>
              </a:ext>
            </a:extLst>
          </p:cNvPr>
          <p:cNvSpPr/>
          <p:nvPr/>
        </p:nvSpPr>
        <p:spPr>
          <a:xfrm>
            <a:off x="7041223" y="184201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5B0A146C-6FCC-47EB-BB4B-586B950BD98A}"/>
              </a:ext>
            </a:extLst>
          </p:cNvPr>
          <p:cNvSpPr/>
          <p:nvPr/>
        </p:nvSpPr>
        <p:spPr>
          <a:xfrm>
            <a:off x="7041222" y="183743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6E21EF90-1137-28BB-0751-25DE0D866B01}"/>
              </a:ext>
            </a:extLst>
          </p:cNvPr>
          <p:cNvSpPr/>
          <p:nvPr/>
        </p:nvSpPr>
        <p:spPr>
          <a:xfrm>
            <a:off x="7115864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719565E7-4708-F699-14F5-D58BE6458FA2}"/>
              </a:ext>
            </a:extLst>
          </p:cNvPr>
          <p:cNvSpPr/>
          <p:nvPr/>
        </p:nvSpPr>
        <p:spPr>
          <a:xfrm>
            <a:off x="7302182" y="236096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D3A83ED7-1978-3DE0-96F6-234CE78638E3}"/>
              </a:ext>
            </a:extLst>
          </p:cNvPr>
          <p:cNvSpPr/>
          <p:nvPr/>
        </p:nvSpPr>
        <p:spPr>
          <a:xfrm>
            <a:off x="7302182" y="287071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59" name="Graphic 58" descr="Database with solid fill">
            <a:extLst>
              <a:ext uri="{FF2B5EF4-FFF2-40B4-BE49-F238E27FC236}">
                <a16:creationId xmlns:a16="http://schemas.microsoft.com/office/drawing/2014/main" id="{D36EBC02-8F2C-1ECA-9D69-A1F1F4693D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9447" y="1861758"/>
            <a:ext cx="390272" cy="390272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993516E-D1B3-551E-C61A-ADE6152B3A83}"/>
              </a:ext>
            </a:extLst>
          </p:cNvPr>
          <p:cNvCxnSpPr>
            <a:stCxn id="18" idx="3"/>
            <a:endCxn id="25" idx="1"/>
          </p:cNvCxnSpPr>
          <p:nvPr/>
        </p:nvCxnSpPr>
        <p:spPr>
          <a:xfrm>
            <a:off x="5290428" y="282800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2F6F475-3B87-D01A-F607-575F7F10ABA3}"/>
              </a:ext>
            </a:extLst>
          </p:cNvPr>
          <p:cNvCxnSpPr>
            <a:stCxn id="25" idx="3"/>
            <a:endCxn id="3" idx="1"/>
          </p:cNvCxnSpPr>
          <p:nvPr/>
        </p:nvCxnSpPr>
        <p:spPr>
          <a:xfrm flipV="1">
            <a:off x="6882703" y="283258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C7F691D-4AFE-3F43-5FF9-8F15091A462E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8513302" y="2827760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Image 1" descr="preencoded.png">
            <a:extLst>
              <a:ext uri="{FF2B5EF4-FFF2-40B4-BE49-F238E27FC236}">
                <a16:creationId xmlns:a16="http://schemas.microsoft.com/office/drawing/2014/main" id="{712708E2-8CA6-BD44-451C-26773257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568" y="2895030"/>
            <a:ext cx="237744" cy="237744"/>
          </a:xfrm>
          <a:prstGeom prst="rect">
            <a:avLst/>
          </a:prstGeom>
        </p:spPr>
      </p:pic>
      <p:sp>
        <p:nvSpPr>
          <p:cNvPr id="55" name="Shape 10">
            <a:extLst>
              <a:ext uri="{FF2B5EF4-FFF2-40B4-BE49-F238E27FC236}">
                <a16:creationId xmlns:a16="http://schemas.microsoft.com/office/drawing/2014/main" id="{317939F3-0BB5-1D09-27AE-EDB2946FE325}"/>
              </a:ext>
            </a:extLst>
          </p:cNvPr>
          <p:cNvSpPr/>
          <p:nvPr/>
        </p:nvSpPr>
        <p:spPr>
          <a:xfrm>
            <a:off x="2345085" y="183940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FA5594DE-4F8F-EC70-F18C-1EDC5EBE2D89}"/>
              </a:ext>
            </a:extLst>
          </p:cNvPr>
          <p:cNvSpPr/>
          <p:nvPr/>
        </p:nvSpPr>
        <p:spPr>
          <a:xfrm>
            <a:off x="2345085" y="1839406"/>
            <a:ext cx="1412748" cy="438912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909CA357-6727-9A8D-6100-19A18F1BC688}"/>
              </a:ext>
            </a:extLst>
          </p:cNvPr>
          <p:cNvSpPr/>
          <p:nvPr/>
        </p:nvSpPr>
        <p:spPr>
          <a:xfrm>
            <a:off x="2345085" y="183940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473C64F8-C07B-96C1-3E84-FD81D02B309D}"/>
              </a:ext>
            </a:extLst>
          </p:cNvPr>
          <p:cNvSpPr/>
          <p:nvPr/>
        </p:nvSpPr>
        <p:spPr>
          <a:xfrm>
            <a:off x="2551162" y="232147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64" name="Text 14">
            <a:extLst>
              <a:ext uri="{FF2B5EF4-FFF2-40B4-BE49-F238E27FC236}">
                <a16:creationId xmlns:a16="http://schemas.microsoft.com/office/drawing/2014/main" id="{B0EC1F1F-FE6D-6B2D-4B1A-6E12E3F72CE9}"/>
              </a:ext>
            </a:extLst>
          </p:cNvPr>
          <p:cNvSpPr/>
          <p:nvPr/>
        </p:nvSpPr>
        <p:spPr>
          <a:xfrm>
            <a:off x="2455640" y="2704347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remove HTML,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Noisy text</a:t>
            </a:r>
            <a:endParaRPr lang="en-US" sz="1000" noProof="0" dirty="0"/>
          </a:p>
        </p:txBody>
      </p:sp>
      <p:pic>
        <p:nvPicPr>
          <p:cNvPr id="66" name="Graphic 65" descr="Eraser with solid fill">
            <a:extLst>
              <a:ext uri="{FF2B5EF4-FFF2-40B4-BE49-F238E27FC236}">
                <a16:creationId xmlns:a16="http://schemas.microsoft.com/office/drawing/2014/main" id="{05BA08FF-ED90-649F-A612-8137C50AC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9219" y="1905066"/>
            <a:ext cx="329184" cy="329184"/>
          </a:xfrm>
          <a:prstGeom prst="rect">
            <a:avLst/>
          </a:prstGeom>
        </p:spPr>
      </p:pic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F0244F9-6087-8FC8-A2AA-EFB5A534B829}"/>
              </a:ext>
            </a:extLst>
          </p:cNvPr>
          <p:cNvCxnSpPr>
            <a:stCxn id="4" idx="3"/>
            <a:endCxn id="55" idx="1"/>
          </p:cNvCxnSpPr>
          <p:nvPr/>
        </p:nvCxnSpPr>
        <p:spPr>
          <a:xfrm flipV="1">
            <a:off x="2209467" y="282647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D8FAA7-9CB5-AAA0-2EE9-D6DE4353B773}"/>
              </a:ext>
            </a:extLst>
          </p:cNvPr>
          <p:cNvCxnSpPr>
            <a:stCxn id="55" idx="3"/>
            <a:endCxn id="18" idx="1"/>
          </p:cNvCxnSpPr>
          <p:nvPr/>
        </p:nvCxnSpPr>
        <p:spPr>
          <a:xfrm>
            <a:off x="3757833" y="282647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" name="Graphic 116" descr="Back outline">
            <a:extLst>
              <a:ext uri="{FF2B5EF4-FFF2-40B4-BE49-F238E27FC236}">
                <a16:creationId xmlns:a16="http://schemas.microsoft.com/office/drawing/2014/main" id="{B8841FD3-B31E-ABF3-D8CA-C8CA58725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V="1">
            <a:off x="1383920" y="3965363"/>
            <a:ext cx="1481109" cy="148110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5EE03D-B7CD-0A28-B93B-3C60AA620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15</a:t>
            </a:fld>
            <a:endParaRPr lang="en-US" noProof="0" dirty="0"/>
          </a:p>
        </p:txBody>
      </p:sp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7FD885BF-138B-E912-1620-6F4BA4312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787" y="1967889"/>
            <a:ext cx="237744" cy="237744"/>
          </a:xfrm>
          <a:prstGeom prst="rect">
            <a:avLst/>
          </a:prstGeom>
        </p:spPr>
      </p:pic>
      <p:pic>
        <p:nvPicPr>
          <p:cNvPr id="16" name="Image 9" descr="preencoded.png">
            <a:extLst>
              <a:ext uri="{FF2B5EF4-FFF2-40B4-BE49-F238E27FC236}">
                <a16:creationId xmlns:a16="http://schemas.microsoft.com/office/drawing/2014/main" id="{569B3B54-B1A2-D17E-7323-37A48D549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907" y="2853123"/>
            <a:ext cx="237744" cy="237744"/>
          </a:xfrm>
          <a:prstGeom prst="rect">
            <a:avLst/>
          </a:prstGeom>
        </p:spPr>
      </p:pic>
      <p:sp>
        <p:nvSpPr>
          <p:cNvPr id="65" name="Shape 30">
            <a:extLst>
              <a:ext uri="{FF2B5EF4-FFF2-40B4-BE49-F238E27FC236}">
                <a16:creationId xmlns:a16="http://schemas.microsoft.com/office/drawing/2014/main" id="{34019999-94DF-D435-03A1-9E3869867F8F}"/>
              </a:ext>
            </a:extLst>
          </p:cNvPr>
          <p:cNvSpPr/>
          <p:nvPr/>
        </p:nvSpPr>
        <p:spPr>
          <a:xfrm>
            <a:off x="10048090" y="1839406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62A47885-175D-4958-6DEE-C221CEEA790E}"/>
              </a:ext>
            </a:extLst>
          </p:cNvPr>
          <p:cNvSpPr/>
          <p:nvPr/>
        </p:nvSpPr>
        <p:spPr>
          <a:xfrm>
            <a:off x="10048090" y="1839407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71AD6433-B0AB-DF7F-ECC0-CBC971814018}"/>
              </a:ext>
            </a:extLst>
          </p:cNvPr>
          <p:cNvSpPr/>
          <p:nvPr/>
        </p:nvSpPr>
        <p:spPr>
          <a:xfrm>
            <a:off x="10048090" y="183940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6" name="Image 10" descr="preencoded.png">
            <a:extLst>
              <a:ext uri="{FF2B5EF4-FFF2-40B4-BE49-F238E27FC236}">
                <a16:creationId xmlns:a16="http://schemas.microsoft.com/office/drawing/2014/main" id="{788D4DB2-B08B-D981-6C62-8E1F855AE4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21248" y="1932394"/>
            <a:ext cx="263059" cy="263059"/>
          </a:xfrm>
          <a:prstGeom prst="rect">
            <a:avLst/>
          </a:prstGeom>
        </p:spPr>
      </p:pic>
      <p:sp>
        <p:nvSpPr>
          <p:cNvPr id="79" name="Text 33">
            <a:extLst>
              <a:ext uri="{FF2B5EF4-FFF2-40B4-BE49-F238E27FC236}">
                <a16:creationId xmlns:a16="http://schemas.microsoft.com/office/drawing/2014/main" id="{3BB420B1-2F9F-323C-C976-8D207E9955F4}"/>
              </a:ext>
            </a:extLst>
          </p:cNvPr>
          <p:cNvSpPr/>
          <p:nvPr/>
        </p:nvSpPr>
        <p:spPr>
          <a:xfrm>
            <a:off x="10243889" y="24175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96343164-4477-7481-0F08-7370B4EADFAF}"/>
              </a:ext>
            </a:extLst>
          </p:cNvPr>
          <p:cNvSpPr/>
          <p:nvPr/>
        </p:nvSpPr>
        <p:spPr>
          <a:xfrm>
            <a:off x="10262892" y="293876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84" name="Image 11" descr="preencoded.png">
            <a:extLst>
              <a:ext uri="{FF2B5EF4-FFF2-40B4-BE49-F238E27FC236}">
                <a16:creationId xmlns:a16="http://schemas.microsoft.com/office/drawing/2014/main" id="{964A4C72-CC85-CAFC-2AA9-D1575E7A0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090" y="2872679"/>
            <a:ext cx="237744" cy="237744"/>
          </a:xfrm>
          <a:prstGeom prst="rect">
            <a:avLst/>
          </a:prstGeom>
        </p:spPr>
      </p:pic>
      <p:cxnSp>
        <p:nvCxnSpPr>
          <p:cNvPr id="85" name="Straight Arrow Connector 76">
            <a:extLst>
              <a:ext uri="{FF2B5EF4-FFF2-40B4-BE49-F238E27FC236}">
                <a16:creationId xmlns:a16="http://schemas.microsoft.com/office/drawing/2014/main" id="{842B37AB-88EB-AFC0-C7E9-EB378800A6EE}"/>
              </a:ext>
            </a:extLst>
          </p:cNvPr>
          <p:cNvCxnSpPr>
            <a:cxnSpLocks/>
          </p:cNvCxnSpPr>
          <p:nvPr/>
        </p:nvCxnSpPr>
        <p:spPr>
          <a:xfrm>
            <a:off x="9918242" y="283477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hape 40">
            <a:extLst>
              <a:ext uri="{FF2B5EF4-FFF2-40B4-BE49-F238E27FC236}">
                <a16:creationId xmlns:a16="http://schemas.microsoft.com/office/drawing/2014/main" id="{EDFF8531-95B2-E445-15D0-DC76431886AA}"/>
              </a:ext>
            </a:extLst>
          </p:cNvPr>
          <p:cNvSpPr/>
          <p:nvPr/>
        </p:nvSpPr>
        <p:spPr>
          <a:xfrm>
            <a:off x="3242781" y="4404787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5" name="Shape 41">
            <a:extLst>
              <a:ext uri="{FF2B5EF4-FFF2-40B4-BE49-F238E27FC236}">
                <a16:creationId xmlns:a16="http://schemas.microsoft.com/office/drawing/2014/main" id="{7B526CE1-7E12-4C25-E0C8-2AACBDCA1203}"/>
              </a:ext>
            </a:extLst>
          </p:cNvPr>
          <p:cNvSpPr/>
          <p:nvPr/>
        </p:nvSpPr>
        <p:spPr>
          <a:xfrm>
            <a:off x="3242781" y="4404787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9" name="Text 42">
            <a:extLst>
              <a:ext uri="{FF2B5EF4-FFF2-40B4-BE49-F238E27FC236}">
                <a16:creationId xmlns:a16="http://schemas.microsoft.com/office/drawing/2014/main" id="{D05EDD72-A4B5-3076-64AC-E747E8DC0E08}"/>
              </a:ext>
            </a:extLst>
          </p:cNvPr>
          <p:cNvSpPr/>
          <p:nvPr/>
        </p:nvSpPr>
        <p:spPr>
          <a:xfrm>
            <a:off x="3443949" y="4496227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What Gets Collected ?</a:t>
            </a:r>
            <a:endParaRPr lang="en-US" sz="1050" noProof="0" dirty="0"/>
          </a:p>
        </p:txBody>
      </p:sp>
      <p:sp>
        <p:nvSpPr>
          <p:cNvPr id="43" name="Text 43">
            <a:extLst>
              <a:ext uri="{FF2B5EF4-FFF2-40B4-BE49-F238E27FC236}">
                <a16:creationId xmlns:a16="http://schemas.microsoft.com/office/drawing/2014/main" id="{13993EB8-4095-E041-9632-E0C4D6EFB6F5}"/>
              </a:ext>
            </a:extLst>
          </p:cNvPr>
          <p:cNvSpPr/>
          <p:nvPr/>
        </p:nvSpPr>
        <p:spPr>
          <a:xfrm>
            <a:off x="3443949" y="4931667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GitHub API (token required, 5000 req/h)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Local clone (</a:t>
            </a:r>
            <a:r>
              <a:rPr lang="fr-FR" sz="1000" dirty="0" err="1"/>
              <a:t>repo_sync_service</a:t>
            </a:r>
            <a:r>
              <a:rPr lang="fr-FR" sz="10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File collection (</a:t>
            </a:r>
            <a:r>
              <a:rPr lang="fr-FR" sz="1000" dirty="0" err="1"/>
              <a:t>file_collect_service</a:t>
            </a:r>
            <a:r>
              <a:rPr lang="fr-FR" sz="1000" dirty="0"/>
              <a:t>)</a:t>
            </a:r>
          </a:p>
          <a:p>
            <a:endParaRPr lang="fr-FR" sz="1000" dirty="0"/>
          </a:p>
          <a:p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1026590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960E8-2D94-9B16-01C7-5E6B6C65A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9BF7B-F919-76EA-AB4B-D913C3508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AC02E11-B3C1-3FC5-D8B4-606EE223A422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38CDE13A-1F21-25DC-35B5-1AC9A57255D3}"/>
              </a:ext>
            </a:extLst>
          </p:cNvPr>
          <p:cNvSpPr/>
          <p:nvPr/>
        </p:nvSpPr>
        <p:spPr>
          <a:xfrm>
            <a:off x="1383920" y="105128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5497D79-834C-EECB-9FBF-4391F8B9E6E8}"/>
              </a:ext>
            </a:extLst>
          </p:cNvPr>
          <p:cNvSpPr/>
          <p:nvPr/>
        </p:nvSpPr>
        <p:spPr>
          <a:xfrm>
            <a:off x="904685" y="184201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DC3E6E89-CD85-0CB9-9492-796A29966B34}"/>
              </a:ext>
            </a:extLst>
          </p:cNvPr>
          <p:cNvSpPr/>
          <p:nvPr/>
        </p:nvSpPr>
        <p:spPr>
          <a:xfrm>
            <a:off x="904685" y="1842012"/>
            <a:ext cx="1294372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D107F2CC-29A0-83EE-D390-1C024535AB68}"/>
              </a:ext>
            </a:extLst>
          </p:cNvPr>
          <p:cNvSpPr/>
          <p:nvPr/>
        </p:nvSpPr>
        <p:spPr>
          <a:xfrm>
            <a:off x="904685" y="184201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C52E38C-34DC-201D-24E0-DDAA76D88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897" y="1910355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AFDEB01C-8634-82CE-9EE6-4E969EFE28E2}"/>
              </a:ext>
            </a:extLst>
          </p:cNvPr>
          <p:cNvSpPr/>
          <p:nvPr/>
        </p:nvSpPr>
        <p:spPr>
          <a:xfrm>
            <a:off x="1110425" y="235855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059AE8BF-B84B-8485-401D-59758917D624}"/>
              </a:ext>
            </a:extLst>
          </p:cNvPr>
          <p:cNvSpPr/>
          <p:nvPr/>
        </p:nvSpPr>
        <p:spPr>
          <a:xfrm>
            <a:off x="1068387" y="28104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5B441DE6-57BF-670B-94A3-97D15DBE4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827" y="2882285"/>
            <a:ext cx="237744" cy="237744"/>
          </a:xfrm>
          <a:prstGeom prst="rect">
            <a:avLst/>
          </a:prstGeom>
        </p:spPr>
      </p:pic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04488502-A9D3-B94F-0504-1991626D9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656" y="2870710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A8DCA462-0EB8-5BA1-89FA-484AF30D1ACB}"/>
              </a:ext>
            </a:extLst>
          </p:cNvPr>
          <p:cNvSpPr/>
          <p:nvPr/>
        </p:nvSpPr>
        <p:spPr>
          <a:xfrm>
            <a:off x="3883700" y="183743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B1B4446-8F10-CFF9-5043-BAE43AB0AE4E}"/>
              </a:ext>
            </a:extLst>
          </p:cNvPr>
          <p:cNvSpPr/>
          <p:nvPr/>
        </p:nvSpPr>
        <p:spPr>
          <a:xfrm>
            <a:off x="3889565" y="1848019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126963C-61D7-6431-68C5-A59A7700C7BA}"/>
              </a:ext>
            </a:extLst>
          </p:cNvPr>
          <p:cNvSpPr/>
          <p:nvPr/>
        </p:nvSpPr>
        <p:spPr>
          <a:xfrm>
            <a:off x="3954240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FFA93A81-2311-B483-B52A-9041863F2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162" y="1914672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6610FF39-ED4A-DA3F-1470-767AF6CE373C}"/>
              </a:ext>
            </a:extLst>
          </p:cNvPr>
          <p:cNvSpPr/>
          <p:nvPr/>
        </p:nvSpPr>
        <p:spPr>
          <a:xfrm>
            <a:off x="3970606" y="2473203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E74B79F-BDD8-60E6-6E17-0188E3D6A8FF}"/>
              </a:ext>
            </a:extLst>
          </p:cNvPr>
          <p:cNvSpPr/>
          <p:nvPr/>
        </p:nvSpPr>
        <p:spPr>
          <a:xfrm>
            <a:off x="4064784" y="2920413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D06A1E9A-729D-2681-0761-0D718AF3A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136" y="2865890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DFB53AB9-A2AF-AE6F-12EC-84E9708325C3}"/>
              </a:ext>
            </a:extLst>
          </p:cNvPr>
          <p:cNvSpPr/>
          <p:nvPr/>
        </p:nvSpPr>
        <p:spPr>
          <a:xfrm>
            <a:off x="5485265" y="184801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EA27A20-D799-D28F-66A3-027FA9FA3FC0}"/>
              </a:ext>
            </a:extLst>
          </p:cNvPr>
          <p:cNvSpPr/>
          <p:nvPr/>
        </p:nvSpPr>
        <p:spPr>
          <a:xfrm>
            <a:off x="5498720" y="183261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6AAB8FEC-343A-E63B-8418-AF1CAC8291AD}"/>
              </a:ext>
            </a:extLst>
          </p:cNvPr>
          <p:cNvSpPr/>
          <p:nvPr/>
        </p:nvSpPr>
        <p:spPr>
          <a:xfrm>
            <a:off x="5498720" y="183261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6D5F44F-4081-409D-9320-207FE3A4B723}"/>
              </a:ext>
            </a:extLst>
          </p:cNvPr>
          <p:cNvSpPr/>
          <p:nvPr/>
        </p:nvSpPr>
        <p:spPr>
          <a:xfrm>
            <a:off x="5685038" y="235614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6EB17023-D508-6AF9-5DC3-E95926F5B578}"/>
              </a:ext>
            </a:extLst>
          </p:cNvPr>
          <p:cNvSpPr/>
          <p:nvPr/>
        </p:nvSpPr>
        <p:spPr>
          <a:xfrm>
            <a:off x="5694519" y="273336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4C9C1BB7-7E5E-5202-760B-1FF950F26D93}"/>
              </a:ext>
            </a:extLst>
          </p:cNvPr>
          <p:cNvSpPr/>
          <p:nvPr/>
        </p:nvSpPr>
        <p:spPr>
          <a:xfrm>
            <a:off x="8676300" y="1832618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630D55E3-DDB1-39EC-8E7B-B53F70B071A8}"/>
              </a:ext>
            </a:extLst>
          </p:cNvPr>
          <p:cNvSpPr/>
          <p:nvPr/>
        </p:nvSpPr>
        <p:spPr>
          <a:xfrm>
            <a:off x="8676300" y="1832619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0C6943C5-1E7E-D061-A6A7-8A327C3A1358}"/>
              </a:ext>
            </a:extLst>
          </p:cNvPr>
          <p:cNvSpPr/>
          <p:nvPr/>
        </p:nvSpPr>
        <p:spPr>
          <a:xfrm>
            <a:off x="8676300" y="183261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1C92ADEC-02D9-54CE-BD68-423B748C44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8667" y="1917688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DA976DCD-DBF5-C3CE-CC5F-0EC449A0D9F0}"/>
              </a:ext>
            </a:extLst>
          </p:cNvPr>
          <p:cNvSpPr/>
          <p:nvPr/>
        </p:nvSpPr>
        <p:spPr>
          <a:xfrm>
            <a:off x="8613886" y="2451768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437E0482-E035-84EB-E163-00D6158ED811}"/>
              </a:ext>
            </a:extLst>
          </p:cNvPr>
          <p:cNvSpPr/>
          <p:nvPr/>
        </p:nvSpPr>
        <p:spPr>
          <a:xfrm>
            <a:off x="8775290" y="27944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2A2D3673-FC5B-D471-9BC5-43194B08D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0901" y="1860049"/>
            <a:ext cx="402338" cy="402338"/>
          </a:xfrm>
          <a:prstGeom prst="rect">
            <a:avLst/>
          </a:prstGeom>
        </p:spPr>
      </p:pic>
      <p:sp>
        <p:nvSpPr>
          <p:cNvPr id="3" name="Shape 20">
            <a:extLst>
              <a:ext uri="{FF2B5EF4-FFF2-40B4-BE49-F238E27FC236}">
                <a16:creationId xmlns:a16="http://schemas.microsoft.com/office/drawing/2014/main" id="{A6F6622B-C0D0-16C7-01FB-DA744695DFDB}"/>
              </a:ext>
            </a:extLst>
          </p:cNvPr>
          <p:cNvSpPr/>
          <p:nvPr/>
        </p:nvSpPr>
        <p:spPr>
          <a:xfrm>
            <a:off x="7041223" y="184201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B51FDEB5-C676-68C5-09E8-19366EC27C7B}"/>
              </a:ext>
            </a:extLst>
          </p:cNvPr>
          <p:cNvSpPr/>
          <p:nvPr/>
        </p:nvSpPr>
        <p:spPr>
          <a:xfrm>
            <a:off x="7041222" y="183743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019341BF-9848-3CF1-923A-9D7429CB7CDD}"/>
              </a:ext>
            </a:extLst>
          </p:cNvPr>
          <p:cNvSpPr/>
          <p:nvPr/>
        </p:nvSpPr>
        <p:spPr>
          <a:xfrm>
            <a:off x="7115864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E261B9A0-1862-6C3E-ED29-09105E0B3965}"/>
              </a:ext>
            </a:extLst>
          </p:cNvPr>
          <p:cNvSpPr/>
          <p:nvPr/>
        </p:nvSpPr>
        <p:spPr>
          <a:xfrm>
            <a:off x="7302182" y="236096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E9CD1037-E31F-BF65-59B8-D2EEC85BDD59}"/>
              </a:ext>
            </a:extLst>
          </p:cNvPr>
          <p:cNvSpPr/>
          <p:nvPr/>
        </p:nvSpPr>
        <p:spPr>
          <a:xfrm>
            <a:off x="7302182" y="287071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59" name="Graphic 58" descr="Database with solid fill">
            <a:extLst>
              <a:ext uri="{FF2B5EF4-FFF2-40B4-BE49-F238E27FC236}">
                <a16:creationId xmlns:a16="http://schemas.microsoft.com/office/drawing/2014/main" id="{A43BCAA5-BE37-C6BB-EB48-37FE80DDA3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9447" y="1861758"/>
            <a:ext cx="390272" cy="390272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EAC5B7D-2BB7-6441-350D-FB8868A52920}"/>
              </a:ext>
            </a:extLst>
          </p:cNvPr>
          <p:cNvCxnSpPr>
            <a:stCxn id="18" idx="3"/>
            <a:endCxn id="25" idx="1"/>
          </p:cNvCxnSpPr>
          <p:nvPr/>
        </p:nvCxnSpPr>
        <p:spPr>
          <a:xfrm>
            <a:off x="5290428" y="282800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844306A-1F05-E924-44F8-095A9B7A9583}"/>
              </a:ext>
            </a:extLst>
          </p:cNvPr>
          <p:cNvCxnSpPr>
            <a:stCxn id="25" idx="3"/>
            <a:endCxn id="3" idx="1"/>
          </p:cNvCxnSpPr>
          <p:nvPr/>
        </p:nvCxnSpPr>
        <p:spPr>
          <a:xfrm flipV="1">
            <a:off x="6882703" y="283258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C23BA4C-93F2-F4E9-83E8-5E91E48E4F2F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8513302" y="2827760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Image 1" descr="preencoded.png">
            <a:extLst>
              <a:ext uri="{FF2B5EF4-FFF2-40B4-BE49-F238E27FC236}">
                <a16:creationId xmlns:a16="http://schemas.microsoft.com/office/drawing/2014/main" id="{D84B6933-11C2-4E10-12EE-F88B6EC19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568" y="2895030"/>
            <a:ext cx="237744" cy="237744"/>
          </a:xfrm>
          <a:prstGeom prst="rect">
            <a:avLst/>
          </a:prstGeom>
        </p:spPr>
      </p:pic>
      <p:sp>
        <p:nvSpPr>
          <p:cNvPr id="55" name="Shape 10">
            <a:extLst>
              <a:ext uri="{FF2B5EF4-FFF2-40B4-BE49-F238E27FC236}">
                <a16:creationId xmlns:a16="http://schemas.microsoft.com/office/drawing/2014/main" id="{FF8C46C3-C705-A29E-7FF9-D4FA79E2E9A3}"/>
              </a:ext>
            </a:extLst>
          </p:cNvPr>
          <p:cNvSpPr/>
          <p:nvPr/>
        </p:nvSpPr>
        <p:spPr>
          <a:xfrm>
            <a:off x="2345085" y="183940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E484EF93-16E9-394D-46D5-D19748679185}"/>
              </a:ext>
            </a:extLst>
          </p:cNvPr>
          <p:cNvSpPr/>
          <p:nvPr/>
        </p:nvSpPr>
        <p:spPr>
          <a:xfrm>
            <a:off x="2345085" y="1839406"/>
            <a:ext cx="1412748" cy="438912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1D65C95F-9BF0-0BD6-8444-4CCE2DEED6E0}"/>
              </a:ext>
            </a:extLst>
          </p:cNvPr>
          <p:cNvSpPr/>
          <p:nvPr/>
        </p:nvSpPr>
        <p:spPr>
          <a:xfrm>
            <a:off x="2345085" y="183940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33FD37E7-F765-ED19-77FE-DC0AE256BF07}"/>
              </a:ext>
            </a:extLst>
          </p:cNvPr>
          <p:cNvSpPr/>
          <p:nvPr/>
        </p:nvSpPr>
        <p:spPr>
          <a:xfrm>
            <a:off x="2551162" y="232147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64" name="Text 14">
            <a:extLst>
              <a:ext uri="{FF2B5EF4-FFF2-40B4-BE49-F238E27FC236}">
                <a16:creationId xmlns:a16="http://schemas.microsoft.com/office/drawing/2014/main" id="{13D29A4E-86CD-288D-E255-4DCCCF20F472}"/>
              </a:ext>
            </a:extLst>
          </p:cNvPr>
          <p:cNvSpPr/>
          <p:nvPr/>
        </p:nvSpPr>
        <p:spPr>
          <a:xfrm>
            <a:off x="2455640" y="2704347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remove HTML,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Noisy text</a:t>
            </a:r>
            <a:endParaRPr lang="en-US" sz="1000" noProof="0" dirty="0"/>
          </a:p>
        </p:txBody>
      </p:sp>
      <p:pic>
        <p:nvPicPr>
          <p:cNvPr id="66" name="Graphic 65" descr="Eraser with solid fill">
            <a:extLst>
              <a:ext uri="{FF2B5EF4-FFF2-40B4-BE49-F238E27FC236}">
                <a16:creationId xmlns:a16="http://schemas.microsoft.com/office/drawing/2014/main" id="{42FDDD65-19B5-CDFC-318F-4DE412CCD8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9219" y="1905066"/>
            <a:ext cx="329184" cy="329184"/>
          </a:xfrm>
          <a:prstGeom prst="rect">
            <a:avLst/>
          </a:prstGeom>
        </p:spPr>
      </p:pic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585A4B2-B258-02F6-0A17-7734F14433B2}"/>
              </a:ext>
            </a:extLst>
          </p:cNvPr>
          <p:cNvCxnSpPr>
            <a:stCxn id="4" idx="3"/>
            <a:endCxn id="55" idx="1"/>
          </p:cNvCxnSpPr>
          <p:nvPr/>
        </p:nvCxnSpPr>
        <p:spPr>
          <a:xfrm flipV="1">
            <a:off x="2209467" y="282647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58964A3-CB21-E528-EE43-53EB59BC9817}"/>
              </a:ext>
            </a:extLst>
          </p:cNvPr>
          <p:cNvCxnSpPr>
            <a:stCxn id="55" idx="3"/>
            <a:endCxn id="18" idx="1"/>
          </p:cNvCxnSpPr>
          <p:nvPr/>
        </p:nvCxnSpPr>
        <p:spPr>
          <a:xfrm>
            <a:off x="3757833" y="282647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" name="Graphic 116" descr="Back outline">
            <a:extLst>
              <a:ext uri="{FF2B5EF4-FFF2-40B4-BE49-F238E27FC236}">
                <a16:creationId xmlns:a16="http://schemas.microsoft.com/office/drawing/2014/main" id="{0FB0056B-8485-E07E-710B-F7BF9A6FB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V="1">
            <a:off x="1383920" y="3965363"/>
            <a:ext cx="1481109" cy="148110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6618F4-B096-D983-6FA5-952F47D2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16</a:t>
            </a:fld>
            <a:endParaRPr lang="en-US" noProof="0" dirty="0"/>
          </a:p>
        </p:txBody>
      </p:sp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05CA4885-8486-8A2C-51E4-7601A4BEB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787" y="1967889"/>
            <a:ext cx="237744" cy="237744"/>
          </a:xfrm>
          <a:prstGeom prst="rect">
            <a:avLst/>
          </a:prstGeom>
        </p:spPr>
      </p:pic>
      <p:pic>
        <p:nvPicPr>
          <p:cNvPr id="16" name="Image 9" descr="preencoded.png">
            <a:extLst>
              <a:ext uri="{FF2B5EF4-FFF2-40B4-BE49-F238E27FC236}">
                <a16:creationId xmlns:a16="http://schemas.microsoft.com/office/drawing/2014/main" id="{604E9755-CC10-9A94-75F7-107479722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907" y="2853123"/>
            <a:ext cx="237744" cy="237744"/>
          </a:xfrm>
          <a:prstGeom prst="rect">
            <a:avLst/>
          </a:prstGeom>
        </p:spPr>
      </p:pic>
      <p:sp>
        <p:nvSpPr>
          <p:cNvPr id="65" name="Shape 30">
            <a:extLst>
              <a:ext uri="{FF2B5EF4-FFF2-40B4-BE49-F238E27FC236}">
                <a16:creationId xmlns:a16="http://schemas.microsoft.com/office/drawing/2014/main" id="{5ACD1C53-A766-6100-D111-3D27D0CCDAB7}"/>
              </a:ext>
            </a:extLst>
          </p:cNvPr>
          <p:cNvSpPr/>
          <p:nvPr/>
        </p:nvSpPr>
        <p:spPr>
          <a:xfrm>
            <a:off x="10048090" y="1839406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41F76B61-8E6B-52D8-C797-244AB83B9F9F}"/>
              </a:ext>
            </a:extLst>
          </p:cNvPr>
          <p:cNvSpPr/>
          <p:nvPr/>
        </p:nvSpPr>
        <p:spPr>
          <a:xfrm>
            <a:off x="10048090" y="1839407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0AFCACC6-1138-C757-7E5C-88B24FB449BF}"/>
              </a:ext>
            </a:extLst>
          </p:cNvPr>
          <p:cNvSpPr/>
          <p:nvPr/>
        </p:nvSpPr>
        <p:spPr>
          <a:xfrm>
            <a:off x="10048090" y="183940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6" name="Image 10" descr="preencoded.png">
            <a:extLst>
              <a:ext uri="{FF2B5EF4-FFF2-40B4-BE49-F238E27FC236}">
                <a16:creationId xmlns:a16="http://schemas.microsoft.com/office/drawing/2014/main" id="{0D67AC4D-9D43-0FD1-A4BD-D7B56278A3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21248" y="1932394"/>
            <a:ext cx="263059" cy="263059"/>
          </a:xfrm>
          <a:prstGeom prst="rect">
            <a:avLst/>
          </a:prstGeom>
        </p:spPr>
      </p:pic>
      <p:sp>
        <p:nvSpPr>
          <p:cNvPr id="79" name="Text 33">
            <a:extLst>
              <a:ext uri="{FF2B5EF4-FFF2-40B4-BE49-F238E27FC236}">
                <a16:creationId xmlns:a16="http://schemas.microsoft.com/office/drawing/2014/main" id="{62E5C9FD-2C0F-E83F-7F08-E0167CAD6A4C}"/>
              </a:ext>
            </a:extLst>
          </p:cNvPr>
          <p:cNvSpPr/>
          <p:nvPr/>
        </p:nvSpPr>
        <p:spPr>
          <a:xfrm>
            <a:off x="10243889" y="24175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BD9D86B5-D0B3-1E67-48CC-3A1D948F05AA}"/>
              </a:ext>
            </a:extLst>
          </p:cNvPr>
          <p:cNvSpPr/>
          <p:nvPr/>
        </p:nvSpPr>
        <p:spPr>
          <a:xfrm>
            <a:off x="10262892" y="293876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84" name="Image 11" descr="preencoded.png">
            <a:extLst>
              <a:ext uri="{FF2B5EF4-FFF2-40B4-BE49-F238E27FC236}">
                <a16:creationId xmlns:a16="http://schemas.microsoft.com/office/drawing/2014/main" id="{84BBF3A9-B27F-6D4B-8987-02440EB83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090" y="2872679"/>
            <a:ext cx="237744" cy="237744"/>
          </a:xfrm>
          <a:prstGeom prst="rect">
            <a:avLst/>
          </a:prstGeom>
        </p:spPr>
      </p:pic>
      <p:cxnSp>
        <p:nvCxnSpPr>
          <p:cNvPr id="85" name="Straight Arrow Connector 76">
            <a:extLst>
              <a:ext uri="{FF2B5EF4-FFF2-40B4-BE49-F238E27FC236}">
                <a16:creationId xmlns:a16="http://schemas.microsoft.com/office/drawing/2014/main" id="{D4DE3332-2516-35A2-9937-E73AB15E1E2A}"/>
              </a:ext>
            </a:extLst>
          </p:cNvPr>
          <p:cNvCxnSpPr>
            <a:cxnSpLocks/>
          </p:cNvCxnSpPr>
          <p:nvPr/>
        </p:nvCxnSpPr>
        <p:spPr>
          <a:xfrm>
            <a:off x="9918242" y="283477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32">
            <a:extLst>
              <a:ext uri="{FF2B5EF4-FFF2-40B4-BE49-F238E27FC236}">
                <a16:creationId xmlns:a16="http://schemas.microsoft.com/office/drawing/2014/main" id="{48547423-AD1D-C081-EB07-752466302E59}"/>
              </a:ext>
            </a:extLst>
          </p:cNvPr>
          <p:cNvSpPr/>
          <p:nvPr/>
        </p:nvSpPr>
        <p:spPr>
          <a:xfrm>
            <a:off x="3098117" y="4241369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fabricated , everything comes from public STM32Cube GitHub repos</a:t>
            </a:r>
            <a:endParaRPr lang="en-US" sz="125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2" name="Shape 33">
            <a:extLst>
              <a:ext uri="{FF2B5EF4-FFF2-40B4-BE49-F238E27FC236}">
                <a16:creationId xmlns:a16="http://schemas.microsoft.com/office/drawing/2014/main" id="{1B65A8D0-D68D-400D-CA60-036F81C60E3B}"/>
              </a:ext>
            </a:extLst>
          </p:cNvPr>
          <p:cNvSpPr/>
          <p:nvPr/>
        </p:nvSpPr>
        <p:spPr>
          <a:xfrm>
            <a:off x="3195288" y="4615117"/>
            <a:ext cx="2542032" cy="932688"/>
          </a:xfrm>
          <a:prstGeom prst="roundRect">
            <a:avLst>
              <a:gd name="adj" fmla="val 882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D3383FDD-7FAC-DE96-AADE-8FE982ACCD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2767" y="4693109"/>
            <a:ext cx="365760" cy="365760"/>
          </a:xfrm>
          <a:prstGeom prst="rect">
            <a:avLst/>
          </a:prstGeom>
        </p:spPr>
      </p:pic>
      <p:sp>
        <p:nvSpPr>
          <p:cNvPr id="36" name="Text 34">
            <a:extLst>
              <a:ext uri="{FF2B5EF4-FFF2-40B4-BE49-F238E27FC236}">
                <a16:creationId xmlns:a16="http://schemas.microsoft.com/office/drawing/2014/main" id="{2EF0AFF4-78F7-8FD0-38B6-EF9272A2ADD3}"/>
              </a:ext>
            </a:extLst>
          </p:cNvPr>
          <p:cNvSpPr/>
          <p:nvPr/>
        </p:nvSpPr>
        <p:spPr>
          <a:xfrm>
            <a:off x="3733928" y="4683004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35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8DA71E96-BB4F-BA5A-779C-8C5BB74B22C2}"/>
              </a:ext>
            </a:extLst>
          </p:cNvPr>
          <p:cNvSpPr/>
          <p:nvPr/>
        </p:nvSpPr>
        <p:spPr>
          <a:xfrm>
            <a:off x="3733928" y="4911765"/>
            <a:ext cx="1764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3A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800" dirty="0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0B5135F5-6F6A-C75A-D7B9-17FD08BEC1AF}"/>
              </a:ext>
            </a:extLst>
          </p:cNvPr>
          <p:cNvSpPr/>
          <p:nvPr/>
        </p:nvSpPr>
        <p:spPr>
          <a:xfrm>
            <a:off x="3270891" y="5166177"/>
            <a:ext cx="261273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User-reported bugs: title, body, comments, labels, state, URL, timestamps</a:t>
            </a:r>
            <a:endParaRPr lang="en-US" sz="950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FFD81933-FC32-50DF-7C00-6BB7CFB4113C}"/>
              </a:ext>
            </a:extLst>
          </p:cNvPr>
          <p:cNvSpPr/>
          <p:nvPr/>
        </p:nvSpPr>
        <p:spPr>
          <a:xfrm>
            <a:off x="5883624" y="4615117"/>
            <a:ext cx="2542032" cy="932688"/>
          </a:xfrm>
          <a:prstGeom prst="roundRect">
            <a:avLst>
              <a:gd name="adj" fmla="val 882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44" name="Image 1" descr="preencoded.png">
            <a:extLst>
              <a:ext uri="{FF2B5EF4-FFF2-40B4-BE49-F238E27FC236}">
                <a16:creationId xmlns:a16="http://schemas.microsoft.com/office/drawing/2014/main" id="{D75ADCCE-C6F7-9231-C31C-BAADAFFABFF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5802" y="4693109"/>
            <a:ext cx="365760" cy="365760"/>
          </a:xfrm>
          <a:prstGeom prst="rect">
            <a:avLst/>
          </a:prstGeom>
        </p:spPr>
      </p:pic>
      <p:sp>
        <p:nvSpPr>
          <p:cNvPr id="56" name="Text 38">
            <a:extLst>
              <a:ext uri="{FF2B5EF4-FFF2-40B4-BE49-F238E27FC236}">
                <a16:creationId xmlns:a16="http://schemas.microsoft.com/office/drawing/2014/main" id="{FF569855-7B35-8FCD-F279-91821DC2F0CD}"/>
              </a:ext>
            </a:extLst>
          </p:cNvPr>
          <p:cNvSpPr/>
          <p:nvPr/>
        </p:nvSpPr>
        <p:spPr>
          <a:xfrm>
            <a:off x="6393239" y="4670208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files</a:t>
            </a:r>
            <a:endParaRPr lang="en-US" sz="1350" dirty="0"/>
          </a:p>
        </p:txBody>
      </p:sp>
      <p:sp>
        <p:nvSpPr>
          <p:cNvPr id="68" name="Text 39">
            <a:extLst>
              <a:ext uri="{FF2B5EF4-FFF2-40B4-BE49-F238E27FC236}">
                <a16:creationId xmlns:a16="http://schemas.microsoft.com/office/drawing/2014/main" id="{5068DD5C-069B-638C-427D-331C4A0CB55A}"/>
              </a:ext>
            </a:extLst>
          </p:cNvPr>
          <p:cNvSpPr/>
          <p:nvPr/>
        </p:nvSpPr>
        <p:spPr>
          <a:xfrm>
            <a:off x="6407656" y="4898581"/>
            <a:ext cx="1764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3A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800" dirty="0"/>
          </a:p>
        </p:txBody>
      </p:sp>
      <p:sp>
        <p:nvSpPr>
          <p:cNvPr id="73" name="Text 40">
            <a:extLst>
              <a:ext uri="{FF2B5EF4-FFF2-40B4-BE49-F238E27FC236}">
                <a16:creationId xmlns:a16="http://schemas.microsoft.com/office/drawing/2014/main" id="{858578EB-E5B5-8036-C044-8190000B10F1}"/>
              </a:ext>
            </a:extLst>
          </p:cNvPr>
          <p:cNvSpPr/>
          <p:nvPr/>
        </p:nvSpPr>
        <p:spPr>
          <a:xfrm>
            <a:off x="5937966" y="5131793"/>
            <a:ext cx="2370056" cy="330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HAL/LL drivers, middleware, BSP, README, release notes, PDF docs</a:t>
            </a:r>
            <a:endParaRPr lang="en-US" sz="950" dirty="0"/>
          </a:p>
        </p:txBody>
      </p:sp>
      <p:sp>
        <p:nvSpPr>
          <p:cNvPr id="75" name="Shape 41">
            <a:extLst>
              <a:ext uri="{FF2B5EF4-FFF2-40B4-BE49-F238E27FC236}">
                <a16:creationId xmlns:a16="http://schemas.microsoft.com/office/drawing/2014/main" id="{B818DA4F-1A81-1CD6-552C-8BEF95E1E4AC}"/>
              </a:ext>
            </a:extLst>
          </p:cNvPr>
          <p:cNvSpPr/>
          <p:nvPr/>
        </p:nvSpPr>
        <p:spPr>
          <a:xfrm>
            <a:off x="8571959" y="4615117"/>
            <a:ext cx="2677769" cy="932688"/>
          </a:xfrm>
          <a:prstGeom prst="roundRect">
            <a:avLst>
              <a:gd name="adj" fmla="val 882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80" name="Image 2" descr="preencoded.png">
            <a:extLst>
              <a:ext uri="{FF2B5EF4-FFF2-40B4-BE49-F238E27FC236}">
                <a16:creationId xmlns:a16="http://schemas.microsoft.com/office/drawing/2014/main" id="{25B1B11E-03A1-29F0-3ED8-C0BD92C6158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67646" y="4693497"/>
            <a:ext cx="365760" cy="365760"/>
          </a:xfrm>
          <a:prstGeom prst="rect">
            <a:avLst/>
          </a:prstGeom>
        </p:spPr>
      </p:pic>
      <p:sp>
        <p:nvSpPr>
          <p:cNvPr id="86" name="Text 42">
            <a:extLst>
              <a:ext uri="{FF2B5EF4-FFF2-40B4-BE49-F238E27FC236}">
                <a16:creationId xmlns:a16="http://schemas.microsoft.com/office/drawing/2014/main" id="{8E47E97F-B730-6106-0DE9-4E9EEA5A0094}"/>
              </a:ext>
            </a:extLst>
          </p:cNvPr>
          <p:cNvSpPr/>
          <p:nvPr/>
        </p:nvSpPr>
        <p:spPr>
          <a:xfrm>
            <a:off x="9038609" y="4693109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&amp; commits</a:t>
            </a:r>
            <a:endParaRPr lang="en-US" sz="1350" dirty="0"/>
          </a:p>
        </p:txBody>
      </p:sp>
      <p:sp>
        <p:nvSpPr>
          <p:cNvPr id="88" name="Text 43">
            <a:extLst>
              <a:ext uri="{FF2B5EF4-FFF2-40B4-BE49-F238E27FC236}">
                <a16:creationId xmlns:a16="http://schemas.microsoft.com/office/drawing/2014/main" id="{19360981-04D1-ED11-6B03-77FB5A51F44A}"/>
              </a:ext>
            </a:extLst>
          </p:cNvPr>
          <p:cNvSpPr/>
          <p:nvPr/>
        </p:nvSpPr>
        <p:spPr>
          <a:xfrm>
            <a:off x="9038609" y="4941959"/>
            <a:ext cx="1764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3A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800" dirty="0"/>
          </a:p>
        </p:txBody>
      </p:sp>
      <p:sp>
        <p:nvSpPr>
          <p:cNvPr id="90" name="Text 44">
            <a:extLst>
              <a:ext uri="{FF2B5EF4-FFF2-40B4-BE49-F238E27FC236}">
                <a16:creationId xmlns:a16="http://schemas.microsoft.com/office/drawing/2014/main" id="{9ACA9C4D-1E3D-1963-1359-1B8A52308994}"/>
              </a:ext>
            </a:extLst>
          </p:cNvPr>
          <p:cNvSpPr/>
          <p:nvPr/>
        </p:nvSpPr>
        <p:spPr>
          <a:xfrm>
            <a:off x="8662314" y="5114252"/>
            <a:ext cx="2451677" cy="332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changes that confirm how a bug was fixed</a:t>
            </a:r>
            <a:endParaRPr lang="en-US" sz="950" dirty="0"/>
          </a:p>
        </p:txBody>
      </p:sp>
      <p:sp>
        <p:nvSpPr>
          <p:cNvPr id="92" name="Shape 45">
            <a:extLst>
              <a:ext uri="{FF2B5EF4-FFF2-40B4-BE49-F238E27FC236}">
                <a16:creationId xmlns:a16="http://schemas.microsoft.com/office/drawing/2014/main" id="{DA2EEA4E-797E-08D7-96FF-5F743BA8F38C}"/>
              </a:ext>
            </a:extLst>
          </p:cNvPr>
          <p:cNvSpPr/>
          <p:nvPr/>
        </p:nvSpPr>
        <p:spPr>
          <a:xfrm>
            <a:off x="4719885" y="5649350"/>
            <a:ext cx="2542032" cy="1024216"/>
          </a:xfrm>
          <a:prstGeom prst="roundRect">
            <a:avLst>
              <a:gd name="adj" fmla="val 8824"/>
            </a:avLst>
          </a:prstGeom>
          <a:solidFill>
            <a:srgbClr val="1E3E6E"/>
          </a:solidFill>
          <a:ln w="12700">
            <a:solidFill>
              <a:srgbClr val="F5B841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94" name="Image 3" descr="preencoded.png">
            <a:extLst>
              <a:ext uri="{FF2B5EF4-FFF2-40B4-BE49-F238E27FC236}">
                <a16:creationId xmlns:a16="http://schemas.microsoft.com/office/drawing/2014/main" id="{AABC8F79-4EB1-FADB-DEBD-E3D32A59FA7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02765" y="5813942"/>
            <a:ext cx="365760" cy="365760"/>
          </a:xfrm>
          <a:prstGeom prst="rect">
            <a:avLst/>
          </a:prstGeom>
        </p:spPr>
      </p:pic>
      <p:sp>
        <p:nvSpPr>
          <p:cNvPr id="96" name="Text 46">
            <a:extLst>
              <a:ext uri="{FF2B5EF4-FFF2-40B4-BE49-F238E27FC236}">
                <a16:creationId xmlns:a16="http://schemas.microsoft.com/office/drawing/2014/main" id="{5BA7ABCA-97CC-59DD-D3DC-4643FFB097AB}"/>
              </a:ext>
            </a:extLst>
          </p:cNvPr>
          <p:cNvSpPr/>
          <p:nvPr/>
        </p:nvSpPr>
        <p:spPr>
          <a:xfrm>
            <a:off x="5378253" y="5777366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cases</a:t>
            </a:r>
            <a:endParaRPr lang="en-US" sz="1350" dirty="0"/>
          </a:p>
        </p:txBody>
      </p:sp>
      <p:sp>
        <p:nvSpPr>
          <p:cNvPr id="98" name="Text 47">
            <a:extLst>
              <a:ext uri="{FF2B5EF4-FFF2-40B4-BE49-F238E27FC236}">
                <a16:creationId xmlns:a16="http://schemas.microsoft.com/office/drawing/2014/main" id="{A0A667C0-7942-2CD4-CB27-DE11F3F88F6F}"/>
              </a:ext>
            </a:extLst>
          </p:cNvPr>
          <p:cNvSpPr/>
          <p:nvPr/>
        </p:nvSpPr>
        <p:spPr>
          <a:xfrm>
            <a:off x="5378253" y="6051686"/>
            <a:ext cx="1764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800" dirty="0"/>
          </a:p>
        </p:txBody>
      </p:sp>
      <p:sp>
        <p:nvSpPr>
          <p:cNvPr id="100" name="Text 48">
            <a:extLst>
              <a:ext uri="{FF2B5EF4-FFF2-40B4-BE49-F238E27FC236}">
                <a16:creationId xmlns:a16="http://schemas.microsoft.com/office/drawing/2014/main" id="{4F34D7ED-5B45-418A-AAA0-7FFCD4E9AA18}"/>
              </a:ext>
            </a:extLst>
          </p:cNvPr>
          <p:cNvSpPr/>
          <p:nvPr/>
        </p:nvSpPr>
        <p:spPr>
          <a:xfrm>
            <a:off x="4902765" y="6252854"/>
            <a:ext cx="2221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→ PR → commit proof chain</a:t>
            </a:r>
            <a:endParaRPr lang="en-US" sz="950" dirty="0"/>
          </a:p>
        </p:txBody>
      </p:sp>
      <p:sp>
        <p:nvSpPr>
          <p:cNvPr id="102" name="Shape 49">
            <a:extLst>
              <a:ext uri="{FF2B5EF4-FFF2-40B4-BE49-F238E27FC236}">
                <a16:creationId xmlns:a16="http://schemas.microsoft.com/office/drawing/2014/main" id="{A36D1F87-3B8B-C368-BBCB-A747C27C37B7}"/>
              </a:ext>
            </a:extLst>
          </p:cNvPr>
          <p:cNvSpPr/>
          <p:nvPr/>
        </p:nvSpPr>
        <p:spPr>
          <a:xfrm>
            <a:off x="7408221" y="5649349"/>
            <a:ext cx="2542032" cy="1018209"/>
          </a:xfrm>
          <a:prstGeom prst="roundRect">
            <a:avLst>
              <a:gd name="adj" fmla="val 8824"/>
            </a:avLst>
          </a:prstGeom>
          <a:solidFill>
            <a:srgbClr val="1E3E6E"/>
          </a:solidFill>
          <a:ln w="12700">
            <a:solidFill>
              <a:srgbClr val="F5B841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104" name="Image 4" descr="preencoded.png">
            <a:extLst>
              <a:ext uri="{FF2B5EF4-FFF2-40B4-BE49-F238E27FC236}">
                <a16:creationId xmlns:a16="http://schemas.microsoft.com/office/drawing/2014/main" id="{94230616-829A-CA79-ECC1-C761049A20B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91101" y="5813942"/>
            <a:ext cx="365760" cy="365760"/>
          </a:xfrm>
          <a:prstGeom prst="rect">
            <a:avLst/>
          </a:prstGeom>
        </p:spPr>
      </p:pic>
      <p:sp>
        <p:nvSpPr>
          <p:cNvPr id="106" name="Text 50">
            <a:extLst>
              <a:ext uri="{FF2B5EF4-FFF2-40B4-BE49-F238E27FC236}">
                <a16:creationId xmlns:a16="http://schemas.microsoft.com/office/drawing/2014/main" id="{059DF6E1-51E3-3D52-2AF3-35E5F4C8DE01}"/>
              </a:ext>
            </a:extLst>
          </p:cNvPr>
          <p:cNvSpPr/>
          <p:nvPr/>
        </p:nvSpPr>
        <p:spPr>
          <a:xfrm>
            <a:off x="8066589" y="5777366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cards</a:t>
            </a:r>
            <a:endParaRPr lang="en-US" sz="1350" dirty="0"/>
          </a:p>
        </p:txBody>
      </p:sp>
      <p:sp>
        <p:nvSpPr>
          <p:cNvPr id="109" name="Text 51">
            <a:extLst>
              <a:ext uri="{FF2B5EF4-FFF2-40B4-BE49-F238E27FC236}">
                <a16:creationId xmlns:a16="http://schemas.microsoft.com/office/drawing/2014/main" id="{793776CF-8977-A15E-CF11-F86950118CDF}"/>
              </a:ext>
            </a:extLst>
          </p:cNvPr>
          <p:cNvSpPr/>
          <p:nvPr/>
        </p:nvSpPr>
        <p:spPr>
          <a:xfrm>
            <a:off x="8066589" y="6051686"/>
            <a:ext cx="1764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800" dirty="0"/>
          </a:p>
        </p:txBody>
      </p:sp>
      <p:sp>
        <p:nvSpPr>
          <p:cNvPr id="112" name="Text 52">
            <a:extLst>
              <a:ext uri="{FF2B5EF4-FFF2-40B4-BE49-F238E27FC236}">
                <a16:creationId xmlns:a16="http://schemas.microsoft.com/office/drawing/2014/main" id="{133EB9B1-75AE-1B23-D9F9-9F05728EEB2D}"/>
              </a:ext>
            </a:extLst>
          </p:cNvPr>
          <p:cNvSpPr/>
          <p:nvPr/>
        </p:nvSpPr>
        <p:spPr>
          <a:xfrm>
            <a:off x="7591101" y="6252854"/>
            <a:ext cx="2221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evidence → solution, built automatically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207921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A3299-97E0-1085-2B73-3A71641C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DE25-6803-9FCC-D532-921205B3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813D1DE-9657-87E1-3A75-CF83CAFE9D47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D6C9136-5E24-D98A-57E8-0708399D329F}"/>
              </a:ext>
            </a:extLst>
          </p:cNvPr>
          <p:cNvSpPr/>
          <p:nvPr/>
        </p:nvSpPr>
        <p:spPr>
          <a:xfrm>
            <a:off x="1383920" y="105128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48CE4D69-ABEC-7639-667C-ADE32FD0BE3B}"/>
              </a:ext>
            </a:extLst>
          </p:cNvPr>
          <p:cNvSpPr/>
          <p:nvPr/>
        </p:nvSpPr>
        <p:spPr>
          <a:xfrm>
            <a:off x="904685" y="184201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90AC0DEF-B680-1C1E-EB00-A4AEC794A0C5}"/>
              </a:ext>
            </a:extLst>
          </p:cNvPr>
          <p:cNvSpPr/>
          <p:nvPr/>
        </p:nvSpPr>
        <p:spPr>
          <a:xfrm>
            <a:off x="904685" y="1842012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FE31FEA7-6196-60A6-99AB-98E85DAE850A}"/>
              </a:ext>
            </a:extLst>
          </p:cNvPr>
          <p:cNvSpPr/>
          <p:nvPr/>
        </p:nvSpPr>
        <p:spPr>
          <a:xfrm>
            <a:off x="904685" y="184201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61EBF849-00DE-2729-D6B8-E79FA1199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897" y="1910355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935A9862-196A-DD76-EC6E-4E54C89AC633}"/>
              </a:ext>
            </a:extLst>
          </p:cNvPr>
          <p:cNvSpPr/>
          <p:nvPr/>
        </p:nvSpPr>
        <p:spPr>
          <a:xfrm>
            <a:off x="1110425" y="235855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9C41763-F20D-9CC2-F99F-6AECA8CE915A}"/>
              </a:ext>
            </a:extLst>
          </p:cNvPr>
          <p:cNvSpPr/>
          <p:nvPr/>
        </p:nvSpPr>
        <p:spPr>
          <a:xfrm>
            <a:off x="1068387" y="28104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C425984E-F91D-55D6-279B-20FE97FCC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827" y="2882285"/>
            <a:ext cx="237744" cy="237744"/>
          </a:xfrm>
          <a:prstGeom prst="rect">
            <a:avLst/>
          </a:prstGeom>
        </p:spPr>
      </p:pic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A1872E77-CF60-D8BB-8C63-4BE0AB380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656" y="2870710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1926C5B6-462F-C703-5241-3CDFFDD5F084}"/>
              </a:ext>
            </a:extLst>
          </p:cNvPr>
          <p:cNvSpPr/>
          <p:nvPr/>
        </p:nvSpPr>
        <p:spPr>
          <a:xfrm>
            <a:off x="3883700" y="183743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FA4FBCC1-DC9D-343E-BCE0-B3077A61FD97}"/>
              </a:ext>
            </a:extLst>
          </p:cNvPr>
          <p:cNvSpPr/>
          <p:nvPr/>
        </p:nvSpPr>
        <p:spPr>
          <a:xfrm>
            <a:off x="3889565" y="1848019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BEFFFAC-F747-A604-D7A8-5E4D1A462974}"/>
              </a:ext>
            </a:extLst>
          </p:cNvPr>
          <p:cNvSpPr/>
          <p:nvPr/>
        </p:nvSpPr>
        <p:spPr>
          <a:xfrm>
            <a:off x="3954240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2DB7DBA4-B1ED-C307-D3EF-788CF2A38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162" y="1914672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55F2D0D7-D289-54D6-9217-4076069CAB04}"/>
              </a:ext>
            </a:extLst>
          </p:cNvPr>
          <p:cNvSpPr/>
          <p:nvPr/>
        </p:nvSpPr>
        <p:spPr>
          <a:xfrm>
            <a:off x="3970606" y="2473203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D707CB-AB1C-D3BC-9601-EA719A43568D}"/>
              </a:ext>
            </a:extLst>
          </p:cNvPr>
          <p:cNvSpPr/>
          <p:nvPr/>
        </p:nvSpPr>
        <p:spPr>
          <a:xfrm>
            <a:off x="4064784" y="2920413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2EA51646-FC94-CB95-1F9D-A8690C9D3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136" y="2865890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37E4E8D9-D06E-8C62-FA2A-9D51441BF2AB}"/>
              </a:ext>
            </a:extLst>
          </p:cNvPr>
          <p:cNvSpPr/>
          <p:nvPr/>
        </p:nvSpPr>
        <p:spPr>
          <a:xfrm>
            <a:off x="5485265" y="184801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0A5CA7B4-D04D-E637-BDEC-4BEC938E25F7}"/>
              </a:ext>
            </a:extLst>
          </p:cNvPr>
          <p:cNvSpPr/>
          <p:nvPr/>
        </p:nvSpPr>
        <p:spPr>
          <a:xfrm>
            <a:off x="5498720" y="183261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EE8C87F3-D932-C845-FE0B-EB6956181EBF}"/>
              </a:ext>
            </a:extLst>
          </p:cNvPr>
          <p:cNvSpPr/>
          <p:nvPr/>
        </p:nvSpPr>
        <p:spPr>
          <a:xfrm>
            <a:off x="5498720" y="183261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F1A4EA9C-E98A-DDA9-789F-ADB81C748162}"/>
              </a:ext>
            </a:extLst>
          </p:cNvPr>
          <p:cNvSpPr/>
          <p:nvPr/>
        </p:nvSpPr>
        <p:spPr>
          <a:xfrm>
            <a:off x="5685038" y="235614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992CEA30-CD0F-8C5E-1527-0F0D86BC1F73}"/>
              </a:ext>
            </a:extLst>
          </p:cNvPr>
          <p:cNvSpPr/>
          <p:nvPr/>
        </p:nvSpPr>
        <p:spPr>
          <a:xfrm>
            <a:off x="5694519" y="273336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761DF520-E42E-90AD-640D-DDE747A3E844}"/>
              </a:ext>
            </a:extLst>
          </p:cNvPr>
          <p:cNvSpPr/>
          <p:nvPr/>
        </p:nvSpPr>
        <p:spPr>
          <a:xfrm>
            <a:off x="8676300" y="1832618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1CAD5B80-AF29-7222-4499-79F3BB3A8844}"/>
              </a:ext>
            </a:extLst>
          </p:cNvPr>
          <p:cNvSpPr/>
          <p:nvPr/>
        </p:nvSpPr>
        <p:spPr>
          <a:xfrm>
            <a:off x="8676300" y="1832619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6A24470F-4CF3-2912-4F85-35777DC5BF23}"/>
              </a:ext>
            </a:extLst>
          </p:cNvPr>
          <p:cNvSpPr/>
          <p:nvPr/>
        </p:nvSpPr>
        <p:spPr>
          <a:xfrm>
            <a:off x="8676300" y="183261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2DD4BD47-E63A-A704-707A-10F06D922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8667" y="1917688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357AAC2C-5483-B893-BB04-AD7919A5476D}"/>
              </a:ext>
            </a:extLst>
          </p:cNvPr>
          <p:cNvSpPr/>
          <p:nvPr/>
        </p:nvSpPr>
        <p:spPr>
          <a:xfrm>
            <a:off x="8613886" y="2451768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4F00C85F-64D6-0454-D87F-C20892B85FB1}"/>
              </a:ext>
            </a:extLst>
          </p:cNvPr>
          <p:cNvSpPr/>
          <p:nvPr/>
        </p:nvSpPr>
        <p:spPr>
          <a:xfrm>
            <a:off x="8775290" y="27944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6A78B34B-80CB-0F2E-14F4-13808FFD64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0901" y="1860049"/>
            <a:ext cx="402338" cy="402338"/>
          </a:xfrm>
          <a:prstGeom prst="rect">
            <a:avLst/>
          </a:prstGeom>
        </p:spPr>
      </p:pic>
      <p:sp>
        <p:nvSpPr>
          <p:cNvPr id="3" name="Shape 20">
            <a:extLst>
              <a:ext uri="{FF2B5EF4-FFF2-40B4-BE49-F238E27FC236}">
                <a16:creationId xmlns:a16="http://schemas.microsoft.com/office/drawing/2014/main" id="{F2ED6B96-3E23-8D0A-3F77-72F711498A5F}"/>
              </a:ext>
            </a:extLst>
          </p:cNvPr>
          <p:cNvSpPr/>
          <p:nvPr/>
        </p:nvSpPr>
        <p:spPr>
          <a:xfrm>
            <a:off x="7041223" y="184201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A0802910-9546-0182-BF47-8591A99DE748}"/>
              </a:ext>
            </a:extLst>
          </p:cNvPr>
          <p:cNvSpPr/>
          <p:nvPr/>
        </p:nvSpPr>
        <p:spPr>
          <a:xfrm>
            <a:off x="7041222" y="183743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50C116A9-0629-5BED-5739-7C175C4C35A4}"/>
              </a:ext>
            </a:extLst>
          </p:cNvPr>
          <p:cNvSpPr/>
          <p:nvPr/>
        </p:nvSpPr>
        <p:spPr>
          <a:xfrm>
            <a:off x="7115864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C81AA0DF-57C3-4067-A2EB-55320AC5BDE9}"/>
              </a:ext>
            </a:extLst>
          </p:cNvPr>
          <p:cNvSpPr/>
          <p:nvPr/>
        </p:nvSpPr>
        <p:spPr>
          <a:xfrm>
            <a:off x="7302182" y="236096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3D6DAA56-5884-81EF-E36D-BA90F362BD89}"/>
              </a:ext>
            </a:extLst>
          </p:cNvPr>
          <p:cNvSpPr/>
          <p:nvPr/>
        </p:nvSpPr>
        <p:spPr>
          <a:xfrm>
            <a:off x="7302182" y="287071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59" name="Graphic 58" descr="Database with solid fill">
            <a:extLst>
              <a:ext uri="{FF2B5EF4-FFF2-40B4-BE49-F238E27FC236}">
                <a16:creationId xmlns:a16="http://schemas.microsoft.com/office/drawing/2014/main" id="{5B2DE1F4-3DB4-5C94-176E-439E671DF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9447" y="1861758"/>
            <a:ext cx="390272" cy="390272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7DC934E-17A1-C5EE-170C-F24EF98210BE}"/>
              </a:ext>
            </a:extLst>
          </p:cNvPr>
          <p:cNvCxnSpPr>
            <a:stCxn id="18" idx="3"/>
            <a:endCxn id="25" idx="1"/>
          </p:cNvCxnSpPr>
          <p:nvPr/>
        </p:nvCxnSpPr>
        <p:spPr>
          <a:xfrm>
            <a:off x="5290428" y="282800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BF28FFB-B949-C98E-395A-B51C68E3B503}"/>
              </a:ext>
            </a:extLst>
          </p:cNvPr>
          <p:cNvCxnSpPr>
            <a:stCxn id="25" idx="3"/>
            <a:endCxn id="3" idx="1"/>
          </p:cNvCxnSpPr>
          <p:nvPr/>
        </p:nvCxnSpPr>
        <p:spPr>
          <a:xfrm flipV="1">
            <a:off x="6882703" y="283258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D0728D0-C865-3DBC-2082-61F3A5B94692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8513302" y="2827760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Image 1" descr="preencoded.png">
            <a:extLst>
              <a:ext uri="{FF2B5EF4-FFF2-40B4-BE49-F238E27FC236}">
                <a16:creationId xmlns:a16="http://schemas.microsoft.com/office/drawing/2014/main" id="{9BB4CDE5-1130-57CD-20A6-BF82A3D32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568" y="2895030"/>
            <a:ext cx="237744" cy="237744"/>
          </a:xfrm>
          <a:prstGeom prst="rect">
            <a:avLst/>
          </a:prstGeom>
        </p:spPr>
      </p:pic>
      <p:sp>
        <p:nvSpPr>
          <p:cNvPr id="55" name="Shape 10">
            <a:extLst>
              <a:ext uri="{FF2B5EF4-FFF2-40B4-BE49-F238E27FC236}">
                <a16:creationId xmlns:a16="http://schemas.microsoft.com/office/drawing/2014/main" id="{F797D84F-E829-4D92-026D-E9107C97D49A}"/>
              </a:ext>
            </a:extLst>
          </p:cNvPr>
          <p:cNvSpPr/>
          <p:nvPr/>
        </p:nvSpPr>
        <p:spPr>
          <a:xfrm>
            <a:off x="2345085" y="183940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60BC27E8-4F82-E433-3288-32F8AA5E527A}"/>
              </a:ext>
            </a:extLst>
          </p:cNvPr>
          <p:cNvSpPr/>
          <p:nvPr/>
        </p:nvSpPr>
        <p:spPr>
          <a:xfrm>
            <a:off x="2345085" y="1839406"/>
            <a:ext cx="141274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7B725155-9ADE-1605-469B-E6AEE1C4B6FE}"/>
              </a:ext>
            </a:extLst>
          </p:cNvPr>
          <p:cNvSpPr/>
          <p:nvPr/>
        </p:nvSpPr>
        <p:spPr>
          <a:xfrm>
            <a:off x="2345085" y="183940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4ABC33E2-EC33-F37A-FDE1-13D01E91481A}"/>
              </a:ext>
            </a:extLst>
          </p:cNvPr>
          <p:cNvSpPr/>
          <p:nvPr/>
        </p:nvSpPr>
        <p:spPr>
          <a:xfrm>
            <a:off x="2551162" y="232147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64" name="Text 14">
            <a:extLst>
              <a:ext uri="{FF2B5EF4-FFF2-40B4-BE49-F238E27FC236}">
                <a16:creationId xmlns:a16="http://schemas.microsoft.com/office/drawing/2014/main" id="{B5777683-C0CF-2235-9AED-59ACA00B33D1}"/>
              </a:ext>
            </a:extLst>
          </p:cNvPr>
          <p:cNvSpPr/>
          <p:nvPr/>
        </p:nvSpPr>
        <p:spPr>
          <a:xfrm>
            <a:off x="2455640" y="2704347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remove HTML,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Noisy text</a:t>
            </a:r>
            <a:endParaRPr lang="en-US" sz="1000" noProof="0" dirty="0"/>
          </a:p>
        </p:txBody>
      </p:sp>
      <p:pic>
        <p:nvPicPr>
          <p:cNvPr id="66" name="Graphic 65" descr="Eraser with solid fill">
            <a:extLst>
              <a:ext uri="{FF2B5EF4-FFF2-40B4-BE49-F238E27FC236}">
                <a16:creationId xmlns:a16="http://schemas.microsoft.com/office/drawing/2014/main" id="{49649D38-B0C8-88C8-A2ED-CB479F4C71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9219" y="1905066"/>
            <a:ext cx="329184" cy="329184"/>
          </a:xfrm>
          <a:prstGeom prst="rect">
            <a:avLst/>
          </a:prstGeom>
        </p:spPr>
      </p:pic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401DD77-FFD0-DCF4-68AA-EAB0DF8A80E6}"/>
              </a:ext>
            </a:extLst>
          </p:cNvPr>
          <p:cNvCxnSpPr>
            <a:stCxn id="4" idx="3"/>
            <a:endCxn id="55" idx="1"/>
          </p:cNvCxnSpPr>
          <p:nvPr/>
        </p:nvCxnSpPr>
        <p:spPr>
          <a:xfrm flipV="1">
            <a:off x="2209467" y="282647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E74A3A5-9357-DD18-7A2B-E2AA392AF453}"/>
              </a:ext>
            </a:extLst>
          </p:cNvPr>
          <p:cNvCxnSpPr>
            <a:stCxn id="55" idx="3"/>
            <a:endCxn id="18" idx="1"/>
          </p:cNvCxnSpPr>
          <p:nvPr/>
        </p:nvCxnSpPr>
        <p:spPr>
          <a:xfrm>
            <a:off x="3757833" y="282647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Shape 40">
            <a:extLst>
              <a:ext uri="{FF2B5EF4-FFF2-40B4-BE49-F238E27FC236}">
                <a16:creationId xmlns:a16="http://schemas.microsoft.com/office/drawing/2014/main" id="{FF9BDF20-0565-BAC5-3586-0A267DC7B08F}"/>
              </a:ext>
            </a:extLst>
          </p:cNvPr>
          <p:cNvSpPr/>
          <p:nvPr/>
        </p:nvSpPr>
        <p:spPr>
          <a:xfrm>
            <a:off x="4727874" y="4298773"/>
            <a:ext cx="4503872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4" name="Shape 41">
            <a:extLst>
              <a:ext uri="{FF2B5EF4-FFF2-40B4-BE49-F238E27FC236}">
                <a16:creationId xmlns:a16="http://schemas.microsoft.com/office/drawing/2014/main" id="{039511B3-BBF5-AC21-F3F0-87156AFC17BE}"/>
              </a:ext>
            </a:extLst>
          </p:cNvPr>
          <p:cNvSpPr/>
          <p:nvPr/>
        </p:nvSpPr>
        <p:spPr>
          <a:xfrm>
            <a:off x="4727874" y="4298773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5" name="Text 42">
            <a:extLst>
              <a:ext uri="{FF2B5EF4-FFF2-40B4-BE49-F238E27FC236}">
                <a16:creationId xmlns:a16="http://schemas.microsoft.com/office/drawing/2014/main" id="{AE3B3593-11FB-AC5B-B31A-99A54CA80621}"/>
              </a:ext>
            </a:extLst>
          </p:cNvPr>
          <p:cNvSpPr/>
          <p:nvPr/>
        </p:nvSpPr>
        <p:spPr>
          <a:xfrm>
            <a:off x="4929042" y="4390213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What does Cleaning do?</a:t>
            </a:r>
            <a:endParaRPr lang="en-US" sz="1050" noProof="0" dirty="0"/>
          </a:p>
        </p:txBody>
      </p:sp>
      <p:sp>
        <p:nvSpPr>
          <p:cNvPr id="116" name="Text 43">
            <a:extLst>
              <a:ext uri="{FF2B5EF4-FFF2-40B4-BE49-F238E27FC236}">
                <a16:creationId xmlns:a16="http://schemas.microsoft.com/office/drawing/2014/main" id="{60212E92-6ABB-DF91-B6C5-D555A1E72908}"/>
              </a:ext>
            </a:extLst>
          </p:cNvPr>
          <p:cNvSpPr/>
          <p:nvPr/>
        </p:nvSpPr>
        <p:spPr>
          <a:xfrm>
            <a:off x="4929041" y="4682821"/>
            <a:ext cx="430270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Normalizes text (line breaks, backticks, whitespace).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Detects embedded images → marks them as [IMAGE ATTACHED].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Collects image URLs into </a:t>
            </a:r>
            <a:r>
              <a:rPr lang="en-US" sz="1000" noProof="0" dirty="0" err="1">
                <a:solidFill>
                  <a:srgbClr val="1B2A3B"/>
                </a:solidFill>
              </a:rPr>
              <a:t>image_urls</a:t>
            </a:r>
            <a:r>
              <a:rPr lang="en-US" sz="1000" noProof="0" dirty="0">
                <a:solidFill>
                  <a:srgbClr val="1B2A3B"/>
                </a:solidFill>
              </a:rPr>
              <a:t> array.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Structures content: Title + Body + Comments → </a:t>
            </a:r>
            <a:r>
              <a:rPr lang="en-US" sz="1000" noProof="0" dirty="0" err="1">
                <a:solidFill>
                  <a:srgbClr val="1B2A3B"/>
                </a:solidFill>
              </a:rPr>
              <a:t>clean_text</a:t>
            </a:r>
            <a:r>
              <a:rPr lang="en-US" sz="1000" noProof="0" dirty="0">
                <a:solidFill>
                  <a:srgbClr val="1B2A3B"/>
                </a:solidFill>
              </a:rPr>
              <a:t> field.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Preserves raw metadata (labels, dates, state).</a:t>
            </a:r>
          </a:p>
        </p:txBody>
      </p:sp>
      <p:pic>
        <p:nvPicPr>
          <p:cNvPr id="117" name="Graphic 116" descr="Back outline">
            <a:extLst>
              <a:ext uri="{FF2B5EF4-FFF2-40B4-BE49-F238E27FC236}">
                <a16:creationId xmlns:a16="http://schemas.microsoft.com/office/drawing/2014/main" id="{1C05DBA0-45BA-2EE0-05EA-3D2009C53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V="1">
            <a:off x="2857692" y="4279791"/>
            <a:ext cx="1481109" cy="148110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68E6EF9-6CFF-6351-24F8-DD63D829A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17</a:t>
            </a:fld>
            <a:endParaRPr lang="en-US" noProof="0" dirty="0"/>
          </a:p>
        </p:txBody>
      </p:sp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945604C7-8078-0509-698D-0FB2E28F4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787" y="1967889"/>
            <a:ext cx="237744" cy="237744"/>
          </a:xfrm>
          <a:prstGeom prst="rect">
            <a:avLst/>
          </a:prstGeom>
        </p:spPr>
      </p:pic>
      <p:pic>
        <p:nvPicPr>
          <p:cNvPr id="16" name="Image 9" descr="preencoded.png">
            <a:extLst>
              <a:ext uri="{FF2B5EF4-FFF2-40B4-BE49-F238E27FC236}">
                <a16:creationId xmlns:a16="http://schemas.microsoft.com/office/drawing/2014/main" id="{81CA70B2-1F58-49C3-67AF-C90C08C53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907" y="2853123"/>
            <a:ext cx="237744" cy="237744"/>
          </a:xfrm>
          <a:prstGeom prst="rect">
            <a:avLst/>
          </a:prstGeom>
        </p:spPr>
      </p:pic>
      <p:sp>
        <p:nvSpPr>
          <p:cNvPr id="65" name="Shape 30">
            <a:extLst>
              <a:ext uri="{FF2B5EF4-FFF2-40B4-BE49-F238E27FC236}">
                <a16:creationId xmlns:a16="http://schemas.microsoft.com/office/drawing/2014/main" id="{16BF3DF9-B225-43F8-6D82-5D394A1C466D}"/>
              </a:ext>
            </a:extLst>
          </p:cNvPr>
          <p:cNvSpPr/>
          <p:nvPr/>
        </p:nvSpPr>
        <p:spPr>
          <a:xfrm>
            <a:off x="10048090" y="1839406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0E864898-35F4-00FB-2027-951259476A29}"/>
              </a:ext>
            </a:extLst>
          </p:cNvPr>
          <p:cNvSpPr/>
          <p:nvPr/>
        </p:nvSpPr>
        <p:spPr>
          <a:xfrm>
            <a:off x="10048090" y="1839407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41FB4CEA-7ED4-973C-FE97-47873762DF8C}"/>
              </a:ext>
            </a:extLst>
          </p:cNvPr>
          <p:cNvSpPr/>
          <p:nvPr/>
        </p:nvSpPr>
        <p:spPr>
          <a:xfrm>
            <a:off x="10048090" y="183940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6" name="Image 10" descr="preencoded.png">
            <a:extLst>
              <a:ext uri="{FF2B5EF4-FFF2-40B4-BE49-F238E27FC236}">
                <a16:creationId xmlns:a16="http://schemas.microsoft.com/office/drawing/2014/main" id="{3397CC25-2049-38EB-17C3-CFB60DC315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21248" y="1932394"/>
            <a:ext cx="263059" cy="263059"/>
          </a:xfrm>
          <a:prstGeom prst="rect">
            <a:avLst/>
          </a:prstGeom>
        </p:spPr>
      </p:pic>
      <p:sp>
        <p:nvSpPr>
          <p:cNvPr id="79" name="Text 33">
            <a:extLst>
              <a:ext uri="{FF2B5EF4-FFF2-40B4-BE49-F238E27FC236}">
                <a16:creationId xmlns:a16="http://schemas.microsoft.com/office/drawing/2014/main" id="{131C872B-C7AE-2801-03D3-5E06A1DF7E51}"/>
              </a:ext>
            </a:extLst>
          </p:cNvPr>
          <p:cNvSpPr/>
          <p:nvPr/>
        </p:nvSpPr>
        <p:spPr>
          <a:xfrm>
            <a:off x="10243889" y="24175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9251E002-AF01-0797-9400-A193CA6E8C85}"/>
              </a:ext>
            </a:extLst>
          </p:cNvPr>
          <p:cNvSpPr/>
          <p:nvPr/>
        </p:nvSpPr>
        <p:spPr>
          <a:xfrm>
            <a:off x="10262892" y="293876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84" name="Image 11" descr="preencoded.png">
            <a:extLst>
              <a:ext uri="{FF2B5EF4-FFF2-40B4-BE49-F238E27FC236}">
                <a16:creationId xmlns:a16="http://schemas.microsoft.com/office/drawing/2014/main" id="{18D3C36A-3C50-0184-0AC5-38FAA02E1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090" y="2872679"/>
            <a:ext cx="237744" cy="237744"/>
          </a:xfrm>
          <a:prstGeom prst="rect">
            <a:avLst/>
          </a:prstGeom>
        </p:spPr>
      </p:pic>
      <p:cxnSp>
        <p:nvCxnSpPr>
          <p:cNvPr id="85" name="Straight Arrow Connector 76">
            <a:extLst>
              <a:ext uri="{FF2B5EF4-FFF2-40B4-BE49-F238E27FC236}">
                <a16:creationId xmlns:a16="http://schemas.microsoft.com/office/drawing/2014/main" id="{FE7F9C02-B49C-B040-5BBF-CBD007989848}"/>
              </a:ext>
            </a:extLst>
          </p:cNvPr>
          <p:cNvCxnSpPr>
            <a:cxnSpLocks/>
          </p:cNvCxnSpPr>
          <p:nvPr/>
        </p:nvCxnSpPr>
        <p:spPr>
          <a:xfrm>
            <a:off x="9918242" y="283477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932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15683-1433-C7AD-77C3-CBBE8C45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0D5F-C56A-5274-6D6B-5E5D11142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cleaning V1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E5FB9C07-DD35-3D29-F96E-772C8C4519CC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5B8F0167-E210-ED0D-5F08-5C6045A1AAC3}"/>
              </a:ext>
            </a:extLst>
          </p:cNvPr>
          <p:cNvSpPr/>
          <p:nvPr/>
        </p:nvSpPr>
        <p:spPr>
          <a:xfrm>
            <a:off x="1739956" y="994276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E7CD0D5-CF76-C3B6-1DE7-63A1575992E7}"/>
              </a:ext>
            </a:extLst>
          </p:cNvPr>
          <p:cNvSpPr/>
          <p:nvPr/>
        </p:nvSpPr>
        <p:spPr>
          <a:xfrm>
            <a:off x="1268178" y="1664342"/>
            <a:ext cx="4069080" cy="36576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F00576E2-E7D7-4BC4-8785-307E36E2E99C}"/>
              </a:ext>
            </a:extLst>
          </p:cNvPr>
          <p:cNvSpPr/>
          <p:nvPr/>
        </p:nvSpPr>
        <p:spPr>
          <a:xfrm>
            <a:off x="1268178" y="166434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❌  Raw data (before)</a:t>
            </a:r>
            <a:endParaRPr lang="en-US" sz="1200" noProof="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EC45AEA1-F3D8-AA5F-D4D5-2342E71B6CF2}"/>
              </a:ext>
            </a:extLst>
          </p:cNvPr>
          <p:cNvSpPr/>
          <p:nvPr/>
        </p:nvSpPr>
        <p:spPr>
          <a:xfrm>
            <a:off x="1268178" y="2030102"/>
            <a:ext cx="4069080" cy="43008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BBB07944-4D92-5BB6-0DEC-DD3140271164}"/>
              </a:ext>
            </a:extLst>
          </p:cNvPr>
          <p:cNvSpPr/>
          <p:nvPr/>
        </p:nvSpPr>
        <p:spPr>
          <a:xfrm>
            <a:off x="1370278" y="2688470"/>
            <a:ext cx="3794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STM32CubeIDE throws error when compile line option 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mstrict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-align is enabled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</a:t>
            </a: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Hi,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enabling 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mstrict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-align below error is observed: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arm-none-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eabi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error: unrecognized command-line option '-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mstrict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-align'; did you mean '-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Wstrict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-aliasing'?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width="1475" height="1702" alt="Image" 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="https://github.com/user-attachments/assets/ef04062d-f370-4a59-b26d-e05fc91a3020" /&gt;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Please suggest a fix.</a:t>
            </a: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Thanks,</a:t>
            </a: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Rajeev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Comment:</a:t>
            </a: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width="663" height="50" alt="Image" 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="https://github.com/user-attachments/assets/57b08795-01df-4541-ad2f-33fe6b6811c1" /&gt;</a:t>
            </a:r>
            <a:endParaRPr lang="en-US" sz="800" noProof="0" dirty="0"/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F94983BE-1EAD-224A-EAC8-A878D56F85FE}"/>
              </a:ext>
            </a:extLst>
          </p:cNvPr>
          <p:cNvSpPr/>
          <p:nvPr/>
        </p:nvSpPr>
        <p:spPr>
          <a:xfrm>
            <a:off x="1268178" y="4945648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924FC4C9-B03E-326B-BB71-29871F55E551}"/>
              </a:ext>
            </a:extLst>
          </p:cNvPr>
          <p:cNvSpPr/>
          <p:nvPr/>
        </p:nvSpPr>
        <p:spPr>
          <a:xfrm>
            <a:off x="1370278" y="493789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EF4444"/>
                </a:solidFill>
              </a:rPr>
              <a:t>Issues:</a:t>
            </a:r>
            <a:endParaRPr lang="en-US" sz="1000" noProof="0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01A61821-B6A5-C678-C6CB-1C5631A11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278" y="5230502"/>
            <a:ext cx="219456" cy="219456"/>
          </a:xfrm>
          <a:prstGeom prst="rect">
            <a:avLst/>
          </a:prstGeom>
        </p:spPr>
      </p:pic>
      <p:sp>
        <p:nvSpPr>
          <p:cNvPr id="60" name="Text 11">
            <a:extLst>
              <a:ext uri="{FF2B5EF4-FFF2-40B4-BE49-F238E27FC236}">
                <a16:creationId xmlns:a16="http://schemas.microsoft.com/office/drawing/2014/main" id="{C5614762-F461-7974-86AA-EE0E429460FE}"/>
              </a:ext>
            </a:extLst>
          </p:cNvPr>
          <p:cNvSpPr/>
          <p:nvPr/>
        </p:nvSpPr>
        <p:spPr>
          <a:xfrm>
            <a:off x="1653742" y="524879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HTML tags unreadable by RAG </a:t>
            </a:r>
            <a:endParaRPr lang="en-US" sz="1050" noProof="0" dirty="0"/>
          </a:p>
        </p:txBody>
      </p:sp>
      <p:pic>
        <p:nvPicPr>
          <p:cNvPr id="65" name="Image 1" descr="preencoded.png">
            <a:extLst>
              <a:ext uri="{FF2B5EF4-FFF2-40B4-BE49-F238E27FC236}">
                <a16:creationId xmlns:a16="http://schemas.microsoft.com/office/drawing/2014/main" id="{A0C102B6-7152-6693-C400-FF70F8353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278" y="5577974"/>
            <a:ext cx="219456" cy="219456"/>
          </a:xfrm>
          <a:prstGeom prst="rect">
            <a:avLst/>
          </a:prstGeom>
        </p:spPr>
      </p:pic>
      <p:sp>
        <p:nvSpPr>
          <p:cNvPr id="66" name="Text 12">
            <a:extLst>
              <a:ext uri="{FF2B5EF4-FFF2-40B4-BE49-F238E27FC236}">
                <a16:creationId xmlns:a16="http://schemas.microsoft.com/office/drawing/2014/main" id="{3C771A64-8088-71FA-34A8-C1847415A6E3}"/>
              </a:ext>
            </a:extLst>
          </p:cNvPr>
          <p:cNvSpPr/>
          <p:nvPr/>
        </p:nvSpPr>
        <p:spPr>
          <a:xfrm>
            <a:off x="1653742" y="5596262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Image content lost (no text)</a:t>
            </a:r>
            <a:endParaRPr lang="en-US" sz="1050" noProof="0" dirty="0"/>
          </a:p>
        </p:txBody>
      </p:sp>
      <p:pic>
        <p:nvPicPr>
          <p:cNvPr id="67" name="Image 2" descr="preencoded.png">
            <a:extLst>
              <a:ext uri="{FF2B5EF4-FFF2-40B4-BE49-F238E27FC236}">
                <a16:creationId xmlns:a16="http://schemas.microsoft.com/office/drawing/2014/main" id="{715CBA2D-FF24-8D05-C38B-531C39D05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278" y="5925446"/>
            <a:ext cx="219456" cy="219456"/>
          </a:xfrm>
          <a:prstGeom prst="rect">
            <a:avLst/>
          </a:prstGeom>
        </p:spPr>
      </p:pic>
      <p:sp>
        <p:nvSpPr>
          <p:cNvPr id="68" name="Text 13">
            <a:extLst>
              <a:ext uri="{FF2B5EF4-FFF2-40B4-BE49-F238E27FC236}">
                <a16:creationId xmlns:a16="http://schemas.microsoft.com/office/drawing/2014/main" id="{7160FCFE-033B-A816-B3D8-3020605A69FE}"/>
              </a:ext>
            </a:extLst>
          </p:cNvPr>
          <p:cNvSpPr/>
          <p:nvPr/>
        </p:nvSpPr>
        <p:spPr>
          <a:xfrm>
            <a:off x="1653742" y="5943734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Noise from auto-generated comments</a:t>
            </a:r>
            <a:endParaRPr lang="en-US" sz="1050" noProof="0" dirty="0"/>
          </a:p>
        </p:txBody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D08BFD83-5F41-4547-7205-291EEC97982C}"/>
              </a:ext>
            </a:extLst>
          </p:cNvPr>
          <p:cNvSpPr/>
          <p:nvPr/>
        </p:nvSpPr>
        <p:spPr>
          <a:xfrm>
            <a:off x="6622298" y="1626928"/>
            <a:ext cx="4108477" cy="365760"/>
          </a:xfrm>
          <a:prstGeom prst="rect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0BA0B732-1C68-F8F1-CD40-75831066A51E}"/>
              </a:ext>
            </a:extLst>
          </p:cNvPr>
          <p:cNvSpPr/>
          <p:nvPr/>
        </p:nvSpPr>
        <p:spPr>
          <a:xfrm>
            <a:off x="6622299" y="16269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✅  Cleaned data (after)</a:t>
            </a:r>
            <a:endParaRPr lang="en-US" sz="1200" noProof="0" dirty="0"/>
          </a:p>
        </p:txBody>
      </p:sp>
      <p:sp>
        <p:nvSpPr>
          <p:cNvPr id="72" name="Shape 16">
            <a:extLst>
              <a:ext uri="{FF2B5EF4-FFF2-40B4-BE49-F238E27FC236}">
                <a16:creationId xmlns:a16="http://schemas.microsoft.com/office/drawing/2014/main" id="{51E5178E-AAF8-D8E2-7110-2C798894DAE0}"/>
              </a:ext>
            </a:extLst>
          </p:cNvPr>
          <p:cNvSpPr/>
          <p:nvPr/>
        </p:nvSpPr>
        <p:spPr>
          <a:xfrm>
            <a:off x="6633712" y="1992688"/>
            <a:ext cx="4097063" cy="4338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E70EA3A9-4E1C-5DA9-7159-1CA8A7EBE8A5}"/>
              </a:ext>
            </a:extLst>
          </p:cNvPr>
          <p:cNvSpPr/>
          <p:nvPr/>
        </p:nvSpPr>
        <p:spPr>
          <a:xfrm>
            <a:off x="6905763" y="2504478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50" noProof="0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C16FDBB7-E031-3BFA-0D7C-0B7D0EC64830}"/>
              </a:ext>
            </a:extLst>
          </p:cNvPr>
          <p:cNvSpPr/>
          <p:nvPr/>
        </p:nvSpPr>
        <p:spPr>
          <a:xfrm>
            <a:off x="6768603" y="499275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Improvements: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pic>
        <p:nvPicPr>
          <p:cNvPr id="76" name="Image 4" descr="preencoded.png">
            <a:extLst>
              <a:ext uri="{FF2B5EF4-FFF2-40B4-BE49-F238E27FC236}">
                <a16:creationId xmlns:a16="http://schemas.microsoft.com/office/drawing/2014/main" id="{4E27F9D6-6506-5C52-DEC4-7B3BFD6D9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603" y="5285366"/>
            <a:ext cx="219456" cy="219456"/>
          </a:xfrm>
          <a:prstGeom prst="rect">
            <a:avLst/>
          </a:prstGeom>
        </p:spPr>
      </p:pic>
      <p:sp>
        <p:nvSpPr>
          <p:cNvPr id="77" name="Text 20">
            <a:extLst>
              <a:ext uri="{FF2B5EF4-FFF2-40B4-BE49-F238E27FC236}">
                <a16:creationId xmlns:a16="http://schemas.microsoft.com/office/drawing/2014/main" id="{EBA734CC-D774-D801-8B9F-95D4149925A4}"/>
              </a:ext>
            </a:extLst>
          </p:cNvPr>
          <p:cNvSpPr/>
          <p:nvPr/>
        </p:nvSpPr>
        <p:spPr>
          <a:xfrm>
            <a:off x="7061211" y="530365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HTML stripped, pure text</a:t>
            </a:r>
            <a:endParaRPr lang="en-US" sz="1050" noProof="0" dirty="0"/>
          </a:p>
        </p:txBody>
      </p:sp>
      <p:pic>
        <p:nvPicPr>
          <p:cNvPr id="78" name="Image 5" descr="preencoded.png">
            <a:extLst>
              <a:ext uri="{FF2B5EF4-FFF2-40B4-BE49-F238E27FC236}">
                <a16:creationId xmlns:a16="http://schemas.microsoft.com/office/drawing/2014/main" id="{981AA2D5-13D7-0D59-34E2-2699B75CA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603" y="5632838"/>
            <a:ext cx="219456" cy="219456"/>
          </a:xfrm>
          <a:prstGeom prst="rect">
            <a:avLst/>
          </a:prstGeom>
        </p:spPr>
      </p:pic>
      <p:sp>
        <p:nvSpPr>
          <p:cNvPr id="79" name="Text 21">
            <a:extLst>
              <a:ext uri="{FF2B5EF4-FFF2-40B4-BE49-F238E27FC236}">
                <a16:creationId xmlns:a16="http://schemas.microsoft.com/office/drawing/2014/main" id="{28B49BA5-7B65-8CC2-648D-E0F73122F0D7}"/>
              </a:ext>
            </a:extLst>
          </p:cNvPr>
          <p:cNvSpPr/>
          <p:nvPr/>
        </p:nvSpPr>
        <p:spPr>
          <a:xfrm>
            <a:off x="7061210" y="5651126"/>
            <a:ext cx="38626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Images replaced by [IMAGE ATTACHED] tag + description</a:t>
            </a:r>
            <a:endParaRPr lang="en-US" sz="1050" noProof="0" dirty="0"/>
          </a:p>
        </p:txBody>
      </p:sp>
      <p:pic>
        <p:nvPicPr>
          <p:cNvPr id="80" name="Image 6" descr="preencoded.png">
            <a:extLst>
              <a:ext uri="{FF2B5EF4-FFF2-40B4-BE49-F238E27FC236}">
                <a16:creationId xmlns:a16="http://schemas.microsoft.com/office/drawing/2014/main" id="{BC54EF63-104F-AC70-FC02-E99392064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603" y="5980310"/>
            <a:ext cx="219456" cy="219456"/>
          </a:xfrm>
          <a:prstGeom prst="rect">
            <a:avLst/>
          </a:prstGeom>
        </p:spPr>
      </p:pic>
      <p:sp>
        <p:nvSpPr>
          <p:cNvPr id="82" name="Text 22">
            <a:extLst>
              <a:ext uri="{FF2B5EF4-FFF2-40B4-BE49-F238E27FC236}">
                <a16:creationId xmlns:a16="http://schemas.microsoft.com/office/drawing/2014/main" id="{61391DB9-4C1F-F7E6-17C2-238D6155D6B1}"/>
              </a:ext>
            </a:extLst>
          </p:cNvPr>
          <p:cNvSpPr/>
          <p:nvPr/>
        </p:nvSpPr>
        <p:spPr>
          <a:xfrm>
            <a:off x="7061211" y="599859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Body + useful comments concatenated</a:t>
            </a:r>
            <a:endParaRPr lang="en-US" sz="1050" noProof="0" dirty="0"/>
          </a:p>
        </p:txBody>
      </p:sp>
      <p:pic>
        <p:nvPicPr>
          <p:cNvPr id="83" name="Graphic 82" descr="Arrow Right with solid fill">
            <a:extLst>
              <a:ext uri="{FF2B5EF4-FFF2-40B4-BE49-F238E27FC236}">
                <a16:creationId xmlns:a16="http://schemas.microsoft.com/office/drawing/2014/main" id="{109278D6-3881-0395-672E-2EC8294609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3823" y="3861478"/>
            <a:ext cx="431535" cy="4315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2E141-C93E-9629-3965-4C3750263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18</a:t>
            </a:fld>
            <a:endParaRPr lang="en-US" noProof="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A379A931-13D9-9318-B67C-5D4E92737D4E}"/>
              </a:ext>
            </a:extLst>
          </p:cNvPr>
          <p:cNvSpPr/>
          <p:nvPr/>
        </p:nvSpPr>
        <p:spPr>
          <a:xfrm>
            <a:off x="6661695" y="4945648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A4EB22-55C9-3394-2397-A91E351EFFDC}"/>
              </a:ext>
            </a:extLst>
          </p:cNvPr>
          <p:cNvSpPr txBox="1"/>
          <p:nvPr/>
        </p:nvSpPr>
        <p:spPr>
          <a:xfrm>
            <a:off x="6715149" y="2229371"/>
            <a:ext cx="3962172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noProof="0" dirty="0"/>
              <a:t>Title: STM32CubeIDE throws error when compile line option -</a:t>
            </a:r>
            <a:r>
              <a:rPr lang="en-US" sz="900" noProof="0" dirty="0" err="1"/>
              <a:t>mstrict</a:t>
            </a:r>
            <a:r>
              <a:rPr lang="en-US" sz="900" noProof="0" dirty="0"/>
              <a:t>-align is enabled</a:t>
            </a:r>
          </a:p>
          <a:p>
            <a:endParaRPr lang="en-US" sz="900" noProof="0" dirty="0"/>
          </a:p>
          <a:p>
            <a:r>
              <a:rPr lang="en-US" sz="900" noProof="0" dirty="0" err="1"/>
              <a:t>Body:Hi,When</a:t>
            </a:r>
            <a:r>
              <a:rPr lang="en-US" sz="900" noProof="0" dirty="0"/>
              <a:t> enabling -</a:t>
            </a:r>
            <a:r>
              <a:rPr lang="en-US" sz="900" noProof="0" dirty="0" err="1"/>
              <a:t>mstrict</a:t>
            </a:r>
            <a:r>
              <a:rPr lang="en-US" sz="900" noProof="0" dirty="0"/>
              <a:t>-align below error is observed:</a:t>
            </a:r>
          </a:p>
          <a:p>
            <a:endParaRPr lang="en-US" sz="900" noProof="0" dirty="0"/>
          </a:p>
          <a:p>
            <a:r>
              <a:rPr lang="en-US" sz="900" noProof="0" dirty="0"/>
              <a:t>arm-none-</a:t>
            </a:r>
            <a:r>
              <a:rPr lang="en-US" sz="900" noProof="0" dirty="0" err="1"/>
              <a:t>eabi</a:t>
            </a:r>
            <a:r>
              <a:rPr lang="en-US" sz="900" noProof="0" dirty="0"/>
              <a:t>-</a:t>
            </a:r>
            <a:r>
              <a:rPr lang="en-US" sz="900" noProof="0" dirty="0" err="1"/>
              <a:t>gcc</a:t>
            </a:r>
            <a:r>
              <a:rPr lang="en-US" sz="900" noProof="0" dirty="0"/>
              <a:t>: error: unrecognized command-line option '-</a:t>
            </a:r>
            <a:r>
              <a:rPr lang="en-US" sz="900" noProof="0" dirty="0" err="1"/>
              <a:t>mstrict</a:t>
            </a:r>
            <a:r>
              <a:rPr lang="en-US" sz="900" noProof="0" dirty="0"/>
              <a:t>-align'; did you mean '-</a:t>
            </a:r>
            <a:r>
              <a:rPr lang="en-US" sz="900" noProof="0" dirty="0" err="1"/>
              <a:t>Wstrict</a:t>
            </a:r>
            <a:r>
              <a:rPr lang="en-US" sz="900" noProof="0" dirty="0"/>
              <a:t>-aliasing’?</a:t>
            </a:r>
          </a:p>
          <a:p>
            <a:endParaRPr lang="en-US" sz="900" noProof="0" dirty="0"/>
          </a:p>
          <a:p>
            <a:r>
              <a:rPr lang="en-US" sz="900" b="1" noProof="0" dirty="0"/>
              <a:t>[IMAGE ATTACHED]</a:t>
            </a:r>
          </a:p>
          <a:p>
            <a:r>
              <a:rPr lang="en-US" sz="900" noProof="0" dirty="0"/>
              <a:t>Please suggest a fix.</a:t>
            </a:r>
          </a:p>
          <a:p>
            <a:endParaRPr lang="en-US" sz="900" noProof="0" dirty="0"/>
          </a:p>
          <a:p>
            <a:r>
              <a:rPr lang="en-US" sz="900" noProof="0" dirty="0"/>
              <a:t>Thanks,</a:t>
            </a:r>
          </a:p>
          <a:p>
            <a:r>
              <a:rPr lang="en-US" sz="900" noProof="0" dirty="0"/>
              <a:t>Rajeev</a:t>
            </a:r>
          </a:p>
          <a:p>
            <a:endParaRPr lang="en-US" sz="900" noProof="0" dirty="0"/>
          </a:p>
          <a:p>
            <a:r>
              <a:rPr lang="en-US" sz="900" noProof="0" dirty="0"/>
              <a:t>Comments:</a:t>
            </a:r>
          </a:p>
          <a:p>
            <a:r>
              <a:rPr lang="en-US" sz="900" noProof="0" dirty="0"/>
              <a:t>[rxa1031 - 2026-02-11T13:13:48Z]</a:t>
            </a:r>
          </a:p>
          <a:p>
            <a:r>
              <a:rPr lang="en-US" sz="900" b="1" noProof="0" dirty="0"/>
              <a:t>[IMAGE ATTACHED]</a:t>
            </a:r>
          </a:p>
        </p:txBody>
      </p:sp>
    </p:spTree>
    <p:extLst>
      <p:ext uri="{BB962C8B-B14F-4D97-AF65-F5344CB8AC3E}">
        <p14:creationId xmlns:p14="http://schemas.microsoft.com/office/powerpoint/2010/main" val="434634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73D9-3C18-18B8-2EB8-3F9DD593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C259-CEA9-2423-B09B-09BFC81EC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cleaning V2  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BEB036A-AC8E-99B5-C4A6-29BAA92F591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58A49ACB-73BF-7CAD-497C-40E2DD4690F4}"/>
              </a:ext>
            </a:extLst>
          </p:cNvPr>
          <p:cNvSpPr/>
          <p:nvPr/>
        </p:nvSpPr>
        <p:spPr>
          <a:xfrm>
            <a:off x="1918367" y="81083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4073-E46F-BFB6-8C1D-A5033480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19</a:t>
            </a:fld>
            <a:endParaRPr lang="en-US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05DCD5-9ABA-5626-0CC0-2F5693023372}"/>
              </a:ext>
            </a:extLst>
          </p:cNvPr>
          <p:cNvSpPr txBox="1"/>
          <p:nvPr/>
        </p:nvSpPr>
        <p:spPr>
          <a:xfrm>
            <a:off x="340364" y="912881"/>
            <a:ext cx="101342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Type-</a:t>
            </a:r>
            <a:r>
              <a:rPr lang="fr-FR" sz="1400" b="1" dirty="0" err="1">
                <a:solidFill>
                  <a:schemeClr val="bg2">
                    <a:lumMod val="10000"/>
                  </a:schemeClr>
                </a:solidFill>
              </a:rPr>
              <a:t>Aware</a:t>
            </a: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fr-FR" sz="1400" b="1" dirty="0" err="1">
                <a:solidFill>
                  <a:schemeClr val="bg2">
                    <a:lumMod val="10000"/>
                  </a:schemeClr>
                </a:solidFill>
              </a:rPr>
              <a:t>Cleaning</a:t>
            </a: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 : 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One noise-reduction strategy per file type , not one strategy for all</a:t>
            </a: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endParaRPr lang="fr-TN" sz="1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84ACC3BF-DB4D-8AB0-72F5-C477C8202CF3}"/>
              </a:ext>
            </a:extLst>
          </p:cNvPr>
          <p:cNvSpPr/>
          <p:nvPr/>
        </p:nvSpPr>
        <p:spPr>
          <a:xfrm>
            <a:off x="1380392" y="1364211"/>
            <a:ext cx="1440000" cy="360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rPr dirty="0" err="1"/>
              <a:t>raw_files</a:t>
            </a:r>
            <a:r>
              <a:rPr dirty="0"/>
              <a:t>_*.</a:t>
            </a:r>
            <a:r>
              <a:rPr dirty="0" err="1"/>
              <a:t>json</a:t>
            </a:r>
            <a:endParaRPr dirty="0"/>
          </a:p>
        </p:txBody>
      </p:sp>
      <p:sp>
        <p:nvSpPr>
          <p:cNvPr id="29" name="Rounded Rectangle 21">
            <a:extLst>
              <a:ext uri="{FF2B5EF4-FFF2-40B4-BE49-F238E27FC236}">
                <a16:creationId xmlns:a16="http://schemas.microsoft.com/office/drawing/2014/main" id="{5E390EA9-79F3-E31F-70F7-A8C4B7CCBD04}"/>
              </a:ext>
            </a:extLst>
          </p:cNvPr>
          <p:cNvSpPr/>
          <p:nvPr/>
        </p:nvSpPr>
        <p:spPr>
          <a:xfrm>
            <a:off x="2100392" y="5991245"/>
            <a:ext cx="3851999" cy="486000"/>
          </a:xfrm>
          <a:prstGeom prst="roundRect">
            <a:avLst/>
          </a:prstGeom>
          <a:solidFill>
            <a:srgbClr val="FFF5E1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rPr dirty="0"/>
              <a:t>Concrete example: stm32h743xx.h</a:t>
            </a:r>
            <a:br>
              <a:rPr dirty="0"/>
            </a:br>
            <a:r>
              <a:rPr dirty="0"/>
              <a:t>1,458,301 chars → 52,140 chars (-96.4%)</a:t>
            </a:r>
          </a:p>
        </p:txBody>
      </p:sp>
      <p:sp>
        <p:nvSpPr>
          <p:cNvPr id="30" name="Rounded Rectangle 22">
            <a:extLst>
              <a:ext uri="{FF2B5EF4-FFF2-40B4-BE49-F238E27FC236}">
                <a16:creationId xmlns:a16="http://schemas.microsoft.com/office/drawing/2014/main" id="{176A5F52-B2B5-FA26-9034-C61E10C75DE1}"/>
              </a:ext>
            </a:extLst>
          </p:cNvPr>
          <p:cNvSpPr/>
          <p:nvPr/>
        </p:nvSpPr>
        <p:spPr>
          <a:xfrm>
            <a:off x="6306486" y="5991245"/>
            <a:ext cx="3851999" cy="486000"/>
          </a:xfrm>
          <a:prstGeom prst="roundRect">
            <a:avLst/>
          </a:prstGeom>
          <a:solidFill>
            <a:srgbClr val="E6F8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rPr dirty="0"/>
              <a:t>Result: </a:t>
            </a:r>
            <a:r>
              <a:rPr dirty="0" err="1"/>
              <a:t>clean_files</a:t>
            </a:r>
            <a:r>
              <a:rPr dirty="0"/>
              <a:t>_&lt;repo&gt;_v3.json</a:t>
            </a:r>
            <a:br>
              <a:rPr dirty="0"/>
            </a:br>
            <a:r>
              <a:rPr dirty="0"/>
              <a:t>+31% estimated signal density per chunk</a:t>
            </a:r>
          </a:p>
        </p:txBody>
      </p:sp>
      <p:sp>
        <p:nvSpPr>
          <p:cNvPr id="131" name="Shape 4">
            <a:extLst>
              <a:ext uri="{FF2B5EF4-FFF2-40B4-BE49-F238E27FC236}">
                <a16:creationId xmlns:a16="http://schemas.microsoft.com/office/drawing/2014/main" id="{D6BDA69B-7630-1C1C-EF8A-109463F57EA4}"/>
              </a:ext>
            </a:extLst>
          </p:cNvPr>
          <p:cNvSpPr/>
          <p:nvPr/>
        </p:nvSpPr>
        <p:spPr>
          <a:xfrm>
            <a:off x="713250" y="2007751"/>
            <a:ext cx="2743200" cy="485999"/>
          </a:xfrm>
          <a:prstGeom prst="roundRect">
            <a:avLst>
              <a:gd name="adj" fmla="val 8889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3" name="Text 5">
            <a:extLst>
              <a:ext uri="{FF2B5EF4-FFF2-40B4-BE49-F238E27FC236}">
                <a16:creationId xmlns:a16="http://schemas.microsoft.com/office/drawing/2014/main" id="{10F1808C-414A-C613-FE21-197EB1A22FBE}"/>
              </a:ext>
            </a:extLst>
          </p:cNvPr>
          <p:cNvSpPr/>
          <p:nvPr/>
        </p:nvSpPr>
        <p:spPr>
          <a:xfrm>
            <a:off x="713250" y="199083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detect_file_type()</a:t>
            </a:r>
            <a:endParaRPr lang="en-US" sz="1300" dirty="0"/>
          </a:p>
        </p:txBody>
      </p:sp>
      <p:sp>
        <p:nvSpPr>
          <p:cNvPr id="137" name="Shape 7">
            <a:extLst>
              <a:ext uri="{FF2B5EF4-FFF2-40B4-BE49-F238E27FC236}">
                <a16:creationId xmlns:a16="http://schemas.microsoft.com/office/drawing/2014/main" id="{965328B1-2BA7-701B-8203-7D4BACCC7DDD}"/>
              </a:ext>
            </a:extLst>
          </p:cNvPr>
          <p:cNvSpPr/>
          <p:nvPr/>
        </p:nvSpPr>
        <p:spPr>
          <a:xfrm>
            <a:off x="3456450" y="2304373"/>
            <a:ext cx="822960" cy="0"/>
          </a:xfrm>
          <a:prstGeom prst="line">
            <a:avLst/>
          </a:prstGeom>
          <a:noFill/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9" name="Shape 8">
            <a:extLst>
              <a:ext uri="{FF2B5EF4-FFF2-40B4-BE49-F238E27FC236}">
                <a16:creationId xmlns:a16="http://schemas.microsoft.com/office/drawing/2014/main" id="{CE543456-E227-E087-FEAD-FEDD613CBB91}"/>
              </a:ext>
            </a:extLst>
          </p:cNvPr>
          <p:cNvSpPr/>
          <p:nvPr/>
        </p:nvSpPr>
        <p:spPr>
          <a:xfrm>
            <a:off x="4279410" y="1892893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91C1C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41" name="Text 9">
            <a:extLst>
              <a:ext uri="{FF2B5EF4-FFF2-40B4-BE49-F238E27FC236}">
                <a16:creationId xmlns:a16="http://schemas.microsoft.com/office/drawing/2014/main" id="{0D1ED8C1-20B8-64B5-3DAB-20D5DECEA2B4}"/>
              </a:ext>
            </a:extLst>
          </p:cNvPr>
          <p:cNvSpPr/>
          <p:nvPr/>
        </p:nvSpPr>
        <p:spPr>
          <a:xfrm>
            <a:off x="4416570" y="198433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(HTML)</a:t>
            </a:r>
            <a:endParaRPr lang="en-US" sz="1100" dirty="0"/>
          </a:p>
        </p:txBody>
      </p:sp>
      <p:sp>
        <p:nvSpPr>
          <p:cNvPr id="143" name="Text 10">
            <a:extLst>
              <a:ext uri="{FF2B5EF4-FFF2-40B4-BE49-F238E27FC236}">
                <a16:creationId xmlns:a16="http://schemas.microsoft.com/office/drawing/2014/main" id="{4D6908C7-6D1A-26A9-EC55-6D463264292A}"/>
              </a:ext>
            </a:extLst>
          </p:cNvPr>
          <p:cNvSpPr/>
          <p:nvPr/>
        </p:nvSpPr>
        <p:spPr>
          <a:xfrm>
            <a:off x="7296930" y="1984333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strip_html()</a:t>
            </a:r>
            <a:endParaRPr lang="en-US" sz="1050" dirty="0"/>
          </a:p>
        </p:txBody>
      </p:sp>
      <p:sp>
        <p:nvSpPr>
          <p:cNvPr id="145" name="Shape 11">
            <a:extLst>
              <a:ext uri="{FF2B5EF4-FFF2-40B4-BE49-F238E27FC236}">
                <a16:creationId xmlns:a16="http://schemas.microsoft.com/office/drawing/2014/main" id="{A4E0A0A3-058B-60D4-7C42-76238D9F0081}"/>
              </a:ext>
            </a:extLst>
          </p:cNvPr>
          <p:cNvSpPr/>
          <p:nvPr/>
        </p:nvSpPr>
        <p:spPr>
          <a:xfrm>
            <a:off x="10131570" y="2030053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7" name="Text 12">
            <a:extLst>
              <a:ext uri="{FF2B5EF4-FFF2-40B4-BE49-F238E27FC236}">
                <a16:creationId xmlns:a16="http://schemas.microsoft.com/office/drawing/2014/main" id="{6089E92F-813E-9116-386D-A4DC9FB574FE}"/>
              </a:ext>
            </a:extLst>
          </p:cNvPr>
          <p:cNvSpPr/>
          <p:nvPr/>
        </p:nvSpPr>
        <p:spPr>
          <a:xfrm>
            <a:off x="10131570" y="203005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−33%</a:t>
            </a:r>
            <a:endParaRPr lang="en-US" sz="1300" dirty="0"/>
          </a:p>
        </p:txBody>
      </p:sp>
      <p:sp>
        <p:nvSpPr>
          <p:cNvPr id="149" name="Shape 13">
            <a:extLst>
              <a:ext uri="{FF2B5EF4-FFF2-40B4-BE49-F238E27FC236}">
                <a16:creationId xmlns:a16="http://schemas.microsoft.com/office/drawing/2014/main" id="{E321A71C-CBF5-3C96-286F-C5585D7E77B4}"/>
              </a:ext>
            </a:extLst>
          </p:cNvPr>
          <p:cNvSpPr/>
          <p:nvPr/>
        </p:nvSpPr>
        <p:spPr>
          <a:xfrm>
            <a:off x="3456450" y="2304373"/>
            <a:ext cx="822960" cy="64008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1" name="Shape 14">
            <a:extLst>
              <a:ext uri="{FF2B5EF4-FFF2-40B4-BE49-F238E27FC236}">
                <a16:creationId xmlns:a16="http://schemas.microsoft.com/office/drawing/2014/main" id="{ABB64C68-0967-5BBF-01D3-15E6D93CCBA0}"/>
              </a:ext>
            </a:extLst>
          </p:cNvPr>
          <p:cNvSpPr/>
          <p:nvPr/>
        </p:nvSpPr>
        <p:spPr>
          <a:xfrm>
            <a:off x="4279410" y="2670133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3" name="Text 15">
            <a:extLst>
              <a:ext uri="{FF2B5EF4-FFF2-40B4-BE49-F238E27FC236}">
                <a16:creationId xmlns:a16="http://schemas.microsoft.com/office/drawing/2014/main" id="{3A3911EE-4C15-F0CE-E144-7F5EFEE81F1F}"/>
              </a:ext>
            </a:extLst>
          </p:cNvPr>
          <p:cNvSpPr/>
          <p:nvPr/>
        </p:nvSpPr>
        <p:spPr>
          <a:xfrm>
            <a:off x="4416570" y="276157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(Markdown)</a:t>
            </a:r>
            <a:endParaRPr lang="en-US" sz="1100" dirty="0"/>
          </a:p>
        </p:txBody>
      </p:sp>
      <p:sp>
        <p:nvSpPr>
          <p:cNvPr id="155" name="Text 16">
            <a:extLst>
              <a:ext uri="{FF2B5EF4-FFF2-40B4-BE49-F238E27FC236}">
                <a16:creationId xmlns:a16="http://schemas.microsoft.com/office/drawing/2014/main" id="{44982C31-5981-EE42-0F9F-5062146B547A}"/>
              </a:ext>
            </a:extLst>
          </p:cNvPr>
          <p:cNvSpPr/>
          <p:nvPr/>
        </p:nvSpPr>
        <p:spPr>
          <a:xfrm>
            <a:off x="7296930" y="2761573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clean_markdown()</a:t>
            </a:r>
            <a:endParaRPr lang="en-US" sz="1050" dirty="0"/>
          </a:p>
        </p:txBody>
      </p:sp>
      <p:sp>
        <p:nvSpPr>
          <p:cNvPr id="157" name="Shape 17">
            <a:extLst>
              <a:ext uri="{FF2B5EF4-FFF2-40B4-BE49-F238E27FC236}">
                <a16:creationId xmlns:a16="http://schemas.microsoft.com/office/drawing/2014/main" id="{18B80298-60CE-7FFF-697D-4219B9E5A44C}"/>
              </a:ext>
            </a:extLst>
          </p:cNvPr>
          <p:cNvSpPr/>
          <p:nvPr/>
        </p:nvSpPr>
        <p:spPr>
          <a:xfrm>
            <a:off x="10131570" y="2807293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9" name="Text 18">
            <a:extLst>
              <a:ext uri="{FF2B5EF4-FFF2-40B4-BE49-F238E27FC236}">
                <a16:creationId xmlns:a16="http://schemas.microsoft.com/office/drawing/2014/main" id="{72D7752F-2CE1-B3AF-10FF-EE4B843DE168}"/>
              </a:ext>
            </a:extLst>
          </p:cNvPr>
          <p:cNvSpPr/>
          <p:nvPr/>
        </p:nvSpPr>
        <p:spPr>
          <a:xfrm>
            <a:off x="10131570" y="280729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1300" dirty="0"/>
          </a:p>
        </p:txBody>
      </p:sp>
      <p:sp>
        <p:nvSpPr>
          <p:cNvPr id="161" name="Shape 19">
            <a:extLst>
              <a:ext uri="{FF2B5EF4-FFF2-40B4-BE49-F238E27FC236}">
                <a16:creationId xmlns:a16="http://schemas.microsoft.com/office/drawing/2014/main" id="{03008A0D-8595-179C-349C-FD4A67794DCF}"/>
              </a:ext>
            </a:extLst>
          </p:cNvPr>
          <p:cNvSpPr/>
          <p:nvPr/>
        </p:nvSpPr>
        <p:spPr>
          <a:xfrm>
            <a:off x="3456450" y="2304373"/>
            <a:ext cx="822960" cy="1417320"/>
          </a:xfrm>
          <a:prstGeom prst="line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3" name="Shape 20">
            <a:extLst>
              <a:ext uri="{FF2B5EF4-FFF2-40B4-BE49-F238E27FC236}">
                <a16:creationId xmlns:a16="http://schemas.microsoft.com/office/drawing/2014/main" id="{2EF8EF61-3A3B-037D-D7AD-78976E8F2F9A}"/>
              </a:ext>
            </a:extLst>
          </p:cNvPr>
          <p:cNvSpPr/>
          <p:nvPr/>
        </p:nvSpPr>
        <p:spPr>
          <a:xfrm>
            <a:off x="4279410" y="3447373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5" name="Text 21">
            <a:extLst>
              <a:ext uri="{FF2B5EF4-FFF2-40B4-BE49-F238E27FC236}">
                <a16:creationId xmlns:a16="http://schemas.microsoft.com/office/drawing/2014/main" id="{3CD12C86-067B-E76A-003A-736ABD3DF3DC}"/>
              </a:ext>
            </a:extLst>
          </p:cNvPr>
          <p:cNvSpPr/>
          <p:nvPr/>
        </p:nvSpPr>
        <p:spPr>
          <a:xfrm>
            <a:off x="4416570" y="353881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(.c / .h)</a:t>
            </a:r>
            <a:endParaRPr lang="en-US" sz="1100" dirty="0"/>
          </a:p>
        </p:txBody>
      </p:sp>
      <p:sp>
        <p:nvSpPr>
          <p:cNvPr id="167" name="Text 22">
            <a:extLst>
              <a:ext uri="{FF2B5EF4-FFF2-40B4-BE49-F238E27FC236}">
                <a16:creationId xmlns:a16="http://schemas.microsoft.com/office/drawing/2014/main" id="{009CB820-EECD-5B7B-EDB9-32EA3C5F7370}"/>
              </a:ext>
            </a:extLst>
          </p:cNvPr>
          <p:cNvSpPr/>
          <p:nvPr/>
        </p:nvSpPr>
        <p:spPr>
          <a:xfrm>
            <a:off x="7296930" y="3538813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strip_license()</a:t>
            </a:r>
            <a:endParaRPr lang="en-US" sz="1050" dirty="0"/>
          </a:p>
        </p:txBody>
      </p:sp>
      <p:sp>
        <p:nvSpPr>
          <p:cNvPr id="169" name="Shape 23">
            <a:extLst>
              <a:ext uri="{FF2B5EF4-FFF2-40B4-BE49-F238E27FC236}">
                <a16:creationId xmlns:a16="http://schemas.microsoft.com/office/drawing/2014/main" id="{366336DB-C7A7-F71A-ABD0-CE7F4C1A5021}"/>
              </a:ext>
            </a:extLst>
          </p:cNvPr>
          <p:cNvSpPr/>
          <p:nvPr/>
        </p:nvSpPr>
        <p:spPr>
          <a:xfrm>
            <a:off x="10131570" y="3584533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1" name="Text 24">
            <a:extLst>
              <a:ext uri="{FF2B5EF4-FFF2-40B4-BE49-F238E27FC236}">
                <a16:creationId xmlns:a16="http://schemas.microsoft.com/office/drawing/2014/main" id="{4DCC0B0A-2048-DD59-CF2E-465CC861B319}"/>
              </a:ext>
            </a:extLst>
          </p:cNvPr>
          <p:cNvSpPr/>
          <p:nvPr/>
        </p:nvSpPr>
        <p:spPr>
          <a:xfrm>
            <a:off x="10131570" y="358453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−10%</a:t>
            </a:r>
            <a:endParaRPr lang="en-US" sz="1300" dirty="0"/>
          </a:p>
        </p:txBody>
      </p:sp>
      <p:sp>
        <p:nvSpPr>
          <p:cNvPr id="173" name="Shape 25">
            <a:extLst>
              <a:ext uri="{FF2B5EF4-FFF2-40B4-BE49-F238E27FC236}">
                <a16:creationId xmlns:a16="http://schemas.microsoft.com/office/drawing/2014/main" id="{91FD48CC-A2B6-82C9-2CA5-7DB8DA37C0AD}"/>
              </a:ext>
            </a:extLst>
          </p:cNvPr>
          <p:cNvSpPr/>
          <p:nvPr/>
        </p:nvSpPr>
        <p:spPr>
          <a:xfrm>
            <a:off x="3456450" y="2304373"/>
            <a:ext cx="822960" cy="219456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5" name="Shape 26">
            <a:extLst>
              <a:ext uri="{FF2B5EF4-FFF2-40B4-BE49-F238E27FC236}">
                <a16:creationId xmlns:a16="http://schemas.microsoft.com/office/drawing/2014/main" id="{C4E187BD-8C2A-3FC9-EC5E-8F8641D0B122}"/>
              </a:ext>
            </a:extLst>
          </p:cNvPr>
          <p:cNvSpPr/>
          <p:nvPr/>
        </p:nvSpPr>
        <p:spPr>
          <a:xfrm>
            <a:off x="4279410" y="4224613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77" name="Text 27">
            <a:extLst>
              <a:ext uri="{FF2B5EF4-FFF2-40B4-BE49-F238E27FC236}">
                <a16:creationId xmlns:a16="http://schemas.microsoft.com/office/drawing/2014/main" id="{03DBB8D1-7E8F-E21B-2A75-550A53FBA5C2}"/>
              </a:ext>
            </a:extLst>
          </p:cNvPr>
          <p:cNvSpPr/>
          <p:nvPr/>
        </p:nvSpPr>
        <p:spPr>
          <a:xfrm>
            <a:off x="4416570" y="431605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CMSIS header &gt; 100 KB</a:t>
            </a:r>
            <a:endParaRPr lang="en-US" sz="1100" dirty="0"/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93FB7118-FDF0-5EEC-62B0-6EEF84C7216D}"/>
              </a:ext>
            </a:extLst>
          </p:cNvPr>
          <p:cNvSpPr/>
          <p:nvPr/>
        </p:nvSpPr>
        <p:spPr>
          <a:xfrm>
            <a:off x="7296930" y="4316053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filter_cmsis()</a:t>
            </a:r>
            <a:endParaRPr lang="en-US" sz="1050" dirty="0"/>
          </a:p>
        </p:txBody>
      </p:sp>
      <p:sp>
        <p:nvSpPr>
          <p:cNvPr id="181" name="Shape 29">
            <a:extLst>
              <a:ext uri="{FF2B5EF4-FFF2-40B4-BE49-F238E27FC236}">
                <a16:creationId xmlns:a16="http://schemas.microsoft.com/office/drawing/2014/main" id="{CF4D0851-2F6C-7548-9C12-68360EC51675}"/>
              </a:ext>
            </a:extLst>
          </p:cNvPr>
          <p:cNvSpPr/>
          <p:nvPr/>
        </p:nvSpPr>
        <p:spPr>
          <a:xfrm>
            <a:off x="10131570" y="4361773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3" name="Text 30">
            <a:extLst>
              <a:ext uri="{FF2B5EF4-FFF2-40B4-BE49-F238E27FC236}">
                <a16:creationId xmlns:a16="http://schemas.microsoft.com/office/drawing/2014/main" id="{34A65520-315B-388C-6802-1D7E3F3C6B47}"/>
              </a:ext>
            </a:extLst>
          </p:cNvPr>
          <p:cNvSpPr/>
          <p:nvPr/>
        </p:nvSpPr>
        <p:spPr>
          <a:xfrm>
            <a:off x="10131570" y="436177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−96%</a:t>
            </a:r>
            <a:endParaRPr lang="en-US" sz="1300" dirty="0"/>
          </a:p>
        </p:txBody>
      </p:sp>
      <p:sp>
        <p:nvSpPr>
          <p:cNvPr id="185" name="Shape 31">
            <a:extLst>
              <a:ext uri="{FF2B5EF4-FFF2-40B4-BE49-F238E27FC236}">
                <a16:creationId xmlns:a16="http://schemas.microsoft.com/office/drawing/2014/main" id="{5F1C1038-CC19-432E-E63B-F61411C8237F}"/>
              </a:ext>
            </a:extLst>
          </p:cNvPr>
          <p:cNvSpPr/>
          <p:nvPr/>
        </p:nvSpPr>
        <p:spPr>
          <a:xfrm>
            <a:off x="3456450" y="2304373"/>
            <a:ext cx="822960" cy="29718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7" name="Shape 32">
            <a:extLst>
              <a:ext uri="{FF2B5EF4-FFF2-40B4-BE49-F238E27FC236}">
                <a16:creationId xmlns:a16="http://schemas.microsoft.com/office/drawing/2014/main" id="{0B80AADA-6D0C-9928-106D-9004D885D6BC}"/>
              </a:ext>
            </a:extLst>
          </p:cNvPr>
          <p:cNvSpPr/>
          <p:nvPr/>
        </p:nvSpPr>
        <p:spPr>
          <a:xfrm>
            <a:off x="4279410" y="5001853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9" name="Text 33">
            <a:extLst>
              <a:ext uri="{FF2B5EF4-FFF2-40B4-BE49-F238E27FC236}">
                <a16:creationId xmlns:a16="http://schemas.microsoft.com/office/drawing/2014/main" id="{066615A7-5A03-0371-8D15-E9741AB8CE61}"/>
              </a:ext>
            </a:extLst>
          </p:cNvPr>
          <p:cNvSpPr/>
          <p:nvPr/>
        </p:nvSpPr>
        <p:spPr>
          <a:xfrm>
            <a:off x="4416570" y="509329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100" dirty="0"/>
          </a:p>
        </p:txBody>
      </p:sp>
      <p:sp>
        <p:nvSpPr>
          <p:cNvPr id="191" name="Text 34">
            <a:extLst>
              <a:ext uri="{FF2B5EF4-FFF2-40B4-BE49-F238E27FC236}">
                <a16:creationId xmlns:a16="http://schemas.microsoft.com/office/drawing/2014/main" id="{6809706F-E6E8-A920-35A2-BC84DA600609}"/>
              </a:ext>
            </a:extLst>
          </p:cNvPr>
          <p:cNvSpPr/>
          <p:nvPr/>
        </p:nvSpPr>
        <p:spPr>
          <a:xfrm>
            <a:off x="7296930" y="5093293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passthrough</a:t>
            </a:r>
            <a:endParaRPr lang="en-US" sz="1050" dirty="0"/>
          </a:p>
        </p:txBody>
      </p:sp>
      <p:sp>
        <p:nvSpPr>
          <p:cNvPr id="193" name="Shape 35">
            <a:extLst>
              <a:ext uri="{FF2B5EF4-FFF2-40B4-BE49-F238E27FC236}">
                <a16:creationId xmlns:a16="http://schemas.microsoft.com/office/drawing/2014/main" id="{6C979A54-9128-B299-BC95-1B6F70CDDC63}"/>
              </a:ext>
            </a:extLst>
          </p:cNvPr>
          <p:cNvSpPr/>
          <p:nvPr/>
        </p:nvSpPr>
        <p:spPr>
          <a:xfrm>
            <a:off x="10131570" y="5139013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5" name="Text 36">
            <a:extLst>
              <a:ext uri="{FF2B5EF4-FFF2-40B4-BE49-F238E27FC236}">
                <a16:creationId xmlns:a16="http://schemas.microsoft.com/office/drawing/2014/main" id="{DB9F3FAF-92A2-4C05-E194-09FC4CA4290E}"/>
              </a:ext>
            </a:extLst>
          </p:cNvPr>
          <p:cNvSpPr/>
          <p:nvPr/>
        </p:nvSpPr>
        <p:spPr>
          <a:xfrm>
            <a:off x="10131570" y="513901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cxnSp>
        <p:nvCxnSpPr>
          <p:cNvPr id="199" name="Connecteur droit avec flèche 198">
            <a:extLst>
              <a:ext uri="{FF2B5EF4-FFF2-40B4-BE49-F238E27FC236}">
                <a16:creationId xmlns:a16="http://schemas.microsoft.com/office/drawing/2014/main" id="{21978E9C-526E-DD10-92E2-A302003F071F}"/>
              </a:ext>
            </a:extLst>
          </p:cNvPr>
          <p:cNvCxnSpPr>
            <a:cxnSpLocks/>
            <a:endCxn id="133" idx="0"/>
          </p:cNvCxnSpPr>
          <p:nvPr/>
        </p:nvCxnSpPr>
        <p:spPr>
          <a:xfrm>
            <a:off x="2084850" y="1737048"/>
            <a:ext cx="0" cy="253782"/>
          </a:xfrm>
          <a:prstGeom prst="straightConnector1">
            <a:avLst/>
          </a:prstGeom>
          <a:ln w="22225">
            <a:solidFill>
              <a:srgbClr val="0D9488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26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F44C-70F5-24C2-6A6D-376E5BF2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E932-744D-9B78-2888-A0C8508D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ADE89724-5BA8-720C-CE72-5C919BCF41AF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96E2ADA-249F-3220-3194-1E69A65678F9}"/>
              </a:ext>
            </a:extLst>
          </p:cNvPr>
          <p:cNvSpPr/>
          <p:nvPr/>
        </p:nvSpPr>
        <p:spPr>
          <a:xfrm>
            <a:off x="2063309" y="107392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40">
            <a:extLst>
              <a:ext uri="{FF2B5EF4-FFF2-40B4-BE49-F238E27FC236}">
                <a16:creationId xmlns:a16="http://schemas.microsoft.com/office/drawing/2014/main" id="{35F5997F-6FD6-658B-5488-14A447F88D23}"/>
              </a:ext>
            </a:extLst>
          </p:cNvPr>
          <p:cNvSpPr/>
          <p:nvPr/>
        </p:nvSpPr>
        <p:spPr>
          <a:xfrm>
            <a:off x="6023515" y="3973568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23BC43BA-2719-28DD-A6C9-8A3585BFF637}"/>
              </a:ext>
            </a:extLst>
          </p:cNvPr>
          <p:cNvSpPr/>
          <p:nvPr/>
        </p:nvSpPr>
        <p:spPr>
          <a:xfrm>
            <a:off x="6023515" y="3973568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4DEC55BC-E438-C1C5-8A6C-889B45A8BAEF}"/>
              </a:ext>
            </a:extLst>
          </p:cNvPr>
          <p:cNvSpPr/>
          <p:nvPr/>
        </p:nvSpPr>
        <p:spPr>
          <a:xfrm>
            <a:off x="6224683" y="40650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What is Enrichment</a:t>
            </a:r>
            <a:endParaRPr lang="en-US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650D1A0C-CD6B-84DF-7F68-FBEC5A40E23D}"/>
              </a:ext>
            </a:extLst>
          </p:cNvPr>
          <p:cNvSpPr/>
          <p:nvPr/>
        </p:nvSpPr>
        <p:spPr>
          <a:xfrm>
            <a:off x="6224683" y="4357616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noProof="0" dirty="0">
                <a:solidFill>
                  <a:srgbClr val="1B2A3B"/>
                </a:solidFill>
              </a:rPr>
              <a:t>Adds technical metadata: </a:t>
            </a:r>
            <a:r>
              <a:rPr lang="en-US" sz="1000" noProof="0" dirty="0">
                <a:solidFill>
                  <a:srgbClr val="1B2A3B"/>
                </a:solidFill>
              </a:rPr>
              <a:t>layer, severity, </a:t>
            </a:r>
            <a:r>
              <a:rPr lang="en-US" sz="1000" noProof="0" dirty="0" err="1">
                <a:solidFill>
                  <a:srgbClr val="1B2A3B"/>
                </a:solidFill>
              </a:rPr>
              <a:t>issue_kind</a:t>
            </a:r>
            <a:r>
              <a:rPr lang="en-US" sz="1000" noProof="0" dirty="0">
                <a:solidFill>
                  <a:srgbClr val="1B2A3B"/>
                </a:solidFill>
              </a:rPr>
              <a:t>, board, component, </a:t>
            </a:r>
            <a:r>
              <a:rPr lang="en-US" sz="1000" noProof="0" dirty="0" err="1">
                <a:solidFill>
                  <a:srgbClr val="1B2A3B"/>
                </a:solidFill>
              </a:rPr>
              <a:t>file_type</a:t>
            </a:r>
            <a:r>
              <a:rPr lang="en-US" sz="1000" noProof="0" dirty="0">
                <a:solidFill>
                  <a:srgbClr val="1B2A3B"/>
                </a:solidFill>
              </a:rPr>
              <a:t>, </a:t>
            </a:r>
            <a:r>
              <a:rPr lang="en-US" sz="1000" noProof="0" dirty="0" err="1">
                <a:solidFill>
                  <a:srgbClr val="1B2A3B"/>
                </a:solidFill>
              </a:rPr>
              <a:t>is_valid</a:t>
            </a:r>
            <a:r>
              <a:rPr lang="en-US" sz="1000" noProof="0" dirty="0">
                <a:solidFill>
                  <a:srgbClr val="1B2A3B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Converts clean content into </a:t>
            </a:r>
            <a:r>
              <a:rPr lang="en-US" sz="1000" b="1" noProof="0" dirty="0">
                <a:solidFill>
                  <a:srgbClr val="1B2A3B"/>
                </a:solidFill>
              </a:rPr>
              <a:t>structured V2 documents</a:t>
            </a:r>
            <a:endParaRPr lang="en-US" sz="1000" noProof="0" dirty="0">
              <a:solidFill>
                <a:srgbClr val="1B2A3B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Creates features of </a:t>
            </a:r>
            <a:r>
              <a:rPr lang="en-US" sz="1000" b="1" noProof="0" dirty="0">
                <a:solidFill>
                  <a:srgbClr val="1B2A3B"/>
                </a:solidFill>
              </a:rPr>
              <a:t>f</a:t>
            </a:r>
            <a:r>
              <a:rPr lang="en-US" sz="1000" b="1" noProof="0" dirty="0"/>
              <a:t>iltering</a:t>
            </a:r>
            <a:r>
              <a:rPr lang="en-US" sz="1000" noProof="0" dirty="0">
                <a:solidFill>
                  <a:srgbClr val="1B2A3B"/>
                </a:solidFill>
              </a:rPr>
              <a:t> and </a:t>
            </a:r>
            <a:r>
              <a:rPr lang="en-US" sz="1000" b="1" noProof="0" dirty="0">
                <a:solidFill>
                  <a:srgbClr val="1B2A3B"/>
                </a:solidFill>
              </a:rPr>
              <a:t>ranking </a:t>
            </a:r>
            <a:r>
              <a:rPr lang="en-US" sz="1000" noProof="0" dirty="0">
                <a:solidFill>
                  <a:srgbClr val="1B2A3B"/>
                </a:solidFill>
              </a:rPr>
              <a:t>for information </a:t>
            </a:r>
            <a:r>
              <a:rPr lang="en-US" sz="1000" b="1" noProof="0" dirty="0">
                <a:solidFill>
                  <a:srgbClr val="1B2A3B"/>
                </a:solidFill>
              </a:rPr>
              <a:t>retrieval.</a:t>
            </a:r>
            <a:endParaRPr lang="en-US" sz="1000" noProof="0" dirty="0"/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0463B9D2-46A9-732E-AE55-237C9C495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4176868" y="3973568"/>
            <a:ext cx="1481109" cy="1481109"/>
          </a:xfrm>
          <a:prstGeom prst="rect">
            <a:avLst/>
          </a:prstGeom>
        </p:spPr>
      </p:pic>
      <p:sp>
        <p:nvSpPr>
          <p:cNvPr id="53" name="Shape 5">
            <a:extLst>
              <a:ext uri="{FF2B5EF4-FFF2-40B4-BE49-F238E27FC236}">
                <a16:creationId xmlns:a16="http://schemas.microsoft.com/office/drawing/2014/main" id="{A8F74C4A-430C-CAF5-77A4-9205B4D44F33}"/>
              </a:ext>
            </a:extLst>
          </p:cNvPr>
          <p:cNvSpPr/>
          <p:nvPr/>
        </p:nvSpPr>
        <p:spPr>
          <a:xfrm>
            <a:off x="734758" y="167172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BC05F46F-151F-F0C4-A68C-2CB14DB4B6A0}"/>
              </a:ext>
            </a:extLst>
          </p:cNvPr>
          <p:cNvSpPr/>
          <p:nvPr/>
        </p:nvSpPr>
        <p:spPr>
          <a:xfrm>
            <a:off x="734758" y="1671722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CDE73341-B076-6E27-A94C-27E0A30E8D1A}"/>
              </a:ext>
            </a:extLst>
          </p:cNvPr>
          <p:cNvSpPr/>
          <p:nvPr/>
        </p:nvSpPr>
        <p:spPr>
          <a:xfrm>
            <a:off x="734758" y="167172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0" name="Image 0" descr="preencoded.png">
            <a:extLst>
              <a:ext uri="{FF2B5EF4-FFF2-40B4-BE49-F238E27FC236}">
                <a16:creationId xmlns:a16="http://schemas.microsoft.com/office/drawing/2014/main" id="{FE18E62B-1654-E079-127A-F241DB08A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970" y="1740065"/>
            <a:ext cx="329184" cy="329184"/>
          </a:xfrm>
          <a:prstGeom prst="rect">
            <a:avLst/>
          </a:prstGeom>
        </p:spPr>
      </p:pic>
      <p:sp>
        <p:nvSpPr>
          <p:cNvPr id="61" name="Text 8">
            <a:extLst>
              <a:ext uri="{FF2B5EF4-FFF2-40B4-BE49-F238E27FC236}">
                <a16:creationId xmlns:a16="http://schemas.microsoft.com/office/drawing/2014/main" id="{2776A1AB-9753-99A6-B080-881A3971A1F4}"/>
              </a:ext>
            </a:extLst>
          </p:cNvPr>
          <p:cNvSpPr/>
          <p:nvPr/>
        </p:nvSpPr>
        <p:spPr>
          <a:xfrm>
            <a:off x="940498" y="218826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09862CD1-436A-68A0-76CB-7072CAD96D3B}"/>
              </a:ext>
            </a:extLst>
          </p:cNvPr>
          <p:cNvSpPr/>
          <p:nvPr/>
        </p:nvSpPr>
        <p:spPr>
          <a:xfrm>
            <a:off x="898460" y="264013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63" name="Image 1" descr="preencoded.png">
            <a:extLst>
              <a:ext uri="{FF2B5EF4-FFF2-40B4-BE49-F238E27FC236}">
                <a16:creationId xmlns:a16="http://schemas.microsoft.com/office/drawing/2014/main" id="{23A12CBB-2033-7E06-6FE3-AEE0B2DCE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900" y="2711995"/>
            <a:ext cx="237744" cy="237744"/>
          </a:xfrm>
          <a:prstGeom prst="rect">
            <a:avLst/>
          </a:prstGeom>
        </p:spPr>
      </p:pic>
      <p:pic>
        <p:nvPicPr>
          <p:cNvPr id="64" name="Image 3" descr="preencoded.png">
            <a:extLst>
              <a:ext uri="{FF2B5EF4-FFF2-40B4-BE49-F238E27FC236}">
                <a16:creationId xmlns:a16="http://schemas.microsoft.com/office/drawing/2014/main" id="{48CBB1EE-3595-657F-DF4D-E43A745E0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729" y="2700420"/>
            <a:ext cx="237744" cy="237744"/>
          </a:xfrm>
          <a:prstGeom prst="rect">
            <a:avLst/>
          </a:prstGeom>
        </p:spPr>
      </p:pic>
      <p:sp>
        <p:nvSpPr>
          <p:cNvPr id="65" name="Shape 15">
            <a:extLst>
              <a:ext uri="{FF2B5EF4-FFF2-40B4-BE49-F238E27FC236}">
                <a16:creationId xmlns:a16="http://schemas.microsoft.com/office/drawing/2014/main" id="{2636F282-CB53-461F-ECE6-7607DA08055F}"/>
              </a:ext>
            </a:extLst>
          </p:cNvPr>
          <p:cNvSpPr/>
          <p:nvPr/>
        </p:nvSpPr>
        <p:spPr>
          <a:xfrm>
            <a:off x="3713773" y="166714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6" name="Shape 16">
            <a:extLst>
              <a:ext uri="{FF2B5EF4-FFF2-40B4-BE49-F238E27FC236}">
                <a16:creationId xmlns:a16="http://schemas.microsoft.com/office/drawing/2014/main" id="{BCED4B9C-5296-2FC8-1CCE-CBE81EBF8C4F}"/>
              </a:ext>
            </a:extLst>
          </p:cNvPr>
          <p:cNvSpPr/>
          <p:nvPr/>
        </p:nvSpPr>
        <p:spPr>
          <a:xfrm>
            <a:off x="3719638" y="1677729"/>
            <a:ext cx="1410616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411DC018-F007-748D-8690-35DA890CF1F1}"/>
              </a:ext>
            </a:extLst>
          </p:cNvPr>
          <p:cNvSpPr/>
          <p:nvPr/>
        </p:nvSpPr>
        <p:spPr>
          <a:xfrm>
            <a:off x="3784313" y="166714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8" name="Image 4" descr="preencoded.png">
            <a:extLst>
              <a:ext uri="{FF2B5EF4-FFF2-40B4-BE49-F238E27FC236}">
                <a16:creationId xmlns:a16="http://schemas.microsoft.com/office/drawing/2014/main" id="{5B134E1B-E74C-3DDA-3BF2-D67A611F37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9235" y="1744382"/>
            <a:ext cx="329184" cy="329184"/>
          </a:xfrm>
          <a:prstGeom prst="rect">
            <a:avLst/>
          </a:prstGeom>
        </p:spPr>
      </p:pic>
      <p:sp>
        <p:nvSpPr>
          <p:cNvPr id="69" name="Text 18">
            <a:extLst>
              <a:ext uri="{FF2B5EF4-FFF2-40B4-BE49-F238E27FC236}">
                <a16:creationId xmlns:a16="http://schemas.microsoft.com/office/drawing/2014/main" id="{91EB5982-49D5-0580-3DA3-AEC54B4CF034}"/>
              </a:ext>
            </a:extLst>
          </p:cNvPr>
          <p:cNvSpPr/>
          <p:nvPr/>
        </p:nvSpPr>
        <p:spPr>
          <a:xfrm>
            <a:off x="3795825" y="2314818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33EB64D7-CDE1-A7B3-DE6C-6D85F4C64916}"/>
              </a:ext>
            </a:extLst>
          </p:cNvPr>
          <p:cNvSpPr/>
          <p:nvPr/>
        </p:nvSpPr>
        <p:spPr>
          <a:xfrm>
            <a:off x="3883261" y="2721936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71" name="Image 5" descr="preencoded.png">
            <a:extLst>
              <a:ext uri="{FF2B5EF4-FFF2-40B4-BE49-F238E27FC236}">
                <a16:creationId xmlns:a16="http://schemas.microsoft.com/office/drawing/2014/main" id="{A0047280-8BC5-D3EE-5680-FA146FCA5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209" y="2695600"/>
            <a:ext cx="237744" cy="237744"/>
          </a:xfrm>
          <a:prstGeom prst="rect">
            <a:avLst/>
          </a:prstGeom>
        </p:spPr>
      </p:pic>
      <p:sp>
        <p:nvSpPr>
          <p:cNvPr id="72" name="Shape 20">
            <a:extLst>
              <a:ext uri="{FF2B5EF4-FFF2-40B4-BE49-F238E27FC236}">
                <a16:creationId xmlns:a16="http://schemas.microsoft.com/office/drawing/2014/main" id="{4FD3566B-E8C3-EF33-8018-CAC0C4ECA35D}"/>
              </a:ext>
            </a:extLst>
          </p:cNvPr>
          <p:cNvSpPr/>
          <p:nvPr/>
        </p:nvSpPr>
        <p:spPr>
          <a:xfrm>
            <a:off x="5315338" y="167772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C7FE758D-5D88-F082-7B6C-B15F94D173B6}"/>
              </a:ext>
            </a:extLst>
          </p:cNvPr>
          <p:cNvSpPr/>
          <p:nvPr/>
        </p:nvSpPr>
        <p:spPr>
          <a:xfrm>
            <a:off x="5328793" y="166232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AB71CC1F-C2E0-5951-A596-05B650AAFED7}"/>
              </a:ext>
            </a:extLst>
          </p:cNvPr>
          <p:cNvSpPr/>
          <p:nvPr/>
        </p:nvSpPr>
        <p:spPr>
          <a:xfrm>
            <a:off x="5328793" y="166232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E331599C-14A5-BD42-7344-ACA1F0BB86D0}"/>
              </a:ext>
            </a:extLst>
          </p:cNvPr>
          <p:cNvSpPr/>
          <p:nvPr/>
        </p:nvSpPr>
        <p:spPr>
          <a:xfrm>
            <a:off x="5515111" y="21858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90BE242D-8B18-122E-B5D6-FFBF8AF536DF}"/>
              </a:ext>
            </a:extLst>
          </p:cNvPr>
          <p:cNvSpPr/>
          <p:nvPr/>
        </p:nvSpPr>
        <p:spPr>
          <a:xfrm>
            <a:off x="5524592" y="256307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pic>
        <p:nvPicPr>
          <p:cNvPr id="86" name="Image 9" descr="preencoded.png">
            <a:extLst>
              <a:ext uri="{FF2B5EF4-FFF2-40B4-BE49-F238E27FC236}">
                <a16:creationId xmlns:a16="http://schemas.microsoft.com/office/drawing/2014/main" id="{D93BD149-DB4A-47EE-92A7-640F47E51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687" y="2706961"/>
            <a:ext cx="237744" cy="237744"/>
          </a:xfrm>
          <a:prstGeom prst="rect">
            <a:avLst/>
          </a:prstGeom>
        </p:spPr>
      </p:pic>
      <p:sp>
        <p:nvSpPr>
          <p:cNvPr id="94" name="Shape 35">
            <a:extLst>
              <a:ext uri="{FF2B5EF4-FFF2-40B4-BE49-F238E27FC236}">
                <a16:creationId xmlns:a16="http://schemas.microsoft.com/office/drawing/2014/main" id="{CA4177A9-DAE5-0B1A-398F-B79078F59C37}"/>
              </a:ext>
            </a:extLst>
          </p:cNvPr>
          <p:cNvSpPr/>
          <p:nvPr/>
        </p:nvSpPr>
        <p:spPr>
          <a:xfrm>
            <a:off x="8468466" y="1689759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5" name="Shape 36">
            <a:extLst>
              <a:ext uri="{FF2B5EF4-FFF2-40B4-BE49-F238E27FC236}">
                <a16:creationId xmlns:a16="http://schemas.microsoft.com/office/drawing/2014/main" id="{DF908C4B-86DF-3A1F-07E7-C9A3D431D28C}"/>
              </a:ext>
            </a:extLst>
          </p:cNvPr>
          <p:cNvSpPr/>
          <p:nvPr/>
        </p:nvSpPr>
        <p:spPr>
          <a:xfrm>
            <a:off x="8468466" y="1689760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67916F27-F5B2-2BA2-D385-A51620C80C8A}"/>
              </a:ext>
            </a:extLst>
          </p:cNvPr>
          <p:cNvSpPr/>
          <p:nvPr/>
        </p:nvSpPr>
        <p:spPr>
          <a:xfrm>
            <a:off x="8468466" y="168976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97" name="Image 12" descr="preencoded.png">
            <a:extLst>
              <a:ext uri="{FF2B5EF4-FFF2-40B4-BE49-F238E27FC236}">
                <a16:creationId xmlns:a16="http://schemas.microsoft.com/office/drawing/2014/main" id="{E444B0EF-1AB1-6624-9253-3FB5823BDA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0833" y="1774829"/>
            <a:ext cx="288037" cy="288037"/>
          </a:xfrm>
          <a:prstGeom prst="rect">
            <a:avLst/>
          </a:prstGeom>
        </p:spPr>
      </p:pic>
      <p:sp>
        <p:nvSpPr>
          <p:cNvPr id="98" name="Text 38">
            <a:extLst>
              <a:ext uri="{FF2B5EF4-FFF2-40B4-BE49-F238E27FC236}">
                <a16:creationId xmlns:a16="http://schemas.microsoft.com/office/drawing/2014/main" id="{ECCF46C6-84F9-EE16-08F0-F7E5FEC77F64}"/>
              </a:ext>
            </a:extLst>
          </p:cNvPr>
          <p:cNvSpPr/>
          <p:nvPr/>
        </p:nvSpPr>
        <p:spPr>
          <a:xfrm>
            <a:off x="8406052" y="2308909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EBCE1514-EDDD-D127-262E-558005DF16D8}"/>
              </a:ext>
            </a:extLst>
          </p:cNvPr>
          <p:cNvSpPr/>
          <p:nvPr/>
        </p:nvSpPr>
        <p:spPr>
          <a:xfrm>
            <a:off x="8567456" y="265155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00" name="Graphic 99" descr="Dice with solid fill">
            <a:extLst>
              <a:ext uri="{FF2B5EF4-FFF2-40B4-BE49-F238E27FC236}">
                <a16:creationId xmlns:a16="http://schemas.microsoft.com/office/drawing/2014/main" id="{F3EC6765-3EFE-83CC-016F-5D16163909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20974" y="1689759"/>
            <a:ext cx="402338" cy="402338"/>
          </a:xfrm>
          <a:prstGeom prst="rect">
            <a:avLst/>
          </a:prstGeom>
        </p:spPr>
      </p:pic>
      <p:sp>
        <p:nvSpPr>
          <p:cNvPr id="101" name="Shape 20">
            <a:extLst>
              <a:ext uri="{FF2B5EF4-FFF2-40B4-BE49-F238E27FC236}">
                <a16:creationId xmlns:a16="http://schemas.microsoft.com/office/drawing/2014/main" id="{6C65197C-424B-53DB-2DD9-B1734B4BC4A5}"/>
              </a:ext>
            </a:extLst>
          </p:cNvPr>
          <p:cNvSpPr/>
          <p:nvPr/>
        </p:nvSpPr>
        <p:spPr>
          <a:xfrm>
            <a:off x="6871296" y="167172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A517C57C-FF7E-767D-232D-32D8A2CE4CB3}"/>
              </a:ext>
            </a:extLst>
          </p:cNvPr>
          <p:cNvSpPr/>
          <p:nvPr/>
        </p:nvSpPr>
        <p:spPr>
          <a:xfrm>
            <a:off x="6871295" y="166714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437FB5CC-D618-CD1B-EAC6-E4B7349457A8}"/>
              </a:ext>
            </a:extLst>
          </p:cNvPr>
          <p:cNvSpPr/>
          <p:nvPr/>
        </p:nvSpPr>
        <p:spPr>
          <a:xfrm>
            <a:off x="6945937" y="166714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04" name="Text 23">
            <a:extLst>
              <a:ext uri="{FF2B5EF4-FFF2-40B4-BE49-F238E27FC236}">
                <a16:creationId xmlns:a16="http://schemas.microsoft.com/office/drawing/2014/main" id="{118EB8CA-2F96-9294-9C71-19BB9BEA1A28}"/>
              </a:ext>
            </a:extLst>
          </p:cNvPr>
          <p:cNvSpPr/>
          <p:nvPr/>
        </p:nvSpPr>
        <p:spPr>
          <a:xfrm>
            <a:off x="7132255" y="21906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CF7F0E14-CC2E-7A20-BC39-E40A3704A886}"/>
              </a:ext>
            </a:extLst>
          </p:cNvPr>
          <p:cNvSpPr/>
          <p:nvPr/>
        </p:nvSpPr>
        <p:spPr>
          <a:xfrm>
            <a:off x="7132255" y="27004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06" name="Graphic 105" descr="Database with solid fill">
            <a:extLst>
              <a:ext uri="{FF2B5EF4-FFF2-40B4-BE49-F238E27FC236}">
                <a16:creationId xmlns:a16="http://schemas.microsoft.com/office/drawing/2014/main" id="{AF165D3E-6FB8-64DB-312B-A3EC83749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49520" y="1691468"/>
            <a:ext cx="390272" cy="390272"/>
          </a:xfrm>
          <a:prstGeom prst="rect">
            <a:avLst/>
          </a:prstGeom>
        </p:spPr>
      </p:pic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25E48A0-8C7F-57BF-3E92-19A1F9064AAB}"/>
              </a:ext>
            </a:extLst>
          </p:cNvPr>
          <p:cNvCxnSpPr>
            <a:stCxn id="65" idx="3"/>
            <a:endCxn id="72" idx="1"/>
          </p:cNvCxnSpPr>
          <p:nvPr/>
        </p:nvCxnSpPr>
        <p:spPr>
          <a:xfrm>
            <a:off x="5120501" y="265771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98C4DBD-22AF-353C-D591-FFE09050BB54}"/>
              </a:ext>
            </a:extLst>
          </p:cNvPr>
          <p:cNvCxnSpPr>
            <a:stCxn id="72" idx="3"/>
            <a:endCxn id="101" idx="1"/>
          </p:cNvCxnSpPr>
          <p:nvPr/>
        </p:nvCxnSpPr>
        <p:spPr>
          <a:xfrm flipV="1">
            <a:off x="6712776" y="266229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5E5E2C5C-14C4-CDF4-4296-58C8E3410761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268734" y="2662293"/>
            <a:ext cx="162977" cy="6007"/>
          </a:xfrm>
          <a:prstGeom prst="bentConnector3">
            <a:avLst>
              <a:gd name="adj1" fmla="val 50000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D0705FA-7076-8DDB-9F86-4E54D17C41B5}"/>
              </a:ext>
            </a:extLst>
          </p:cNvPr>
          <p:cNvCxnSpPr>
            <a:cxnSpLocks/>
          </p:cNvCxnSpPr>
          <p:nvPr/>
        </p:nvCxnSpPr>
        <p:spPr>
          <a:xfrm>
            <a:off x="9691461" y="268464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Image 1" descr="preencoded.png">
            <a:extLst>
              <a:ext uri="{FF2B5EF4-FFF2-40B4-BE49-F238E27FC236}">
                <a16:creationId xmlns:a16="http://schemas.microsoft.com/office/drawing/2014/main" id="{BBE3677A-6402-EB3A-41A2-465B18C72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1641" y="2724740"/>
            <a:ext cx="237744" cy="237744"/>
          </a:xfrm>
          <a:prstGeom prst="rect">
            <a:avLst/>
          </a:prstGeom>
        </p:spPr>
      </p:pic>
      <p:sp>
        <p:nvSpPr>
          <p:cNvPr id="113" name="Shape 10">
            <a:extLst>
              <a:ext uri="{FF2B5EF4-FFF2-40B4-BE49-F238E27FC236}">
                <a16:creationId xmlns:a16="http://schemas.microsoft.com/office/drawing/2014/main" id="{2D471CFF-5307-20A7-B7B5-B9161913ABFD}"/>
              </a:ext>
            </a:extLst>
          </p:cNvPr>
          <p:cNvSpPr/>
          <p:nvPr/>
        </p:nvSpPr>
        <p:spPr>
          <a:xfrm>
            <a:off x="2175158" y="166911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4" name="Shape 11">
            <a:extLst>
              <a:ext uri="{FF2B5EF4-FFF2-40B4-BE49-F238E27FC236}">
                <a16:creationId xmlns:a16="http://schemas.microsoft.com/office/drawing/2014/main" id="{660F1349-140D-9ADF-212C-A58C426E0C00}"/>
              </a:ext>
            </a:extLst>
          </p:cNvPr>
          <p:cNvSpPr/>
          <p:nvPr/>
        </p:nvSpPr>
        <p:spPr>
          <a:xfrm>
            <a:off x="2175158" y="1669116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5" name="Text 12">
            <a:extLst>
              <a:ext uri="{FF2B5EF4-FFF2-40B4-BE49-F238E27FC236}">
                <a16:creationId xmlns:a16="http://schemas.microsoft.com/office/drawing/2014/main" id="{23119BCD-29FE-395C-E5DE-40413C92EB86}"/>
              </a:ext>
            </a:extLst>
          </p:cNvPr>
          <p:cNvSpPr/>
          <p:nvPr/>
        </p:nvSpPr>
        <p:spPr>
          <a:xfrm>
            <a:off x="2175158" y="166911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16" name="Text 13">
            <a:extLst>
              <a:ext uri="{FF2B5EF4-FFF2-40B4-BE49-F238E27FC236}">
                <a16:creationId xmlns:a16="http://schemas.microsoft.com/office/drawing/2014/main" id="{3A27EDCF-BFAA-1D70-68CC-D9E8B2BD669A}"/>
              </a:ext>
            </a:extLst>
          </p:cNvPr>
          <p:cNvSpPr/>
          <p:nvPr/>
        </p:nvSpPr>
        <p:spPr>
          <a:xfrm>
            <a:off x="2381235" y="21511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17" name="Text 14">
            <a:extLst>
              <a:ext uri="{FF2B5EF4-FFF2-40B4-BE49-F238E27FC236}">
                <a16:creationId xmlns:a16="http://schemas.microsoft.com/office/drawing/2014/main" id="{1D7F0AD6-DCDC-21CC-3BE5-A8605BDC773B}"/>
              </a:ext>
            </a:extLst>
          </p:cNvPr>
          <p:cNvSpPr/>
          <p:nvPr/>
        </p:nvSpPr>
        <p:spPr>
          <a:xfrm>
            <a:off x="2339750" y="2530715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remove HTML,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Noisy text</a:t>
            </a:r>
            <a:endParaRPr lang="en-US" sz="1000" noProof="0" dirty="0"/>
          </a:p>
        </p:txBody>
      </p:sp>
      <p:pic>
        <p:nvPicPr>
          <p:cNvPr id="118" name="Graphic 117" descr="Eraser with solid fill">
            <a:extLst>
              <a:ext uri="{FF2B5EF4-FFF2-40B4-BE49-F238E27FC236}">
                <a16:creationId xmlns:a16="http://schemas.microsoft.com/office/drawing/2014/main" id="{7934CC14-45AA-B69E-37CD-A1B5B4470E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19292" y="1734776"/>
            <a:ext cx="329184" cy="329184"/>
          </a:xfrm>
          <a:prstGeom prst="rect">
            <a:avLst/>
          </a:prstGeom>
        </p:spPr>
      </p:pic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449492C1-4323-8C7E-E061-C571D263568A}"/>
              </a:ext>
            </a:extLst>
          </p:cNvPr>
          <p:cNvCxnSpPr>
            <a:stCxn id="53" idx="3"/>
            <a:endCxn id="113" idx="1"/>
          </p:cNvCxnSpPr>
          <p:nvPr/>
        </p:nvCxnSpPr>
        <p:spPr>
          <a:xfrm flipV="1">
            <a:off x="2039540" y="265618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5DBC20A-8ED4-2435-1424-61C0EA4549C4}"/>
              </a:ext>
            </a:extLst>
          </p:cNvPr>
          <p:cNvCxnSpPr>
            <a:stCxn id="113" idx="3"/>
            <a:endCxn id="65" idx="1"/>
          </p:cNvCxnSpPr>
          <p:nvPr/>
        </p:nvCxnSpPr>
        <p:spPr>
          <a:xfrm>
            <a:off x="3587906" y="265618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9C9CA-9432-19C2-E716-CC717643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20</a:t>
            </a:fld>
            <a:endParaRPr lang="en-US" noProof="0" dirty="0"/>
          </a:p>
        </p:txBody>
      </p:sp>
      <p:pic>
        <p:nvPicPr>
          <p:cNvPr id="6" name="Image 7" descr="preencoded.png">
            <a:extLst>
              <a:ext uri="{FF2B5EF4-FFF2-40B4-BE49-F238E27FC236}">
                <a16:creationId xmlns:a16="http://schemas.microsoft.com/office/drawing/2014/main" id="{25C4098A-9059-BA24-FF76-770C1898B6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7761" y="1814983"/>
            <a:ext cx="237744" cy="237744"/>
          </a:xfrm>
          <a:prstGeom prst="rect">
            <a:avLst/>
          </a:prstGeom>
        </p:spPr>
      </p:pic>
      <p:sp>
        <p:nvSpPr>
          <p:cNvPr id="8" name="Shape 30">
            <a:extLst>
              <a:ext uri="{FF2B5EF4-FFF2-40B4-BE49-F238E27FC236}">
                <a16:creationId xmlns:a16="http://schemas.microsoft.com/office/drawing/2014/main" id="{2C39D9E4-E296-D9B4-DE43-2171A83F301C}"/>
              </a:ext>
            </a:extLst>
          </p:cNvPr>
          <p:cNvSpPr/>
          <p:nvPr/>
        </p:nvSpPr>
        <p:spPr>
          <a:xfrm>
            <a:off x="9854064" y="1686500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Shape 31">
            <a:extLst>
              <a:ext uri="{FF2B5EF4-FFF2-40B4-BE49-F238E27FC236}">
                <a16:creationId xmlns:a16="http://schemas.microsoft.com/office/drawing/2014/main" id="{7898F43E-1996-CA23-E0CF-C56FA98AC46C}"/>
              </a:ext>
            </a:extLst>
          </p:cNvPr>
          <p:cNvSpPr/>
          <p:nvPr/>
        </p:nvSpPr>
        <p:spPr>
          <a:xfrm>
            <a:off x="9854064" y="1686501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C3C9ABB-77BF-9C9A-8D3A-6265FF20F4DE}"/>
              </a:ext>
            </a:extLst>
          </p:cNvPr>
          <p:cNvSpPr/>
          <p:nvPr/>
        </p:nvSpPr>
        <p:spPr>
          <a:xfrm>
            <a:off x="9854064" y="16865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b="1" noProof="0" dirty="0">
              <a:solidFill>
                <a:srgbClr val="0D9488"/>
              </a:solidFill>
            </a:endParaRPr>
          </a:p>
        </p:txBody>
      </p:sp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88D780E2-4612-AAD9-2B14-0E9ED94BAE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7222" y="1779488"/>
            <a:ext cx="263059" cy="263059"/>
          </a:xfrm>
          <a:prstGeom prst="rect">
            <a:avLst/>
          </a:prstGeom>
        </p:spPr>
      </p:pic>
      <p:sp>
        <p:nvSpPr>
          <p:cNvPr id="17" name="Text 33">
            <a:extLst>
              <a:ext uri="{FF2B5EF4-FFF2-40B4-BE49-F238E27FC236}">
                <a16:creationId xmlns:a16="http://schemas.microsoft.com/office/drawing/2014/main" id="{7E61756D-99DF-B085-32AC-C79E34390AFF}"/>
              </a:ext>
            </a:extLst>
          </p:cNvPr>
          <p:cNvSpPr/>
          <p:nvPr/>
        </p:nvSpPr>
        <p:spPr>
          <a:xfrm>
            <a:off x="10049863" y="226465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19" name="Text 34">
            <a:extLst>
              <a:ext uri="{FF2B5EF4-FFF2-40B4-BE49-F238E27FC236}">
                <a16:creationId xmlns:a16="http://schemas.microsoft.com/office/drawing/2014/main" id="{473B7BE8-AEEE-9452-B15D-7865D67CD3CC}"/>
              </a:ext>
            </a:extLst>
          </p:cNvPr>
          <p:cNvSpPr/>
          <p:nvPr/>
        </p:nvSpPr>
        <p:spPr>
          <a:xfrm>
            <a:off x="10068866" y="27858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21" name="Image 11" descr="preencoded.png">
            <a:extLst>
              <a:ext uri="{FF2B5EF4-FFF2-40B4-BE49-F238E27FC236}">
                <a16:creationId xmlns:a16="http://schemas.microsoft.com/office/drawing/2014/main" id="{DD9A9431-A90C-94DE-D223-884A3D941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7064" y="2719773"/>
            <a:ext cx="237744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179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FC46-D9CC-D20F-804A-BEC29797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18221-309C-692E-E1A6-03954532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Enrichment (Feature Engineering)    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335B015-A15B-A1C0-19EE-C215083C130A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A7EA0A3-B518-4771-66D9-E998D828F42C}"/>
              </a:ext>
            </a:extLst>
          </p:cNvPr>
          <p:cNvSpPr/>
          <p:nvPr/>
        </p:nvSpPr>
        <p:spPr>
          <a:xfrm>
            <a:off x="340364" y="104658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4EB634-AFD7-B2B4-76BE-ABF6D2FA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21</a:t>
            </a:fld>
            <a:endParaRPr lang="en-US" noProof="0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DDAA0414-0C1D-548B-43C7-45D0334F3401}"/>
              </a:ext>
            </a:extLst>
          </p:cNvPr>
          <p:cNvSpPr/>
          <p:nvPr/>
        </p:nvSpPr>
        <p:spPr>
          <a:xfrm>
            <a:off x="242477" y="1268038"/>
            <a:ext cx="4937802" cy="516688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7E8C7079-FC2C-E2FE-94B3-7A8E337EFB41}"/>
              </a:ext>
            </a:extLst>
          </p:cNvPr>
          <p:cNvSpPr/>
          <p:nvPr/>
        </p:nvSpPr>
        <p:spPr>
          <a:xfrm>
            <a:off x="6286631" y="1268036"/>
            <a:ext cx="5323630" cy="516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noProof="0" dirty="0"/>
          </a:p>
        </p:txBody>
      </p:sp>
      <p:pic>
        <p:nvPicPr>
          <p:cNvPr id="64" name="Graphic 82" descr="Arrow Right with solid fill">
            <a:extLst>
              <a:ext uri="{FF2B5EF4-FFF2-40B4-BE49-F238E27FC236}">
                <a16:creationId xmlns:a16="http://schemas.microsoft.com/office/drawing/2014/main" id="{6402D304-566B-BCE1-1157-EC1154591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5521" y="3472404"/>
            <a:ext cx="431535" cy="431535"/>
          </a:xfrm>
          <a:prstGeom prst="rect">
            <a:avLst/>
          </a:prstGeom>
        </p:spPr>
      </p:pic>
      <p:sp>
        <p:nvSpPr>
          <p:cNvPr id="66" name="ZoneTexte 65">
            <a:extLst>
              <a:ext uri="{FF2B5EF4-FFF2-40B4-BE49-F238E27FC236}">
                <a16:creationId xmlns:a16="http://schemas.microsoft.com/office/drawing/2014/main" id="{5A9B30EB-0968-AFB4-4BF6-593E54F832F9}"/>
              </a:ext>
            </a:extLst>
          </p:cNvPr>
          <p:cNvSpPr txBox="1"/>
          <p:nvPr/>
        </p:nvSpPr>
        <p:spPr>
          <a:xfrm>
            <a:off x="1478206" y="1358493"/>
            <a:ext cx="2466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0D9589"/>
                </a:solidFill>
              </a:rPr>
              <a:t>Before</a:t>
            </a:r>
            <a:r>
              <a:rPr lang="en-US" sz="1400" noProof="0" dirty="0"/>
              <a:t> (</a:t>
            </a:r>
            <a:r>
              <a:rPr lang="en-US" sz="1400" noProof="0" dirty="0" err="1"/>
              <a:t>clean_issues.json</a:t>
            </a:r>
            <a:r>
              <a:rPr lang="en-US" sz="1400" noProof="0" dirty="0"/>
              <a:t>)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C0A05CAF-DD16-BD48-0D4D-7141AFA35427}"/>
              </a:ext>
            </a:extLst>
          </p:cNvPr>
          <p:cNvSpPr txBox="1"/>
          <p:nvPr/>
        </p:nvSpPr>
        <p:spPr>
          <a:xfrm>
            <a:off x="7816219" y="1358493"/>
            <a:ext cx="30137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0D9589"/>
                </a:solidFill>
              </a:rPr>
              <a:t>After</a:t>
            </a:r>
            <a:r>
              <a:rPr lang="en-US" sz="1400" noProof="0" dirty="0"/>
              <a:t> (docs_issues_v2.json)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BD432AD4-AC7A-59DB-76CF-580F453D83CD}"/>
              </a:ext>
            </a:extLst>
          </p:cNvPr>
          <p:cNvSpPr txBox="1"/>
          <p:nvPr/>
        </p:nvSpPr>
        <p:spPr>
          <a:xfrm>
            <a:off x="242477" y="5079205"/>
            <a:ext cx="33269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0" dirty="0">
                <a:sym typeface="Wingdings" panose="05000000000000000000" pitchFamily="2" charset="2"/>
              </a:rPr>
              <a:t> </a:t>
            </a:r>
            <a:r>
              <a:rPr lang="en-US" sz="1600" b="1" noProof="0" dirty="0"/>
              <a:t>Cleaning step output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311FA8-8E26-BBCB-88D6-A08006109B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38" r="2439" b="667"/>
          <a:stretch>
            <a:fillRect/>
          </a:stretch>
        </p:blipFill>
        <p:spPr>
          <a:xfrm>
            <a:off x="6286630" y="1946743"/>
            <a:ext cx="5359974" cy="46767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A29C32-FAAE-F1D0-C8AC-79859BCED2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8143"/>
          <a:stretch>
            <a:fillRect/>
          </a:stretch>
        </p:blipFill>
        <p:spPr>
          <a:xfrm>
            <a:off x="242477" y="2446981"/>
            <a:ext cx="5196298" cy="24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49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A1BB-0B45-89E2-A6BA-D557D8BC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D775-9B0D-8FBF-6C63-A5FCAEDE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Enrichment (Feature Engineering)    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E846190-5E35-621D-547C-7F316AFD1924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B0E9895-84E2-66A0-86E3-4D23D729C0F4}"/>
              </a:ext>
            </a:extLst>
          </p:cNvPr>
          <p:cNvSpPr/>
          <p:nvPr/>
        </p:nvSpPr>
        <p:spPr>
          <a:xfrm>
            <a:off x="340364" y="104658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6C57C3-7748-EBAA-4635-3604E975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22</a:t>
            </a:fld>
            <a:endParaRPr lang="en-US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9D620C9-0BD7-09A8-CE0C-25471034B5FE}"/>
              </a:ext>
            </a:extLst>
          </p:cNvPr>
          <p:cNvSpPr txBox="1"/>
          <p:nvPr/>
        </p:nvSpPr>
        <p:spPr>
          <a:xfrm>
            <a:off x="473041" y="1379169"/>
            <a:ext cx="10057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Adds the metadata that makes documents filterable, </a:t>
            </a:r>
            <a:r>
              <a:rPr lang="en-US" sz="1400" b="1" dirty="0" err="1">
                <a:solidFill>
                  <a:schemeClr val="bg2">
                    <a:lumMod val="10000"/>
                  </a:schemeClr>
                </a:solidFill>
              </a:rPr>
              <a:t>rankable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, and searchable</a:t>
            </a:r>
          </a:p>
        </p:txBody>
      </p:sp>
      <p:sp>
        <p:nvSpPr>
          <p:cNvPr id="163" name="Shape 4">
            <a:extLst>
              <a:ext uri="{FF2B5EF4-FFF2-40B4-BE49-F238E27FC236}">
                <a16:creationId xmlns:a16="http://schemas.microsoft.com/office/drawing/2014/main" id="{E4B9325F-313A-E965-0EAD-009C183E3D4B}"/>
              </a:ext>
            </a:extLst>
          </p:cNvPr>
          <p:cNvSpPr/>
          <p:nvPr/>
        </p:nvSpPr>
        <p:spPr>
          <a:xfrm>
            <a:off x="426720" y="1822922"/>
            <a:ext cx="3688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5" name="Shape 5">
            <a:extLst>
              <a:ext uri="{FF2B5EF4-FFF2-40B4-BE49-F238E27FC236}">
                <a16:creationId xmlns:a16="http://schemas.microsoft.com/office/drawing/2014/main" id="{9126F979-69B1-3D75-B487-9F1F2257698F}"/>
              </a:ext>
            </a:extLst>
          </p:cNvPr>
          <p:cNvSpPr/>
          <p:nvPr/>
        </p:nvSpPr>
        <p:spPr>
          <a:xfrm>
            <a:off x="609600" y="200580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7" name="Text 6">
            <a:extLst>
              <a:ext uri="{FF2B5EF4-FFF2-40B4-BE49-F238E27FC236}">
                <a16:creationId xmlns:a16="http://schemas.microsoft.com/office/drawing/2014/main" id="{865CCC26-D1D8-1671-413A-0874DC241B77}"/>
              </a:ext>
            </a:extLst>
          </p:cNvPr>
          <p:cNvSpPr/>
          <p:nvPr/>
        </p:nvSpPr>
        <p:spPr>
          <a:xfrm>
            <a:off x="609600" y="200580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69" name="Shape 7">
            <a:extLst>
              <a:ext uri="{FF2B5EF4-FFF2-40B4-BE49-F238E27FC236}">
                <a16:creationId xmlns:a16="http://schemas.microsoft.com/office/drawing/2014/main" id="{D7FC1B5A-CCDF-A4C1-880D-FDBBB6BDBC3D}"/>
              </a:ext>
            </a:extLst>
          </p:cNvPr>
          <p:cNvSpPr/>
          <p:nvPr/>
        </p:nvSpPr>
        <p:spPr>
          <a:xfrm>
            <a:off x="3063240" y="200580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1" name="Text 8">
            <a:extLst>
              <a:ext uri="{FF2B5EF4-FFF2-40B4-BE49-F238E27FC236}">
                <a16:creationId xmlns:a16="http://schemas.microsoft.com/office/drawing/2014/main" id="{59DEA5D4-AF85-7325-E4DF-72371A855BE0}"/>
              </a:ext>
            </a:extLst>
          </p:cNvPr>
          <p:cNvSpPr/>
          <p:nvPr/>
        </p:nvSpPr>
        <p:spPr>
          <a:xfrm>
            <a:off x="3063240" y="200580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</a:t>
            </a:r>
            <a:endParaRPr lang="en-US" sz="1100" dirty="0"/>
          </a:p>
        </p:txBody>
      </p:sp>
      <p:sp>
        <p:nvSpPr>
          <p:cNvPr id="173" name="Text 9">
            <a:extLst>
              <a:ext uri="{FF2B5EF4-FFF2-40B4-BE49-F238E27FC236}">
                <a16:creationId xmlns:a16="http://schemas.microsoft.com/office/drawing/2014/main" id="{E53229A3-0F7C-B3DD-CCD3-0717E2C58CDF}"/>
              </a:ext>
            </a:extLst>
          </p:cNvPr>
          <p:cNvSpPr/>
          <p:nvPr/>
        </p:nvSpPr>
        <p:spPr>
          <a:xfrm>
            <a:off x="609600" y="237156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HAL, BSP, CMSIS, Middleware, Application</a:t>
            </a:r>
            <a:endParaRPr lang="en-US" sz="1150" dirty="0"/>
          </a:p>
        </p:txBody>
      </p:sp>
      <p:sp>
        <p:nvSpPr>
          <p:cNvPr id="175" name="Text 10">
            <a:extLst>
              <a:ext uri="{FF2B5EF4-FFF2-40B4-BE49-F238E27FC236}">
                <a16:creationId xmlns:a16="http://schemas.microsoft.com/office/drawing/2014/main" id="{0E87B297-386D-E238-8550-2D61A333551D}"/>
              </a:ext>
            </a:extLst>
          </p:cNvPr>
          <p:cNvSpPr/>
          <p:nvPr/>
        </p:nvSpPr>
        <p:spPr>
          <a:xfrm>
            <a:off x="609600" y="282876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prefixes (HAL_, LL_, MX_) + keywords</a:t>
            </a:r>
            <a:endParaRPr lang="en-US" sz="1000" dirty="0"/>
          </a:p>
        </p:txBody>
      </p:sp>
      <p:sp>
        <p:nvSpPr>
          <p:cNvPr id="177" name="Shape 11">
            <a:extLst>
              <a:ext uri="{FF2B5EF4-FFF2-40B4-BE49-F238E27FC236}">
                <a16:creationId xmlns:a16="http://schemas.microsoft.com/office/drawing/2014/main" id="{6532B69A-EC85-8EAA-E3E3-29099EA1CFFC}"/>
              </a:ext>
            </a:extLst>
          </p:cNvPr>
          <p:cNvSpPr/>
          <p:nvPr/>
        </p:nvSpPr>
        <p:spPr>
          <a:xfrm>
            <a:off x="4251960" y="1822922"/>
            <a:ext cx="3688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79" name="Shape 12">
            <a:extLst>
              <a:ext uri="{FF2B5EF4-FFF2-40B4-BE49-F238E27FC236}">
                <a16:creationId xmlns:a16="http://schemas.microsoft.com/office/drawing/2014/main" id="{7A42FA16-7514-7C7A-F94C-BDA2E33585B8}"/>
              </a:ext>
            </a:extLst>
          </p:cNvPr>
          <p:cNvSpPr/>
          <p:nvPr/>
        </p:nvSpPr>
        <p:spPr>
          <a:xfrm>
            <a:off x="4434840" y="200580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1" name="Text 13">
            <a:extLst>
              <a:ext uri="{FF2B5EF4-FFF2-40B4-BE49-F238E27FC236}">
                <a16:creationId xmlns:a16="http://schemas.microsoft.com/office/drawing/2014/main" id="{21DAFFC9-3C58-C95B-9767-A0E3975EA2E8}"/>
              </a:ext>
            </a:extLst>
          </p:cNvPr>
          <p:cNvSpPr/>
          <p:nvPr/>
        </p:nvSpPr>
        <p:spPr>
          <a:xfrm>
            <a:off x="4434840" y="200580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183" name="Shape 14">
            <a:extLst>
              <a:ext uri="{FF2B5EF4-FFF2-40B4-BE49-F238E27FC236}">
                <a16:creationId xmlns:a16="http://schemas.microsoft.com/office/drawing/2014/main" id="{1701FE63-2FB6-4396-1624-12B0C6A64A8B}"/>
              </a:ext>
            </a:extLst>
          </p:cNvPr>
          <p:cNvSpPr/>
          <p:nvPr/>
        </p:nvSpPr>
        <p:spPr>
          <a:xfrm>
            <a:off x="6888480" y="200580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5" name="Text 15">
            <a:extLst>
              <a:ext uri="{FF2B5EF4-FFF2-40B4-BE49-F238E27FC236}">
                <a16:creationId xmlns:a16="http://schemas.microsoft.com/office/drawing/2014/main" id="{4AA59C2C-A070-AB36-2576-736B0419FD6E}"/>
              </a:ext>
            </a:extLst>
          </p:cNvPr>
          <p:cNvSpPr/>
          <p:nvPr/>
        </p:nvSpPr>
        <p:spPr>
          <a:xfrm>
            <a:off x="6888480" y="200580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1100" dirty="0"/>
          </a:p>
        </p:txBody>
      </p:sp>
      <p:sp>
        <p:nvSpPr>
          <p:cNvPr id="187" name="Text 16">
            <a:extLst>
              <a:ext uri="{FF2B5EF4-FFF2-40B4-BE49-F238E27FC236}">
                <a16:creationId xmlns:a16="http://schemas.microsoft.com/office/drawing/2014/main" id="{18A8CB91-F9AC-AAAD-CE78-ECC10B3B01C6}"/>
              </a:ext>
            </a:extLst>
          </p:cNvPr>
          <p:cNvSpPr/>
          <p:nvPr/>
        </p:nvSpPr>
        <p:spPr>
          <a:xfrm>
            <a:off x="4434840" y="237156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SPI, I2C, UART, DMA, USB, FDCAN, …</a:t>
            </a:r>
            <a:endParaRPr lang="en-US" sz="1150" dirty="0"/>
          </a:p>
        </p:txBody>
      </p:sp>
      <p:sp>
        <p:nvSpPr>
          <p:cNvPr id="189" name="Text 17">
            <a:extLst>
              <a:ext uri="{FF2B5EF4-FFF2-40B4-BE49-F238E27FC236}">
                <a16:creationId xmlns:a16="http://schemas.microsoft.com/office/drawing/2014/main" id="{C01EDC57-C000-D23F-B463-87F2B523773B}"/>
              </a:ext>
            </a:extLst>
          </p:cNvPr>
          <p:cNvSpPr/>
          <p:nvPr/>
        </p:nvSpPr>
        <p:spPr>
          <a:xfrm>
            <a:off x="4434840" y="282876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+ regex on title/body</a:t>
            </a:r>
            <a:endParaRPr lang="en-US" sz="1000" dirty="0"/>
          </a:p>
        </p:txBody>
      </p:sp>
      <p:sp>
        <p:nvSpPr>
          <p:cNvPr id="191" name="Shape 18">
            <a:extLst>
              <a:ext uri="{FF2B5EF4-FFF2-40B4-BE49-F238E27FC236}">
                <a16:creationId xmlns:a16="http://schemas.microsoft.com/office/drawing/2014/main" id="{A5249805-06D9-6BEB-328A-372EED3F0173}"/>
              </a:ext>
            </a:extLst>
          </p:cNvPr>
          <p:cNvSpPr/>
          <p:nvPr/>
        </p:nvSpPr>
        <p:spPr>
          <a:xfrm>
            <a:off x="8077200" y="1822922"/>
            <a:ext cx="3688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93" name="Shape 19">
            <a:extLst>
              <a:ext uri="{FF2B5EF4-FFF2-40B4-BE49-F238E27FC236}">
                <a16:creationId xmlns:a16="http://schemas.microsoft.com/office/drawing/2014/main" id="{611DA9CE-0FFC-BDC6-FE70-23F2F541D3EA}"/>
              </a:ext>
            </a:extLst>
          </p:cNvPr>
          <p:cNvSpPr/>
          <p:nvPr/>
        </p:nvSpPr>
        <p:spPr>
          <a:xfrm>
            <a:off x="8260080" y="200580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5" name="Text 20">
            <a:extLst>
              <a:ext uri="{FF2B5EF4-FFF2-40B4-BE49-F238E27FC236}">
                <a16:creationId xmlns:a16="http://schemas.microsoft.com/office/drawing/2014/main" id="{FDC64A27-5E2A-ADB7-B383-11CCAF08AF57}"/>
              </a:ext>
            </a:extLst>
          </p:cNvPr>
          <p:cNvSpPr/>
          <p:nvPr/>
        </p:nvSpPr>
        <p:spPr>
          <a:xfrm>
            <a:off x="8260080" y="200580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100" dirty="0"/>
          </a:p>
        </p:txBody>
      </p:sp>
      <p:sp>
        <p:nvSpPr>
          <p:cNvPr id="197" name="Shape 21">
            <a:extLst>
              <a:ext uri="{FF2B5EF4-FFF2-40B4-BE49-F238E27FC236}">
                <a16:creationId xmlns:a16="http://schemas.microsoft.com/office/drawing/2014/main" id="{7EECD5BF-70BA-7D28-0EC8-98BD24867EAC}"/>
              </a:ext>
            </a:extLst>
          </p:cNvPr>
          <p:cNvSpPr/>
          <p:nvPr/>
        </p:nvSpPr>
        <p:spPr>
          <a:xfrm>
            <a:off x="10713720" y="200580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9" name="Text 22">
            <a:extLst>
              <a:ext uri="{FF2B5EF4-FFF2-40B4-BE49-F238E27FC236}">
                <a16:creationId xmlns:a16="http://schemas.microsoft.com/office/drawing/2014/main" id="{72F5069A-BFF8-4479-0772-0A865B35E6A8}"/>
              </a:ext>
            </a:extLst>
          </p:cNvPr>
          <p:cNvSpPr/>
          <p:nvPr/>
        </p:nvSpPr>
        <p:spPr>
          <a:xfrm>
            <a:off x="10713720" y="200580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</a:t>
            </a:r>
            <a:endParaRPr lang="en-US" sz="1100" dirty="0"/>
          </a:p>
        </p:txBody>
      </p:sp>
      <p:sp>
        <p:nvSpPr>
          <p:cNvPr id="201" name="Text 23">
            <a:extLst>
              <a:ext uri="{FF2B5EF4-FFF2-40B4-BE49-F238E27FC236}">
                <a16:creationId xmlns:a16="http://schemas.microsoft.com/office/drawing/2014/main" id="{DE56104A-04FC-798D-7516-65B30CF6A3EA}"/>
              </a:ext>
            </a:extLst>
          </p:cNvPr>
          <p:cNvSpPr/>
          <p:nvPr/>
        </p:nvSpPr>
        <p:spPr>
          <a:xfrm>
            <a:off x="8260080" y="237156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NUCLEO-H743ZI, STM32H750B-DK, …</a:t>
            </a:r>
            <a:endParaRPr lang="en-US" sz="1150" dirty="0"/>
          </a:p>
        </p:txBody>
      </p:sp>
      <p:sp>
        <p:nvSpPr>
          <p:cNvPr id="203" name="Text 24">
            <a:extLst>
              <a:ext uri="{FF2B5EF4-FFF2-40B4-BE49-F238E27FC236}">
                <a16:creationId xmlns:a16="http://schemas.microsoft.com/office/drawing/2014/main" id="{CF0B776B-8186-D67F-A670-8D1C18CD4E97}"/>
              </a:ext>
            </a:extLst>
          </p:cNvPr>
          <p:cNvSpPr/>
          <p:nvPr/>
        </p:nvSpPr>
        <p:spPr>
          <a:xfrm>
            <a:off x="8260080" y="282876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on board patterns + fallback</a:t>
            </a:r>
            <a:endParaRPr lang="en-US" sz="1000" dirty="0"/>
          </a:p>
        </p:txBody>
      </p:sp>
      <p:sp>
        <p:nvSpPr>
          <p:cNvPr id="205" name="Shape 25">
            <a:extLst>
              <a:ext uri="{FF2B5EF4-FFF2-40B4-BE49-F238E27FC236}">
                <a16:creationId xmlns:a16="http://schemas.microsoft.com/office/drawing/2014/main" id="{74FC6BE4-CFE5-A435-D1F9-1500231EF5B7}"/>
              </a:ext>
            </a:extLst>
          </p:cNvPr>
          <p:cNvSpPr/>
          <p:nvPr/>
        </p:nvSpPr>
        <p:spPr>
          <a:xfrm>
            <a:off x="426720" y="3331682"/>
            <a:ext cx="36880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07" name="Shape 26">
            <a:extLst>
              <a:ext uri="{FF2B5EF4-FFF2-40B4-BE49-F238E27FC236}">
                <a16:creationId xmlns:a16="http://schemas.microsoft.com/office/drawing/2014/main" id="{75002C06-6556-E804-1C7A-A9B72EE472F2}"/>
              </a:ext>
            </a:extLst>
          </p:cNvPr>
          <p:cNvSpPr/>
          <p:nvPr/>
        </p:nvSpPr>
        <p:spPr>
          <a:xfrm>
            <a:off x="609600" y="351456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9" name="Text 27">
            <a:extLst>
              <a:ext uri="{FF2B5EF4-FFF2-40B4-BE49-F238E27FC236}">
                <a16:creationId xmlns:a16="http://schemas.microsoft.com/office/drawing/2014/main" id="{D8DD1578-6FF6-6DC9-5FCD-B6AE574F2914}"/>
              </a:ext>
            </a:extLst>
          </p:cNvPr>
          <p:cNvSpPr/>
          <p:nvPr/>
        </p:nvSpPr>
        <p:spPr>
          <a:xfrm>
            <a:off x="609600" y="351456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211" name="Shape 28">
            <a:extLst>
              <a:ext uri="{FF2B5EF4-FFF2-40B4-BE49-F238E27FC236}">
                <a16:creationId xmlns:a16="http://schemas.microsoft.com/office/drawing/2014/main" id="{5C7AA33A-FD16-C33C-32DB-1C044D779C19}"/>
              </a:ext>
            </a:extLst>
          </p:cNvPr>
          <p:cNvSpPr/>
          <p:nvPr/>
        </p:nvSpPr>
        <p:spPr>
          <a:xfrm>
            <a:off x="3063240" y="351456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3" name="Text 29">
            <a:extLst>
              <a:ext uri="{FF2B5EF4-FFF2-40B4-BE49-F238E27FC236}">
                <a16:creationId xmlns:a16="http://schemas.microsoft.com/office/drawing/2014/main" id="{FD8B3E9D-3684-C8EC-6007-C77E8E84DADE}"/>
              </a:ext>
            </a:extLst>
          </p:cNvPr>
          <p:cNvSpPr/>
          <p:nvPr/>
        </p:nvSpPr>
        <p:spPr>
          <a:xfrm>
            <a:off x="3063240" y="351456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15" name="Text 30">
            <a:extLst>
              <a:ext uri="{FF2B5EF4-FFF2-40B4-BE49-F238E27FC236}">
                <a16:creationId xmlns:a16="http://schemas.microsoft.com/office/drawing/2014/main" id="{70E465AE-B671-6D0D-5E1F-38704734DAA2}"/>
              </a:ext>
            </a:extLst>
          </p:cNvPr>
          <p:cNvSpPr/>
          <p:nvPr/>
        </p:nvSpPr>
        <p:spPr>
          <a:xfrm>
            <a:off x="609600" y="388032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· Medium · Low</a:t>
            </a:r>
            <a:endParaRPr lang="en-US" sz="1150" dirty="0"/>
          </a:p>
        </p:txBody>
      </p:sp>
      <p:sp>
        <p:nvSpPr>
          <p:cNvPr id="217" name="Text 31">
            <a:extLst>
              <a:ext uri="{FF2B5EF4-FFF2-40B4-BE49-F238E27FC236}">
                <a16:creationId xmlns:a16="http://schemas.microsoft.com/office/drawing/2014/main" id="{0A2251FA-828A-72AA-6A7B-899FB608F7F2}"/>
              </a:ext>
            </a:extLst>
          </p:cNvPr>
          <p:cNvSpPr/>
          <p:nvPr/>
        </p:nvSpPr>
        <p:spPr>
          <a:xfrm>
            <a:off x="609600" y="433752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HardFault, freeze → High; typos → Low</a:t>
            </a:r>
            <a:endParaRPr lang="en-US" sz="1000" dirty="0"/>
          </a:p>
        </p:txBody>
      </p:sp>
      <p:sp>
        <p:nvSpPr>
          <p:cNvPr id="219" name="Shape 32">
            <a:extLst>
              <a:ext uri="{FF2B5EF4-FFF2-40B4-BE49-F238E27FC236}">
                <a16:creationId xmlns:a16="http://schemas.microsoft.com/office/drawing/2014/main" id="{1D12F3DA-34F6-553D-B78F-9F2594E9C889}"/>
              </a:ext>
            </a:extLst>
          </p:cNvPr>
          <p:cNvSpPr/>
          <p:nvPr/>
        </p:nvSpPr>
        <p:spPr>
          <a:xfrm>
            <a:off x="4251960" y="3331682"/>
            <a:ext cx="36880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1" name="Shape 33">
            <a:extLst>
              <a:ext uri="{FF2B5EF4-FFF2-40B4-BE49-F238E27FC236}">
                <a16:creationId xmlns:a16="http://schemas.microsoft.com/office/drawing/2014/main" id="{F6A71A45-4534-39D8-7F7F-72F0A76C253E}"/>
              </a:ext>
            </a:extLst>
          </p:cNvPr>
          <p:cNvSpPr/>
          <p:nvPr/>
        </p:nvSpPr>
        <p:spPr>
          <a:xfrm>
            <a:off x="4434840" y="351456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3" name="Text 34">
            <a:extLst>
              <a:ext uri="{FF2B5EF4-FFF2-40B4-BE49-F238E27FC236}">
                <a16:creationId xmlns:a16="http://schemas.microsoft.com/office/drawing/2014/main" id="{C0D903C9-B12A-0066-07FD-D748C5747D90}"/>
              </a:ext>
            </a:extLst>
          </p:cNvPr>
          <p:cNvSpPr/>
          <p:nvPr/>
        </p:nvSpPr>
        <p:spPr>
          <a:xfrm>
            <a:off x="4434840" y="351456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issue_kind</a:t>
            </a:r>
            <a:endParaRPr lang="en-US" sz="1100" dirty="0"/>
          </a:p>
        </p:txBody>
      </p:sp>
      <p:sp>
        <p:nvSpPr>
          <p:cNvPr id="225" name="Text 35">
            <a:extLst>
              <a:ext uri="{FF2B5EF4-FFF2-40B4-BE49-F238E27FC236}">
                <a16:creationId xmlns:a16="http://schemas.microsoft.com/office/drawing/2014/main" id="{10CE9427-B794-121F-EE18-64565C6391CF}"/>
              </a:ext>
            </a:extLst>
          </p:cNvPr>
          <p:cNvSpPr/>
          <p:nvPr/>
        </p:nvSpPr>
        <p:spPr>
          <a:xfrm>
            <a:off x="4434840" y="388032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bug_report · question · doc_issue · config</a:t>
            </a:r>
            <a:endParaRPr lang="en-US" sz="1150" dirty="0"/>
          </a:p>
        </p:txBody>
      </p:sp>
      <p:sp>
        <p:nvSpPr>
          <p:cNvPr id="227" name="Text 36">
            <a:extLst>
              <a:ext uri="{FF2B5EF4-FFF2-40B4-BE49-F238E27FC236}">
                <a16:creationId xmlns:a16="http://schemas.microsoft.com/office/drawing/2014/main" id="{EBADD82F-D33E-9367-907B-D253A3C5A9C1}"/>
              </a:ext>
            </a:extLst>
          </p:cNvPr>
          <p:cNvSpPr/>
          <p:nvPr/>
        </p:nvSpPr>
        <p:spPr>
          <a:xfrm>
            <a:off x="4434840" y="433752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+ heuristic patterns</a:t>
            </a:r>
            <a:endParaRPr lang="en-US" sz="1000" dirty="0"/>
          </a:p>
        </p:txBody>
      </p:sp>
      <p:sp>
        <p:nvSpPr>
          <p:cNvPr id="229" name="Shape 37">
            <a:extLst>
              <a:ext uri="{FF2B5EF4-FFF2-40B4-BE49-F238E27FC236}">
                <a16:creationId xmlns:a16="http://schemas.microsoft.com/office/drawing/2014/main" id="{D99B339D-0DC7-ABFA-FA5C-CA8236918315}"/>
              </a:ext>
            </a:extLst>
          </p:cNvPr>
          <p:cNvSpPr/>
          <p:nvPr/>
        </p:nvSpPr>
        <p:spPr>
          <a:xfrm>
            <a:off x="8077200" y="3331682"/>
            <a:ext cx="36880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1" name="Shape 38">
            <a:extLst>
              <a:ext uri="{FF2B5EF4-FFF2-40B4-BE49-F238E27FC236}">
                <a16:creationId xmlns:a16="http://schemas.microsoft.com/office/drawing/2014/main" id="{03DA0DA1-5EF5-05AA-663B-7CAACDF9C09F}"/>
              </a:ext>
            </a:extLst>
          </p:cNvPr>
          <p:cNvSpPr/>
          <p:nvPr/>
        </p:nvSpPr>
        <p:spPr>
          <a:xfrm>
            <a:off x="8260080" y="351456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3" name="Text 39">
            <a:extLst>
              <a:ext uri="{FF2B5EF4-FFF2-40B4-BE49-F238E27FC236}">
                <a16:creationId xmlns:a16="http://schemas.microsoft.com/office/drawing/2014/main" id="{443767C1-F481-B07E-696D-F2C6E4FAC31A}"/>
              </a:ext>
            </a:extLst>
          </p:cNvPr>
          <p:cNvSpPr/>
          <p:nvPr/>
        </p:nvSpPr>
        <p:spPr>
          <a:xfrm>
            <a:off x="8260080" y="351456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endParaRPr lang="en-US" sz="1100" dirty="0"/>
          </a:p>
        </p:txBody>
      </p:sp>
      <p:sp>
        <p:nvSpPr>
          <p:cNvPr id="235" name="Shape 40">
            <a:extLst>
              <a:ext uri="{FF2B5EF4-FFF2-40B4-BE49-F238E27FC236}">
                <a16:creationId xmlns:a16="http://schemas.microsoft.com/office/drawing/2014/main" id="{9391BEC2-18AF-E89E-F872-E875E40A4EA6}"/>
              </a:ext>
            </a:extLst>
          </p:cNvPr>
          <p:cNvSpPr/>
          <p:nvPr/>
        </p:nvSpPr>
        <p:spPr>
          <a:xfrm>
            <a:off x="10713720" y="351456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7" name="Text 41">
            <a:extLst>
              <a:ext uri="{FF2B5EF4-FFF2-40B4-BE49-F238E27FC236}">
                <a16:creationId xmlns:a16="http://schemas.microsoft.com/office/drawing/2014/main" id="{683D6158-9CCF-B782-DA25-CF4FCA28DE4F}"/>
              </a:ext>
            </a:extLst>
          </p:cNvPr>
          <p:cNvSpPr/>
          <p:nvPr/>
        </p:nvSpPr>
        <p:spPr>
          <a:xfrm>
            <a:off x="10713720" y="351456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86.4%</a:t>
            </a:r>
            <a:endParaRPr lang="en-US" sz="1100" dirty="0"/>
          </a:p>
        </p:txBody>
      </p:sp>
      <p:sp>
        <p:nvSpPr>
          <p:cNvPr id="239" name="Text 42">
            <a:extLst>
              <a:ext uri="{FF2B5EF4-FFF2-40B4-BE49-F238E27FC236}">
                <a16:creationId xmlns:a16="http://schemas.microsoft.com/office/drawing/2014/main" id="{C3A5CB41-0A13-56DB-35B4-763EF59262CB}"/>
              </a:ext>
            </a:extLst>
          </p:cNvPr>
          <p:cNvSpPr/>
          <p:nvPr/>
        </p:nvSpPr>
        <p:spPr>
          <a:xfrm>
            <a:off x="8260080" y="388032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/ false</a:t>
            </a:r>
            <a:endParaRPr lang="en-US" sz="1150" dirty="0"/>
          </a:p>
        </p:txBody>
      </p:sp>
      <p:sp>
        <p:nvSpPr>
          <p:cNvPr id="241" name="Text 43">
            <a:extLst>
              <a:ext uri="{FF2B5EF4-FFF2-40B4-BE49-F238E27FC236}">
                <a16:creationId xmlns:a16="http://schemas.microsoft.com/office/drawing/2014/main" id="{C6BB17A9-699D-F980-85C2-C9D1308623B1}"/>
              </a:ext>
            </a:extLst>
          </p:cNvPr>
          <p:cNvSpPr/>
          <p:nvPr/>
        </p:nvSpPr>
        <p:spPr>
          <a:xfrm>
            <a:off x="8260080" y="433752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+ bot/spam/duplicate filters</a:t>
            </a:r>
            <a:endParaRPr lang="en-US" sz="1000" dirty="0"/>
          </a:p>
        </p:txBody>
      </p:sp>
      <p:sp>
        <p:nvSpPr>
          <p:cNvPr id="243" name="Shape 44">
            <a:extLst>
              <a:ext uri="{FF2B5EF4-FFF2-40B4-BE49-F238E27FC236}">
                <a16:creationId xmlns:a16="http://schemas.microsoft.com/office/drawing/2014/main" id="{8DDBC0F7-390B-9DDB-1AF3-7D3A1EC3C0FB}"/>
              </a:ext>
            </a:extLst>
          </p:cNvPr>
          <p:cNvSpPr/>
          <p:nvPr/>
        </p:nvSpPr>
        <p:spPr>
          <a:xfrm>
            <a:off x="426720" y="5125613"/>
            <a:ext cx="11338560" cy="685800"/>
          </a:xfrm>
          <a:prstGeom prst="roundRect">
            <a:avLst>
              <a:gd name="adj" fmla="val 10667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5" name="Text 45">
            <a:extLst>
              <a:ext uri="{FF2B5EF4-FFF2-40B4-BE49-F238E27FC236}">
                <a16:creationId xmlns:a16="http://schemas.microsoft.com/office/drawing/2014/main" id="{F2AF8C03-B96B-EC1A-DF85-4EF000045130}"/>
              </a:ext>
            </a:extLst>
          </p:cNvPr>
          <p:cNvSpPr/>
          <p:nvPr/>
        </p:nvSpPr>
        <p:spPr>
          <a:xfrm>
            <a:off x="426720" y="5125613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</a:rPr>
              <a:t>Note  ·  </a:t>
            </a:r>
            <a:r>
              <a:rPr lang="en-US" sz="1150" i="1" dirty="0">
                <a:solidFill>
                  <a:srgbClr val="1B2A3B"/>
                </a:solidFill>
              </a:rPr>
              <a:t>Board coverage (45.3%) is lower because most issues do not mention a board. Source-data limitation, not a heuristic failure.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55466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CF1B2-D961-B460-336C-D50A6496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DCDD-D1BA-9045-745C-05D0491A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AD30420-F83E-22FF-29D2-196AD62920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B69B6EC-366B-149C-5D70-9374FB58E1E1}"/>
              </a:ext>
            </a:extLst>
          </p:cNvPr>
          <p:cNvSpPr/>
          <p:nvPr/>
        </p:nvSpPr>
        <p:spPr>
          <a:xfrm>
            <a:off x="1817558" y="109738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40">
            <a:extLst>
              <a:ext uri="{FF2B5EF4-FFF2-40B4-BE49-F238E27FC236}">
                <a16:creationId xmlns:a16="http://schemas.microsoft.com/office/drawing/2014/main" id="{806BA0C8-D4A8-1A32-2BF9-D09F508B6C38}"/>
              </a:ext>
            </a:extLst>
          </p:cNvPr>
          <p:cNvSpPr/>
          <p:nvPr/>
        </p:nvSpPr>
        <p:spPr>
          <a:xfrm>
            <a:off x="7529584" y="4412240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3A81787A-EB7A-B43B-22DE-9E6900BD394B}"/>
              </a:ext>
            </a:extLst>
          </p:cNvPr>
          <p:cNvSpPr/>
          <p:nvPr/>
        </p:nvSpPr>
        <p:spPr>
          <a:xfrm>
            <a:off x="7554210" y="4412240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C9D29390-1FFC-A54F-0559-4142D80DA460}"/>
              </a:ext>
            </a:extLst>
          </p:cNvPr>
          <p:cNvSpPr/>
          <p:nvPr/>
        </p:nvSpPr>
        <p:spPr>
          <a:xfrm>
            <a:off x="7755378" y="4503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Objective: Similarity</a:t>
            </a:r>
            <a:endParaRPr lang="en-US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133C22C1-E21C-65FE-7F51-0BD7779DBE38}"/>
              </a:ext>
            </a:extLst>
          </p:cNvPr>
          <p:cNvSpPr/>
          <p:nvPr/>
        </p:nvSpPr>
        <p:spPr>
          <a:xfrm>
            <a:off x="7755378" y="4805432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Two different GitHub issues may describe the same technical bug but using different words.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By computing similarity, we enrich each issue with cross-references to other related issues.</a:t>
            </a:r>
          </a:p>
          <a:p>
            <a:endParaRPr lang="en-US" sz="1000" noProof="0" dirty="0">
              <a:solidFill>
                <a:srgbClr val="1B2A3B"/>
              </a:solidFill>
            </a:endParaRPr>
          </a:p>
          <a:p>
            <a:r>
              <a:rPr lang="en-US" sz="1000" noProof="0" dirty="0">
                <a:solidFill>
                  <a:srgbClr val="1B2A3B"/>
                </a:solidFill>
                <a:sym typeface="Wingdings" panose="05000000000000000000" pitchFamily="2" charset="2"/>
              </a:rPr>
              <a:t> </a:t>
            </a:r>
            <a:r>
              <a:rPr lang="en-US" sz="1000" noProof="0" dirty="0">
                <a:solidFill>
                  <a:srgbClr val="1B2A3B"/>
                </a:solidFill>
              </a:rPr>
              <a:t>This improves retrieval and helps the assistant give more complete and reliable support answers.</a:t>
            </a:r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33E06516-ADA3-B832-BE7B-E7000957A1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5897567" y="4280158"/>
            <a:ext cx="1481109" cy="1481109"/>
          </a:xfrm>
          <a:prstGeom prst="rect">
            <a:avLst/>
          </a:prstGeom>
        </p:spPr>
      </p:pic>
      <p:sp>
        <p:nvSpPr>
          <p:cNvPr id="53" name="Shape 5">
            <a:extLst>
              <a:ext uri="{FF2B5EF4-FFF2-40B4-BE49-F238E27FC236}">
                <a16:creationId xmlns:a16="http://schemas.microsoft.com/office/drawing/2014/main" id="{9E558591-3334-8CA3-1607-363E5DE11BE1}"/>
              </a:ext>
            </a:extLst>
          </p:cNvPr>
          <p:cNvSpPr/>
          <p:nvPr/>
        </p:nvSpPr>
        <p:spPr>
          <a:xfrm>
            <a:off x="814822" y="1941340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32B99CCC-7867-DAA8-1E2A-8B7A138D29AD}"/>
              </a:ext>
            </a:extLst>
          </p:cNvPr>
          <p:cNvSpPr/>
          <p:nvPr/>
        </p:nvSpPr>
        <p:spPr>
          <a:xfrm>
            <a:off x="814822" y="1941340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9B14C02A-456F-7AFC-D418-35B1E46D0C9B}"/>
              </a:ext>
            </a:extLst>
          </p:cNvPr>
          <p:cNvSpPr/>
          <p:nvPr/>
        </p:nvSpPr>
        <p:spPr>
          <a:xfrm>
            <a:off x="814822" y="194134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0" name="Image 0" descr="preencoded.png">
            <a:extLst>
              <a:ext uri="{FF2B5EF4-FFF2-40B4-BE49-F238E27FC236}">
                <a16:creationId xmlns:a16="http://schemas.microsoft.com/office/drawing/2014/main" id="{83C09FDD-6701-D051-F423-493E59046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034" y="2009683"/>
            <a:ext cx="329184" cy="329184"/>
          </a:xfrm>
          <a:prstGeom prst="rect">
            <a:avLst/>
          </a:prstGeom>
        </p:spPr>
      </p:pic>
      <p:sp>
        <p:nvSpPr>
          <p:cNvPr id="61" name="Text 8">
            <a:extLst>
              <a:ext uri="{FF2B5EF4-FFF2-40B4-BE49-F238E27FC236}">
                <a16:creationId xmlns:a16="http://schemas.microsoft.com/office/drawing/2014/main" id="{1445A6A5-8105-2BB3-D170-307DC2AC6C02}"/>
              </a:ext>
            </a:extLst>
          </p:cNvPr>
          <p:cNvSpPr/>
          <p:nvPr/>
        </p:nvSpPr>
        <p:spPr>
          <a:xfrm>
            <a:off x="1020562" y="245787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898DFFC2-5652-8D86-1016-F1F074C0F3E9}"/>
              </a:ext>
            </a:extLst>
          </p:cNvPr>
          <p:cNvSpPr/>
          <p:nvPr/>
        </p:nvSpPr>
        <p:spPr>
          <a:xfrm>
            <a:off x="978524" y="29097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63" name="Image 1" descr="preencoded.png">
            <a:extLst>
              <a:ext uri="{FF2B5EF4-FFF2-40B4-BE49-F238E27FC236}">
                <a16:creationId xmlns:a16="http://schemas.microsoft.com/office/drawing/2014/main" id="{8DA1701B-68E9-91D4-3863-AB3CAFA82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4964" y="2981613"/>
            <a:ext cx="237744" cy="237744"/>
          </a:xfrm>
          <a:prstGeom prst="rect">
            <a:avLst/>
          </a:prstGeom>
        </p:spPr>
      </p:pic>
      <p:pic>
        <p:nvPicPr>
          <p:cNvPr id="64" name="Image 3" descr="preencoded.png">
            <a:extLst>
              <a:ext uri="{FF2B5EF4-FFF2-40B4-BE49-F238E27FC236}">
                <a16:creationId xmlns:a16="http://schemas.microsoft.com/office/drawing/2014/main" id="{CC28F414-4ECC-2442-314D-8EA943B8A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793" y="2970038"/>
            <a:ext cx="237744" cy="237744"/>
          </a:xfrm>
          <a:prstGeom prst="rect">
            <a:avLst/>
          </a:prstGeom>
        </p:spPr>
      </p:pic>
      <p:sp>
        <p:nvSpPr>
          <p:cNvPr id="65" name="Shape 15">
            <a:extLst>
              <a:ext uri="{FF2B5EF4-FFF2-40B4-BE49-F238E27FC236}">
                <a16:creationId xmlns:a16="http://schemas.microsoft.com/office/drawing/2014/main" id="{CB056FF2-51CD-BBBF-F6E9-BA690314CE48}"/>
              </a:ext>
            </a:extLst>
          </p:cNvPr>
          <p:cNvSpPr/>
          <p:nvPr/>
        </p:nvSpPr>
        <p:spPr>
          <a:xfrm>
            <a:off x="3793837" y="1936766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6" name="Shape 16">
            <a:extLst>
              <a:ext uri="{FF2B5EF4-FFF2-40B4-BE49-F238E27FC236}">
                <a16:creationId xmlns:a16="http://schemas.microsoft.com/office/drawing/2014/main" id="{2094C82E-1878-21FB-529C-2D7A2FE4847D}"/>
              </a:ext>
            </a:extLst>
          </p:cNvPr>
          <p:cNvSpPr/>
          <p:nvPr/>
        </p:nvSpPr>
        <p:spPr>
          <a:xfrm>
            <a:off x="3799702" y="1947347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83DA0B16-3510-DED6-92ED-23C1E84EA488}"/>
              </a:ext>
            </a:extLst>
          </p:cNvPr>
          <p:cNvSpPr/>
          <p:nvPr/>
        </p:nvSpPr>
        <p:spPr>
          <a:xfrm>
            <a:off x="3864377" y="193676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8" name="Image 4" descr="preencoded.png">
            <a:extLst>
              <a:ext uri="{FF2B5EF4-FFF2-40B4-BE49-F238E27FC236}">
                <a16:creationId xmlns:a16="http://schemas.microsoft.com/office/drawing/2014/main" id="{59821F5A-BE1A-AC85-1B6E-C8A6FF570E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9299" y="2014000"/>
            <a:ext cx="329184" cy="329184"/>
          </a:xfrm>
          <a:prstGeom prst="rect">
            <a:avLst/>
          </a:prstGeom>
        </p:spPr>
      </p:pic>
      <p:sp>
        <p:nvSpPr>
          <p:cNvPr id="69" name="Text 18">
            <a:extLst>
              <a:ext uri="{FF2B5EF4-FFF2-40B4-BE49-F238E27FC236}">
                <a16:creationId xmlns:a16="http://schemas.microsoft.com/office/drawing/2014/main" id="{7E03AC77-A35E-0BD7-110E-17AF19D7F0F7}"/>
              </a:ext>
            </a:extLst>
          </p:cNvPr>
          <p:cNvSpPr/>
          <p:nvPr/>
        </p:nvSpPr>
        <p:spPr>
          <a:xfrm>
            <a:off x="3900940" y="2594565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7948F7AF-AF9F-B0A5-1C72-AE2DD0374E11}"/>
              </a:ext>
            </a:extLst>
          </p:cNvPr>
          <p:cNvSpPr/>
          <p:nvPr/>
        </p:nvSpPr>
        <p:spPr>
          <a:xfrm>
            <a:off x="3966424" y="3031715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71" name="Image 5" descr="preencoded.png">
            <a:extLst>
              <a:ext uri="{FF2B5EF4-FFF2-40B4-BE49-F238E27FC236}">
                <a16:creationId xmlns:a16="http://schemas.microsoft.com/office/drawing/2014/main" id="{EF1AE30C-D1BF-BEDB-5109-B4EFC7FB7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273" y="2965218"/>
            <a:ext cx="237744" cy="237744"/>
          </a:xfrm>
          <a:prstGeom prst="rect">
            <a:avLst/>
          </a:prstGeom>
        </p:spPr>
      </p:pic>
      <p:sp>
        <p:nvSpPr>
          <p:cNvPr id="72" name="Shape 20">
            <a:extLst>
              <a:ext uri="{FF2B5EF4-FFF2-40B4-BE49-F238E27FC236}">
                <a16:creationId xmlns:a16="http://schemas.microsoft.com/office/drawing/2014/main" id="{0DA39118-7BA1-5824-8247-3AB9B6F2DB9B}"/>
              </a:ext>
            </a:extLst>
          </p:cNvPr>
          <p:cNvSpPr/>
          <p:nvPr/>
        </p:nvSpPr>
        <p:spPr>
          <a:xfrm>
            <a:off x="5408857" y="194133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49B0E2C4-DD99-B152-D1CB-1E39FF7F739C}"/>
              </a:ext>
            </a:extLst>
          </p:cNvPr>
          <p:cNvSpPr/>
          <p:nvPr/>
        </p:nvSpPr>
        <p:spPr>
          <a:xfrm>
            <a:off x="5408857" y="1931946"/>
            <a:ext cx="140672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E7860144-3F6B-87A5-EB5D-A4DFACEA48C1}"/>
              </a:ext>
            </a:extLst>
          </p:cNvPr>
          <p:cNvSpPr/>
          <p:nvPr/>
        </p:nvSpPr>
        <p:spPr>
          <a:xfrm>
            <a:off x="5408857" y="193194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DB70B68C-21D4-29F3-23CF-DFFBF51BA308}"/>
              </a:ext>
            </a:extLst>
          </p:cNvPr>
          <p:cNvSpPr/>
          <p:nvPr/>
        </p:nvSpPr>
        <p:spPr>
          <a:xfrm>
            <a:off x="5595175" y="245547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B0089403-B22E-68CA-1A3D-F1934B792445}"/>
              </a:ext>
            </a:extLst>
          </p:cNvPr>
          <p:cNvSpPr/>
          <p:nvPr/>
        </p:nvSpPr>
        <p:spPr>
          <a:xfrm>
            <a:off x="5604656" y="283269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94" name="Shape 35">
            <a:extLst>
              <a:ext uri="{FF2B5EF4-FFF2-40B4-BE49-F238E27FC236}">
                <a16:creationId xmlns:a16="http://schemas.microsoft.com/office/drawing/2014/main" id="{7812DA51-D5F1-7CEE-F7F3-C3F1E5ED71AE}"/>
              </a:ext>
            </a:extLst>
          </p:cNvPr>
          <p:cNvSpPr/>
          <p:nvPr/>
        </p:nvSpPr>
        <p:spPr>
          <a:xfrm>
            <a:off x="8562642" y="1938976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5" name="Shape 36">
            <a:extLst>
              <a:ext uri="{FF2B5EF4-FFF2-40B4-BE49-F238E27FC236}">
                <a16:creationId xmlns:a16="http://schemas.microsoft.com/office/drawing/2014/main" id="{1822A77A-8C71-7B7E-CD9E-0D3C1AADD016}"/>
              </a:ext>
            </a:extLst>
          </p:cNvPr>
          <p:cNvSpPr/>
          <p:nvPr/>
        </p:nvSpPr>
        <p:spPr>
          <a:xfrm>
            <a:off x="8562642" y="1938977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72B35921-81F3-6FA6-D1F3-5B02EBDE435D}"/>
              </a:ext>
            </a:extLst>
          </p:cNvPr>
          <p:cNvSpPr/>
          <p:nvPr/>
        </p:nvSpPr>
        <p:spPr>
          <a:xfrm>
            <a:off x="8562642" y="193897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97" name="Image 12" descr="preencoded.png">
            <a:extLst>
              <a:ext uri="{FF2B5EF4-FFF2-40B4-BE49-F238E27FC236}">
                <a16:creationId xmlns:a16="http://schemas.microsoft.com/office/drawing/2014/main" id="{8F47E94E-3522-DFD1-BAA7-FC67E608A3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5009" y="2024046"/>
            <a:ext cx="288037" cy="288037"/>
          </a:xfrm>
          <a:prstGeom prst="rect">
            <a:avLst/>
          </a:prstGeom>
        </p:spPr>
      </p:pic>
      <p:sp>
        <p:nvSpPr>
          <p:cNvPr id="98" name="Text 38">
            <a:extLst>
              <a:ext uri="{FF2B5EF4-FFF2-40B4-BE49-F238E27FC236}">
                <a16:creationId xmlns:a16="http://schemas.microsoft.com/office/drawing/2014/main" id="{85B8A433-894F-FA86-3411-AFDA13030856}"/>
              </a:ext>
            </a:extLst>
          </p:cNvPr>
          <p:cNvSpPr/>
          <p:nvPr/>
        </p:nvSpPr>
        <p:spPr>
          <a:xfrm>
            <a:off x="8500228" y="2558126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7BF9AF7C-6FD8-3A25-3FF7-5B6C9C5D8828}"/>
              </a:ext>
            </a:extLst>
          </p:cNvPr>
          <p:cNvSpPr/>
          <p:nvPr/>
        </p:nvSpPr>
        <p:spPr>
          <a:xfrm>
            <a:off x="8661632" y="290077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00" name="Graphic 99" descr="Dice with solid fill">
            <a:extLst>
              <a:ext uri="{FF2B5EF4-FFF2-40B4-BE49-F238E27FC236}">
                <a16:creationId xmlns:a16="http://schemas.microsoft.com/office/drawing/2014/main" id="{0A74DEE9-8B65-D3CC-340B-93E834C1AE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1038" y="1959377"/>
            <a:ext cx="402338" cy="402338"/>
          </a:xfrm>
          <a:prstGeom prst="rect">
            <a:avLst/>
          </a:prstGeom>
        </p:spPr>
      </p:pic>
      <p:sp>
        <p:nvSpPr>
          <p:cNvPr id="101" name="Shape 20">
            <a:extLst>
              <a:ext uri="{FF2B5EF4-FFF2-40B4-BE49-F238E27FC236}">
                <a16:creationId xmlns:a16="http://schemas.microsoft.com/office/drawing/2014/main" id="{A0BD9065-9532-D37A-BE9B-A4DB02FC59F4}"/>
              </a:ext>
            </a:extLst>
          </p:cNvPr>
          <p:cNvSpPr/>
          <p:nvPr/>
        </p:nvSpPr>
        <p:spPr>
          <a:xfrm>
            <a:off x="6951360" y="1941340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9BECE4DB-8B26-8B94-93B6-234A57923AE2}"/>
              </a:ext>
            </a:extLst>
          </p:cNvPr>
          <p:cNvSpPr/>
          <p:nvPr/>
        </p:nvSpPr>
        <p:spPr>
          <a:xfrm>
            <a:off x="6951359" y="1936766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2C6C3EAE-5E82-4AA9-85BD-29DC10A86ECE}"/>
              </a:ext>
            </a:extLst>
          </p:cNvPr>
          <p:cNvSpPr/>
          <p:nvPr/>
        </p:nvSpPr>
        <p:spPr>
          <a:xfrm>
            <a:off x="7026001" y="193676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04" name="Text 23">
            <a:extLst>
              <a:ext uri="{FF2B5EF4-FFF2-40B4-BE49-F238E27FC236}">
                <a16:creationId xmlns:a16="http://schemas.microsoft.com/office/drawing/2014/main" id="{DED73FFF-D5A8-B6B0-D982-40A8FA346118}"/>
              </a:ext>
            </a:extLst>
          </p:cNvPr>
          <p:cNvSpPr/>
          <p:nvPr/>
        </p:nvSpPr>
        <p:spPr>
          <a:xfrm>
            <a:off x="7212319" y="246029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E984FC11-24FC-42A6-0D09-C8A46E04BC52}"/>
              </a:ext>
            </a:extLst>
          </p:cNvPr>
          <p:cNvSpPr/>
          <p:nvPr/>
        </p:nvSpPr>
        <p:spPr>
          <a:xfrm>
            <a:off x="7212319" y="297003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06" name="Graphic 105" descr="Database with solid fill">
            <a:extLst>
              <a:ext uri="{FF2B5EF4-FFF2-40B4-BE49-F238E27FC236}">
                <a16:creationId xmlns:a16="http://schemas.microsoft.com/office/drawing/2014/main" id="{610251A0-2D3E-DEA5-7B20-058674FA95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29584" y="1961086"/>
            <a:ext cx="390272" cy="390272"/>
          </a:xfrm>
          <a:prstGeom prst="rect">
            <a:avLst/>
          </a:prstGeom>
        </p:spPr>
      </p:pic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CF08E74-596F-B812-64B3-B2CE2B488128}"/>
              </a:ext>
            </a:extLst>
          </p:cNvPr>
          <p:cNvCxnSpPr>
            <a:stCxn id="65" idx="3"/>
            <a:endCxn id="72" idx="1"/>
          </p:cNvCxnSpPr>
          <p:nvPr/>
        </p:nvCxnSpPr>
        <p:spPr>
          <a:xfrm>
            <a:off x="5200565" y="2927337"/>
            <a:ext cx="208292" cy="457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175E488-7057-9067-9689-DA46D6795BEA}"/>
              </a:ext>
            </a:extLst>
          </p:cNvPr>
          <p:cNvCxnSpPr>
            <a:stCxn id="72" idx="3"/>
            <a:endCxn id="101" idx="1"/>
          </p:cNvCxnSpPr>
          <p:nvPr/>
        </p:nvCxnSpPr>
        <p:spPr>
          <a:xfrm>
            <a:off x="6806295" y="2931910"/>
            <a:ext cx="145065" cy="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05B97810-9BFB-EEE1-3FED-8B012669C970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348798" y="2931911"/>
            <a:ext cx="162977" cy="6007"/>
          </a:xfrm>
          <a:prstGeom prst="bentConnector3">
            <a:avLst>
              <a:gd name="adj1" fmla="val 50000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Image 1" descr="preencoded.png">
            <a:extLst>
              <a:ext uri="{FF2B5EF4-FFF2-40B4-BE49-F238E27FC236}">
                <a16:creationId xmlns:a16="http://schemas.microsoft.com/office/drawing/2014/main" id="{0C68D2DA-8098-A198-4838-16AE569D0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705" y="2994358"/>
            <a:ext cx="237744" cy="237744"/>
          </a:xfrm>
          <a:prstGeom prst="rect">
            <a:avLst/>
          </a:prstGeom>
        </p:spPr>
      </p:pic>
      <p:sp>
        <p:nvSpPr>
          <p:cNvPr id="113" name="Shape 10">
            <a:extLst>
              <a:ext uri="{FF2B5EF4-FFF2-40B4-BE49-F238E27FC236}">
                <a16:creationId xmlns:a16="http://schemas.microsoft.com/office/drawing/2014/main" id="{9BB22658-846C-DDAF-905A-12FD129FE0E3}"/>
              </a:ext>
            </a:extLst>
          </p:cNvPr>
          <p:cNvSpPr/>
          <p:nvPr/>
        </p:nvSpPr>
        <p:spPr>
          <a:xfrm>
            <a:off x="2255222" y="1938734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4" name="Shape 11">
            <a:extLst>
              <a:ext uri="{FF2B5EF4-FFF2-40B4-BE49-F238E27FC236}">
                <a16:creationId xmlns:a16="http://schemas.microsoft.com/office/drawing/2014/main" id="{180B7690-3279-711D-D062-EABE854BA207}"/>
              </a:ext>
            </a:extLst>
          </p:cNvPr>
          <p:cNvSpPr/>
          <p:nvPr/>
        </p:nvSpPr>
        <p:spPr>
          <a:xfrm>
            <a:off x="2255222" y="1938734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5" name="Text 12">
            <a:extLst>
              <a:ext uri="{FF2B5EF4-FFF2-40B4-BE49-F238E27FC236}">
                <a16:creationId xmlns:a16="http://schemas.microsoft.com/office/drawing/2014/main" id="{52F1D499-8491-743D-FF4B-B111A79E33BA}"/>
              </a:ext>
            </a:extLst>
          </p:cNvPr>
          <p:cNvSpPr/>
          <p:nvPr/>
        </p:nvSpPr>
        <p:spPr>
          <a:xfrm>
            <a:off x="2255222" y="193873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16" name="Text 13">
            <a:extLst>
              <a:ext uri="{FF2B5EF4-FFF2-40B4-BE49-F238E27FC236}">
                <a16:creationId xmlns:a16="http://schemas.microsoft.com/office/drawing/2014/main" id="{54548166-858B-A7A8-839E-FF18A5C284BC}"/>
              </a:ext>
            </a:extLst>
          </p:cNvPr>
          <p:cNvSpPr/>
          <p:nvPr/>
        </p:nvSpPr>
        <p:spPr>
          <a:xfrm>
            <a:off x="2461299" y="242079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17" name="Text 14">
            <a:extLst>
              <a:ext uri="{FF2B5EF4-FFF2-40B4-BE49-F238E27FC236}">
                <a16:creationId xmlns:a16="http://schemas.microsoft.com/office/drawing/2014/main" id="{41494D82-FC9E-0740-161B-61C274D3460A}"/>
              </a:ext>
            </a:extLst>
          </p:cNvPr>
          <p:cNvSpPr/>
          <p:nvPr/>
        </p:nvSpPr>
        <p:spPr>
          <a:xfrm>
            <a:off x="2419814" y="2800333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remove HTML,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Noisy text</a:t>
            </a:r>
            <a:endParaRPr lang="en-US" sz="1000" noProof="0" dirty="0"/>
          </a:p>
        </p:txBody>
      </p:sp>
      <p:pic>
        <p:nvPicPr>
          <p:cNvPr id="118" name="Graphic 117" descr="Eraser with solid fill">
            <a:extLst>
              <a:ext uri="{FF2B5EF4-FFF2-40B4-BE49-F238E27FC236}">
                <a16:creationId xmlns:a16="http://schemas.microsoft.com/office/drawing/2014/main" id="{3CD2C784-B549-EA7C-EDB7-407425924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99356" y="2004394"/>
            <a:ext cx="329184" cy="329184"/>
          </a:xfrm>
          <a:prstGeom prst="rect">
            <a:avLst/>
          </a:prstGeom>
        </p:spPr>
      </p:pic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8EFDE54-C975-1635-7357-CCF51789CD2A}"/>
              </a:ext>
            </a:extLst>
          </p:cNvPr>
          <p:cNvCxnSpPr>
            <a:stCxn id="53" idx="3"/>
            <a:endCxn id="113" idx="1"/>
          </p:cNvCxnSpPr>
          <p:nvPr/>
        </p:nvCxnSpPr>
        <p:spPr>
          <a:xfrm flipV="1">
            <a:off x="2119604" y="2925804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20D60E20-BE70-A6D2-BBED-766717789232}"/>
              </a:ext>
            </a:extLst>
          </p:cNvPr>
          <p:cNvCxnSpPr>
            <a:stCxn id="113" idx="3"/>
            <a:endCxn id="65" idx="1"/>
          </p:cNvCxnSpPr>
          <p:nvPr/>
        </p:nvCxnSpPr>
        <p:spPr>
          <a:xfrm>
            <a:off x="3667970" y="2925804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7A2C6-80E2-2B49-7F2A-C8B17EF7A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23</a:t>
            </a:fld>
            <a:endParaRPr lang="en-US" noProof="0" dirty="0"/>
          </a:p>
        </p:txBody>
      </p:sp>
      <p:pic>
        <p:nvPicPr>
          <p:cNvPr id="5" name="Image 7" descr="preencoded.png">
            <a:extLst>
              <a:ext uri="{FF2B5EF4-FFF2-40B4-BE49-F238E27FC236}">
                <a16:creationId xmlns:a16="http://schemas.microsoft.com/office/drawing/2014/main" id="{41A819DA-E02A-8B7B-5102-926AD140C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1639" y="2063717"/>
            <a:ext cx="237744" cy="237744"/>
          </a:xfrm>
          <a:prstGeom prst="rect">
            <a:avLst/>
          </a:prstGeom>
        </p:spPr>
      </p:pic>
      <p:pic>
        <p:nvPicPr>
          <p:cNvPr id="6" name="Image 9" descr="preencoded.png">
            <a:extLst>
              <a:ext uri="{FF2B5EF4-FFF2-40B4-BE49-F238E27FC236}">
                <a16:creationId xmlns:a16="http://schemas.microsoft.com/office/drawing/2014/main" id="{BE7501BE-D2AC-602D-A622-404D7FCC3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306" y="2968262"/>
            <a:ext cx="237744" cy="237744"/>
          </a:xfrm>
          <a:prstGeom prst="rect">
            <a:avLst/>
          </a:prstGeom>
        </p:spPr>
      </p:pic>
      <p:sp>
        <p:nvSpPr>
          <p:cNvPr id="7" name="Shape 30">
            <a:extLst>
              <a:ext uri="{FF2B5EF4-FFF2-40B4-BE49-F238E27FC236}">
                <a16:creationId xmlns:a16="http://schemas.microsoft.com/office/drawing/2014/main" id="{63800CBD-E5DE-22AE-41B3-B9AB86FE4388}"/>
              </a:ext>
            </a:extLst>
          </p:cNvPr>
          <p:cNvSpPr/>
          <p:nvPr/>
        </p:nvSpPr>
        <p:spPr>
          <a:xfrm>
            <a:off x="9957942" y="1935234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" name="Shape 31">
            <a:extLst>
              <a:ext uri="{FF2B5EF4-FFF2-40B4-BE49-F238E27FC236}">
                <a16:creationId xmlns:a16="http://schemas.microsoft.com/office/drawing/2014/main" id="{1224AE43-42C6-54D5-E9DC-A77AE64572D3}"/>
              </a:ext>
            </a:extLst>
          </p:cNvPr>
          <p:cNvSpPr/>
          <p:nvPr/>
        </p:nvSpPr>
        <p:spPr>
          <a:xfrm>
            <a:off x="9957942" y="1935235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32">
            <a:extLst>
              <a:ext uri="{FF2B5EF4-FFF2-40B4-BE49-F238E27FC236}">
                <a16:creationId xmlns:a16="http://schemas.microsoft.com/office/drawing/2014/main" id="{E77CABFD-399D-4A27-EA56-D40A61562889}"/>
              </a:ext>
            </a:extLst>
          </p:cNvPr>
          <p:cNvSpPr/>
          <p:nvPr/>
        </p:nvSpPr>
        <p:spPr>
          <a:xfrm>
            <a:off x="9957942" y="193523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0" name="Image 10" descr="preencoded.png">
            <a:extLst>
              <a:ext uri="{FF2B5EF4-FFF2-40B4-BE49-F238E27FC236}">
                <a16:creationId xmlns:a16="http://schemas.microsoft.com/office/drawing/2014/main" id="{662328C6-EA70-6877-C5AE-3641E04DBE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31100" y="2028222"/>
            <a:ext cx="263059" cy="263059"/>
          </a:xfrm>
          <a:prstGeom prst="rect">
            <a:avLst/>
          </a:prstGeom>
        </p:spPr>
      </p:pic>
      <p:sp>
        <p:nvSpPr>
          <p:cNvPr id="11" name="Text 33">
            <a:extLst>
              <a:ext uri="{FF2B5EF4-FFF2-40B4-BE49-F238E27FC236}">
                <a16:creationId xmlns:a16="http://schemas.microsoft.com/office/drawing/2014/main" id="{898CD3B3-AF29-1723-924A-C268F8E66948}"/>
              </a:ext>
            </a:extLst>
          </p:cNvPr>
          <p:cNvSpPr/>
          <p:nvPr/>
        </p:nvSpPr>
        <p:spPr>
          <a:xfrm>
            <a:off x="10153741" y="251338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12" name="Text 34">
            <a:extLst>
              <a:ext uri="{FF2B5EF4-FFF2-40B4-BE49-F238E27FC236}">
                <a16:creationId xmlns:a16="http://schemas.microsoft.com/office/drawing/2014/main" id="{F8D25047-1763-AC73-961A-A37697AA5312}"/>
              </a:ext>
            </a:extLst>
          </p:cNvPr>
          <p:cNvSpPr/>
          <p:nvPr/>
        </p:nvSpPr>
        <p:spPr>
          <a:xfrm>
            <a:off x="10172744" y="3034593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A91D1011-6B1E-4B3A-CC5A-D430E5517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0942" y="2968507"/>
            <a:ext cx="237744" cy="237744"/>
          </a:xfrm>
          <a:prstGeom prst="rect">
            <a:avLst/>
          </a:prstGeom>
        </p:spPr>
      </p:pic>
      <p:cxnSp>
        <p:nvCxnSpPr>
          <p:cNvPr id="15" name="Straight Arrow Connector 110">
            <a:extLst>
              <a:ext uri="{FF2B5EF4-FFF2-40B4-BE49-F238E27FC236}">
                <a16:creationId xmlns:a16="http://schemas.microsoft.com/office/drawing/2014/main" id="{D1004E9E-7D15-0055-2164-6332898FC3D0}"/>
              </a:ext>
            </a:extLst>
          </p:cNvPr>
          <p:cNvCxnSpPr>
            <a:cxnSpLocks/>
          </p:cNvCxnSpPr>
          <p:nvPr/>
        </p:nvCxnSpPr>
        <p:spPr>
          <a:xfrm>
            <a:off x="9781249" y="2905740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11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D09C-9F34-9089-6ACF-8CADEBA6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4D79-D9A0-3014-0E5A-57FAF8A3F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Similarity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782446-9679-367B-43A0-2BB9E2E42055}"/>
              </a:ext>
            </a:extLst>
          </p:cNvPr>
          <p:cNvSpPr txBox="1"/>
          <p:nvPr/>
        </p:nvSpPr>
        <p:spPr>
          <a:xfrm>
            <a:off x="340364" y="534230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Why link issues together?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A33E13CC-9C3A-D37D-543C-792C7B52C2CC}"/>
              </a:ext>
            </a:extLst>
          </p:cNvPr>
          <p:cNvSpPr/>
          <p:nvPr/>
        </p:nvSpPr>
        <p:spPr>
          <a:xfrm>
            <a:off x="379477" y="8504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AD1FAD0-5530-CA97-09A9-83D251D571D7}"/>
              </a:ext>
            </a:extLst>
          </p:cNvPr>
          <p:cNvSpPr/>
          <p:nvPr/>
        </p:nvSpPr>
        <p:spPr>
          <a:xfrm>
            <a:off x="421533" y="1211273"/>
            <a:ext cx="5013046" cy="475399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E9373E3A-6D88-7B29-BF4F-253E79FFE5A4}"/>
              </a:ext>
            </a:extLst>
          </p:cNvPr>
          <p:cNvSpPr/>
          <p:nvPr/>
        </p:nvSpPr>
        <p:spPr>
          <a:xfrm>
            <a:off x="421533" y="1159057"/>
            <a:ext cx="5013045" cy="7122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217C86D-A37C-FA4C-8F91-AC08B88D35EE}"/>
              </a:ext>
            </a:extLst>
          </p:cNvPr>
          <p:cNvSpPr/>
          <p:nvPr/>
        </p:nvSpPr>
        <p:spPr>
          <a:xfrm>
            <a:off x="575204" y="1384022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000" noProof="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8787264-5780-03DA-675D-91983120C331}"/>
              </a:ext>
            </a:extLst>
          </p:cNvPr>
          <p:cNvSpPr/>
          <p:nvPr/>
        </p:nvSpPr>
        <p:spPr>
          <a:xfrm>
            <a:off x="538488" y="1650604"/>
            <a:ext cx="40570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950" b="1" noProof="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6BEE0470-CBF6-48A1-3BD4-BFBCCBD60370}"/>
              </a:ext>
            </a:extLst>
          </p:cNvPr>
          <p:cNvSpPr/>
          <p:nvPr/>
        </p:nvSpPr>
        <p:spPr>
          <a:xfrm>
            <a:off x="538488" y="1352113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How?</a:t>
            </a:r>
            <a:endParaRPr lang="en-US" sz="1100" noProof="0" dirty="0">
              <a:solidFill>
                <a:srgbClr val="0D9589"/>
              </a:solidFill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8BBC259C-0BD2-3648-4D98-D8B4EB8A08B4}"/>
              </a:ext>
            </a:extLst>
          </p:cNvPr>
          <p:cNvSpPr/>
          <p:nvPr/>
        </p:nvSpPr>
        <p:spPr>
          <a:xfrm>
            <a:off x="571614" y="2097359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4C893AD-DF29-9EEE-781B-5B2AFAF71CF3}"/>
              </a:ext>
            </a:extLst>
          </p:cNvPr>
          <p:cNvSpPr/>
          <p:nvPr/>
        </p:nvSpPr>
        <p:spPr>
          <a:xfrm>
            <a:off x="856678" y="2031906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Convert each issue into a TF-IDF vector</a:t>
            </a:r>
            <a:endParaRPr lang="en-US" sz="1200" noProof="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8276B894-DCCA-1740-17C6-675D08E7B3D9}"/>
              </a:ext>
            </a:extLst>
          </p:cNvPr>
          <p:cNvSpPr/>
          <p:nvPr/>
        </p:nvSpPr>
        <p:spPr>
          <a:xfrm>
            <a:off x="571614" y="2463119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ACF6472-365D-E553-F36A-30CC132EC349}"/>
              </a:ext>
            </a:extLst>
          </p:cNvPr>
          <p:cNvSpPr/>
          <p:nvPr/>
        </p:nvSpPr>
        <p:spPr>
          <a:xfrm>
            <a:off x="856678" y="2404295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Compute cosine similarity between issue vectors</a:t>
            </a:r>
            <a:endParaRPr lang="en-US" sz="1200" noProof="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FFE6E329-52B5-5343-8667-85E5E9BEFA99}"/>
              </a:ext>
            </a:extLst>
          </p:cNvPr>
          <p:cNvSpPr/>
          <p:nvPr/>
        </p:nvSpPr>
        <p:spPr>
          <a:xfrm>
            <a:off x="571614" y="2828879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1F3FA5F0-7A5D-8199-7977-FE4B1024F478}"/>
              </a:ext>
            </a:extLst>
          </p:cNvPr>
          <p:cNvSpPr/>
          <p:nvPr/>
        </p:nvSpPr>
        <p:spPr>
          <a:xfrm>
            <a:off x="856678" y="2762131"/>
            <a:ext cx="4247791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Store related issue IDs inside each issue (</a:t>
            </a:r>
            <a:r>
              <a:rPr lang="en-US" sz="120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en-US" sz="1200" noProof="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78B108D1-C1AA-F4A5-E5A9-70057F2D29C2}"/>
              </a:ext>
            </a:extLst>
          </p:cNvPr>
          <p:cNvSpPr/>
          <p:nvPr/>
        </p:nvSpPr>
        <p:spPr>
          <a:xfrm>
            <a:off x="571614" y="3194639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06E09652-2A9D-E270-0FFF-600795715CA6}"/>
              </a:ext>
            </a:extLst>
          </p:cNvPr>
          <p:cNvSpPr/>
          <p:nvPr/>
        </p:nvSpPr>
        <p:spPr>
          <a:xfrm>
            <a:off x="840769" y="3164627"/>
            <a:ext cx="4057019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Apply a configurable similarity threshold (only keep strong matches)</a:t>
            </a:r>
            <a:endParaRPr lang="en-US" sz="1200" noProof="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CD4137D2-3457-1980-63ED-90C78A935921}"/>
              </a:ext>
            </a:extLst>
          </p:cNvPr>
          <p:cNvSpPr/>
          <p:nvPr/>
        </p:nvSpPr>
        <p:spPr>
          <a:xfrm>
            <a:off x="538488" y="4047389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Each issue becomes connected to other similar issues: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Same peripheral/component (UART, USB, DMA…)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Same type of symptom (compile error, crash, timeout…)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Access to fixes already discussed in other threads</a:t>
            </a:r>
            <a:endParaRPr lang="en-US" sz="1200" noProof="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12E897-7641-9FEB-A460-DFBB67735276}"/>
              </a:ext>
            </a:extLst>
          </p:cNvPr>
          <p:cNvSpPr txBox="1"/>
          <p:nvPr/>
        </p:nvSpPr>
        <p:spPr>
          <a:xfrm>
            <a:off x="5579356" y="3071339"/>
            <a:ext cx="917067" cy="357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</a:t>
            </a:r>
            <a:endParaRPr lang="en-US" sz="1600" noProof="0" dirty="0"/>
          </a:p>
        </p:txBody>
      </p:sp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76C004CC-1EBA-519E-AA66-ED54C1AA1B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6573" y="3409717"/>
            <a:ext cx="431535" cy="43153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8D888-068F-C8D1-26F3-8409FE906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24</a:t>
            </a:fld>
            <a:endParaRPr lang="en-US" noProof="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8E6E0F5-7571-5E1A-B1A1-51E487D07D08}"/>
              </a:ext>
            </a:extLst>
          </p:cNvPr>
          <p:cNvSpPr txBox="1"/>
          <p:nvPr/>
        </p:nvSpPr>
        <p:spPr>
          <a:xfrm>
            <a:off x="489344" y="1693414"/>
            <a:ext cx="6273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noProof="0" dirty="0">
                <a:solidFill>
                  <a:schemeClr val="bg2">
                    <a:lumMod val="10000"/>
                  </a:schemeClr>
                </a:solidFill>
              </a:rPr>
              <a:t>We compute similarity using the issue text (</a:t>
            </a:r>
            <a:r>
              <a:rPr lang="en-US" sz="1200" noProof="0" dirty="0" err="1">
                <a:solidFill>
                  <a:schemeClr val="bg2">
                    <a:lumMod val="10000"/>
                  </a:schemeClr>
                </a:solidFill>
              </a:rPr>
              <a:t>clean_text</a:t>
            </a:r>
            <a:r>
              <a:rPr lang="en-US" sz="1200" noProof="0" dirty="0">
                <a:solidFill>
                  <a:schemeClr val="bg2">
                    <a:lumMod val="10000"/>
                  </a:schemeClr>
                </a:solidFill>
              </a:rPr>
              <a:t>):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2F8FCC5-66E9-20B1-6465-5306F3B9C3F0}"/>
              </a:ext>
            </a:extLst>
          </p:cNvPr>
          <p:cNvSpPr txBox="1"/>
          <p:nvPr/>
        </p:nvSpPr>
        <p:spPr>
          <a:xfrm>
            <a:off x="489344" y="3707878"/>
            <a:ext cx="2579911" cy="30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00" b="1" noProof="0" dirty="0">
                <a:solidFill>
                  <a:srgbClr val="0D9589"/>
                </a:solidFill>
              </a:rPr>
              <a:t>What is the result ?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157ED02-3CF5-00F7-8555-53760108F188}"/>
              </a:ext>
            </a:extLst>
          </p:cNvPr>
          <p:cNvSpPr/>
          <p:nvPr/>
        </p:nvSpPr>
        <p:spPr>
          <a:xfrm>
            <a:off x="2890912" y="2373195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8D63A09-5FD6-10F3-1EB5-48AE58935209}"/>
              </a:ext>
            </a:extLst>
          </p:cNvPr>
          <p:cNvSpPr/>
          <p:nvPr/>
        </p:nvSpPr>
        <p:spPr>
          <a:xfrm>
            <a:off x="3048753" y="14833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3D6D1E44-CB34-9FA2-8E74-1EBBBEC30541}"/>
              </a:ext>
            </a:extLst>
          </p:cNvPr>
          <p:cNvSpPr/>
          <p:nvPr/>
        </p:nvSpPr>
        <p:spPr>
          <a:xfrm>
            <a:off x="1694475" y="2648986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58178D2F-5E9E-874F-D5B2-0C884F873EC8}"/>
              </a:ext>
            </a:extLst>
          </p:cNvPr>
          <p:cNvSpPr/>
          <p:nvPr/>
        </p:nvSpPr>
        <p:spPr>
          <a:xfrm>
            <a:off x="1852316" y="1759183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9" name="Shape 48">
            <a:extLst>
              <a:ext uri="{FF2B5EF4-FFF2-40B4-BE49-F238E27FC236}">
                <a16:creationId xmlns:a16="http://schemas.microsoft.com/office/drawing/2014/main" id="{006E4E60-32AF-252D-86E4-5F1E72C0195B}"/>
              </a:ext>
            </a:extLst>
          </p:cNvPr>
          <p:cNvSpPr/>
          <p:nvPr/>
        </p:nvSpPr>
        <p:spPr>
          <a:xfrm>
            <a:off x="6748407" y="1400789"/>
            <a:ext cx="5013046" cy="2027764"/>
          </a:xfrm>
          <a:prstGeom prst="roundRect">
            <a:avLst>
              <a:gd name="adj" fmla="val 5161"/>
            </a:avLst>
          </a:prstGeom>
          <a:solidFill>
            <a:srgbClr val="07121E"/>
          </a:solidFill>
          <a:ln/>
        </p:spPr>
        <p:txBody>
          <a:bodyPr/>
          <a:lstStyle/>
          <a:p>
            <a:endParaRPr lang="fr-TN" dirty="0"/>
          </a:p>
        </p:txBody>
      </p:sp>
      <p:sp>
        <p:nvSpPr>
          <p:cNvPr id="12" name="Text 49">
            <a:extLst>
              <a:ext uri="{FF2B5EF4-FFF2-40B4-BE49-F238E27FC236}">
                <a16:creationId xmlns:a16="http://schemas.microsoft.com/office/drawing/2014/main" id="{5F7391A8-39AE-4567-03A6-459116B2ABBD}"/>
              </a:ext>
            </a:extLst>
          </p:cNvPr>
          <p:cNvSpPr/>
          <p:nvPr/>
        </p:nvSpPr>
        <p:spPr>
          <a:xfrm>
            <a:off x="7014439" y="1679556"/>
            <a:ext cx="45958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sim(dᵢ,dⱼ) = (vᵢ · vⱼ) / (‖vᵢ‖ ‖vⱼ‖)</a:t>
            </a:r>
            <a:endParaRPr lang="en-US" sz="1400" dirty="0"/>
          </a:p>
        </p:txBody>
      </p:sp>
      <p:sp>
        <p:nvSpPr>
          <p:cNvPr id="19" name="Text 50">
            <a:extLst>
              <a:ext uri="{FF2B5EF4-FFF2-40B4-BE49-F238E27FC236}">
                <a16:creationId xmlns:a16="http://schemas.microsoft.com/office/drawing/2014/main" id="{902CB8D6-6606-CF3A-BED5-A65A949D492C}"/>
              </a:ext>
            </a:extLst>
          </p:cNvPr>
          <p:cNvSpPr/>
          <p:nvPr/>
        </p:nvSpPr>
        <p:spPr>
          <a:xfrm>
            <a:off x="7014439" y="2130664"/>
            <a:ext cx="4169376" cy="313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related(dᵢ) = { dⱼ | sim ≥ 0.3 }</a:t>
            </a:r>
            <a:endParaRPr lang="en-US" sz="1400" dirty="0"/>
          </a:p>
        </p:txBody>
      </p:sp>
      <p:sp>
        <p:nvSpPr>
          <p:cNvPr id="25" name="Text 51">
            <a:extLst>
              <a:ext uri="{FF2B5EF4-FFF2-40B4-BE49-F238E27FC236}">
                <a16:creationId xmlns:a16="http://schemas.microsoft.com/office/drawing/2014/main" id="{A9057D50-A9D9-F7A3-7428-EF2EDDD045E3}"/>
              </a:ext>
            </a:extLst>
          </p:cNvPr>
          <p:cNvSpPr/>
          <p:nvPr/>
        </p:nvSpPr>
        <p:spPr>
          <a:xfrm>
            <a:off x="6960140" y="2590131"/>
            <a:ext cx="505329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93A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0.3 keeps only strong links.  H7 coverage 22% = issue diversity, not a failure.</a:t>
            </a:r>
            <a:endParaRPr lang="en-US" sz="1000" b="1" dirty="0"/>
          </a:p>
        </p:txBody>
      </p:sp>
      <p:sp>
        <p:nvSpPr>
          <p:cNvPr id="33" name="Shape 52">
            <a:extLst>
              <a:ext uri="{FF2B5EF4-FFF2-40B4-BE49-F238E27FC236}">
                <a16:creationId xmlns:a16="http://schemas.microsoft.com/office/drawing/2014/main" id="{738D18EF-65AA-AF9B-B3ED-FE94DCEDB574}"/>
              </a:ext>
            </a:extLst>
          </p:cNvPr>
          <p:cNvSpPr/>
          <p:nvPr/>
        </p:nvSpPr>
        <p:spPr>
          <a:xfrm>
            <a:off x="6757423" y="3574857"/>
            <a:ext cx="5004030" cy="2027764"/>
          </a:xfrm>
          <a:prstGeom prst="roundRect">
            <a:avLst>
              <a:gd name="adj" fmla="val 6452"/>
            </a:avLst>
          </a:prstGeom>
          <a:solidFill>
            <a:srgbClr val="123026"/>
          </a:solidFill>
          <a:ln w="12700">
            <a:solidFill>
              <a:srgbClr val="34C08A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5" name="Text 53">
            <a:extLst>
              <a:ext uri="{FF2B5EF4-FFF2-40B4-BE49-F238E27FC236}">
                <a16:creationId xmlns:a16="http://schemas.microsoft.com/office/drawing/2014/main" id="{62BBB42A-2EDB-2ED0-688A-F393D25912EB}"/>
              </a:ext>
            </a:extLst>
          </p:cNvPr>
          <p:cNvSpPr/>
          <p:nvPr/>
        </p:nvSpPr>
        <p:spPr>
          <a:xfrm>
            <a:off x="6940303" y="3675441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54">
            <a:extLst>
              <a:ext uri="{FF2B5EF4-FFF2-40B4-BE49-F238E27FC236}">
                <a16:creationId xmlns:a16="http://schemas.microsoft.com/office/drawing/2014/main" id="{0EBB32CA-9E45-64BB-CF97-E03DFE785035}"/>
              </a:ext>
            </a:extLst>
          </p:cNvPr>
          <p:cNvSpPr/>
          <p:nvPr/>
        </p:nvSpPr>
        <p:spPr>
          <a:xfrm>
            <a:off x="6908505" y="386331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2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</a:t>
            </a:r>
            <a:r>
              <a:rPr lang="en-US" sz="120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“HAL_UART compile error when UART disabled”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2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 </a:t>
            </a:r>
            <a:r>
              <a:rPr lang="en-US" sz="120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“USART build fails, missing UART macro”</a:t>
            </a:r>
            <a:endParaRPr lang="en-US" sz="1200" dirty="0"/>
          </a:p>
        </p:txBody>
      </p:sp>
      <p:sp>
        <p:nvSpPr>
          <p:cNvPr id="39" name="Text 55">
            <a:extLst>
              <a:ext uri="{FF2B5EF4-FFF2-40B4-BE49-F238E27FC236}">
                <a16:creationId xmlns:a16="http://schemas.microsoft.com/office/drawing/2014/main" id="{98E1419B-9E77-F61C-F42B-258D93A72720}"/>
              </a:ext>
            </a:extLst>
          </p:cNvPr>
          <p:cNvSpPr/>
          <p:nvPr/>
        </p:nvSpPr>
        <p:spPr>
          <a:xfrm>
            <a:off x="6908505" y="47091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≈ 0.72</a:t>
            </a:r>
            <a:r>
              <a:rPr lang="en-US" sz="140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same topic, linked.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31169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249B4-21A9-B6C2-2532-A568D4D3F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20C6-3194-D32E-82A0-84565972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Similarity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E6E7D7-27E4-22C6-FAA4-CE76D5FA1BC9}"/>
              </a:ext>
            </a:extLst>
          </p:cNvPr>
          <p:cNvSpPr txBox="1"/>
          <p:nvPr/>
        </p:nvSpPr>
        <p:spPr>
          <a:xfrm>
            <a:off x="340364" y="534230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Why link issues together?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A632442-EC31-B34C-3670-5626EC92EEFC}"/>
              </a:ext>
            </a:extLst>
          </p:cNvPr>
          <p:cNvSpPr/>
          <p:nvPr/>
        </p:nvSpPr>
        <p:spPr>
          <a:xfrm>
            <a:off x="379477" y="8504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5FB10-DB3E-CBE1-3E77-1F7B7232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25</a:t>
            </a:fld>
            <a:endParaRPr lang="en-US" noProof="0" dirty="0"/>
          </a:p>
        </p:txBody>
      </p:sp>
      <p:sp>
        <p:nvSpPr>
          <p:cNvPr id="11" name="TextBox 39">
            <a:extLst>
              <a:ext uri="{FF2B5EF4-FFF2-40B4-BE49-F238E27FC236}">
                <a16:creationId xmlns:a16="http://schemas.microsoft.com/office/drawing/2014/main" id="{7335C2C4-F337-D80D-0EA1-98D8D2AF6BD7}"/>
              </a:ext>
            </a:extLst>
          </p:cNvPr>
          <p:cNvSpPr txBox="1"/>
          <p:nvPr/>
        </p:nvSpPr>
        <p:spPr>
          <a:xfrm>
            <a:off x="4765584" y="3071786"/>
            <a:ext cx="917067" cy="357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</a:t>
            </a:r>
            <a:endParaRPr lang="en-US" sz="1600" noProof="0" dirty="0"/>
          </a:p>
        </p:txBody>
      </p:sp>
      <p:pic>
        <p:nvPicPr>
          <p:cNvPr id="22" name="Graphic 40" descr="Arrow Right with solid fill">
            <a:extLst>
              <a:ext uri="{FF2B5EF4-FFF2-40B4-BE49-F238E27FC236}">
                <a16:creationId xmlns:a16="http://schemas.microsoft.com/office/drawing/2014/main" id="{605E794A-C649-B750-56B3-3714A9F4F7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2801" y="3410164"/>
            <a:ext cx="431535" cy="431535"/>
          </a:xfrm>
          <a:prstGeom prst="rect">
            <a:avLst/>
          </a:prstGeom>
        </p:spPr>
      </p:pic>
      <p:sp>
        <p:nvSpPr>
          <p:cNvPr id="34" name="Shape 14">
            <a:extLst>
              <a:ext uri="{FF2B5EF4-FFF2-40B4-BE49-F238E27FC236}">
                <a16:creationId xmlns:a16="http://schemas.microsoft.com/office/drawing/2014/main" id="{A9A73FE8-03AB-91E6-98DC-06D104313C90}"/>
              </a:ext>
            </a:extLst>
          </p:cNvPr>
          <p:cNvSpPr/>
          <p:nvPr/>
        </p:nvSpPr>
        <p:spPr>
          <a:xfrm>
            <a:off x="6767756" y="1355875"/>
            <a:ext cx="4744153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09642AC9-ED05-4DCB-9051-E11292A023D1}"/>
              </a:ext>
            </a:extLst>
          </p:cNvPr>
          <p:cNvSpPr/>
          <p:nvPr/>
        </p:nvSpPr>
        <p:spPr>
          <a:xfrm>
            <a:off x="6767755" y="1355875"/>
            <a:ext cx="4733551" cy="3657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Without Similarity</a:t>
            </a:r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FD3A8A9E-5CC1-BC51-642C-CEEEFE38C487}"/>
              </a:ext>
            </a:extLst>
          </p:cNvPr>
          <p:cNvSpPr/>
          <p:nvPr/>
        </p:nvSpPr>
        <p:spPr>
          <a:xfrm>
            <a:off x="6762455" y="1777109"/>
            <a:ext cx="4738851" cy="133253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5BEDF177-EE4C-6C1F-0C4F-62C62F08864E}"/>
              </a:ext>
            </a:extLst>
          </p:cNvPr>
          <p:cNvSpPr/>
          <p:nvPr/>
        </p:nvSpPr>
        <p:spPr>
          <a:xfrm>
            <a:off x="6904916" y="1701469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2839C318-9877-564F-56B8-9DE93BCC8595}"/>
              </a:ext>
            </a:extLst>
          </p:cNvPr>
          <p:cNvSpPr/>
          <p:nvPr/>
        </p:nvSpPr>
        <p:spPr>
          <a:xfrm>
            <a:off x="6920880" y="1821819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User asks: </a:t>
            </a:r>
            <a:endParaRPr lang="en-US" sz="1200" noProof="0" dirty="0">
              <a:solidFill>
                <a:srgbClr val="1B2A3B"/>
              </a:solidFill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725EE891-5F37-1DD3-B4C1-6E774E0CD67D}"/>
              </a:ext>
            </a:extLst>
          </p:cNvPr>
          <p:cNvSpPr/>
          <p:nvPr/>
        </p:nvSpPr>
        <p:spPr>
          <a:xfrm>
            <a:off x="6920880" y="2129601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1B2A3B"/>
                </a:solidFill>
              </a:rPr>
              <a:t>"USART compile error when UART disabled" </a:t>
            </a:r>
            <a:endParaRPr lang="en-US" sz="1200" noProof="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0043359A-BC06-0A1A-7478-3D3BDC0FD95B}"/>
              </a:ext>
            </a:extLst>
          </p:cNvPr>
          <p:cNvSpPr/>
          <p:nvPr/>
        </p:nvSpPr>
        <p:spPr>
          <a:xfrm>
            <a:off x="6800352" y="2479035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53" name="TextBox 60">
            <a:extLst>
              <a:ext uri="{FF2B5EF4-FFF2-40B4-BE49-F238E27FC236}">
                <a16:creationId xmlns:a16="http://schemas.microsoft.com/office/drawing/2014/main" id="{1B7F34DE-51E2-38BA-85B8-409E37F1A6EC}"/>
              </a:ext>
            </a:extLst>
          </p:cNvPr>
          <p:cNvSpPr txBox="1"/>
          <p:nvPr/>
        </p:nvSpPr>
        <p:spPr>
          <a:xfrm>
            <a:off x="6989460" y="2467686"/>
            <a:ext cx="4367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noProof="0" dirty="0">
                <a:solidFill>
                  <a:srgbClr val="1B2A3B"/>
                </a:solidFill>
              </a:rPr>
              <a:t> The system retrieves only one issue → partial answer, limited context.</a:t>
            </a:r>
          </a:p>
        </p:txBody>
      </p:sp>
      <p:pic>
        <p:nvPicPr>
          <p:cNvPr id="55" name="Graphic 61" descr="Arrow Right with solid fill">
            <a:extLst>
              <a:ext uri="{FF2B5EF4-FFF2-40B4-BE49-F238E27FC236}">
                <a16:creationId xmlns:a16="http://schemas.microsoft.com/office/drawing/2014/main" id="{81E8E5E1-0F7A-3212-7B43-DB0923F940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6904413" y="2514055"/>
            <a:ext cx="163418" cy="163418"/>
          </a:xfrm>
          <a:prstGeom prst="rect">
            <a:avLst/>
          </a:prstGeom>
        </p:spPr>
      </p:pic>
      <p:sp>
        <p:nvSpPr>
          <p:cNvPr id="59" name="Shape 14">
            <a:extLst>
              <a:ext uri="{FF2B5EF4-FFF2-40B4-BE49-F238E27FC236}">
                <a16:creationId xmlns:a16="http://schemas.microsoft.com/office/drawing/2014/main" id="{6F675F95-5305-BE54-6A97-092BF18BF7E9}"/>
              </a:ext>
            </a:extLst>
          </p:cNvPr>
          <p:cNvSpPr/>
          <p:nvPr/>
        </p:nvSpPr>
        <p:spPr>
          <a:xfrm>
            <a:off x="6767756" y="3342570"/>
            <a:ext cx="4738852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2383AA12-823B-5F04-7367-724EE4E46270}"/>
              </a:ext>
            </a:extLst>
          </p:cNvPr>
          <p:cNvSpPr/>
          <p:nvPr/>
        </p:nvSpPr>
        <p:spPr>
          <a:xfrm>
            <a:off x="6767755" y="3342570"/>
            <a:ext cx="47388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With Similarity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CFD3A85C-AE47-F0F2-005D-D68094D77F02}"/>
              </a:ext>
            </a:extLst>
          </p:cNvPr>
          <p:cNvSpPr/>
          <p:nvPr/>
        </p:nvSpPr>
        <p:spPr>
          <a:xfrm>
            <a:off x="6757153" y="3794955"/>
            <a:ext cx="4744153" cy="21392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AEC7365F-3F51-AB53-96F4-CB57CCD03B2B}"/>
              </a:ext>
            </a:extLst>
          </p:cNvPr>
          <p:cNvSpPr/>
          <p:nvPr/>
        </p:nvSpPr>
        <p:spPr>
          <a:xfrm>
            <a:off x="6904916" y="3688164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0EF0E063-23A0-7E54-7BFE-E9A56F6323CA}"/>
              </a:ext>
            </a:extLst>
          </p:cNvPr>
          <p:cNvSpPr/>
          <p:nvPr/>
        </p:nvSpPr>
        <p:spPr>
          <a:xfrm>
            <a:off x="6894905" y="4550286"/>
            <a:ext cx="4611705" cy="38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1B2A3B"/>
                </a:solidFill>
              </a:rPr>
              <a:t>The system retrieves </a:t>
            </a:r>
            <a:r>
              <a:rPr lang="en-US" sz="1200" b="1" noProof="0" dirty="0">
                <a:solidFill>
                  <a:srgbClr val="1B2A3B"/>
                </a:solidFill>
              </a:rPr>
              <a:t>multiple related issues</a:t>
            </a:r>
            <a:r>
              <a:rPr lang="en-US" sz="1200" noProof="0" dirty="0">
                <a:solidFill>
                  <a:srgbClr val="1B2A3B"/>
                </a:solidFill>
              </a:rPr>
              <a:t>:</a:t>
            </a:r>
          </a:p>
          <a:p>
            <a:pPr marL="0" indent="0">
              <a:buNone/>
            </a:pPr>
            <a:endParaRPr lang="en-US" sz="1200" noProof="0" dirty="0">
              <a:solidFill>
                <a:srgbClr val="1B2A3B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1B2A3B"/>
                </a:solidFill>
              </a:rPr>
              <a:t>Same component (UART / USART)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1B2A3B"/>
                </a:solidFill>
              </a:rPr>
              <a:t>Similar symptom type (compile-time guard / dependency issue)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1B2A3B"/>
                </a:solidFill>
              </a:rPr>
              <a:t>Previous fixes already documented in linked threads</a:t>
            </a:r>
          </a:p>
        </p:txBody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B8D3F2A0-D8F9-AD49-83A6-E175F47879EF}"/>
              </a:ext>
            </a:extLst>
          </p:cNvPr>
          <p:cNvSpPr/>
          <p:nvPr/>
        </p:nvSpPr>
        <p:spPr>
          <a:xfrm>
            <a:off x="6904916" y="4638729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B75C262B-013D-53E2-F8BB-49FAA3BC3483}"/>
              </a:ext>
            </a:extLst>
          </p:cNvPr>
          <p:cNvSpPr/>
          <p:nvPr/>
        </p:nvSpPr>
        <p:spPr>
          <a:xfrm>
            <a:off x="1842120" y="1399408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56A2688C-326D-318F-3D9D-0882D8218CC5}"/>
              </a:ext>
            </a:extLst>
          </p:cNvPr>
          <p:cNvSpPr/>
          <p:nvPr/>
        </p:nvSpPr>
        <p:spPr>
          <a:xfrm>
            <a:off x="2518776" y="1518280"/>
            <a:ext cx="475488" cy="475488"/>
          </a:xfrm>
          <a:prstGeom prst="ellipse">
            <a:avLst/>
          </a:prstGeom>
          <a:solidFill>
            <a:srgbClr val="12B0E8"/>
          </a:solidFill>
          <a:ln/>
          <a:effectLst>
            <a:outerShdw blurRad="76200" dist="254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75" name="Image 0" descr="preencoded.png">
            <a:extLst>
              <a:ext uri="{FF2B5EF4-FFF2-40B4-BE49-F238E27FC236}">
                <a16:creationId xmlns:a16="http://schemas.microsoft.com/office/drawing/2014/main" id="{1B0EDCB4-3083-5943-490F-E07ADEF5C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2403" y="1641907"/>
            <a:ext cx="228234" cy="228234"/>
          </a:xfrm>
          <a:prstGeom prst="rect">
            <a:avLst/>
          </a:prstGeom>
        </p:spPr>
      </p:pic>
      <p:sp>
        <p:nvSpPr>
          <p:cNvPr id="77" name="Text 35">
            <a:extLst>
              <a:ext uri="{FF2B5EF4-FFF2-40B4-BE49-F238E27FC236}">
                <a16:creationId xmlns:a16="http://schemas.microsoft.com/office/drawing/2014/main" id="{9BF8D15B-39DF-EB24-30EE-71F2FCDCBE55}"/>
              </a:ext>
            </a:extLst>
          </p:cNvPr>
          <p:cNvSpPr/>
          <p:nvPr/>
        </p:nvSpPr>
        <p:spPr>
          <a:xfrm>
            <a:off x="1842120" y="20029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text</a:t>
            </a:r>
            <a:endParaRPr lang="en-US" sz="1100" dirty="0"/>
          </a:p>
        </p:txBody>
      </p:sp>
      <p:sp>
        <p:nvSpPr>
          <p:cNvPr id="79" name="Shape 36">
            <a:extLst>
              <a:ext uri="{FF2B5EF4-FFF2-40B4-BE49-F238E27FC236}">
                <a16:creationId xmlns:a16="http://schemas.microsoft.com/office/drawing/2014/main" id="{75311684-6BBC-3BFE-A76F-03607C51D349}"/>
              </a:ext>
            </a:extLst>
          </p:cNvPr>
          <p:cNvSpPr/>
          <p:nvPr/>
        </p:nvSpPr>
        <p:spPr>
          <a:xfrm flipH="1">
            <a:off x="2752883" y="2297706"/>
            <a:ext cx="0" cy="238687"/>
          </a:xfrm>
          <a:prstGeom prst="line">
            <a:avLst/>
          </a:prstGeom>
          <a:noFill/>
          <a:ln w="20320">
            <a:solidFill>
              <a:srgbClr val="12B0E8"/>
            </a:solidFill>
            <a:prstDash val="solid"/>
          </a:ln>
        </p:spPr>
        <p:txBody>
          <a:bodyPr/>
          <a:lstStyle/>
          <a:p>
            <a:endParaRPr lang="fr-TN" dirty="0"/>
          </a:p>
        </p:txBody>
      </p:sp>
      <p:sp>
        <p:nvSpPr>
          <p:cNvPr id="81" name="Shape 37">
            <a:extLst>
              <a:ext uri="{FF2B5EF4-FFF2-40B4-BE49-F238E27FC236}">
                <a16:creationId xmlns:a16="http://schemas.microsoft.com/office/drawing/2014/main" id="{2F4E9D48-F0E5-7053-2096-3429617D2B66}"/>
              </a:ext>
            </a:extLst>
          </p:cNvPr>
          <p:cNvSpPr/>
          <p:nvPr/>
        </p:nvSpPr>
        <p:spPr>
          <a:xfrm>
            <a:off x="1842120" y="2538579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3" name="Shape 38">
            <a:extLst>
              <a:ext uri="{FF2B5EF4-FFF2-40B4-BE49-F238E27FC236}">
                <a16:creationId xmlns:a16="http://schemas.microsoft.com/office/drawing/2014/main" id="{D791C97E-74D8-1D70-2992-611121388E72}"/>
              </a:ext>
            </a:extLst>
          </p:cNvPr>
          <p:cNvSpPr/>
          <p:nvPr/>
        </p:nvSpPr>
        <p:spPr>
          <a:xfrm>
            <a:off x="2518776" y="2657451"/>
            <a:ext cx="475488" cy="475488"/>
          </a:xfrm>
          <a:prstGeom prst="ellipse">
            <a:avLst/>
          </a:prstGeom>
          <a:solidFill>
            <a:srgbClr val="12B0E8"/>
          </a:solidFill>
          <a:ln/>
          <a:effectLst>
            <a:outerShdw blurRad="76200" dist="254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85" name="Image 1" descr="preencoded.png">
            <a:extLst>
              <a:ext uri="{FF2B5EF4-FFF2-40B4-BE49-F238E27FC236}">
                <a16:creationId xmlns:a16="http://schemas.microsoft.com/office/drawing/2014/main" id="{A5EDF29E-F5A1-5BA9-DF86-F084B06C8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2403" y="2781078"/>
            <a:ext cx="228234" cy="228234"/>
          </a:xfrm>
          <a:prstGeom prst="rect">
            <a:avLst/>
          </a:prstGeom>
        </p:spPr>
      </p:pic>
      <p:sp>
        <p:nvSpPr>
          <p:cNvPr id="87" name="Text 39">
            <a:extLst>
              <a:ext uri="{FF2B5EF4-FFF2-40B4-BE49-F238E27FC236}">
                <a16:creationId xmlns:a16="http://schemas.microsoft.com/office/drawing/2014/main" id="{40BBCD26-3FFF-EC81-5DC5-AF433063C8BA}"/>
              </a:ext>
            </a:extLst>
          </p:cNvPr>
          <p:cNvSpPr/>
          <p:nvPr/>
        </p:nvSpPr>
        <p:spPr>
          <a:xfrm>
            <a:off x="1842120" y="3142083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97" name="Shape 36">
            <a:extLst>
              <a:ext uri="{FF2B5EF4-FFF2-40B4-BE49-F238E27FC236}">
                <a16:creationId xmlns:a16="http://schemas.microsoft.com/office/drawing/2014/main" id="{E05E88B6-4579-B439-DE44-CA1AEF6CA5B0}"/>
              </a:ext>
            </a:extLst>
          </p:cNvPr>
          <p:cNvSpPr/>
          <p:nvPr/>
        </p:nvSpPr>
        <p:spPr>
          <a:xfrm flipH="1">
            <a:off x="2752883" y="3401245"/>
            <a:ext cx="0" cy="242838"/>
          </a:xfrm>
          <a:prstGeom prst="line">
            <a:avLst/>
          </a:prstGeom>
          <a:noFill/>
          <a:ln w="20320">
            <a:solidFill>
              <a:srgbClr val="12B0E8"/>
            </a:solidFill>
            <a:prstDash val="solid"/>
          </a:ln>
        </p:spPr>
        <p:txBody>
          <a:bodyPr/>
          <a:lstStyle/>
          <a:p>
            <a:endParaRPr lang="fr-TN" dirty="0"/>
          </a:p>
        </p:txBody>
      </p:sp>
      <p:sp>
        <p:nvSpPr>
          <p:cNvPr id="101" name="Shape 41">
            <a:extLst>
              <a:ext uri="{FF2B5EF4-FFF2-40B4-BE49-F238E27FC236}">
                <a16:creationId xmlns:a16="http://schemas.microsoft.com/office/drawing/2014/main" id="{83DEF911-4E87-C1A4-AFC0-3428B35C7CA3}"/>
              </a:ext>
            </a:extLst>
          </p:cNvPr>
          <p:cNvSpPr/>
          <p:nvPr/>
        </p:nvSpPr>
        <p:spPr>
          <a:xfrm>
            <a:off x="1858084" y="3648132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3" name="Shape 42">
            <a:extLst>
              <a:ext uri="{FF2B5EF4-FFF2-40B4-BE49-F238E27FC236}">
                <a16:creationId xmlns:a16="http://schemas.microsoft.com/office/drawing/2014/main" id="{C3BBDF4A-2847-E9C1-D1B5-E0A0EE04C19E}"/>
              </a:ext>
            </a:extLst>
          </p:cNvPr>
          <p:cNvSpPr/>
          <p:nvPr/>
        </p:nvSpPr>
        <p:spPr>
          <a:xfrm>
            <a:off x="2534740" y="3767004"/>
            <a:ext cx="475488" cy="475488"/>
          </a:xfrm>
          <a:prstGeom prst="ellipse">
            <a:avLst/>
          </a:prstGeom>
          <a:solidFill>
            <a:srgbClr val="12B0E8"/>
          </a:solidFill>
          <a:ln/>
          <a:effectLst>
            <a:outerShdw blurRad="76200" dist="254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105" name="Image 2" descr="preencoded.png">
            <a:extLst>
              <a:ext uri="{FF2B5EF4-FFF2-40B4-BE49-F238E27FC236}">
                <a16:creationId xmlns:a16="http://schemas.microsoft.com/office/drawing/2014/main" id="{19C41C04-58BB-A08C-B700-F51809C8C7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8367" y="3890631"/>
            <a:ext cx="228234" cy="228234"/>
          </a:xfrm>
          <a:prstGeom prst="rect">
            <a:avLst/>
          </a:prstGeom>
        </p:spPr>
      </p:pic>
      <p:sp>
        <p:nvSpPr>
          <p:cNvPr id="107" name="Text 43">
            <a:extLst>
              <a:ext uri="{FF2B5EF4-FFF2-40B4-BE49-F238E27FC236}">
                <a16:creationId xmlns:a16="http://schemas.microsoft.com/office/drawing/2014/main" id="{EB46BA04-12A3-8D0D-D519-5076674D6CE5}"/>
              </a:ext>
            </a:extLst>
          </p:cNvPr>
          <p:cNvSpPr/>
          <p:nvPr/>
        </p:nvSpPr>
        <p:spPr>
          <a:xfrm>
            <a:off x="1858084" y="42516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100" dirty="0"/>
          </a:p>
        </p:txBody>
      </p:sp>
      <p:sp>
        <p:nvSpPr>
          <p:cNvPr id="111" name="Shape 45">
            <a:extLst>
              <a:ext uri="{FF2B5EF4-FFF2-40B4-BE49-F238E27FC236}">
                <a16:creationId xmlns:a16="http://schemas.microsoft.com/office/drawing/2014/main" id="{30C2D124-9028-26B5-8494-426BE13594E6}"/>
              </a:ext>
            </a:extLst>
          </p:cNvPr>
          <p:cNvSpPr/>
          <p:nvPr/>
        </p:nvSpPr>
        <p:spPr>
          <a:xfrm>
            <a:off x="1862282" y="4705825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3" name="Shape 46">
            <a:extLst>
              <a:ext uri="{FF2B5EF4-FFF2-40B4-BE49-F238E27FC236}">
                <a16:creationId xmlns:a16="http://schemas.microsoft.com/office/drawing/2014/main" id="{5A2C082B-076C-61F1-698A-A238F53A5707}"/>
              </a:ext>
            </a:extLst>
          </p:cNvPr>
          <p:cNvSpPr/>
          <p:nvPr/>
        </p:nvSpPr>
        <p:spPr>
          <a:xfrm>
            <a:off x="2538938" y="4824697"/>
            <a:ext cx="475488" cy="475488"/>
          </a:xfrm>
          <a:prstGeom prst="ellipse">
            <a:avLst/>
          </a:prstGeom>
          <a:solidFill>
            <a:srgbClr val="12B0E8"/>
          </a:solidFill>
          <a:ln/>
          <a:effectLst>
            <a:outerShdw blurRad="76200" dist="254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115" name="Image 3" descr="preencoded.png">
            <a:extLst>
              <a:ext uri="{FF2B5EF4-FFF2-40B4-BE49-F238E27FC236}">
                <a16:creationId xmlns:a16="http://schemas.microsoft.com/office/drawing/2014/main" id="{3C3B1686-8727-36E4-9A78-1282FB775B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2565" y="4948324"/>
            <a:ext cx="228234" cy="228234"/>
          </a:xfrm>
          <a:prstGeom prst="rect">
            <a:avLst/>
          </a:prstGeom>
        </p:spPr>
      </p:pic>
      <p:sp>
        <p:nvSpPr>
          <p:cNvPr id="117" name="Text 47">
            <a:extLst>
              <a:ext uri="{FF2B5EF4-FFF2-40B4-BE49-F238E27FC236}">
                <a16:creationId xmlns:a16="http://schemas.microsoft.com/office/drawing/2014/main" id="{61455E88-C934-FBFB-A751-B6288AE27EDE}"/>
              </a:ext>
            </a:extLst>
          </p:cNvPr>
          <p:cNvSpPr/>
          <p:nvPr/>
        </p:nvSpPr>
        <p:spPr>
          <a:xfrm>
            <a:off x="1862282" y="5309329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IDs</a:t>
            </a:r>
            <a:endParaRPr lang="en-US" sz="1100" dirty="0"/>
          </a:p>
        </p:txBody>
      </p:sp>
      <p:sp>
        <p:nvSpPr>
          <p:cNvPr id="119" name="Shape 36">
            <a:extLst>
              <a:ext uri="{FF2B5EF4-FFF2-40B4-BE49-F238E27FC236}">
                <a16:creationId xmlns:a16="http://schemas.microsoft.com/office/drawing/2014/main" id="{F223A4CF-90ED-CB30-8698-03156735EA1B}"/>
              </a:ext>
            </a:extLst>
          </p:cNvPr>
          <p:cNvSpPr/>
          <p:nvPr/>
        </p:nvSpPr>
        <p:spPr>
          <a:xfrm>
            <a:off x="2752883" y="4516812"/>
            <a:ext cx="0" cy="181954"/>
          </a:xfrm>
          <a:prstGeom prst="line">
            <a:avLst/>
          </a:prstGeom>
          <a:noFill/>
          <a:ln w="20320">
            <a:solidFill>
              <a:srgbClr val="12B0E8"/>
            </a:solidFill>
            <a:prstDash val="solid"/>
          </a:ln>
        </p:spPr>
        <p:txBody>
          <a:bodyPr/>
          <a:lstStyle/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34737766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52BC3-FAA1-DA98-BC70-1FA461EDC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B490-164C-9A14-FC64-5A3DD922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51666D77-5C0B-5F4D-BE93-EF1DBA2019AC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467D6F2E-79AE-8D1B-0397-230026266353}"/>
              </a:ext>
            </a:extLst>
          </p:cNvPr>
          <p:cNvSpPr/>
          <p:nvPr/>
        </p:nvSpPr>
        <p:spPr>
          <a:xfrm>
            <a:off x="1418507" y="105989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D8B3921C-D34A-3347-1F09-74D9B50F1A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015657" flipH="1" flipV="1">
            <a:off x="6674780" y="4495689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C10C9E9C-4BDA-7010-E5E8-D90B0AFBC144}"/>
              </a:ext>
            </a:extLst>
          </p:cNvPr>
          <p:cNvSpPr/>
          <p:nvPr/>
        </p:nvSpPr>
        <p:spPr>
          <a:xfrm>
            <a:off x="2337372" y="4239617"/>
            <a:ext cx="4114800" cy="22051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E24A67C2-D93A-6440-5373-EF43AFAB208F}"/>
              </a:ext>
            </a:extLst>
          </p:cNvPr>
          <p:cNvSpPr/>
          <p:nvPr/>
        </p:nvSpPr>
        <p:spPr>
          <a:xfrm>
            <a:off x="2337372" y="4239618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C06781DF-394F-E05C-E0F5-3D47F2CC5B9D}"/>
              </a:ext>
            </a:extLst>
          </p:cNvPr>
          <p:cNvSpPr/>
          <p:nvPr/>
        </p:nvSpPr>
        <p:spPr>
          <a:xfrm>
            <a:off x="2538540" y="433105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noProof="0" dirty="0">
                <a:solidFill>
                  <a:srgbClr val="0D9488"/>
                </a:solidFill>
              </a:rPr>
              <a:t>❓ </a:t>
            </a:r>
            <a:r>
              <a:rPr lang="en-US" sz="1050" b="1" noProof="0" dirty="0">
                <a:solidFill>
                  <a:srgbClr val="0D9589"/>
                </a:solidFill>
              </a:rPr>
              <a:t>Data Generation Objective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D1B30DA-6C34-B9F4-5674-34C580790E81}"/>
              </a:ext>
            </a:extLst>
          </p:cNvPr>
          <p:cNvSpPr/>
          <p:nvPr/>
        </p:nvSpPr>
        <p:spPr>
          <a:xfrm>
            <a:off x="854028" y="182978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C68235DE-203F-A240-5ECD-C26711FF6A30}"/>
              </a:ext>
            </a:extLst>
          </p:cNvPr>
          <p:cNvSpPr/>
          <p:nvPr/>
        </p:nvSpPr>
        <p:spPr>
          <a:xfrm>
            <a:off x="854028" y="1829782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C239F798-E9D3-2A88-57B9-82BF2D757183}"/>
              </a:ext>
            </a:extLst>
          </p:cNvPr>
          <p:cNvSpPr/>
          <p:nvPr/>
        </p:nvSpPr>
        <p:spPr>
          <a:xfrm>
            <a:off x="854028" y="182978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9BB47DCE-6F18-1E73-541C-88C5D9FE3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240" y="1898125"/>
            <a:ext cx="329184" cy="329184"/>
          </a:xfrm>
          <a:prstGeom prst="rect">
            <a:avLst/>
          </a:prstGeom>
        </p:spPr>
      </p:pic>
      <p:sp>
        <p:nvSpPr>
          <p:cNvPr id="47" name="Text 8">
            <a:extLst>
              <a:ext uri="{FF2B5EF4-FFF2-40B4-BE49-F238E27FC236}">
                <a16:creationId xmlns:a16="http://schemas.microsoft.com/office/drawing/2014/main" id="{9FFB9303-DE0C-B97C-5763-A56AF71474CA}"/>
              </a:ext>
            </a:extLst>
          </p:cNvPr>
          <p:cNvSpPr/>
          <p:nvPr/>
        </p:nvSpPr>
        <p:spPr>
          <a:xfrm>
            <a:off x="1059768" y="234632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7C14AB4D-F5BD-0922-3303-78E7CC8D84CB}"/>
              </a:ext>
            </a:extLst>
          </p:cNvPr>
          <p:cNvSpPr/>
          <p:nvPr/>
        </p:nvSpPr>
        <p:spPr>
          <a:xfrm>
            <a:off x="1017730" y="279819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FCF81230-D0CA-31FA-1B72-9FA7B8081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170" y="2870055"/>
            <a:ext cx="237744" cy="237744"/>
          </a:xfrm>
          <a:prstGeom prst="rect">
            <a:avLst/>
          </a:prstGeom>
        </p:spPr>
      </p:pic>
      <p:pic>
        <p:nvPicPr>
          <p:cNvPr id="50" name="Image 3" descr="preencoded.png">
            <a:extLst>
              <a:ext uri="{FF2B5EF4-FFF2-40B4-BE49-F238E27FC236}">
                <a16:creationId xmlns:a16="http://schemas.microsoft.com/office/drawing/2014/main" id="{EA231194-20B3-4446-60CE-003E0B9D7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2999" y="2858480"/>
            <a:ext cx="237744" cy="237744"/>
          </a:xfrm>
          <a:prstGeom prst="rect">
            <a:avLst/>
          </a:prstGeom>
        </p:spPr>
      </p:pic>
      <p:sp>
        <p:nvSpPr>
          <p:cNvPr id="51" name="Shape 15">
            <a:extLst>
              <a:ext uri="{FF2B5EF4-FFF2-40B4-BE49-F238E27FC236}">
                <a16:creationId xmlns:a16="http://schemas.microsoft.com/office/drawing/2014/main" id="{107699A7-84F0-FC67-5BEF-28FB52732EE4}"/>
              </a:ext>
            </a:extLst>
          </p:cNvPr>
          <p:cNvSpPr/>
          <p:nvPr/>
        </p:nvSpPr>
        <p:spPr>
          <a:xfrm>
            <a:off x="3833043" y="182520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DB4A0BC2-0B10-5642-37F3-DB2F1D09D246}"/>
              </a:ext>
            </a:extLst>
          </p:cNvPr>
          <p:cNvSpPr/>
          <p:nvPr/>
        </p:nvSpPr>
        <p:spPr>
          <a:xfrm>
            <a:off x="3838908" y="1835789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86416929-3F16-8E21-549C-68F286F20B7F}"/>
              </a:ext>
            </a:extLst>
          </p:cNvPr>
          <p:cNvSpPr/>
          <p:nvPr/>
        </p:nvSpPr>
        <p:spPr>
          <a:xfrm>
            <a:off x="3903583" y="182520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55" name="Image 4" descr="preencoded.png">
            <a:extLst>
              <a:ext uri="{FF2B5EF4-FFF2-40B4-BE49-F238E27FC236}">
                <a16:creationId xmlns:a16="http://schemas.microsoft.com/office/drawing/2014/main" id="{D7A18C78-D4A5-9496-D987-7F334A505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505" y="1902442"/>
            <a:ext cx="329184" cy="329184"/>
          </a:xfrm>
          <a:prstGeom prst="rect">
            <a:avLst/>
          </a:prstGeom>
        </p:spPr>
      </p:pic>
      <p:sp>
        <p:nvSpPr>
          <p:cNvPr id="59" name="Text 18">
            <a:extLst>
              <a:ext uri="{FF2B5EF4-FFF2-40B4-BE49-F238E27FC236}">
                <a16:creationId xmlns:a16="http://schemas.microsoft.com/office/drawing/2014/main" id="{57336673-9C9C-B42C-DDF6-DF6361E38855}"/>
              </a:ext>
            </a:extLst>
          </p:cNvPr>
          <p:cNvSpPr/>
          <p:nvPr/>
        </p:nvSpPr>
        <p:spPr>
          <a:xfrm>
            <a:off x="3945463" y="2473155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F2B8DC64-0769-8914-30CC-DA27FC7D06B0}"/>
              </a:ext>
            </a:extLst>
          </p:cNvPr>
          <p:cNvSpPr/>
          <p:nvPr/>
        </p:nvSpPr>
        <p:spPr>
          <a:xfrm>
            <a:off x="4014001" y="2903780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71" name="Image 5" descr="preencoded.png">
            <a:extLst>
              <a:ext uri="{FF2B5EF4-FFF2-40B4-BE49-F238E27FC236}">
                <a16:creationId xmlns:a16="http://schemas.microsoft.com/office/drawing/2014/main" id="{04C8A5E6-2954-A07D-1EFE-8FC523C657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7479" y="2853660"/>
            <a:ext cx="237744" cy="237744"/>
          </a:xfrm>
          <a:prstGeom prst="rect">
            <a:avLst/>
          </a:prstGeom>
        </p:spPr>
      </p:pic>
      <p:sp>
        <p:nvSpPr>
          <p:cNvPr id="72" name="Shape 20">
            <a:extLst>
              <a:ext uri="{FF2B5EF4-FFF2-40B4-BE49-F238E27FC236}">
                <a16:creationId xmlns:a16="http://schemas.microsoft.com/office/drawing/2014/main" id="{BE0B2BB7-A25A-FE74-FA77-D1A206256FB6}"/>
              </a:ext>
            </a:extLst>
          </p:cNvPr>
          <p:cNvSpPr/>
          <p:nvPr/>
        </p:nvSpPr>
        <p:spPr>
          <a:xfrm>
            <a:off x="5434608" y="183578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0F176867-0616-9A6E-844F-57026408284F}"/>
              </a:ext>
            </a:extLst>
          </p:cNvPr>
          <p:cNvSpPr/>
          <p:nvPr/>
        </p:nvSpPr>
        <p:spPr>
          <a:xfrm>
            <a:off x="5448063" y="182038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F779CFF2-90A5-060C-277F-7D031E297EA1}"/>
              </a:ext>
            </a:extLst>
          </p:cNvPr>
          <p:cNvSpPr/>
          <p:nvPr/>
        </p:nvSpPr>
        <p:spPr>
          <a:xfrm>
            <a:off x="5448063" y="182038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B5CD433E-2857-C77B-45F2-9FC59D95D795}"/>
              </a:ext>
            </a:extLst>
          </p:cNvPr>
          <p:cNvSpPr/>
          <p:nvPr/>
        </p:nvSpPr>
        <p:spPr>
          <a:xfrm>
            <a:off x="5634381" y="2343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A5B47C19-41D1-5476-CF46-55EFA3F967E5}"/>
              </a:ext>
            </a:extLst>
          </p:cNvPr>
          <p:cNvSpPr/>
          <p:nvPr/>
        </p:nvSpPr>
        <p:spPr>
          <a:xfrm>
            <a:off x="5643862" y="272113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94" name="Shape 35">
            <a:extLst>
              <a:ext uri="{FF2B5EF4-FFF2-40B4-BE49-F238E27FC236}">
                <a16:creationId xmlns:a16="http://schemas.microsoft.com/office/drawing/2014/main" id="{B43F24DA-F0C1-18CC-2F03-F93B14EE40E5}"/>
              </a:ext>
            </a:extLst>
          </p:cNvPr>
          <p:cNvSpPr/>
          <p:nvPr/>
        </p:nvSpPr>
        <p:spPr>
          <a:xfrm>
            <a:off x="8549187" y="1820388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5" name="Shape 36">
            <a:extLst>
              <a:ext uri="{FF2B5EF4-FFF2-40B4-BE49-F238E27FC236}">
                <a16:creationId xmlns:a16="http://schemas.microsoft.com/office/drawing/2014/main" id="{0A20B649-4E0E-1DE9-4134-037C8F4F765C}"/>
              </a:ext>
            </a:extLst>
          </p:cNvPr>
          <p:cNvSpPr/>
          <p:nvPr/>
        </p:nvSpPr>
        <p:spPr>
          <a:xfrm>
            <a:off x="8549187" y="1820389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C5F23D3F-5794-A84C-DEC4-193B5597B2A9}"/>
              </a:ext>
            </a:extLst>
          </p:cNvPr>
          <p:cNvSpPr/>
          <p:nvPr/>
        </p:nvSpPr>
        <p:spPr>
          <a:xfrm>
            <a:off x="8549187" y="182038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97" name="Image 12" descr="preencoded.png">
            <a:extLst>
              <a:ext uri="{FF2B5EF4-FFF2-40B4-BE49-F238E27FC236}">
                <a16:creationId xmlns:a16="http://schemas.microsoft.com/office/drawing/2014/main" id="{B2ABBAFF-3C2D-8770-C91B-7545BB2D77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1554" y="1905458"/>
            <a:ext cx="288037" cy="288037"/>
          </a:xfrm>
          <a:prstGeom prst="rect">
            <a:avLst/>
          </a:prstGeom>
        </p:spPr>
      </p:pic>
      <p:sp>
        <p:nvSpPr>
          <p:cNvPr id="98" name="Text 38">
            <a:extLst>
              <a:ext uri="{FF2B5EF4-FFF2-40B4-BE49-F238E27FC236}">
                <a16:creationId xmlns:a16="http://schemas.microsoft.com/office/drawing/2014/main" id="{9C5182C5-9988-2FCA-7F4C-3DA6562199E4}"/>
              </a:ext>
            </a:extLst>
          </p:cNvPr>
          <p:cNvSpPr/>
          <p:nvPr/>
        </p:nvSpPr>
        <p:spPr>
          <a:xfrm>
            <a:off x="8486773" y="2439538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57A91BD0-B89E-0A44-8E08-97076200D687}"/>
              </a:ext>
            </a:extLst>
          </p:cNvPr>
          <p:cNvSpPr/>
          <p:nvPr/>
        </p:nvSpPr>
        <p:spPr>
          <a:xfrm>
            <a:off x="8648177" y="278218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00" name="Graphic 99" descr="Dice with solid fill">
            <a:extLst>
              <a:ext uri="{FF2B5EF4-FFF2-40B4-BE49-F238E27FC236}">
                <a16:creationId xmlns:a16="http://schemas.microsoft.com/office/drawing/2014/main" id="{3C32B025-785C-CDD9-654F-0923785A65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0244" y="1847819"/>
            <a:ext cx="402338" cy="402338"/>
          </a:xfrm>
          <a:prstGeom prst="rect">
            <a:avLst/>
          </a:prstGeom>
        </p:spPr>
      </p:pic>
      <p:sp>
        <p:nvSpPr>
          <p:cNvPr id="101" name="Shape 20">
            <a:extLst>
              <a:ext uri="{FF2B5EF4-FFF2-40B4-BE49-F238E27FC236}">
                <a16:creationId xmlns:a16="http://schemas.microsoft.com/office/drawing/2014/main" id="{6CA95043-1E97-2B20-FBDE-2442E29DE824}"/>
              </a:ext>
            </a:extLst>
          </p:cNvPr>
          <p:cNvSpPr/>
          <p:nvPr/>
        </p:nvSpPr>
        <p:spPr>
          <a:xfrm>
            <a:off x="6990565" y="1829782"/>
            <a:ext cx="1410673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D7F25817-94E4-B28A-01EF-850B22E16A8B}"/>
              </a:ext>
            </a:extLst>
          </p:cNvPr>
          <p:cNvSpPr/>
          <p:nvPr/>
        </p:nvSpPr>
        <p:spPr>
          <a:xfrm>
            <a:off x="6990565" y="1825208"/>
            <a:ext cx="1411952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1CE23C72-7B0B-21F0-2884-2426C4A353BA}"/>
              </a:ext>
            </a:extLst>
          </p:cNvPr>
          <p:cNvSpPr/>
          <p:nvPr/>
        </p:nvSpPr>
        <p:spPr>
          <a:xfrm>
            <a:off x="7065207" y="182520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04" name="Text 23">
            <a:extLst>
              <a:ext uri="{FF2B5EF4-FFF2-40B4-BE49-F238E27FC236}">
                <a16:creationId xmlns:a16="http://schemas.microsoft.com/office/drawing/2014/main" id="{36230F75-784D-1EE1-B33B-EFECE1E93203}"/>
              </a:ext>
            </a:extLst>
          </p:cNvPr>
          <p:cNvSpPr/>
          <p:nvPr/>
        </p:nvSpPr>
        <p:spPr>
          <a:xfrm>
            <a:off x="7188468" y="235103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8EFE7FC3-A1AC-7CAA-7A10-4DC5F59880FF}"/>
              </a:ext>
            </a:extLst>
          </p:cNvPr>
          <p:cNvSpPr/>
          <p:nvPr/>
        </p:nvSpPr>
        <p:spPr>
          <a:xfrm>
            <a:off x="7190187" y="2813463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06" name="Graphic 105" descr="Database with solid fill">
            <a:extLst>
              <a:ext uri="{FF2B5EF4-FFF2-40B4-BE49-F238E27FC236}">
                <a16:creationId xmlns:a16="http://schemas.microsoft.com/office/drawing/2014/main" id="{E16CC43A-C6DE-96F1-1CD4-99334A8421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68790" y="1849528"/>
            <a:ext cx="390272" cy="390272"/>
          </a:xfrm>
          <a:prstGeom prst="rect">
            <a:avLst/>
          </a:prstGeom>
        </p:spPr>
      </p:pic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7D847E-EE57-4412-8966-5308B8731D35}"/>
              </a:ext>
            </a:extLst>
          </p:cNvPr>
          <p:cNvCxnSpPr>
            <a:stCxn id="51" idx="3"/>
            <a:endCxn id="72" idx="1"/>
          </p:cNvCxnSpPr>
          <p:nvPr/>
        </p:nvCxnSpPr>
        <p:spPr>
          <a:xfrm>
            <a:off x="5239771" y="281577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51E1A1E-CDDC-0294-5D79-EF76CA2C224B}"/>
              </a:ext>
            </a:extLst>
          </p:cNvPr>
          <p:cNvCxnSpPr>
            <a:cxnSpLocks/>
            <a:stCxn id="72" idx="3"/>
            <a:endCxn id="101" idx="1"/>
          </p:cNvCxnSpPr>
          <p:nvPr/>
        </p:nvCxnSpPr>
        <p:spPr>
          <a:xfrm flipV="1">
            <a:off x="6832046" y="2820353"/>
            <a:ext cx="158519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FD965102-CB09-368B-C720-FD7EACE0CA2B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401238" y="2820353"/>
            <a:ext cx="149743" cy="6007"/>
          </a:xfrm>
          <a:prstGeom prst="bentConnector3">
            <a:avLst>
              <a:gd name="adj1" fmla="val 50000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Image 1" descr="preencoded.png">
            <a:extLst>
              <a:ext uri="{FF2B5EF4-FFF2-40B4-BE49-F238E27FC236}">
                <a16:creationId xmlns:a16="http://schemas.microsoft.com/office/drawing/2014/main" id="{C551FE3D-CA0D-F605-668D-3D47725E3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0911" y="2882800"/>
            <a:ext cx="237744" cy="237744"/>
          </a:xfrm>
          <a:prstGeom prst="rect">
            <a:avLst/>
          </a:prstGeom>
        </p:spPr>
      </p:pic>
      <p:sp>
        <p:nvSpPr>
          <p:cNvPr id="113" name="Shape 10">
            <a:extLst>
              <a:ext uri="{FF2B5EF4-FFF2-40B4-BE49-F238E27FC236}">
                <a16:creationId xmlns:a16="http://schemas.microsoft.com/office/drawing/2014/main" id="{B6A7885A-E224-15B9-C99D-F92DAEB88F78}"/>
              </a:ext>
            </a:extLst>
          </p:cNvPr>
          <p:cNvSpPr/>
          <p:nvPr/>
        </p:nvSpPr>
        <p:spPr>
          <a:xfrm>
            <a:off x="2294428" y="182717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4" name="Shape 11">
            <a:extLst>
              <a:ext uri="{FF2B5EF4-FFF2-40B4-BE49-F238E27FC236}">
                <a16:creationId xmlns:a16="http://schemas.microsoft.com/office/drawing/2014/main" id="{7A60AE56-0F01-B466-3E5C-37316716CA5B}"/>
              </a:ext>
            </a:extLst>
          </p:cNvPr>
          <p:cNvSpPr/>
          <p:nvPr/>
        </p:nvSpPr>
        <p:spPr>
          <a:xfrm>
            <a:off x="2294428" y="1827176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5" name="Text 12">
            <a:extLst>
              <a:ext uri="{FF2B5EF4-FFF2-40B4-BE49-F238E27FC236}">
                <a16:creationId xmlns:a16="http://schemas.microsoft.com/office/drawing/2014/main" id="{3B1A67FA-71D9-740F-BAFF-F0DC4136B16E}"/>
              </a:ext>
            </a:extLst>
          </p:cNvPr>
          <p:cNvSpPr/>
          <p:nvPr/>
        </p:nvSpPr>
        <p:spPr>
          <a:xfrm>
            <a:off x="2294428" y="182717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16" name="Text 13">
            <a:extLst>
              <a:ext uri="{FF2B5EF4-FFF2-40B4-BE49-F238E27FC236}">
                <a16:creationId xmlns:a16="http://schemas.microsoft.com/office/drawing/2014/main" id="{81571D12-DE37-1C4E-60D9-1C148BB95BBD}"/>
              </a:ext>
            </a:extLst>
          </p:cNvPr>
          <p:cNvSpPr/>
          <p:nvPr/>
        </p:nvSpPr>
        <p:spPr>
          <a:xfrm>
            <a:off x="2500505" y="2309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17" name="Text 14">
            <a:extLst>
              <a:ext uri="{FF2B5EF4-FFF2-40B4-BE49-F238E27FC236}">
                <a16:creationId xmlns:a16="http://schemas.microsoft.com/office/drawing/2014/main" id="{489D95D6-D670-ACDE-AB33-A477AFF9EC59}"/>
              </a:ext>
            </a:extLst>
          </p:cNvPr>
          <p:cNvSpPr/>
          <p:nvPr/>
        </p:nvSpPr>
        <p:spPr>
          <a:xfrm>
            <a:off x="2459020" y="2688775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remove HTML,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Noisy text</a:t>
            </a:r>
            <a:endParaRPr lang="en-US" sz="1000" noProof="0" dirty="0"/>
          </a:p>
        </p:txBody>
      </p:sp>
      <p:pic>
        <p:nvPicPr>
          <p:cNvPr id="118" name="Graphic 117" descr="Eraser with solid fill">
            <a:extLst>
              <a:ext uri="{FF2B5EF4-FFF2-40B4-BE49-F238E27FC236}">
                <a16:creationId xmlns:a16="http://schemas.microsoft.com/office/drawing/2014/main" id="{3F320AC1-6EF0-759B-C962-52E10E4CE8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38562" y="1892836"/>
            <a:ext cx="329184" cy="329184"/>
          </a:xfrm>
          <a:prstGeom prst="rect">
            <a:avLst/>
          </a:prstGeom>
        </p:spPr>
      </p:pic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0E443017-877F-96BE-39C5-8F97A89CC158}"/>
              </a:ext>
            </a:extLst>
          </p:cNvPr>
          <p:cNvCxnSpPr>
            <a:stCxn id="3" idx="3"/>
            <a:endCxn id="113" idx="1"/>
          </p:cNvCxnSpPr>
          <p:nvPr/>
        </p:nvCxnSpPr>
        <p:spPr>
          <a:xfrm flipV="1">
            <a:off x="2158810" y="281424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4BA1EB2-B48A-2299-B0FB-EBD2A4875659}"/>
              </a:ext>
            </a:extLst>
          </p:cNvPr>
          <p:cNvCxnSpPr>
            <a:stCxn id="113" idx="3"/>
            <a:endCxn id="51" idx="1"/>
          </p:cNvCxnSpPr>
          <p:nvPr/>
        </p:nvCxnSpPr>
        <p:spPr>
          <a:xfrm>
            <a:off x="3707176" y="281424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E0D6E-79C9-FED4-AC2E-0F9187BE4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26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362A1-1F90-5563-D7CE-3A810FB96323}"/>
              </a:ext>
            </a:extLst>
          </p:cNvPr>
          <p:cNvSpPr txBox="1"/>
          <p:nvPr/>
        </p:nvSpPr>
        <p:spPr>
          <a:xfrm>
            <a:off x="2443385" y="4646368"/>
            <a:ext cx="3794760" cy="1679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i="0" noProof="0" dirty="0">
                <a:effectLst/>
              </a:rPr>
              <a:t>Data Generation </a:t>
            </a:r>
            <a:r>
              <a:rPr lang="en-US" sz="1000" b="0" i="0" noProof="0" dirty="0">
                <a:effectLst/>
              </a:rPr>
              <a:t>is the key step that turns processed data into useful knowledge, so the assistant can find the right answer.</a:t>
            </a:r>
          </a:p>
          <a:p>
            <a:endParaRPr lang="en-US" sz="1000" b="0" i="0" noProof="0" dirty="0">
              <a:effectLst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D9589"/>
                </a:solidFill>
                <a:effectLst/>
              </a:rPr>
              <a:t>Resolver Cases : </a:t>
            </a:r>
            <a:r>
              <a:rPr lang="en-US" sz="1000" b="0" i="0" noProof="0" dirty="0">
                <a:effectLst/>
              </a:rPr>
              <a:t>they connect issues to likely fixes (PRs/commits), so the assistant can suggest concrete solutions.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D9589"/>
                </a:solidFill>
                <a:effectLst/>
              </a:rPr>
              <a:t>Diagnostic Cards </a:t>
            </a:r>
            <a:r>
              <a:rPr lang="en-US" sz="1000" b="0" i="0" noProof="0" dirty="0">
                <a:effectLst/>
              </a:rPr>
              <a:t>:they provide clear checks and questions, so the assistant can guide troubleshooting quickly.</a:t>
            </a:r>
            <a:endParaRPr lang="en-US" sz="1000" noProof="0" dirty="0"/>
          </a:p>
        </p:txBody>
      </p:sp>
      <p:pic>
        <p:nvPicPr>
          <p:cNvPr id="5" name="Image 7" descr="preencoded.png">
            <a:extLst>
              <a:ext uri="{FF2B5EF4-FFF2-40B4-BE49-F238E27FC236}">
                <a16:creationId xmlns:a16="http://schemas.microsoft.com/office/drawing/2014/main" id="{B0D08E0E-CE98-14D3-A0D4-E3C9298E0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791" y="1948660"/>
            <a:ext cx="237744" cy="237744"/>
          </a:xfrm>
          <a:prstGeom prst="rect">
            <a:avLst/>
          </a:prstGeom>
        </p:spPr>
      </p:pic>
      <p:pic>
        <p:nvPicPr>
          <p:cNvPr id="7" name="Image 9" descr="preencoded.png">
            <a:extLst>
              <a:ext uri="{FF2B5EF4-FFF2-40B4-BE49-F238E27FC236}">
                <a16:creationId xmlns:a16="http://schemas.microsoft.com/office/drawing/2014/main" id="{1F2E6923-B48F-D7B8-168F-A22614446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6685" y="2833894"/>
            <a:ext cx="237744" cy="237744"/>
          </a:xfrm>
          <a:prstGeom prst="rect">
            <a:avLst/>
          </a:prstGeom>
        </p:spPr>
      </p:pic>
      <p:sp>
        <p:nvSpPr>
          <p:cNvPr id="8" name="Shape 30">
            <a:extLst>
              <a:ext uri="{FF2B5EF4-FFF2-40B4-BE49-F238E27FC236}">
                <a16:creationId xmlns:a16="http://schemas.microsoft.com/office/drawing/2014/main" id="{A480F852-0DC1-3089-20EF-19DE94A9A630}"/>
              </a:ext>
            </a:extLst>
          </p:cNvPr>
          <p:cNvSpPr/>
          <p:nvPr/>
        </p:nvSpPr>
        <p:spPr>
          <a:xfrm>
            <a:off x="9905094" y="1820177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Shape 31">
            <a:extLst>
              <a:ext uri="{FF2B5EF4-FFF2-40B4-BE49-F238E27FC236}">
                <a16:creationId xmlns:a16="http://schemas.microsoft.com/office/drawing/2014/main" id="{C732D915-C9B7-7F50-9931-0F0B436BF462}"/>
              </a:ext>
            </a:extLst>
          </p:cNvPr>
          <p:cNvSpPr/>
          <p:nvPr/>
        </p:nvSpPr>
        <p:spPr>
          <a:xfrm>
            <a:off x="9905094" y="1820178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32">
            <a:extLst>
              <a:ext uri="{FF2B5EF4-FFF2-40B4-BE49-F238E27FC236}">
                <a16:creationId xmlns:a16="http://schemas.microsoft.com/office/drawing/2014/main" id="{BD7660DA-4A52-521E-9308-72ACB87F2CEF}"/>
              </a:ext>
            </a:extLst>
          </p:cNvPr>
          <p:cNvSpPr/>
          <p:nvPr/>
        </p:nvSpPr>
        <p:spPr>
          <a:xfrm>
            <a:off x="9905094" y="182017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1" name="Image 10" descr="preencoded.png">
            <a:extLst>
              <a:ext uri="{FF2B5EF4-FFF2-40B4-BE49-F238E27FC236}">
                <a16:creationId xmlns:a16="http://schemas.microsoft.com/office/drawing/2014/main" id="{B422B270-B51B-9B14-4DC3-F71779C370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8252" y="1913165"/>
            <a:ext cx="263059" cy="263059"/>
          </a:xfrm>
          <a:prstGeom prst="rect">
            <a:avLst/>
          </a:prstGeom>
        </p:spPr>
      </p:pic>
      <p:sp>
        <p:nvSpPr>
          <p:cNvPr id="12" name="Text 33">
            <a:extLst>
              <a:ext uri="{FF2B5EF4-FFF2-40B4-BE49-F238E27FC236}">
                <a16:creationId xmlns:a16="http://schemas.microsoft.com/office/drawing/2014/main" id="{D2DAA6CC-2D9D-4DAA-1777-B66F2984C810}"/>
              </a:ext>
            </a:extLst>
          </p:cNvPr>
          <p:cNvSpPr/>
          <p:nvPr/>
        </p:nvSpPr>
        <p:spPr>
          <a:xfrm>
            <a:off x="10100893" y="23983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13" name="Text 34">
            <a:extLst>
              <a:ext uri="{FF2B5EF4-FFF2-40B4-BE49-F238E27FC236}">
                <a16:creationId xmlns:a16="http://schemas.microsoft.com/office/drawing/2014/main" id="{E119277C-3314-B888-A272-4E38D98D39EA}"/>
              </a:ext>
            </a:extLst>
          </p:cNvPr>
          <p:cNvSpPr/>
          <p:nvPr/>
        </p:nvSpPr>
        <p:spPr>
          <a:xfrm>
            <a:off x="10119896" y="291953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15" name="Image 11" descr="preencoded.png">
            <a:extLst>
              <a:ext uri="{FF2B5EF4-FFF2-40B4-BE49-F238E27FC236}">
                <a16:creationId xmlns:a16="http://schemas.microsoft.com/office/drawing/2014/main" id="{C33EDFA9-2ED2-8CF3-C16F-24E32C94A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094" y="2853450"/>
            <a:ext cx="237744" cy="237744"/>
          </a:xfrm>
          <a:prstGeom prst="rect">
            <a:avLst/>
          </a:prstGeom>
        </p:spPr>
      </p:pic>
      <p:cxnSp>
        <p:nvCxnSpPr>
          <p:cNvPr id="16" name="Straight Arrow Connector 110">
            <a:extLst>
              <a:ext uri="{FF2B5EF4-FFF2-40B4-BE49-F238E27FC236}">
                <a16:creationId xmlns:a16="http://schemas.microsoft.com/office/drawing/2014/main" id="{5095D242-3A84-C3BF-326B-46B9EA751134}"/>
              </a:ext>
            </a:extLst>
          </p:cNvPr>
          <p:cNvCxnSpPr>
            <a:cxnSpLocks/>
          </p:cNvCxnSpPr>
          <p:nvPr/>
        </p:nvCxnSpPr>
        <p:spPr>
          <a:xfrm>
            <a:off x="9765322" y="2817299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782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686CA-7F64-DBC0-4A76-4FB4DB948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F9817C7-D47B-09E2-931C-6CF39BB3B516}"/>
              </a:ext>
            </a:extLst>
          </p:cNvPr>
          <p:cNvSpPr/>
          <p:nvPr/>
        </p:nvSpPr>
        <p:spPr>
          <a:xfrm>
            <a:off x="3342555" y="3341522"/>
            <a:ext cx="2795944" cy="756937"/>
          </a:xfrm>
          <a:prstGeom prst="roundRect">
            <a:avLst/>
          </a:prstGeom>
          <a:solidFill>
            <a:srgbClr val="BAE6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732B6-40CF-1084-AABC-9DDA3C0BC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20" y="-186378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Pipeline: Data Generation</a:t>
            </a:r>
            <a:endParaRPr lang="en-US" sz="1800" noProof="0" dirty="0">
              <a:latin typeface="+mn-lt"/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3847B43-1423-C959-9A9B-3C9D27C79145}"/>
              </a:ext>
            </a:extLst>
          </p:cNvPr>
          <p:cNvSpPr/>
          <p:nvPr/>
        </p:nvSpPr>
        <p:spPr>
          <a:xfrm>
            <a:off x="507888" y="87003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72DB9-C1C5-6596-E246-E5C5C37830F2}"/>
              </a:ext>
            </a:extLst>
          </p:cNvPr>
          <p:cNvSpPr txBox="1"/>
          <p:nvPr/>
        </p:nvSpPr>
        <p:spPr>
          <a:xfrm>
            <a:off x="4724143" y="1809413"/>
            <a:ext cx="2828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0D9589"/>
                </a:solidFill>
              </a:rPr>
              <a:t>Data Generation</a:t>
            </a:r>
            <a:endParaRPr lang="en-US" noProof="0" dirty="0">
              <a:solidFill>
                <a:srgbClr val="0D9589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97F4583-60A6-27BC-8AAF-44ED6DC7ECCC}"/>
              </a:ext>
            </a:extLst>
          </p:cNvPr>
          <p:cNvSpPr txBox="1"/>
          <p:nvPr/>
        </p:nvSpPr>
        <p:spPr>
          <a:xfrm>
            <a:off x="507888" y="1160983"/>
            <a:ext cx="8484780" cy="27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noProof="0" dirty="0">
                <a:solidFill>
                  <a:schemeClr val="accent1"/>
                </a:solidFill>
                <a:effectLst/>
              </a:rPr>
              <a:t> </a:t>
            </a:r>
            <a:r>
              <a:rPr lang="en-US" sz="1600" b="1" noProof="0" dirty="0">
                <a:solidFill>
                  <a:srgbClr val="0D9589"/>
                </a:solidFill>
                <a:effectLst/>
              </a:rPr>
              <a:t>Goal: </a:t>
            </a:r>
            <a:r>
              <a:rPr lang="en-US" sz="1600" b="0" noProof="0" dirty="0">
                <a:solidFill>
                  <a:schemeClr val="accent1"/>
                </a:solidFill>
                <a:effectLst/>
              </a:rPr>
              <a:t>generate support reasoning content from prepared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E453C-D67F-50B4-7169-5B44ACD8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27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349D1D-E36C-4007-CC0D-92AE8D1C2CD4}"/>
              </a:ext>
            </a:extLst>
          </p:cNvPr>
          <p:cNvSpPr/>
          <p:nvPr/>
        </p:nvSpPr>
        <p:spPr>
          <a:xfrm>
            <a:off x="3112675" y="1793381"/>
            <a:ext cx="6041959" cy="257476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5B4782-59D6-3236-A586-3F25FD00E498}"/>
              </a:ext>
            </a:extLst>
          </p:cNvPr>
          <p:cNvSpPr txBox="1"/>
          <p:nvPr/>
        </p:nvSpPr>
        <p:spPr>
          <a:xfrm>
            <a:off x="4016632" y="3442694"/>
            <a:ext cx="15690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0" dirty="0"/>
              <a:t>Build Resolver Cases</a:t>
            </a:r>
            <a:br>
              <a:rPr lang="en-US" sz="1100" noProof="0" dirty="0"/>
            </a:br>
            <a:endParaRPr lang="en-US" sz="1100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BFEDE9-6A7B-6670-6A3A-D45D7F59C6AA}"/>
              </a:ext>
            </a:extLst>
          </p:cNvPr>
          <p:cNvSpPr txBox="1"/>
          <p:nvPr/>
        </p:nvSpPr>
        <p:spPr>
          <a:xfrm>
            <a:off x="4071124" y="3687572"/>
            <a:ext cx="82614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Link issues to fix evidence</a:t>
            </a:r>
            <a:endParaRPr lang="en-US" sz="1200" noProof="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BC43A7F-4828-5982-99AC-CF12B4643539}"/>
              </a:ext>
            </a:extLst>
          </p:cNvPr>
          <p:cNvSpPr/>
          <p:nvPr/>
        </p:nvSpPr>
        <p:spPr>
          <a:xfrm>
            <a:off x="6138500" y="2490626"/>
            <a:ext cx="2795944" cy="756937"/>
          </a:xfrm>
          <a:prstGeom prst="roundRect">
            <a:avLst/>
          </a:prstGeom>
          <a:solidFill>
            <a:srgbClr val="BAE6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F3FA80-B3C4-7BFD-30BB-4AD8613F7BAB}"/>
              </a:ext>
            </a:extLst>
          </p:cNvPr>
          <p:cNvSpPr txBox="1"/>
          <p:nvPr/>
        </p:nvSpPr>
        <p:spPr>
          <a:xfrm>
            <a:off x="6742140" y="2569798"/>
            <a:ext cx="18358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0" dirty="0"/>
              <a:t>Build Diagnostic Cards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E6F674-F621-6560-0F12-57930E68C03E}"/>
              </a:ext>
            </a:extLst>
          </p:cNvPr>
          <p:cNvSpPr txBox="1"/>
          <p:nvPr/>
        </p:nvSpPr>
        <p:spPr>
          <a:xfrm>
            <a:off x="6138499" y="2818230"/>
            <a:ext cx="30416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Turn issue context and resolver knowledge into guidance</a:t>
            </a:r>
            <a:endParaRPr lang="en-US" sz="1200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BD575B-D0BB-016B-3D2C-EDE49C65137A}"/>
              </a:ext>
            </a:extLst>
          </p:cNvPr>
          <p:cNvSpPr/>
          <p:nvPr/>
        </p:nvSpPr>
        <p:spPr>
          <a:xfrm>
            <a:off x="507888" y="2884168"/>
            <a:ext cx="1556574" cy="632328"/>
          </a:xfrm>
          <a:prstGeom prst="rect">
            <a:avLst/>
          </a:prstGeom>
          <a:solidFill>
            <a:srgbClr val="F4FE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015D9655-2132-8AD3-BE30-B868EF9C81C1}"/>
              </a:ext>
            </a:extLst>
          </p:cNvPr>
          <p:cNvSpPr/>
          <p:nvPr/>
        </p:nvSpPr>
        <p:spPr>
          <a:xfrm>
            <a:off x="688593" y="295421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Technical Files</a:t>
            </a:r>
            <a:endParaRPr lang="en-US" sz="1200" noProof="0" dirty="0">
              <a:solidFill>
                <a:srgbClr val="0D9488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58ED68-1046-B85C-C59A-810CE1FBCA80}"/>
              </a:ext>
            </a:extLst>
          </p:cNvPr>
          <p:cNvSpPr/>
          <p:nvPr/>
        </p:nvSpPr>
        <p:spPr>
          <a:xfrm>
            <a:off x="507888" y="3822524"/>
            <a:ext cx="1556574" cy="632328"/>
          </a:xfrm>
          <a:prstGeom prst="rect">
            <a:avLst/>
          </a:prstGeom>
          <a:solidFill>
            <a:srgbClr val="F4FE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268E7E-EA2B-B7F8-0238-01E6A64E18DB}"/>
              </a:ext>
            </a:extLst>
          </p:cNvPr>
          <p:cNvSpPr txBox="1"/>
          <p:nvPr/>
        </p:nvSpPr>
        <p:spPr>
          <a:xfrm>
            <a:off x="517986" y="3936652"/>
            <a:ext cx="23032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PRs &amp; Commit Links</a:t>
            </a:r>
            <a:endParaRPr lang="en-US" sz="1100" noProof="0" dirty="0">
              <a:solidFill>
                <a:srgbClr val="0D9488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0037BC-3795-F0DC-B9B4-52596500C700}"/>
              </a:ext>
            </a:extLst>
          </p:cNvPr>
          <p:cNvSpPr/>
          <p:nvPr/>
        </p:nvSpPr>
        <p:spPr>
          <a:xfrm>
            <a:off x="4106107" y="4697207"/>
            <a:ext cx="1556574" cy="632328"/>
          </a:xfrm>
          <a:prstGeom prst="rect">
            <a:avLst/>
          </a:prstGeom>
          <a:solidFill>
            <a:srgbClr val="F4FE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72B0806-7A3F-0D61-6115-DCC62DD8891B}"/>
              </a:ext>
            </a:extLst>
          </p:cNvPr>
          <p:cNvSpPr/>
          <p:nvPr/>
        </p:nvSpPr>
        <p:spPr>
          <a:xfrm>
            <a:off x="4638922" y="4770888"/>
            <a:ext cx="49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Issues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8072A5-1467-411A-5F74-DA763AA4B6F2}"/>
              </a:ext>
            </a:extLst>
          </p:cNvPr>
          <p:cNvSpPr txBox="1"/>
          <p:nvPr/>
        </p:nvSpPr>
        <p:spPr>
          <a:xfrm>
            <a:off x="715089" y="3123504"/>
            <a:ext cx="63414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Technical reference</a:t>
            </a:r>
            <a:endParaRPr lang="en-US" sz="1200" noProof="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5A0792-4809-0B39-5F15-8783257D62DA}"/>
              </a:ext>
            </a:extLst>
          </p:cNvPr>
          <p:cNvSpPr txBox="1"/>
          <p:nvPr/>
        </p:nvSpPr>
        <p:spPr>
          <a:xfrm>
            <a:off x="888633" y="4138721"/>
            <a:ext cx="8152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Fix evidence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6B8555-0ACA-F35E-931D-E8D6FBA68C67}"/>
              </a:ext>
            </a:extLst>
          </p:cNvPr>
          <p:cNvSpPr txBox="1"/>
          <p:nvPr/>
        </p:nvSpPr>
        <p:spPr>
          <a:xfrm>
            <a:off x="4444681" y="4944092"/>
            <a:ext cx="10927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i="0" baseline="-25000" noProof="0" dirty="0">
                <a:solidFill>
                  <a:srgbClr val="1A365D"/>
                </a:solidFill>
                <a:effectLst/>
              </a:rPr>
              <a:t>Problem context</a:t>
            </a:r>
            <a:endParaRPr lang="en-US" sz="1200" b="0" i="0" noProof="0" dirty="0">
              <a:solidFill>
                <a:srgbClr val="000000"/>
              </a:solidFill>
              <a:effectLst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6751807-32C6-68A0-5E80-DE07A19CF3C2}"/>
              </a:ext>
            </a:extLst>
          </p:cNvPr>
          <p:cNvCxnSpPr>
            <a:cxnSpLocks/>
          </p:cNvCxnSpPr>
          <p:nvPr/>
        </p:nvCxnSpPr>
        <p:spPr>
          <a:xfrm>
            <a:off x="2064462" y="3134573"/>
            <a:ext cx="1273456" cy="426163"/>
          </a:xfrm>
          <a:prstGeom prst="straightConnector1">
            <a:avLst/>
          </a:prstGeom>
          <a:ln w="22225">
            <a:solidFill>
              <a:srgbClr val="0D9589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22FAFFB-C19D-A926-935C-487591725DF0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2064462" y="3719991"/>
            <a:ext cx="1278093" cy="390426"/>
          </a:xfrm>
          <a:prstGeom prst="straightConnector1">
            <a:avLst/>
          </a:prstGeom>
          <a:ln w="22225">
            <a:solidFill>
              <a:srgbClr val="0D9589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878B671-5033-840A-AF4E-B47221373E72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4884394" y="4113709"/>
            <a:ext cx="0" cy="583498"/>
          </a:xfrm>
          <a:prstGeom prst="straightConnector1">
            <a:avLst/>
          </a:prstGeom>
          <a:ln w="22225">
            <a:solidFill>
              <a:srgbClr val="0D9589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46AC8BA2-3FAC-6265-7AE1-18F21D055BC1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5662681" y="3247563"/>
            <a:ext cx="1221355" cy="1765808"/>
          </a:xfrm>
          <a:prstGeom prst="bentConnector2">
            <a:avLst/>
          </a:prstGeom>
          <a:ln w="22225">
            <a:solidFill>
              <a:srgbClr val="0D9589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D74C3D7-E9E8-E8A7-C7D9-00457FA6AE53}"/>
              </a:ext>
            </a:extLst>
          </p:cNvPr>
          <p:cNvCxnSpPr>
            <a:cxnSpLocks/>
          </p:cNvCxnSpPr>
          <p:nvPr/>
        </p:nvCxnSpPr>
        <p:spPr>
          <a:xfrm>
            <a:off x="6138499" y="3903169"/>
            <a:ext cx="3729755" cy="8750"/>
          </a:xfrm>
          <a:prstGeom prst="straightConnector1">
            <a:avLst/>
          </a:prstGeom>
          <a:ln w="22225">
            <a:solidFill>
              <a:srgbClr val="0070C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72991871-78C3-D084-4A9B-539F035C632E}"/>
              </a:ext>
            </a:extLst>
          </p:cNvPr>
          <p:cNvSpPr/>
          <p:nvPr/>
        </p:nvSpPr>
        <p:spPr>
          <a:xfrm>
            <a:off x="9867116" y="3587005"/>
            <a:ext cx="1556574" cy="632328"/>
          </a:xfrm>
          <a:prstGeom prst="rect">
            <a:avLst/>
          </a:prstGeom>
          <a:solidFill>
            <a:srgbClr val="E8F7F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A08DC6C-0DB8-0721-ABDE-55BCB439503E}"/>
              </a:ext>
            </a:extLst>
          </p:cNvPr>
          <p:cNvSpPr/>
          <p:nvPr/>
        </p:nvSpPr>
        <p:spPr>
          <a:xfrm>
            <a:off x="10524341" y="2542696"/>
            <a:ext cx="1556574" cy="632328"/>
          </a:xfrm>
          <a:prstGeom prst="rect">
            <a:avLst/>
          </a:prstGeom>
          <a:solidFill>
            <a:srgbClr val="E8F7F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451E140-3B67-61AC-1507-F6E35F31D934}"/>
              </a:ext>
            </a:extLst>
          </p:cNvPr>
          <p:cNvCxnSpPr>
            <a:cxnSpLocks/>
            <a:stCxn id="27" idx="3"/>
            <a:endCxn id="72" idx="1"/>
          </p:cNvCxnSpPr>
          <p:nvPr/>
        </p:nvCxnSpPr>
        <p:spPr>
          <a:xfrm flipV="1">
            <a:off x="8934444" y="2858860"/>
            <a:ext cx="1589897" cy="10235"/>
          </a:xfrm>
          <a:prstGeom prst="straightConnector1">
            <a:avLst/>
          </a:prstGeom>
          <a:ln w="22225">
            <a:solidFill>
              <a:srgbClr val="0070C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469108B-A176-348D-2E1A-76670F594562}"/>
              </a:ext>
            </a:extLst>
          </p:cNvPr>
          <p:cNvSpPr txBox="1"/>
          <p:nvPr/>
        </p:nvSpPr>
        <p:spPr>
          <a:xfrm>
            <a:off x="10605726" y="2594511"/>
            <a:ext cx="63414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070C0"/>
                </a:solidFill>
              </a:rPr>
              <a:t>Diagnostic Cards</a:t>
            </a:r>
            <a:endParaRPr lang="en-US" sz="1200" noProof="0" dirty="0">
              <a:solidFill>
                <a:srgbClr val="0070C0"/>
              </a:solidFill>
            </a:endParaRP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E1B4BB72-FDAB-696F-25ED-B4A235C55656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5273749" y="2869095"/>
            <a:ext cx="864751" cy="460469"/>
          </a:xfrm>
          <a:prstGeom prst="bentConnector3">
            <a:avLst>
              <a:gd name="adj1" fmla="val 1638"/>
            </a:avLst>
          </a:prstGeom>
          <a:ln w="22225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70D2660-13E9-D06E-5F98-7ECEC4FE4B15}"/>
              </a:ext>
            </a:extLst>
          </p:cNvPr>
          <p:cNvSpPr txBox="1"/>
          <p:nvPr/>
        </p:nvSpPr>
        <p:spPr>
          <a:xfrm>
            <a:off x="9948501" y="3661586"/>
            <a:ext cx="83182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070C0"/>
                </a:solidFill>
              </a:rPr>
              <a:t>Resolver Cases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435924C-4CCE-225F-5B16-8F3975410136}"/>
              </a:ext>
            </a:extLst>
          </p:cNvPr>
          <p:cNvSpPr txBox="1"/>
          <p:nvPr/>
        </p:nvSpPr>
        <p:spPr>
          <a:xfrm>
            <a:off x="10501827" y="2807310"/>
            <a:ext cx="23473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Problem → checks → guidance</a:t>
            </a:r>
            <a:endParaRPr lang="en-US" sz="1200" noProof="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4E8F0A6-642B-E722-4B27-FA9675E982A9}"/>
              </a:ext>
            </a:extLst>
          </p:cNvPr>
          <p:cNvSpPr txBox="1"/>
          <p:nvPr/>
        </p:nvSpPr>
        <p:spPr>
          <a:xfrm>
            <a:off x="9948501" y="3911190"/>
            <a:ext cx="3617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0" noProof="0" dirty="0">
                <a:effectLst/>
              </a:rPr>
              <a:t>Problem → fix evidence</a:t>
            </a:r>
            <a:endParaRPr lang="en-US" sz="900" noProof="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400B7AC-D64D-9036-7E47-97AFE7F76688}"/>
              </a:ext>
            </a:extLst>
          </p:cNvPr>
          <p:cNvSpPr txBox="1"/>
          <p:nvPr/>
        </p:nvSpPr>
        <p:spPr>
          <a:xfrm>
            <a:off x="7328130" y="3759769"/>
            <a:ext cx="1144865" cy="246221"/>
          </a:xfrm>
          <a:prstGeom prst="rect">
            <a:avLst/>
          </a:prstGeom>
          <a:solidFill>
            <a:srgbClr val="E8F7FE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000" noProof="0" dirty="0"/>
              <a:t>generated output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6C0DE76-F784-05AB-352C-E8D9AF8D842D}"/>
              </a:ext>
            </a:extLst>
          </p:cNvPr>
          <p:cNvSpPr txBox="1"/>
          <p:nvPr/>
        </p:nvSpPr>
        <p:spPr>
          <a:xfrm>
            <a:off x="9133761" y="2723653"/>
            <a:ext cx="1144865" cy="246221"/>
          </a:xfrm>
          <a:prstGeom prst="rect">
            <a:avLst/>
          </a:prstGeom>
          <a:solidFill>
            <a:srgbClr val="E8F7FE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000" noProof="0" dirty="0"/>
              <a:t>generated output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A98060C-3786-739D-4B92-29C794AC2CC6}"/>
              </a:ext>
            </a:extLst>
          </p:cNvPr>
          <p:cNvSpPr txBox="1"/>
          <p:nvPr/>
        </p:nvSpPr>
        <p:spPr>
          <a:xfrm>
            <a:off x="4510238" y="2939312"/>
            <a:ext cx="1334020" cy="246221"/>
          </a:xfrm>
          <a:prstGeom prst="rect">
            <a:avLst/>
          </a:prstGeom>
          <a:solidFill>
            <a:srgbClr val="E8F7FE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000" noProof="0" dirty="0"/>
              <a:t>Resolver knowledge</a:t>
            </a:r>
          </a:p>
        </p:txBody>
      </p:sp>
      <p:sp>
        <p:nvSpPr>
          <p:cNvPr id="6" name="Shape 38">
            <a:extLst>
              <a:ext uri="{FF2B5EF4-FFF2-40B4-BE49-F238E27FC236}">
                <a16:creationId xmlns:a16="http://schemas.microsoft.com/office/drawing/2014/main" id="{D8C2F50A-32FC-8922-A4EF-4CD2C9E2761F}"/>
              </a:ext>
            </a:extLst>
          </p:cNvPr>
          <p:cNvSpPr/>
          <p:nvPr/>
        </p:nvSpPr>
        <p:spPr>
          <a:xfrm>
            <a:off x="1703913" y="5813448"/>
            <a:ext cx="9323478" cy="640080"/>
          </a:xfrm>
          <a:prstGeom prst="roundRect">
            <a:avLst>
              <a:gd name="adj" fmla="val 11429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39">
            <a:extLst>
              <a:ext uri="{FF2B5EF4-FFF2-40B4-BE49-F238E27FC236}">
                <a16:creationId xmlns:a16="http://schemas.microsoft.com/office/drawing/2014/main" id="{5118F24F-3443-35C9-6282-A43420AE421B}"/>
              </a:ext>
            </a:extLst>
          </p:cNvPr>
          <p:cNvSpPr/>
          <p:nvPr/>
        </p:nvSpPr>
        <p:spPr>
          <a:xfrm>
            <a:off x="715089" y="5787804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two artifact types are the single biggest source of Quality Index gain in the entire project.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51473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C3002-B399-9E10-ED48-CD5D330D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FB56-30FC-8F15-8AD6-940E7C27B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Data Generation</a:t>
            </a:r>
            <a:r>
              <a:rPr lang="en-US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en-US" sz="1800" b="1" noProof="0" dirty="0">
                <a:solidFill>
                  <a:srgbClr val="0D9488"/>
                </a:solidFill>
                <a:latin typeface="+mn-lt"/>
              </a:rPr>
              <a:t>Resolver cases</a:t>
            </a:r>
            <a:r>
              <a:rPr lang="en-US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ECEE609-1BC8-9D3B-7C00-4D0051E9A859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B844D2B-1C48-11B5-505E-498E4FCC4E99}"/>
              </a:ext>
            </a:extLst>
          </p:cNvPr>
          <p:cNvSpPr/>
          <p:nvPr/>
        </p:nvSpPr>
        <p:spPr>
          <a:xfrm>
            <a:off x="900325" y="956031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7F4990AE-E457-B1D2-C3CB-E2C14D213C85}"/>
              </a:ext>
            </a:extLst>
          </p:cNvPr>
          <p:cNvSpPr/>
          <p:nvPr/>
        </p:nvSpPr>
        <p:spPr>
          <a:xfrm>
            <a:off x="1752600" y="1861340"/>
            <a:ext cx="8686800" cy="124705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82684DD-E71E-24A5-EF7B-7B4896385E96}"/>
              </a:ext>
            </a:extLst>
          </p:cNvPr>
          <p:cNvSpPr/>
          <p:nvPr/>
        </p:nvSpPr>
        <p:spPr>
          <a:xfrm>
            <a:off x="1846892" y="196564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noProof="0" dirty="0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need: 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engineers receive technical questions about STM32 bugs. To answer them, they need to know whether a GitHub bug has already been resolved: </a:t>
            </a: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 PR merged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fix commit exist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there a credible and verifiable path to a correction for this bug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cards are injected into the ST Knowledge Base (KB) so the RAG engine can cite fixes during a query.</a:t>
            </a:r>
            <a:endParaRPr lang="en-US" sz="1050" noProof="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A39685B7-3897-C6D0-81BD-5984893C6C9C}"/>
              </a:ext>
            </a:extLst>
          </p:cNvPr>
          <p:cNvSpPr/>
          <p:nvPr/>
        </p:nvSpPr>
        <p:spPr>
          <a:xfrm>
            <a:off x="3032760" y="3320634"/>
            <a:ext cx="2834640" cy="158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629511D7-12C4-1BA8-8662-FF51C34DE966}"/>
              </a:ext>
            </a:extLst>
          </p:cNvPr>
          <p:cNvSpPr/>
          <p:nvPr/>
        </p:nvSpPr>
        <p:spPr>
          <a:xfrm>
            <a:off x="3032760" y="3320635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FA88D70-E772-B20B-0A8F-524EB0B0E3F3}"/>
              </a:ext>
            </a:extLst>
          </p:cNvPr>
          <p:cNvSpPr/>
          <p:nvPr/>
        </p:nvSpPr>
        <p:spPr>
          <a:xfrm>
            <a:off x="3124200" y="3357211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 (problem)</a:t>
            </a:r>
            <a:endParaRPr lang="en-US" sz="1300" noProof="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B179619F-6052-0E04-5CD4-165A2D84A31E}"/>
              </a:ext>
            </a:extLst>
          </p:cNvPr>
          <p:cNvSpPr/>
          <p:nvPr/>
        </p:nvSpPr>
        <p:spPr>
          <a:xfrm>
            <a:off x="3124200" y="3853222"/>
            <a:ext cx="2651760" cy="862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describing a bug or abnormal behavior in STM32Cube (ST GitHub repo).</a:t>
            </a:r>
          </a:p>
          <a:p>
            <a:pPr marL="0" indent="0">
              <a:buNone/>
            </a:pPr>
            <a:endParaRPr lang="en-US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technical description, labels, status (open/closed).</a:t>
            </a:r>
            <a:endParaRPr lang="en-US" sz="1050" noProof="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AB7E0DA6-0F84-BB3B-4126-DC69FE366351}"/>
              </a:ext>
            </a:extLst>
          </p:cNvPr>
          <p:cNvSpPr/>
          <p:nvPr/>
        </p:nvSpPr>
        <p:spPr>
          <a:xfrm>
            <a:off x="6004560" y="3320635"/>
            <a:ext cx="2834640" cy="1584401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21697E60-2D1B-74A3-DEF5-54C6D0207FD2}"/>
              </a:ext>
            </a:extLst>
          </p:cNvPr>
          <p:cNvSpPr/>
          <p:nvPr/>
        </p:nvSpPr>
        <p:spPr>
          <a:xfrm>
            <a:off x="6004560" y="3320635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46FB7672-F81B-224E-DA02-3520E4AACE57}"/>
              </a:ext>
            </a:extLst>
          </p:cNvPr>
          <p:cNvSpPr/>
          <p:nvPr/>
        </p:nvSpPr>
        <p:spPr>
          <a:xfrm>
            <a:off x="6096000" y="3357211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 (proposition of correction)</a:t>
            </a:r>
            <a:endParaRPr lang="en-US" sz="1300" noProof="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1A0706A5-C54E-AC35-3091-471FFD1805A6}"/>
              </a:ext>
            </a:extLst>
          </p:cNvPr>
          <p:cNvSpPr/>
          <p:nvPr/>
        </p:nvSpPr>
        <p:spPr>
          <a:xfrm>
            <a:off x="6096000" y="3853222"/>
            <a:ext cx="2651760" cy="1126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change proposal submitted on GitHub. If it is merged, it becomes an official fix.</a:t>
            </a:r>
          </a:p>
          <a:p>
            <a:pPr marL="0" indent="0">
              <a:buNone/>
            </a:pPr>
            <a:endParaRPr lang="en-US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title, changed files, associated </a:t>
            </a:r>
            <a:r>
              <a:rPr lang="en-US" sz="10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(technical evidence of the change)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noProof="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7BBB5622-4666-89AE-1B84-EC0D7079E7F3}"/>
              </a:ext>
            </a:extLst>
          </p:cNvPr>
          <p:cNvSpPr/>
          <p:nvPr/>
        </p:nvSpPr>
        <p:spPr>
          <a:xfrm>
            <a:off x="4632960" y="5035284"/>
            <a:ext cx="2834640" cy="153518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03136A8F-DA66-501E-2070-5498829CEC84}"/>
              </a:ext>
            </a:extLst>
          </p:cNvPr>
          <p:cNvSpPr/>
          <p:nvPr/>
        </p:nvSpPr>
        <p:spPr>
          <a:xfrm>
            <a:off x="4632960" y="5035285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BD7F7EDA-7403-A123-F2AA-8BE0CE8F055C}"/>
              </a:ext>
            </a:extLst>
          </p:cNvPr>
          <p:cNvSpPr/>
          <p:nvPr/>
        </p:nvSpPr>
        <p:spPr>
          <a:xfrm>
            <a:off x="4724400" y="5071861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Resolver Case</a:t>
            </a:r>
            <a:endParaRPr lang="en-US" sz="1300" noProof="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E866F4B2-1C98-66DE-E0AB-8888AB3276E7}"/>
              </a:ext>
            </a:extLst>
          </p:cNvPr>
          <p:cNvSpPr/>
          <p:nvPr/>
        </p:nvSpPr>
        <p:spPr>
          <a:xfrm>
            <a:off x="4724400" y="5509767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ST-ready sheet linking an issue to its fix PRs/commits.</a:t>
            </a:r>
          </a:p>
          <a:p>
            <a:pPr marL="0" indent="0">
              <a:buNone/>
            </a:pPr>
            <a:endParaRPr lang="en-US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resolution status, confidence level, impacted files, text ready for the knowledge base.</a:t>
            </a:r>
            <a:endParaRPr lang="en-US" sz="1050" noProof="0" dirty="0"/>
          </a:p>
        </p:txBody>
      </p:sp>
      <p:pic>
        <p:nvPicPr>
          <p:cNvPr id="35" name="Graphic 34" descr="Back outline">
            <a:extLst>
              <a:ext uri="{FF2B5EF4-FFF2-40B4-BE49-F238E27FC236}">
                <a16:creationId xmlns:a16="http://schemas.microsoft.com/office/drawing/2014/main" id="{A4A35463-D13E-CB42-4E42-F369B9943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974399" flipH="1" flipV="1">
            <a:off x="7894477" y="5208210"/>
            <a:ext cx="1000399" cy="1000399"/>
          </a:xfrm>
          <a:prstGeom prst="rect">
            <a:avLst/>
          </a:prstGeom>
        </p:spPr>
      </p:pic>
      <p:pic>
        <p:nvPicPr>
          <p:cNvPr id="36" name="Graphic 35" descr="Back outline">
            <a:extLst>
              <a:ext uri="{FF2B5EF4-FFF2-40B4-BE49-F238E27FC236}">
                <a16:creationId xmlns:a16="http://schemas.microsoft.com/office/drawing/2014/main" id="{935E2A12-374E-CF62-7CC9-73816FC3A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5601" flipV="1">
            <a:off x="3068524" y="5162330"/>
            <a:ext cx="1000399" cy="100039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2FED638-CCAB-01FD-C114-52E9093BE7B7}"/>
              </a:ext>
            </a:extLst>
          </p:cNvPr>
          <p:cNvSpPr txBox="1"/>
          <p:nvPr/>
        </p:nvSpPr>
        <p:spPr>
          <a:xfrm>
            <a:off x="242558" y="1177877"/>
            <a:ext cx="6271666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noProof="0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Resolver Cases: what we built and how  </a:t>
            </a:r>
            <a:endParaRPr lang="en-US" sz="1400" noProof="0" dirty="0">
              <a:solidFill>
                <a:srgbClr val="3CB4E6"/>
              </a:solidFill>
            </a:endParaRPr>
          </a:p>
        </p:txBody>
      </p:sp>
      <p:sp>
        <p:nvSpPr>
          <p:cNvPr id="39" name="Shape 45">
            <a:extLst>
              <a:ext uri="{FF2B5EF4-FFF2-40B4-BE49-F238E27FC236}">
                <a16:creationId xmlns:a16="http://schemas.microsoft.com/office/drawing/2014/main" id="{07013E7E-BC63-0D47-9241-E036D4D7480C}"/>
              </a:ext>
            </a:extLst>
          </p:cNvPr>
          <p:cNvSpPr/>
          <p:nvPr/>
        </p:nvSpPr>
        <p:spPr>
          <a:xfrm>
            <a:off x="1746826" y="1861340"/>
            <a:ext cx="45719" cy="1247050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035D76-5D77-9771-AE63-EF590A86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4749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Resolver Cases : Why they matter</a:t>
            </a:r>
          </a:p>
        </p:txBody>
      </p:sp>
      <p:sp>
        <p:nvSpPr>
          <p:cNvPr id="3" name="Sub"/>
          <p:cNvSpPr/>
          <p:nvPr/>
        </p:nvSpPr>
        <p:spPr>
          <a:xfrm>
            <a:off x="250000" y="670000"/>
            <a:ext cx="11609159" cy="34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i="1" noProof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BeforeH"/>
          <p:cNvSpPr/>
          <p:nvPr/>
        </p:nvSpPr>
        <p:spPr>
          <a:xfrm>
            <a:off x="461789" y="1733443"/>
            <a:ext cx="5400000" cy="444853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  <p:txBody>
          <a:bodyPr wrap="square" lIns="152400" tIns="45720" rIns="15240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Before resolver cases — persona says:</a:t>
            </a:r>
          </a:p>
        </p:txBody>
      </p:sp>
      <p:sp>
        <p:nvSpPr>
          <p:cNvPr id="11" name="BeforeB"/>
          <p:cNvSpPr/>
          <p:nvPr/>
        </p:nvSpPr>
        <p:spPr>
          <a:xfrm>
            <a:off x="461789" y="2228296"/>
            <a:ext cx="5400000" cy="103095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lIns="182880" tIns="91440" rIns="182880" bIns="91440" anchor="ctr"/>
          <a:lstStyle/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"There is a known DMA issue on STM32H7."</a:t>
            </a:r>
          </a:p>
          <a:p>
            <a:pPr algn="l">
              <a:buNone/>
            </a:pPr>
            <a:r>
              <a:rPr lang="en-US" sz="1200" b="0" noProof="0" dirty="0">
                <a:solidFill>
                  <a:schemeClr val="bg2">
                    <a:lumMod val="25000"/>
                  </a:schemeClr>
                </a:solidFill>
              </a:rPr>
              <a:t>No fix status. No PR link. No changed files. No confidence.</a:t>
            </a:r>
          </a:p>
          <a:p>
            <a:pPr algn="l">
              <a:buNone/>
            </a:pPr>
            <a:endParaRPr lang="en-US" sz="950" b="0" noProof="0" dirty="0">
              <a:solidFill>
                <a:srgbClr val="791F1F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DC2626"/>
                </a:solidFill>
              </a:rPr>
              <a:t>The engineer still has to search GitHub manually.</a:t>
            </a:r>
          </a:p>
        </p:txBody>
      </p:sp>
      <p:sp>
        <p:nvSpPr>
          <p:cNvPr id="12" name="AfterH"/>
          <p:cNvSpPr/>
          <p:nvPr/>
        </p:nvSpPr>
        <p:spPr>
          <a:xfrm>
            <a:off x="461789" y="3520246"/>
            <a:ext cx="5400000" cy="473607"/>
          </a:xfrm>
          <a:prstGeom prst="roundRect">
            <a:avLst>
              <a:gd name="adj" fmla="val 15000"/>
            </a:avLst>
          </a:prstGeom>
          <a:solidFill>
            <a:srgbClr val="0D9589"/>
          </a:solidFill>
          <a:ln>
            <a:noFill/>
          </a:ln>
        </p:spPr>
        <p:txBody>
          <a:bodyPr wrap="square" lIns="152400" tIns="45720" rIns="15240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After resolver cases — persona says:</a:t>
            </a:r>
          </a:p>
        </p:txBody>
      </p:sp>
      <p:sp>
        <p:nvSpPr>
          <p:cNvPr id="13" name="AfterB"/>
          <p:cNvSpPr/>
          <p:nvPr/>
        </p:nvSpPr>
        <p:spPr>
          <a:xfrm>
            <a:off x="461789" y="4043852"/>
            <a:ext cx="5400000" cy="1116393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25400">
            <a:solidFill>
              <a:srgbClr val="0D9488"/>
            </a:solidFill>
          </a:ln>
        </p:spPr>
        <p:txBody>
          <a:bodyPr wrap="square" lIns="182880" tIns="91440" rIns="182880" bIns="91440" anchor="ctr"/>
          <a:lstStyle/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"This DMA issue was fixed in PR #247 (merged).</a:t>
            </a:r>
          </a:p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 Files changed: stm32h7xx_hal_dma.c. Confidence: high."</a:t>
            </a:r>
          </a:p>
          <a:p>
            <a:pPr algn="l">
              <a:buNone/>
            </a:pPr>
            <a:endParaRPr lang="en-US" sz="950" b="1" noProof="0" dirty="0">
              <a:solidFill>
                <a:srgbClr val="059669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The engineer gets the answer immediately , no manual search.</a:t>
            </a:r>
          </a:p>
        </p:txBody>
      </p:sp>
      <p:sp>
        <p:nvSpPr>
          <p:cNvPr id="20" name="Impact"/>
          <p:cNvSpPr/>
          <p:nvPr/>
        </p:nvSpPr>
        <p:spPr>
          <a:xfrm>
            <a:off x="6184588" y="2100656"/>
            <a:ext cx="5700000" cy="24000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228600" tIns="182880" rIns="228600" bIns="182880" anchor="t"/>
          <a:lstStyle/>
          <a:p>
            <a:pPr algn="l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Impact on persona quality :</a:t>
            </a:r>
          </a:p>
          <a:p>
            <a:pPr algn="l">
              <a:buNone/>
            </a:pPr>
            <a:r>
              <a:rPr lang="en-US" sz="900" b="0" noProof="0" dirty="0">
                <a:solidFill>
                  <a:srgbClr val="CBD5E1"/>
                </a:solidFill>
              </a:rPr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Eliminated "I don't know" on fix-status questions</a:t>
            </a:r>
          </a:p>
          <a:p>
            <a:pPr algn="l"/>
            <a:r>
              <a:rPr lang="en-US" sz="1200" b="0" noProof="0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Persona now provides: fix status, PR link, changed files, confidence level</a:t>
            </a:r>
          </a:p>
          <a:p>
            <a:pPr algn="l"/>
            <a:r>
              <a:rPr lang="en-US" sz="1200" b="0" noProof="0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Prevents unsupported "it was fixed" claims , confidence-gated</a:t>
            </a:r>
          </a:p>
          <a:p>
            <a:pPr algn="l">
              <a:buNone/>
            </a:pPr>
            <a:r>
              <a:rPr lang="en-US" sz="900" b="0" noProof="0" dirty="0">
                <a:solidFill>
                  <a:srgbClr val="CBD5E1"/>
                </a:solidFill>
              </a:rPr>
              <a:t> </a:t>
            </a:r>
          </a:p>
          <a:p>
            <a:pPr algn="l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Direct QI boost: </a:t>
            </a:r>
          </a:p>
          <a:p>
            <a:pPr algn="l">
              <a:buNone/>
            </a:pPr>
            <a:endParaRPr lang="en-US" sz="1100" b="1" noProof="0" dirty="0">
              <a:solidFill>
                <a:srgbClr val="0D9488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The persona acts like a support engineer, not a search engine.</a:t>
            </a:r>
          </a:p>
        </p:txBody>
      </p:sp>
      <p:sp>
        <p:nvSpPr>
          <p:cNvPr id="30" name="Tag"/>
          <p:cNvSpPr/>
          <p:nvPr/>
        </p:nvSpPr>
        <p:spPr>
          <a:xfrm>
            <a:off x="372663" y="5627246"/>
            <a:ext cx="11400000" cy="360000"/>
          </a:xfrm>
          <a:prstGeom prst="roundRect">
            <a:avLst>
              <a:gd name="adj" fmla="val 15000"/>
            </a:avLst>
          </a:prstGeom>
          <a:solidFill>
            <a:srgbClr val="E1F5EE"/>
          </a:solidFill>
          <a:ln w="19050">
            <a:solidFill>
              <a:srgbClr val="0D9488"/>
            </a:solidFill>
          </a:ln>
        </p:spPr>
        <p:txBody>
          <a:bodyPr wrap="square" lIns="182880" tIns="45720" rIns="18288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085041"/>
                </a:solidFill>
              </a:rPr>
              <a:t>Without resolver cases, the persona reports bugs. With them, it resolves them.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120FA0E-A82D-B57C-181F-F75C16A61CDD}"/>
              </a:ext>
            </a:extLst>
          </p:cNvPr>
          <p:cNvSpPr/>
          <p:nvPr/>
        </p:nvSpPr>
        <p:spPr>
          <a:xfrm>
            <a:off x="630822" y="940306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CE3D956-2B4C-0BF2-5FC3-1D771CB5A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512" y="4602048"/>
            <a:ext cx="5937310" cy="6890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FFC7C12-2427-CA5A-50AF-9DC5B969CF33}"/>
              </a:ext>
            </a:extLst>
          </p:cNvPr>
          <p:cNvSpPr/>
          <p:nvPr/>
        </p:nvSpPr>
        <p:spPr>
          <a:xfrm>
            <a:off x="11184363" y="4566250"/>
            <a:ext cx="457200" cy="81580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0DF4F-BB43-200F-6A21-F0EC16815419}"/>
              </a:ext>
            </a:extLst>
          </p:cNvPr>
          <p:cNvSpPr txBox="1"/>
          <p:nvPr/>
        </p:nvSpPr>
        <p:spPr>
          <a:xfrm>
            <a:off x="11426952" y="6348889"/>
            <a:ext cx="62727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0A7B169-58CE-4E65-B1F9-ACF9E46440C2}" type="slidenum">
              <a:rPr lang="en-US" sz="1100" noProof="0" smtClean="0">
                <a:solidFill>
                  <a:schemeClr val="bg2">
                    <a:lumMod val="25000"/>
                  </a:schemeClr>
                </a:solidFill>
              </a:rPr>
              <a:pPr/>
              <a:t>29</a:t>
            </a:fld>
            <a:endParaRPr lang="en-US" sz="1100" noProof="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9453CF-C8A9-B376-F606-209C58CB6994}"/>
              </a:ext>
            </a:extLst>
          </p:cNvPr>
          <p:cNvSpPr txBox="1"/>
          <p:nvPr/>
        </p:nvSpPr>
        <p:spPr>
          <a:xfrm>
            <a:off x="234954" y="1191633"/>
            <a:ext cx="90213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i="0" noProof="0" dirty="0">
                <a:solidFill>
                  <a:schemeClr val="bg2">
                    <a:lumMod val="10000"/>
                  </a:schemeClr>
                </a:solidFill>
                <a:effectLst/>
              </a:rPr>
              <a:t>Is there a confirmed fix for this STM32H7 DMA issue?</a:t>
            </a:r>
            <a:endParaRPr lang="en-US" sz="1300" noProof="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A488-018B-4302-49C0-721CDF7B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16A2-C867-2336-9107-225646CB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Data Generation</a:t>
            </a:r>
            <a:r>
              <a:rPr lang="en-US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en-US" sz="1800" b="1" noProof="0" dirty="0">
                <a:solidFill>
                  <a:srgbClr val="0D9488"/>
                </a:solidFill>
                <a:latin typeface="+mn-lt"/>
              </a:rPr>
              <a:t>Diagnostic cards</a:t>
            </a:r>
            <a:r>
              <a:rPr lang="en-US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9EE2DC9-ABD3-F778-A8FB-C261AD444FC5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F0BE9D3-BD01-A147-3600-BC57E9B2600D}"/>
              </a:ext>
            </a:extLst>
          </p:cNvPr>
          <p:cNvSpPr/>
          <p:nvPr/>
        </p:nvSpPr>
        <p:spPr>
          <a:xfrm>
            <a:off x="937523" y="92184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3175C6-48E7-CD52-27D9-EBC22AB1482D}"/>
              </a:ext>
            </a:extLst>
          </p:cNvPr>
          <p:cNvSpPr txBox="1"/>
          <p:nvPr/>
        </p:nvSpPr>
        <p:spPr>
          <a:xfrm>
            <a:off x="247975" y="1254815"/>
            <a:ext cx="6271666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noProof="0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Diagnostic Cards: what we built and how  </a:t>
            </a:r>
            <a:endParaRPr lang="en-US" sz="1400" noProof="0" dirty="0">
              <a:solidFill>
                <a:srgbClr val="3CB4E6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2C33855-0E54-7B18-9EBD-3D94DDC61885}"/>
              </a:ext>
            </a:extLst>
          </p:cNvPr>
          <p:cNvSpPr/>
          <p:nvPr/>
        </p:nvSpPr>
        <p:spPr>
          <a:xfrm>
            <a:off x="1551380" y="1915062"/>
            <a:ext cx="9763272" cy="763128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D6E7441-7833-8AF4-080E-491A65F134CB}"/>
              </a:ext>
            </a:extLst>
          </p:cNvPr>
          <p:cNvSpPr/>
          <p:nvPr/>
        </p:nvSpPr>
        <p:spPr>
          <a:xfrm>
            <a:off x="1670613" y="1760060"/>
            <a:ext cx="9700055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noProof="0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Real need: </a:t>
            </a:r>
            <a:r>
              <a:rPr lang="en-US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An ST engineer receives a customer question: “</a:t>
            </a:r>
            <a:r>
              <a:rPr lang="en-US" sz="1050" b="1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My </a:t>
            </a:r>
            <a:r>
              <a:rPr lang="en-US" sz="1050" b="1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HAL_SPI_Transmit_DMA</a:t>
            </a:r>
            <a:r>
              <a:rPr lang="en-US" sz="1050" b="1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blocks on 2 bytes, why?”, </a:t>
            </a:r>
            <a:r>
              <a:rPr lang="en-US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They need a </a:t>
            </a:r>
            <a:r>
              <a:rPr lang="en-US" sz="1050" b="1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structured</a:t>
            </a:r>
            <a:r>
              <a:rPr lang="en-US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b="1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ready-to-use diagnostic card</a:t>
            </a:r>
            <a:r>
              <a:rPr lang="en-US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not just a GitHub ticket or a link to a GitHub ticket.</a:t>
            </a:r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4548C9A2-5BF0-D12C-FA4B-54D17E731A2C}"/>
              </a:ext>
            </a:extLst>
          </p:cNvPr>
          <p:cNvSpPr/>
          <p:nvPr/>
        </p:nvSpPr>
        <p:spPr>
          <a:xfrm>
            <a:off x="4123440" y="3100153"/>
            <a:ext cx="4683682" cy="319481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D44B4DC5-9C00-71A9-2152-572E0230BB84}"/>
              </a:ext>
            </a:extLst>
          </p:cNvPr>
          <p:cNvSpPr/>
          <p:nvPr/>
        </p:nvSpPr>
        <p:spPr>
          <a:xfrm>
            <a:off x="4123440" y="3100154"/>
            <a:ext cx="4683681" cy="365760"/>
          </a:xfrm>
          <a:prstGeom prst="rect">
            <a:avLst/>
          </a:prstGeom>
          <a:noFill/>
          <a:ln w="12700"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406F305E-2B0F-2F8F-A883-53505EEBACCD}"/>
              </a:ext>
            </a:extLst>
          </p:cNvPr>
          <p:cNvSpPr/>
          <p:nvPr/>
        </p:nvSpPr>
        <p:spPr>
          <a:xfrm>
            <a:off x="4416521" y="313673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ea typeface="Calibri" pitchFamily="34" charset="-122"/>
                <a:cs typeface="Calibri" pitchFamily="34" charset="-120"/>
              </a:rPr>
              <a:t>Construction = Issue + Resolver</a:t>
            </a:r>
            <a:endParaRPr lang="en-US" sz="1300" noProof="0" dirty="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002E1D51-978C-A893-2F08-F83750821A26}"/>
              </a:ext>
            </a:extLst>
          </p:cNvPr>
          <p:cNvSpPr/>
          <p:nvPr/>
        </p:nvSpPr>
        <p:spPr>
          <a:xfrm>
            <a:off x="4416521" y="3776025"/>
            <a:ext cx="1737360" cy="1042416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BDDD16C8-78FC-EA7D-BA60-7A8E9ECBF997}"/>
              </a:ext>
            </a:extLst>
          </p:cNvPr>
          <p:cNvSpPr/>
          <p:nvPr/>
        </p:nvSpPr>
        <p:spPr>
          <a:xfrm>
            <a:off x="4416521" y="3776025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Issue GitHub</a:t>
            </a:r>
            <a:endParaRPr lang="en-US" sz="1000" noProof="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851B1B37-0D52-50AF-495A-A9FF92B8954D}"/>
              </a:ext>
            </a:extLst>
          </p:cNvPr>
          <p:cNvSpPr/>
          <p:nvPr/>
        </p:nvSpPr>
        <p:spPr>
          <a:xfrm>
            <a:off x="4530821" y="4040227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issue_title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layer, severity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component, board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st_ready_text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github_url</a:t>
            </a:r>
            <a:endParaRPr lang="en-US" sz="800" noProof="0" dirty="0"/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E7631697-1F07-76F0-CA0A-E9F789C01B42}"/>
              </a:ext>
            </a:extLst>
          </p:cNvPr>
          <p:cNvSpPr/>
          <p:nvPr/>
        </p:nvSpPr>
        <p:spPr>
          <a:xfrm>
            <a:off x="6176741" y="4162471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noProof="0" dirty="0"/>
              <a:t>+</a:t>
            </a:r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5C03EFFA-71D1-83A5-9276-D5CA396A733C}"/>
              </a:ext>
            </a:extLst>
          </p:cNvPr>
          <p:cNvSpPr/>
          <p:nvPr/>
        </p:nvSpPr>
        <p:spPr>
          <a:xfrm>
            <a:off x="6519641" y="3776025"/>
            <a:ext cx="1737360" cy="1042416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9EE84E0A-03CA-0A77-B626-1119221901A4}"/>
              </a:ext>
            </a:extLst>
          </p:cNvPr>
          <p:cNvSpPr/>
          <p:nvPr/>
        </p:nvSpPr>
        <p:spPr>
          <a:xfrm>
            <a:off x="6519641" y="3776025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Resolver Case</a:t>
            </a:r>
            <a:endParaRPr lang="en-US" sz="1000" noProof="0" dirty="0">
              <a:solidFill>
                <a:srgbClr val="1E5FA8"/>
              </a:solidFill>
            </a:endParaRPr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9CBB06F8-42AC-223C-EA68-A2ADFB4A708F}"/>
              </a:ext>
            </a:extLst>
          </p:cNvPr>
          <p:cNvSpPr/>
          <p:nvPr/>
        </p:nvSpPr>
        <p:spPr>
          <a:xfrm>
            <a:off x="6611081" y="4040227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resolution_status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link_confidence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linked_pr_urls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linked_commits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files_evidence</a:t>
            </a:r>
            <a:endParaRPr lang="en-US" sz="800" noProof="0" dirty="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A5A92267-F2D9-0992-BC55-208E5AA8EB82}"/>
              </a:ext>
            </a:extLst>
          </p:cNvPr>
          <p:cNvSpPr/>
          <p:nvPr/>
        </p:nvSpPr>
        <p:spPr>
          <a:xfrm>
            <a:off x="4416521" y="4818441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100" b="1" noProof="0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build_diagnostic_card</a:t>
            </a:r>
            <a:r>
              <a:rPr lang="en-US" sz="11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()</a:t>
            </a:r>
            <a:endParaRPr lang="en-US" sz="1100" noProof="0" dirty="0">
              <a:solidFill>
                <a:srgbClr val="1E5FA8"/>
              </a:solidFill>
            </a:endParaRPr>
          </a:p>
        </p:txBody>
      </p:sp>
      <p:sp>
        <p:nvSpPr>
          <p:cNvPr id="50" name="Shape 30">
            <a:extLst>
              <a:ext uri="{FF2B5EF4-FFF2-40B4-BE49-F238E27FC236}">
                <a16:creationId xmlns:a16="http://schemas.microsoft.com/office/drawing/2014/main" id="{CD103E6C-63BF-9BCA-7A91-067FC61FC799}"/>
              </a:ext>
            </a:extLst>
          </p:cNvPr>
          <p:cNvSpPr/>
          <p:nvPr/>
        </p:nvSpPr>
        <p:spPr>
          <a:xfrm>
            <a:off x="4439381" y="5233707"/>
            <a:ext cx="3977640" cy="79552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1" name="Text 31">
            <a:extLst>
              <a:ext uri="{FF2B5EF4-FFF2-40B4-BE49-F238E27FC236}">
                <a16:creationId xmlns:a16="http://schemas.microsoft.com/office/drawing/2014/main" id="{1328BF6F-AED0-670C-8837-9D3BC1E5256C}"/>
              </a:ext>
            </a:extLst>
          </p:cNvPr>
          <p:cNvSpPr/>
          <p:nvPr/>
        </p:nvSpPr>
        <p:spPr>
          <a:xfrm>
            <a:off x="4507961" y="5306859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Diagnostic Card JSON</a:t>
            </a:r>
            <a:r>
              <a:rPr lang="en-US" sz="1000" noProof="0" dirty="0"/>
              <a:t> 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>
              <a:buNone/>
            </a:pPr>
            <a:r>
              <a:rPr lang="en-US" sz="10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→ injected into the ST KB</a:t>
            </a:r>
            <a:endParaRPr lang="en-US" sz="1000" noProof="0" dirty="0"/>
          </a:p>
          <a:p>
            <a:pPr marL="0" indent="0">
              <a:buNone/>
            </a:pPr>
            <a:r>
              <a:rPr lang="en-US" sz="10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→ optimized for retrieval RAG</a:t>
            </a:r>
            <a:endParaRPr lang="en-US" sz="1000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705086-F114-E814-6E64-0F7F65ED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3369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Diagnostic Cards — Why they matter</a:t>
            </a:r>
          </a:p>
        </p:txBody>
      </p:sp>
      <p:sp>
        <p:nvSpPr>
          <p:cNvPr id="3" name="Sub"/>
          <p:cNvSpPr/>
          <p:nvPr/>
        </p:nvSpPr>
        <p:spPr>
          <a:xfrm>
            <a:off x="242477" y="723950"/>
            <a:ext cx="11609159" cy="34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050" i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BH"/>
          <p:cNvSpPr/>
          <p:nvPr/>
        </p:nvSpPr>
        <p:spPr>
          <a:xfrm>
            <a:off x="239205" y="1762759"/>
            <a:ext cx="5400000" cy="462379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  <p:txBody>
          <a:bodyPr wrap="square" lIns="152400" tIns="45720" rIns="15240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Before diagnostic cards — persona says:</a:t>
            </a:r>
          </a:p>
        </p:txBody>
      </p:sp>
      <p:sp>
        <p:nvSpPr>
          <p:cNvPr id="11" name="BB"/>
          <p:cNvSpPr/>
          <p:nvPr/>
        </p:nvSpPr>
        <p:spPr>
          <a:xfrm>
            <a:off x="239205" y="2275137"/>
            <a:ext cx="5400000" cy="942907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lIns="182880" tIns="91440" rIns="182880" bIns="91440" anchor="ctr"/>
          <a:lstStyle/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"UART callback is not reached on STM32H7."</a:t>
            </a:r>
          </a:p>
          <a:p>
            <a:pPr algn="l">
              <a:buNone/>
            </a:pPr>
            <a:r>
              <a:rPr lang="en-US" sz="1200" b="0" noProof="0" dirty="0">
                <a:solidFill>
                  <a:schemeClr val="bg2">
                    <a:lumMod val="25000"/>
                  </a:schemeClr>
                </a:solidFill>
              </a:rPr>
              <a:t>Describes the problem. No guidance. No debug steps</a:t>
            </a:r>
          </a:p>
          <a:p>
            <a:pPr algn="l">
              <a:buNone/>
            </a:pPr>
            <a:endParaRPr lang="en-US" sz="1200" b="0" noProof="0" dirty="0">
              <a:solidFill>
                <a:srgbClr val="791F1F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DC2626"/>
                </a:solidFill>
              </a:rPr>
              <a:t>The engineer has to figure out the diagnosis alone.</a:t>
            </a:r>
          </a:p>
        </p:txBody>
      </p:sp>
      <p:sp>
        <p:nvSpPr>
          <p:cNvPr id="12" name="AH"/>
          <p:cNvSpPr/>
          <p:nvPr/>
        </p:nvSpPr>
        <p:spPr>
          <a:xfrm>
            <a:off x="239205" y="3339999"/>
            <a:ext cx="5400000" cy="505139"/>
          </a:xfrm>
          <a:prstGeom prst="roundRect">
            <a:avLst>
              <a:gd name="adj" fmla="val 15000"/>
            </a:avLst>
          </a:prstGeom>
          <a:solidFill>
            <a:srgbClr val="0D9589"/>
          </a:solidFill>
          <a:ln>
            <a:noFill/>
          </a:ln>
        </p:spPr>
        <p:txBody>
          <a:bodyPr wrap="square" lIns="152400" tIns="45720" rIns="15240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After diagnostic cards — persona says:</a:t>
            </a:r>
          </a:p>
        </p:txBody>
      </p:sp>
      <p:sp>
        <p:nvSpPr>
          <p:cNvPr id="13" name="AB"/>
          <p:cNvSpPr/>
          <p:nvPr/>
        </p:nvSpPr>
        <p:spPr>
          <a:xfrm>
            <a:off x="239205" y="3895137"/>
            <a:ext cx="5400000" cy="1359279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25400">
            <a:solidFill>
              <a:srgbClr val="0D9488"/>
            </a:solidFill>
          </a:ln>
        </p:spPr>
        <p:txBody>
          <a:bodyPr wrap="square" lIns="182880" tIns="91440" rIns="182880" bIns="91440" anchor="ctr"/>
          <a:lstStyle/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"Symptom: UART callback not reached. Likely causes: NVIC</a:t>
            </a:r>
          </a:p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priority, DMA config. Debug: check IRQ enable, verify HAL </a:t>
            </a:r>
            <a:r>
              <a:rPr lang="en-US" sz="1200" b="0" i="1" noProof="0" dirty="0" err="1">
                <a:solidFill>
                  <a:schemeClr val="bg2">
                    <a:lumMod val="25000"/>
                  </a:schemeClr>
                </a:solidFill>
              </a:rPr>
              <a:t>init</a:t>
            </a:r>
            <a:endParaRPr lang="en-US" sz="1200" b="0" i="1" noProof="0" dirty="0">
              <a:solidFill>
                <a:schemeClr val="bg2">
                  <a:lumMod val="25000"/>
                </a:schemeClr>
              </a:solidFill>
            </a:endParaRPr>
          </a:p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sequence. Confidence: medium.“</a:t>
            </a:r>
          </a:p>
          <a:p>
            <a:pPr algn="l">
              <a:buNone/>
            </a:pPr>
            <a:endParaRPr lang="en-US" sz="1200" b="0" i="1" noProof="0" dirty="0">
              <a:solidFill>
                <a:schemeClr val="bg2">
                  <a:lumMod val="25000"/>
                </a:schemeClr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The engineer gets a full troubleshooting guide instantly.</a:t>
            </a:r>
          </a:p>
        </p:txBody>
      </p:sp>
      <p:sp>
        <p:nvSpPr>
          <p:cNvPr id="20" name="Impact"/>
          <p:cNvSpPr/>
          <p:nvPr/>
        </p:nvSpPr>
        <p:spPr>
          <a:xfrm>
            <a:off x="6032981" y="1544237"/>
            <a:ext cx="5700000" cy="3175717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228600" tIns="182880" rIns="228600" bIns="182880" anchor="t"/>
          <a:lstStyle/>
          <a:p>
            <a:pPr algn="l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Impact on persona quality</a:t>
            </a:r>
          </a:p>
          <a:p>
            <a:pPr algn="l">
              <a:buNone/>
            </a:pPr>
            <a:r>
              <a:rPr lang="en-US" sz="1200" b="0" noProof="0" dirty="0">
                <a:solidFill>
                  <a:srgbClr val="CBD5E1"/>
                </a:solidFill>
              </a:rPr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Highest-value artifacts in the entire pipeline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b="0" noProof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Each card provides: symptoms, likely causes, debug checks, workarounds, evidence refs</a:t>
            </a:r>
          </a:p>
          <a:p>
            <a:pPr algn="l"/>
            <a:r>
              <a:rPr lang="en-US" sz="1200" b="0" noProof="0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Benchmark showed clear QI jump on mixed questions , from generic abstention to actionable answers</a:t>
            </a:r>
          </a:p>
          <a:p>
            <a:pPr algn="l"/>
            <a:r>
              <a:rPr lang="en-US" sz="1200" b="0" noProof="0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Confidence-gated: if evidence is weak, caution is added automatically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b="0" noProof="0" dirty="0"/>
          </a:p>
          <a:p>
            <a:pPr algn="l">
              <a:buNone/>
            </a:pPr>
            <a:r>
              <a:rPr lang="en-US" sz="1200" b="0" noProof="0" dirty="0">
                <a:solidFill>
                  <a:srgbClr val="0D9589"/>
                </a:solidFill>
              </a:rPr>
              <a:t> </a:t>
            </a:r>
            <a:r>
              <a:rPr lang="en-US" sz="1200" b="1" noProof="0" dirty="0">
                <a:solidFill>
                  <a:srgbClr val="0D9589"/>
                </a:solidFill>
              </a:rPr>
              <a:t>Direct QI boost: </a:t>
            </a:r>
          </a:p>
          <a:p>
            <a:pPr algn="l">
              <a:buNone/>
            </a:pPr>
            <a:endParaRPr lang="en-US" sz="1200" b="1" noProof="0" dirty="0">
              <a:solidFill>
                <a:srgbClr val="C00000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persona guides diagnosis like a senior engineer.</a:t>
            </a:r>
          </a:p>
        </p:txBody>
      </p:sp>
      <p:sp>
        <p:nvSpPr>
          <p:cNvPr id="30" name="Tag"/>
          <p:cNvSpPr/>
          <p:nvPr/>
        </p:nvSpPr>
        <p:spPr>
          <a:xfrm>
            <a:off x="332981" y="5774050"/>
            <a:ext cx="11400000" cy="360000"/>
          </a:xfrm>
          <a:prstGeom prst="roundRect">
            <a:avLst>
              <a:gd name="adj" fmla="val 15000"/>
            </a:avLst>
          </a:prstGeom>
          <a:solidFill>
            <a:srgbClr val="E1F5EE"/>
          </a:solidFill>
          <a:ln w="19050">
            <a:solidFill>
              <a:srgbClr val="0D9488"/>
            </a:solidFill>
          </a:ln>
        </p:spPr>
        <p:txBody>
          <a:bodyPr wrap="square" lIns="182880" tIns="45720" rIns="18288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085041"/>
                </a:solidFill>
              </a:rPr>
              <a:t>Resolver cases + diagnostic cards = the persona answers like a senior engineer, not a search engine.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D3FE0A9-6796-2B87-5806-3BB1B2528434}"/>
              </a:ext>
            </a:extLst>
          </p:cNvPr>
          <p:cNvSpPr/>
          <p:nvPr/>
        </p:nvSpPr>
        <p:spPr>
          <a:xfrm>
            <a:off x="733727" y="100174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5B783EE-766B-8E8A-BE5E-DC87AAC42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26" y="4847278"/>
            <a:ext cx="5937310" cy="6890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B0BBBD6-E42F-F24F-901A-FFAC5EA37B64}"/>
              </a:ext>
            </a:extLst>
          </p:cNvPr>
          <p:cNvSpPr/>
          <p:nvPr/>
        </p:nvSpPr>
        <p:spPr>
          <a:xfrm>
            <a:off x="11054177" y="4811480"/>
            <a:ext cx="457200" cy="81580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D811E-5006-B345-5E76-FABC411A9F8C}"/>
              </a:ext>
            </a:extLst>
          </p:cNvPr>
          <p:cNvSpPr txBox="1"/>
          <p:nvPr/>
        </p:nvSpPr>
        <p:spPr>
          <a:xfrm>
            <a:off x="11511377" y="6413302"/>
            <a:ext cx="62669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0A7B169-58CE-4E65-B1F9-ACF9E46440C2}" type="slidenum">
              <a:rPr lang="en-US" sz="1100" noProof="0" smtClean="0">
                <a:solidFill>
                  <a:schemeClr val="tx2">
                    <a:lumMod val="75000"/>
                  </a:schemeClr>
                </a:solidFill>
              </a:rPr>
              <a:pPr/>
              <a:t>31</a:t>
            </a:fld>
            <a:endParaRPr lang="en-US" sz="1100" noProof="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70B541-B764-66E2-F547-8E3A1FD9E0E5}"/>
              </a:ext>
            </a:extLst>
          </p:cNvPr>
          <p:cNvSpPr txBox="1"/>
          <p:nvPr/>
        </p:nvSpPr>
        <p:spPr>
          <a:xfrm>
            <a:off x="234954" y="1191633"/>
            <a:ext cx="90213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i="0" noProof="0" dirty="0">
                <a:solidFill>
                  <a:schemeClr val="bg2">
                    <a:lumMod val="10000"/>
                  </a:schemeClr>
                </a:solidFill>
                <a:effectLst/>
              </a:rPr>
              <a:t>UART callback is not reached on STM32H7, what are the likely causes and what should I check ?</a:t>
            </a:r>
            <a:endParaRPr lang="en-US" sz="1300" noProof="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A9E6-68EA-05CF-572D-E998A257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68AD-9ADF-0D4F-C3B6-44EB30DE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The Data Preprocessing Pipeline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ED036537-B7F2-5A4F-4553-DA48CDFC50D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D82B09-A925-3264-2D5A-EFA1FB74855C}"/>
              </a:ext>
            </a:extLst>
          </p:cNvPr>
          <p:cNvSpPr/>
          <p:nvPr/>
        </p:nvSpPr>
        <p:spPr>
          <a:xfrm>
            <a:off x="1280164" y="110064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2A5C4170-1428-3FA7-71A1-E3B95E16B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724647" flipH="1" flipV="1">
            <a:off x="8037331" y="4241806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C53B86F6-D0EA-9EB6-7B8D-217F41075383}"/>
              </a:ext>
            </a:extLst>
          </p:cNvPr>
          <p:cNvSpPr/>
          <p:nvPr/>
        </p:nvSpPr>
        <p:spPr>
          <a:xfrm>
            <a:off x="3759872" y="4358105"/>
            <a:ext cx="4114800" cy="208712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2908F3CD-40DA-6E54-5FC9-117E3B63C6F4}"/>
              </a:ext>
            </a:extLst>
          </p:cNvPr>
          <p:cNvSpPr/>
          <p:nvPr/>
        </p:nvSpPr>
        <p:spPr>
          <a:xfrm>
            <a:off x="3774194" y="4358106"/>
            <a:ext cx="49686" cy="208712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6703202F-852D-D09C-BEA0-9E94CE95F0B1}"/>
              </a:ext>
            </a:extLst>
          </p:cNvPr>
          <p:cNvSpPr/>
          <p:nvPr/>
        </p:nvSpPr>
        <p:spPr>
          <a:xfrm>
            <a:off x="3961040" y="444954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Delivery objective</a:t>
            </a:r>
            <a:endParaRPr lang="en-US" sz="1050" noProof="0" dirty="0"/>
          </a:p>
        </p:txBody>
      </p:sp>
      <p:sp>
        <p:nvSpPr>
          <p:cNvPr id="64" name="Text 47">
            <a:extLst>
              <a:ext uri="{FF2B5EF4-FFF2-40B4-BE49-F238E27FC236}">
                <a16:creationId xmlns:a16="http://schemas.microsoft.com/office/drawing/2014/main" id="{0A3EECA0-A257-AEA9-9224-5636247E997E}"/>
              </a:ext>
            </a:extLst>
          </p:cNvPr>
          <p:cNvSpPr/>
          <p:nvPr/>
        </p:nvSpPr>
        <p:spPr>
          <a:xfrm>
            <a:off x="3961040" y="4861645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Delivery transforms raw technical data into knowledge directly usable in a support KB.</a:t>
            </a:r>
          </a:p>
          <a:p>
            <a:pPr marL="0" indent="0">
              <a:buNone/>
            </a:pPr>
            <a:endParaRPr lang="en-US" sz="1000" noProof="0" dirty="0">
              <a:solidFill>
                <a:srgbClr val="1B2A3B"/>
              </a:solidFill>
            </a:endParaRPr>
          </a:p>
          <a:p>
            <a:r>
              <a:rPr lang="en-US" sz="1000" b="1" u="sng" noProof="0" dirty="0"/>
              <a:t>The goal:</a:t>
            </a:r>
          </a:p>
          <a:p>
            <a:pPr marL="0" indent="0">
              <a:buNone/>
            </a:pPr>
            <a:endParaRPr lang="en-US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Provide actionable answers for troubleshooting.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Maintain complete traceability to GitHub.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Provide a stable format for ingestion within ST.</a:t>
            </a:r>
          </a:p>
        </p:txBody>
      </p:sp>
      <p:sp>
        <p:nvSpPr>
          <p:cNvPr id="123" name="Shape 5">
            <a:extLst>
              <a:ext uri="{FF2B5EF4-FFF2-40B4-BE49-F238E27FC236}">
                <a16:creationId xmlns:a16="http://schemas.microsoft.com/office/drawing/2014/main" id="{30AE8848-39CE-63EB-ED47-41E1BC4CF932}"/>
              </a:ext>
            </a:extLst>
          </p:cNvPr>
          <p:cNvSpPr/>
          <p:nvPr/>
        </p:nvSpPr>
        <p:spPr>
          <a:xfrm>
            <a:off x="901735" y="1908119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4" name="Shape 6">
            <a:extLst>
              <a:ext uri="{FF2B5EF4-FFF2-40B4-BE49-F238E27FC236}">
                <a16:creationId xmlns:a16="http://schemas.microsoft.com/office/drawing/2014/main" id="{B7BB3AF6-E210-89A3-F3D8-3E8C47EF65F4}"/>
              </a:ext>
            </a:extLst>
          </p:cNvPr>
          <p:cNvSpPr/>
          <p:nvPr/>
        </p:nvSpPr>
        <p:spPr>
          <a:xfrm>
            <a:off x="901735" y="1908119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5" name="Text 7">
            <a:extLst>
              <a:ext uri="{FF2B5EF4-FFF2-40B4-BE49-F238E27FC236}">
                <a16:creationId xmlns:a16="http://schemas.microsoft.com/office/drawing/2014/main" id="{8321DA6C-EDF7-6AB5-25FA-B10AF597E0F6}"/>
              </a:ext>
            </a:extLst>
          </p:cNvPr>
          <p:cNvSpPr/>
          <p:nvPr/>
        </p:nvSpPr>
        <p:spPr>
          <a:xfrm>
            <a:off x="901735" y="190811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26" name="Image 0" descr="preencoded.png">
            <a:extLst>
              <a:ext uri="{FF2B5EF4-FFF2-40B4-BE49-F238E27FC236}">
                <a16:creationId xmlns:a16="http://schemas.microsoft.com/office/drawing/2014/main" id="{E8AA75A6-5EB8-7CBD-446B-EFFC9FF36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947" y="1976462"/>
            <a:ext cx="329184" cy="329184"/>
          </a:xfrm>
          <a:prstGeom prst="rect">
            <a:avLst/>
          </a:prstGeom>
        </p:spPr>
      </p:pic>
      <p:sp>
        <p:nvSpPr>
          <p:cNvPr id="127" name="Text 8">
            <a:extLst>
              <a:ext uri="{FF2B5EF4-FFF2-40B4-BE49-F238E27FC236}">
                <a16:creationId xmlns:a16="http://schemas.microsoft.com/office/drawing/2014/main" id="{DFD567AC-117D-9B4F-7792-9EB29DED67FF}"/>
              </a:ext>
            </a:extLst>
          </p:cNvPr>
          <p:cNvSpPr/>
          <p:nvPr/>
        </p:nvSpPr>
        <p:spPr>
          <a:xfrm>
            <a:off x="1107475" y="242465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128" name="Text 9">
            <a:extLst>
              <a:ext uri="{FF2B5EF4-FFF2-40B4-BE49-F238E27FC236}">
                <a16:creationId xmlns:a16="http://schemas.microsoft.com/office/drawing/2014/main" id="{60851120-B98A-027D-E7A2-74B614C6CFA0}"/>
              </a:ext>
            </a:extLst>
          </p:cNvPr>
          <p:cNvSpPr/>
          <p:nvPr/>
        </p:nvSpPr>
        <p:spPr>
          <a:xfrm>
            <a:off x="1065437" y="287652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29" name="Image 1" descr="preencoded.png">
            <a:extLst>
              <a:ext uri="{FF2B5EF4-FFF2-40B4-BE49-F238E27FC236}">
                <a16:creationId xmlns:a16="http://schemas.microsoft.com/office/drawing/2014/main" id="{1E81ABE0-6D99-015D-56C1-F12627270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877" y="2948392"/>
            <a:ext cx="237744" cy="237744"/>
          </a:xfrm>
          <a:prstGeom prst="rect">
            <a:avLst/>
          </a:prstGeom>
        </p:spPr>
      </p:pic>
      <p:pic>
        <p:nvPicPr>
          <p:cNvPr id="130" name="Image 3" descr="preencoded.png">
            <a:extLst>
              <a:ext uri="{FF2B5EF4-FFF2-40B4-BE49-F238E27FC236}">
                <a16:creationId xmlns:a16="http://schemas.microsoft.com/office/drawing/2014/main" id="{0B06716A-A345-3E9A-8D5D-176759378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0706" y="2936817"/>
            <a:ext cx="237744" cy="237744"/>
          </a:xfrm>
          <a:prstGeom prst="rect">
            <a:avLst/>
          </a:prstGeom>
        </p:spPr>
      </p:pic>
      <p:sp>
        <p:nvSpPr>
          <p:cNvPr id="131" name="Shape 15">
            <a:extLst>
              <a:ext uri="{FF2B5EF4-FFF2-40B4-BE49-F238E27FC236}">
                <a16:creationId xmlns:a16="http://schemas.microsoft.com/office/drawing/2014/main" id="{6058AE72-E5FC-F4BE-A768-E0A60AF02028}"/>
              </a:ext>
            </a:extLst>
          </p:cNvPr>
          <p:cNvSpPr/>
          <p:nvPr/>
        </p:nvSpPr>
        <p:spPr>
          <a:xfrm>
            <a:off x="3880750" y="1903545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2" name="Shape 16">
            <a:extLst>
              <a:ext uri="{FF2B5EF4-FFF2-40B4-BE49-F238E27FC236}">
                <a16:creationId xmlns:a16="http://schemas.microsoft.com/office/drawing/2014/main" id="{6DD24757-D565-CBF9-1943-D9C446AD8368}"/>
              </a:ext>
            </a:extLst>
          </p:cNvPr>
          <p:cNvSpPr/>
          <p:nvPr/>
        </p:nvSpPr>
        <p:spPr>
          <a:xfrm>
            <a:off x="3886615" y="1914126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3" name="Text 17">
            <a:extLst>
              <a:ext uri="{FF2B5EF4-FFF2-40B4-BE49-F238E27FC236}">
                <a16:creationId xmlns:a16="http://schemas.microsoft.com/office/drawing/2014/main" id="{F30FF23D-7D96-5E3B-02D4-8CB1EC443607}"/>
              </a:ext>
            </a:extLst>
          </p:cNvPr>
          <p:cNvSpPr/>
          <p:nvPr/>
        </p:nvSpPr>
        <p:spPr>
          <a:xfrm>
            <a:off x="3951290" y="190354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34" name="Image 4" descr="preencoded.png">
            <a:extLst>
              <a:ext uri="{FF2B5EF4-FFF2-40B4-BE49-F238E27FC236}">
                <a16:creationId xmlns:a16="http://schemas.microsoft.com/office/drawing/2014/main" id="{42553DC9-B5BA-33EE-7D1C-74D69170F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212" y="1980779"/>
            <a:ext cx="329184" cy="329184"/>
          </a:xfrm>
          <a:prstGeom prst="rect">
            <a:avLst/>
          </a:prstGeom>
        </p:spPr>
      </p:pic>
      <p:sp>
        <p:nvSpPr>
          <p:cNvPr id="135" name="Text 18">
            <a:extLst>
              <a:ext uri="{FF2B5EF4-FFF2-40B4-BE49-F238E27FC236}">
                <a16:creationId xmlns:a16="http://schemas.microsoft.com/office/drawing/2014/main" id="{334FD9AB-CCC4-B8B6-F1F1-81F6CC586DB1}"/>
              </a:ext>
            </a:extLst>
          </p:cNvPr>
          <p:cNvSpPr/>
          <p:nvPr/>
        </p:nvSpPr>
        <p:spPr>
          <a:xfrm>
            <a:off x="3984586" y="2551215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136" name="Text 19">
            <a:extLst>
              <a:ext uri="{FF2B5EF4-FFF2-40B4-BE49-F238E27FC236}">
                <a16:creationId xmlns:a16="http://schemas.microsoft.com/office/drawing/2014/main" id="{1FB2B763-521B-0CDB-E09C-167B92B118C9}"/>
              </a:ext>
            </a:extLst>
          </p:cNvPr>
          <p:cNvSpPr/>
          <p:nvPr/>
        </p:nvSpPr>
        <p:spPr>
          <a:xfrm>
            <a:off x="4035893" y="2961137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137" name="Image 5" descr="preencoded.png">
            <a:extLst>
              <a:ext uri="{FF2B5EF4-FFF2-40B4-BE49-F238E27FC236}">
                <a16:creationId xmlns:a16="http://schemas.microsoft.com/office/drawing/2014/main" id="{3010F998-8867-AEAC-C224-C3BDAC8987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186" y="2931997"/>
            <a:ext cx="237744" cy="237744"/>
          </a:xfrm>
          <a:prstGeom prst="rect">
            <a:avLst/>
          </a:prstGeom>
        </p:spPr>
      </p:pic>
      <p:sp>
        <p:nvSpPr>
          <p:cNvPr id="138" name="Shape 20">
            <a:extLst>
              <a:ext uri="{FF2B5EF4-FFF2-40B4-BE49-F238E27FC236}">
                <a16:creationId xmlns:a16="http://schemas.microsoft.com/office/drawing/2014/main" id="{DEA885E0-2B4A-4104-0F77-C77EC904B9A4}"/>
              </a:ext>
            </a:extLst>
          </p:cNvPr>
          <p:cNvSpPr/>
          <p:nvPr/>
        </p:nvSpPr>
        <p:spPr>
          <a:xfrm>
            <a:off x="5482315" y="1914126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9" name="Shape 21">
            <a:extLst>
              <a:ext uri="{FF2B5EF4-FFF2-40B4-BE49-F238E27FC236}">
                <a16:creationId xmlns:a16="http://schemas.microsoft.com/office/drawing/2014/main" id="{9ACED9F4-84A6-D505-B3D7-E7231D1D6FC4}"/>
              </a:ext>
            </a:extLst>
          </p:cNvPr>
          <p:cNvSpPr/>
          <p:nvPr/>
        </p:nvSpPr>
        <p:spPr>
          <a:xfrm>
            <a:off x="5495770" y="1898725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0" name="Text 22">
            <a:extLst>
              <a:ext uri="{FF2B5EF4-FFF2-40B4-BE49-F238E27FC236}">
                <a16:creationId xmlns:a16="http://schemas.microsoft.com/office/drawing/2014/main" id="{5EF3BC8E-6717-955E-76FF-AD0D7474BF01}"/>
              </a:ext>
            </a:extLst>
          </p:cNvPr>
          <p:cNvSpPr/>
          <p:nvPr/>
        </p:nvSpPr>
        <p:spPr>
          <a:xfrm>
            <a:off x="5495770" y="189872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41" name="Text 23">
            <a:extLst>
              <a:ext uri="{FF2B5EF4-FFF2-40B4-BE49-F238E27FC236}">
                <a16:creationId xmlns:a16="http://schemas.microsoft.com/office/drawing/2014/main" id="{6A7BA5B0-E4E6-C868-3BA6-0DD69459C5C9}"/>
              </a:ext>
            </a:extLst>
          </p:cNvPr>
          <p:cNvSpPr/>
          <p:nvPr/>
        </p:nvSpPr>
        <p:spPr>
          <a:xfrm>
            <a:off x="5682088" y="242224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142" name="Text 24">
            <a:extLst>
              <a:ext uri="{FF2B5EF4-FFF2-40B4-BE49-F238E27FC236}">
                <a16:creationId xmlns:a16="http://schemas.microsoft.com/office/drawing/2014/main" id="{9C3EE73B-B7BB-82DF-8D31-906BD02F16DF}"/>
              </a:ext>
            </a:extLst>
          </p:cNvPr>
          <p:cNvSpPr/>
          <p:nvPr/>
        </p:nvSpPr>
        <p:spPr>
          <a:xfrm>
            <a:off x="5691569" y="279946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158" name="Shape 35">
            <a:extLst>
              <a:ext uri="{FF2B5EF4-FFF2-40B4-BE49-F238E27FC236}">
                <a16:creationId xmlns:a16="http://schemas.microsoft.com/office/drawing/2014/main" id="{AB871982-84D1-9B33-4B06-5BEAE1B472C4}"/>
              </a:ext>
            </a:extLst>
          </p:cNvPr>
          <p:cNvSpPr/>
          <p:nvPr/>
        </p:nvSpPr>
        <p:spPr>
          <a:xfrm>
            <a:off x="8653615" y="1905513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9" name="Shape 36">
            <a:extLst>
              <a:ext uri="{FF2B5EF4-FFF2-40B4-BE49-F238E27FC236}">
                <a16:creationId xmlns:a16="http://schemas.microsoft.com/office/drawing/2014/main" id="{1DE3E380-A289-FC79-47AA-11AC9B578CB1}"/>
              </a:ext>
            </a:extLst>
          </p:cNvPr>
          <p:cNvSpPr/>
          <p:nvPr/>
        </p:nvSpPr>
        <p:spPr>
          <a:xfrm>
            <a:off x="8653615" y="1905514"/>
            <a:ext cx="1218607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0" name="Text 37">
            <a:extLst>
              <a:ext uri="{FF2B5EF4-FFF2-40B4-BE49-F238E27FC236}">
                <a16:creationId xmlns:a16="http://schemas.microsoft.com/office/drawing/2014/main" id="{D5BCF26A-9A3A-A7F3-E8D1-D2AFC84CC026}"/>
              </a:ext>
            </a:extLst>
          </p:cNvPr>
          <p:cNvSpPr/>
          <p:nvPr/>
        </p:nvSpPr>
        <p:spPr>
          <a:xfrm>
            <a:off x="8653615" y="190551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61" name="Image 12" descr="preencoded.png">
            <a:extLst>
              <a:ext uri="{FF2B5EF4-FFF2-40B4-BE49-F238E27FC236}">
                <a16:creationId xmlns:a16="http://schemas.microsoft.com/office/drawing/2014/main" id="{2F8B6AE0-902D-BEEF-7D49-AFD6BD57F7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5982" y="1990583"/>
            <a:ext cx="288037" cy="288037"/>
          </a:xfrm>
          <a:prstGeom prst="rect">
            <a:avLst/>
          </a:prstGeom>
        </p:spPr>
      </p:pic>
      <p:sp>
        <p:nvSpPr>
          <p:cNvPr id="162" name="Text 38">
            <a:extLst>
              <a:ext uri="{FF2B5EF4-FFF2-40B4-BE49-F238E27FC236}">
                <a16:creationId xmlns:a16="http://schemas.microsoft.com/office/drawing/2014/main" id="{EEF3FE38-F7E3-00C4-7107-404F51F125E8}"/>
              </a:ext>
            </a:extLst>
          </p:cNvPr>
          <p:cNvSpPr/>
          <p:nvPr/>
        </p:nvSpPr>
        <p:spPr>
          <a:xfrm>
            <a:off x="8670696" y="2524663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163" name="Text 39">
            <a:extLst>
              <a:ext uri="{FF2B5EF4-FFF2-40B4-BE49-F238E27FC236}">
                <a16:creationId xmlns:a16="http://schemas.microsoft.com/office/drawing/2014/main" id="{71192D1A-6492-9580-8E6F-1AA288C961F1}"/>
              </a:ext>
            </a:extLst>
          </p:cNvPr>
          <p:cNvSpPr/>
          <p:nvPr/>
        </p:nvSpPr>
        <p:spPr>
          <a:xfrm>
            <a:off x="8752605" y="286730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64" name="Graphic 163" descr="Dice with solid fill">
            <a:extLst>
              <a:ext uri="{FF2B5EF4-FFF2-40B4-BE49-F238E27FC236}">
                <a16:creationId xmlns:a16="http://schemas.microsoft.com/office/drawing/2014/main" id="{542FD8C1-B2B0-D474-DCEE-E33E5DFEDC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7951" y="1926156"/>
            <a:ext cx="402338" cy="402338"/>
          </a:xfrm>
          <a:prstGeom prst="rect">
            <a:avLst/>
          </a:prstGeom>
        </p:spPr>
      </p:pic>
      <p:sp>
        <p:nvSpPr>
          <p:cNvPr id="165" name="Shape 20">
            <a:extLst>
              <a:ext uri="{FF2B5EF4-FFF2-40B4-BE49-F238E27FC236}">
                <a16:creationId xmlns:a16="http://schemas.microsoft.com/office/drawing/2014/main" id="{ED6AA46C-5D5B-889A-EC0A-B3DAE6E21513}"/>
              </a:ext>
            </a:extLst>
          </p:cNvPr>
          <p:cNvSpPr/>
          <p:nvPr/>
        </p:nvSpPr>
        <p:spPr>
          <a:xfrm>
            <a:off x="7038273" y="190811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66" name="Shape 21">
            <a:extLst>
              <a:ext uri="{FF2B5EF4-FFF2-40B4-BE49-F238E27FC236}">
                <a16:creationId xmlns:a16="http://schemas.microsoft.com/office/drawing/2014/main" id="{35F1DCB1-2DC7-628C-B906-BFBBF26D5D24}"/>
              </a:ext>
            </a:extLst>
          </p:cNvPr>
          <p:cNvSpPr/>
          <p:nvPr/>
        </p:nvSpPr>
        <p:spPr>
          <a:xfrm>
            <a:off x="7038272" y="1903545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7" name="Text 22">
            <a:extLst>
              <a:ext uri="{FF2B5EF4-FFF2-40B4-BE49-F238E27FC236}">
                <a16:creationId xmlns:a16="http://schemas.microsoft.com/office/drawing/2014/main" id="{9BE9E66A-4B88-63D8-B0EF-D0636A6D6806}"/>
              </a:ext>
            </a:extLst>
          </p:cNvPr>
          <p:cNvSpPr/>
          <p:nvPr/>
        </p:nvSpPr>
        <p:spPr>
          <a:xfrm>
            <a:off x="7112914" y="190354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68" name="Text 23">
            <a:extLst>
              <a:ext uri="{FF2B5EF4-FFF2-40B4-BE49-F238E27FC236}">
                <a16:creationId xmlns:a16="http://schemas.microsoft.com/office/drawing/2014/main" id="{2F80BDAD-DBD3-5E66-1E30-22C398EAFD54}"/>
              </a:ext>
            </a:extLst>
          </p:cNvPr>
          <p:cNvSpPr/>
          <p:nvPr/>
        </p:nvSpPr>
        <p:spPr>
          <a:xfrm>
            <a:off x="7299232" y="242706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69" name="Text 24">
            <a:extLst>
              <a:ext uri="{FF2B5EF4-FFF2-40B4-BE49-F238E27FC236}">
                <a16:creationId xmlns:a16="http://schemas.microsoft.com/office/drawing/2014/main" id="{4390AD97-01C0-8FF9-FFED-8EC20C4635E6}"/>
              </a:ext>
            </a:extLst>
          </p:cNvPr>
          <p:cNvSpPr/>
          <p:nvPr/>
        </p:nvSpPr>
        <p:spPr>
          <a:xfrm>
            <a:off x="7299232" y="293681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70" name="Graphic 169" descr="Database with solid fill">
            <a:extLst>
              <a:ext uri="{FF2B5EF4-FFF2-40B4-BE49-F238E27FC236}">
                <a16:creationId xmlns:a16="http://schemas.microsoft.com/office/drawing/2014/main" id="{6673DF2F-972C-4626-B2F6-3E009D910A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16497" y="1927865"/>
            <a:ext cx="390272" cy="390272"/>
          </a:xfrm>
          <a:prstGeom prst="rect">
            <a:avLst/>
          </a:prstGeom>
        </p:spPr>
      </p:pic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ABF1B8C1-5AF5-4578-8896-B678B21832A1}"/>
              </a:ext>
            </a:extLst>
          </p:cNvPr>
          <p:cNvCxnSpPr>
            <a:stCxn id="131" idx="3"/>
            <a:endCxn id="138" idx="1"/>
          </p:cNvCxnSpPr>
          <p:nvPr/>
        </p:nvCxnSpPr>
        <p:spPr>
          <a:xfrm>
            <a:off x="5287478" y="2894116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00404C03-6EE3-A260-59A6-01669872A0F8}"/>
              </a:ext>
            </a:extLst>
          </p:cNvPr>
          <p:cNvCxnSpPr>
            <a:stCxn id="138" idx="3"/>
            <a:endCxn id="165" idx="1"/>
          </p:cNvCxnSpPr>
          <p:nvPr/>
        </p:nvCxnSpPr>
        <p:spPr>
          <a:xfrm flipV="1">
            <a:off x="6879753" y="2898690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855B0ABE-D05A-2B4E-87F1-FBE495B98567}"/>
              </a:ext>
            </a:extLst>
          </p:cNvPr>
          <p:cNvCxnSpPr>
            <a:cxnSpLocks/>
            <a:endCxn id="158" idx="1"/>
          </p:cNvCxnSpPr>
          <p:nvPr/>
        </p:nvCxnSpPr>
        <p:spPr>
          <a:xfrm>
            <a:off x="8490617" y="2900655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" name="Image 1" descr="preencoded.png">
            <a:extLst>
              <a:ext uri="{FF2B5EF4-FFF2-40B4-BE49-F238E27FC236}">
                <a16:creationId xmlns:a16="http://schemas.microsoft.com/office/drawing/2014/main" id="{6C70AC54-507B-D8DD-6044-E9F87B624E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618" y="2961137"/>
            <a:ext cx="237744" cy="237744"/>
          </a:xfrm>
          <a:prstGeom prst="rect">
            <a:avLst/>
          </a:prstGeom>
        </p:spPr>
      </p:pic>
      <p:sp>
        <p:nvSpPr>
          <p:cNvPr id="177" name="Shape 10">
            <a:extLst>
              <a:ext uri="{FF2B5EF4-FFF2-40B4-BE49-F238E27FC236}">
                <a16:creationId xmlns:a16="http://schemas.microsoft.com/office/drawing/2014/main" id="{D19EB6D9-6D3A-7A5D-4A91-1332C6DC7E18}"/>
              </a:ext>
            </a:extLst>
          </p:cNvPr>
          <p:cNvSpPr/>
          <p:nvPr/>
        </p:nvSpPr>
        <p:spPr>
          <a:xfrm>
            <a:off x="2342135" y="1905513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78" name="Shape 11">
            <a:extLst>
              <a:ext uri="{FF2B5EF4-FFF2-40B4-BE49-F238E27FC236}">
                <a16:creationId xmlns:a16="http://schemas.microsoft.com/office/drawing/2014/main" id="{CF5BD3B5-3490-CA4E-A9A4-B40F0EA7D5BE}"/>
              </a:ext>
            </a:extLst>
          </p:cNvPr>
          <p:cNvSpPr/>
          <p:nvPr/>
        </p:nvSpPr>
        <p:spPr>
          <a:xfrm>
            <a:off x="2342135" y="1905513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9" name="Text 12">
            <a:extLst>
              <a:ext uri="{FF2B5EF4-FFF2-40B4-BE49-F238E27FC236}">
                <a16:creationId xmlns:a16="http://schemas.microsoft.com/office/drawing/2014/main" id="{B0AE2A02-61EB-6ED9-B709-4AD0253F3F98}"/>
              </a:ext>
            </a:extLst>
          </p:cNvPr>
          <p:cNvSpPr/>
          <p:nvPr/>
        </p:nvSpPr>
        <p:spPr>
          <a:xfrm>
            <a:off x="2342135" y="190551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80" name="Text 13">
            <a:extLst>
              <a:ext uri="{FF2B5EF4-FFF2-40B4-BE49-F238E27FC236}">
                <a16:creationId xmlns:a16="http://schemas.microsoft.com/office/drawing/2014/main" id="{204D9D10-0D5F-9C7B-CD83-4AB19EE4EE9E}"/>
              </a:ext>
            </a:extLst>
          </p:cNvPr>
          <p:cNvSpPr/>
          <p:nvPr/>
        </p:nvSpPr>
        <p:spPr>
          <a:xfrm>
            <a:off x="2548212" y="238757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81" name="Text 14">
            <a:extLst>
              <a:ext uri="{FF2B5EF4-FFF2-40B4-BE49-F238E27FC236}">
                <a16:creationId xmlns:a16="http://schemas.microsoft.com/office/drawing/2014/main" id="{7B8A82EE-A86D-195C-243D-5F97A9BCF8DF}"/>
              </a:ext>
            </a:extLst>
          </p:cNvPr>
          <p:cNvSpPr/>
          <p:nvPr/>
        </p:nvSpPr>
        <p:spPr>
          <a:xfrm>
            <a:off x="2506727" y="2767112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remove HTML,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Noisy text</a:t>
            </a:r>
            <a:endParaRPr lang="en-US" sz="1000" noProof="0" dirty="0"/>
          </a:p>
        </p:txBody>
      </p:sp>
      <p:pic>
        <p:nvPicPr>
          <p:cNvPr id="182" name="Graphic 181" descr="Eraser with solid fill">
            <a:extLst>
              <a:ext uri="{FF2B5EF4-FFF2-40B4-BE49-F238E27FC236}">
                <a16:creationId xmlns:a16="http://schemas.microsoft.com/office/drawing/2014/main" id="{0A63828E-2375-0178-AD99-2175384C86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86269" y="1971173"/>
            <a:ext cx="329184" cy="329184"/>
          </a:xfrm>
          <a:prstGeom prst="rect">
            <a:avLst/>
          </a:prstGeom>
        </p:spPr>
      </p:pic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53EE465-B4F8-FFA7-C4B2-5C5244AB048E}"/>
              </a:ext>
            </a:extLst>
          </p:cNvPr>
          <p:cNvCxnSpPr>
            <a:stCxn id="123" idx="3"/>
            <a:endCxn id="177" idx="1"/>
          </p:cNvCxnSpPr>
          <p:nvPr/>
        </p:nvCxnSpPr>
        <p:spPr>
          <a:xfrm flipV="1">
            <a:off x="2206517" y="2892583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5E00EA43-1B2B-CA44-97D2-1889C575847A}"/>
              </a:ext>
            </a:extLst>
          </p:cNvPr>
          <p:cNvCxnSpPr>
            <a:stCxn id="177" idx="3"/>
            <a:endCxn id="131" idx="1"/>
          </p:cNvCxnSpPr>
          <p:nvPr/>
        </p:nvCxnSpPr>
        <p:spPr>
          <a:xfrm>
            <a:off x="3754883" y="2892583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E79DD9-2ECA-9B1B-2FB2-720A1328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32</a:t>
            </a:fld>
            <a:endParaRPr lang="en-US" noProof="0" dirty="0"/>
          </a:p>
        </p:txBody>
      </p:sp>
      <p:pic>
        <p:nvPicPr>
          <p:cNvPr id="6" name="Image 7" descr="preencoded.png">
            <a:extLst>
              <a:ext uri="{FF2B5EF4-FFF2-40B4-BE49-F238E27FC236}">
                <a16:creationId xmlns:a16="http://schemas.microsoft.com/office/drawing/2014/main" id="{28F002A9-2113-96DB-9411-8589BC086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502" y="2054639"/>
            <a:ext cx="237744" cy="237744"/>
          </a:xfrm>
          <a:prstGeom prst="rect">
            <a:avLst/>
          </a:prstGeom>
        </p:spPr>
      </p:pic>
      <p:pic>
        <p:nvPicPr>
          <p:cNvPr id="8" name="Image 9" descr="preencoded.png">
            <a:extLst>
              <a:ext uri="{FF2B5EF4-FFF2-40B4-BE49-F238E27FC236}">
                <a16:creationId xmlns:a16="http://schemas.microsoft.com/office/drawing/2014/main" id="{D8D68E1F-D678-30A8-1B5D-C2D4A5D05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221" y="2959429"/>
            <a:ext cx="237744" cy="237744"/>
          </a:xfrm>
          <a:prstGeom prst="rect">
            <a:avLst/>
          </a:prstGeom>
        </p:spPr>
      </p:pic>
      <p:sp>
        <p:nvSpPr>
          <p:cNvPr id="10" name="Shape 30">
            <a:extLst>
              <a:ext uri="{FF2B5EF4-FFF2-40B4-BE49-F238E27FC236}">
                <a16:creationId xmlns:a16="http://schemas.microsoft.com/office/drawing/2014/main" id="{38164399-1BFB-1F50-D69B-798912B1FBE2}"/>
              </a:ext>
            </a:extLst>
          </p:cNvPr>
          <p:cNvSpPr/>
          <p:nvPr/>
        </p:nvSpPr>
        <p:spPr>
          <a:xfrm>
            <a:off x="10089805" y="1926156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31">
            <a:extLst>
              <a:ext uri="{FF2B5EF4-FFF2-40B4-BE49-F238E27FC236}">
                <a16:creationId xmlns:a16="http://schemas.microsoft.com/office/drawing/2014/main" id="{8B79C6AC-8EDC-729A-9779-233A1175416E}"/>
              </a:ext>
            </a:extLst>
          </p:cNvPr>
          <p:cNvSpPr/>
          <p:nvPr/>
        </p:nvSpPr>
        <p:spPr>
          <a:xfrm>
            <a:off x="10089805" y="1926157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32">
            <a:extLst>
              <a:ext uri="{FF2B5EF4-FFF2-40B4-BE49-F238E27FC236}">
                <a16:creationId xmlns:a16="http://schemas.microsoft.com/office/drawing/2014/main" id="{D60DD254-ADA1-4AF5-B44C-A0D2093F5DCC}"/>
              </a:ext>
            </a:extLst>
          </p:cNvPr>
          <p:cNvSpPr/>
          <p:nvPr/>
        </p:nvSpPr>
        <p:spPr>
          <a:xfrm>
            <a:off x="10089805" y="192615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6" name="Image 10" descr="preencoded.png">
            <a:extLst>
              <a:ext uri="{FF2B5EF4-FFF2-40B4-BE49-F238E27FC236}">
                <a16:creationId xmlns:a16="http://schemas.microsoft.com/office/drawing/2014/main" id="{54EF9721-E1B6-F29B-3CD1-3142AE2718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2963" y="2019144"/>
            <a:ext cx="263059" cy="263059"/>
          </a:xfrm>
          <a:prstGeom prst="rect">
            <a:avLst/>
          </a:prstGeom>
        </p:spPr>
      </p:pic>
      <p:sp>
        <p:nvSpPr>
          <p:cNvPr id="18" name="Text 33">
            <a:extLst>
              <a:ext uri="{FF2B5EF4-FFF2-40B4-BE49-F238E27FC236}">
                <a16:creationId xmlns:a16="http://schemas.microsoft.com/office/drawing/2014/main" id="{27CAFFBC-1AEE-4883-A0E3-6C62CDD07F3F}"/>
              </a:ext>
            </a:extLst>
          </p:cNvPr>
          <p:cNvSpPr/>
          <p:nvPr/>
        </p:nvSpPr>
        <p:spPr>
          <a:xfrm>
            <a:off x="10285604" y="250430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20" name="Text 34">
            <a:extLst>
              <a:ext uri="{FF2B5EF4-FFF2-40B4-BE49-F238E27FC236}">
                <a16:creationId xmlns:a16="http://schemas.microsoft.com/office/drawing/2014/main" id="{74B5CC1A-5610-8746-AFBB-206ACF1AD786}"/>
              </a:ext>
            </a:extLst>
          </p:cNvPr>
          <p:cNvSpPr/>
          <p:nvPr/>
        </p:nvSpPr>
        <p:spPr>
          <a:xfrm>
            <a:off x="10304607" y="302551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22" name="Image 11" descr="preencoded.png">
            <a:extLst>
              <a:ext uri="{FF2B5EF4-FFF2-40B4-BE49-F238E27FC236}">
                <a16:creationId xmlns:a16="http://schemas.microsoft.com/office/drawing/2014/main" id="{37D630B1-A254-F617-9CF4-7641002F9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2805" y="2959429"/>
            <a:ext cx="237744" cy="237744"/>
          </a:xfrm>
          <a:prstGeom prst="rect">
            <a:avLst/>
          </a:prstGeom>
        </p:spPr>
      </p:pic>
      <p:cxnSp>
        <p:nvCxnSpPr>
          <p:cNvPr id="23" name="Straight Arrow Connector 174">
            <a:extLst>
              <a:ext uri="{FF2B5EF4-FFF2-40B4-BE49-F238E27FC236}">
                <a16:creationId xmlns:a16="http://schemas.microsoft.com/office/drawing/2014/main" id="{21722639-F541-A923-D418-00721B9F3EE5}"/>
              </a:ext>
            </a:extLst>
          </p:cNvPr>
          <p:cNvCxnSpPr>
            <a:cxnSpLocks/>
          </p:cNvCxnSpPr>
          <p:nvPr/>
        </p:nvCxnSpPr>
        <p:spPr>
          <a:xfrm>
            <a:off x="9914468" y="290943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100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BF50B-304A-9E25-C387-91DCBC31E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8D09-D7D6-7F14-3DFD-221DE823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9" y="-222791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Pipeline: Delivery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12D244D-1F34-B011-8D32-D426B4DD2077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11DE4D1-BE12-171B-035E-04CEABC234FA}"/>
              </a:ext>
            </a:extLst>
          </p:cNvPr>
          <p:cNvSpPr/>
          <p:nvPr/>
        </p:nvSpPr>
        <p:spPr>
          <a:xfrm>
            <a:off x="2302351" y="94704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3C644-5DE4-D59B-24CE-567B3DB5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33</a:t>
            </a:fld>
            <a:endParaRPr lang="en-US" noProof="0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0B629CC2-DC56-9232-8218-70CA56E63055}"/>
              </a:ext>
            </a:extLst>
          </p:cNvPr>
          <p:cNvSpPr txBox="1"/>
          <p:nvPr/>
        </p:nvSpPr>
        <p:spPr>
          <a:xfrm>
            <a:off x="2702552" y="6177079"/>
            <a:ext cx="6786732" cy="307777"/>
          </a:xfrm>
          <a:prstGeom prst="rect">
            <a:avLst/>
          </a:prstGeom>
          <a:solidFill>
            <a:srgbClr val="E8F7FE"/>
          </a:solidFill>
        </p:spPr>
        <p:txBody>
          <a:bodyPr wrap="square">
            <a:spAutoFit/>
          </a:bodyPr>
          <a:lstStyle/>
          <a:p>
            <a:r>
              <a:rPr lang="en-US" sz="1400" noProof="0" dirty="0"/>
              <a:t>Even if only a </a:t>
            </a:r>
            <a:r>
              <a:rPr lang="en-US" sz="1400" b="1" noProof="0" dirty="0"/>
              <a:t>child chunk</a:t>
            </a:r>
            <a:r>
              <a:rPr lang="en-US" sz="1400" noProof="0" dirty="0"/>
              <a:t> is retrieved, it still contains context  + fix signal.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6D6ECA-AE58-0DF8-E3C8-BBD9E54C0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208" y="1412984"/>
            <a:ext cx="5769419" cy="44687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ADF94A-D18F-557B-D3BD-666F72DE2686}"/>
              </a:ext>
            </a:extLst>
          </p:cNvPr>
          <p:cNvSpPr/>
          <p:nvPr/>
        </p:nvSpPr>
        <p:spPr>
          <a:xfrm>
            <a:off x="3378228" y="1518043"/>
            <a:ext cx="673209" cy="3134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B0453C-A8B4-066C-76FA-3CB7091CDEF1}"/>
              </a:ext>
            </a:extLst>
          </p:cNvPr>
          <p:cNvSpPr/>
          <p:nvPr/>
        </p:nvSpPr>
        <p:spPr>
          <a:xfrm>
            <a:off x="3658159" y="5557431"/>
            <a:ext cx="1058219" cy="2057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602667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3DCD3-82FE-BD11-2F8B-94A44728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32855-0AB3-1658-D242-228DB627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The Data Preprocessing Pipeline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5672C180-ED84-783E-43FB-D43ED24E07EA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62ED7BF6-F08D-ABA0-F00B-5FB419A5C98A}"/>
              </a:ext>
            </a:extLst>
          </p:cNvPr>
          <p:cNvSpPr/>
          <p:nvPr/>
        </p:nvSpPr>
        <p:spPr>
          <a:xfrm>
            <a:off x="1386844" y="117885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Shape 5">
            <a:extLst>
              <a:ext uri="{FF2B5EF4-FFF2-40B4-BE49-F238E27FC236}">
                <a16:creationId xmlns:a16="http://schemas.microsoft.com/office/drawing/2014/main" id="{2561BF30-5529-D999-A900-94557B48C4EF}"/>
              </a:ext>
            </a:extLst>
          </p:cNvPr>
          <p:cNvSpPr/>
          <p:nvPr/>
        </p:nvSpPr>
        <p:spPr>
          <a:xfrm>
            <a:off x="946493" y="196312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4" name="Shape 6">
            <a:extLst>
              <a:ext uri="{FF2B5EF4-FFF2-40B4-BE49-F238E27FC236}">
                <a16:creationId xmlns:a16="http://schemas.microsoft.com/office/drawing/2014/main" id="{B05FE461-FCCC-4B8B-DC91-0D1FC3D1C3ED}"/>
              </a:ext>
            </a:extLst>
          </p:cNvPr>
          <p:cNvSpPr/>
          <p:nvPr/>
        </p:nvSpPr>
        <p:spPr>
          <a:xfrm>
            <a:off x="946493" y="1963122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5" name="Text 7">
            <a:extLst>
              <a:ext uri="{FF2B5EF4-FFF2-40B4-BE49-F238E27FC236}">
                <a16:creationId xmlns:a16="http://schemas.microsoft.com/office/drawing/2014/main" id="{CE30A3DE-1786-E784-073E-F9D332E9F7A0}"/>
              </a:ext>
            </a:extLst>
          </p:cNvPr>
          <p:cNvSpPr/>
          <p:nvPr/>
        </p:nvSpPr>
        <p:spPr>
          <a:xfrm>
            <a:off x="946493" y="196312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26" name="Image 0" descr="preencoded.png">
            <a:extLst>
              <a:ext uri="{FF2B5EF4-FFF2-40B4-BE49-F238E27FC236}">
                <a16:creationId xmlns:a16="http://schemas.microsoft.com/office/drawing/2014/main" id="{C344A903-4704-DFA5-5102-F319D673E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705" y="2031465"/>
            <a:ext cx="329184" cy="329184"/>
          </a:xfrm>
          <a:prstGeom prst="rect">
            <a:avLst/>
          </a:prstGeom>
        </p:spPr>
      </p:pic>
      <p:sp>
        <p:nvSpPr>
          <p:cNvPr id="127" name="Text 8">
            <a:extLst>
              <a:ext uri="{FF2B5EF4-FFF2-40B4-BE49-F238E27FC236}">
                <a16:creationId xmlns:a16="http://schemas.microsoft.com/office/drawing/2014/main" id="{F7B389A2-A9E3-FE58-4522-170CD40348A7}"/>
              </a:ext>
            </a:extLst>
          </p:cNvPr>
          <p:cNvSpPr/>
          <p:nvPr/>
        </p:nvSpPr>
        <p:spPr>
          <a:xfrm>
            <a:off x="1152233" y="247966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128" name="Text 9">
            <a:extLst>
              <a:ext uri="{FF2B5EF4-FFF2-40B4-BE49-F238E27FC236}">
                <a16:creationId xmlns:a16="http://schemas.microsoft.com/office/drawing/2014/main" id="{7C2ADB7C-ED18-EB2F-EFEA-9B2932A34571}"/>
              </a:ext>
            </a:extLst>
          </p:cNvPr>
          <p:cNvSpPr/>
          <p:nvPr/>
        </p:nvSpPr>
        <p:spPr>
          <a:xfrm>
            <a:off x="1110195" y="293153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29" name="Image 1" descr="preencoded.png">
            <a:extLst>
              <a:ext uri="{FF2B5EF4-FFF2-40B4-BE49-F238E27FC236}">
                <a16:creationId xmlns:a16="http://schemas.microsoft.com/office/drawing/2014/main" id="{3DC3E013-D8EF-06C8-8575-AFA6B68C2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635" y="3003395"/>
            <a:ext cx="237744" cy="237744"/>
          </a:xfrm>
          <a:prstGeom prst="rect">
            <a:avLst/>
          </a:prstGeom>
        </p:spPr>
      </p:pic>
      <p:pic>
        <p:nvPicPr>
          <p:cNvPr id="130" name="Image 3" descr="preencoded.png">
            <a:extLst>
              <a:ext uri="{FF2B5EF4-FFF2-40B4-BE49-F238E27FC236}">
                <a16:creationId xmlns:a16="http://schemas.microsoft.com/office/drawing/2014/main" id="{2002A6AE-A1C4-B0A0-3138-5D59FD9E9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464" y="2991820"/>
            <a:ext cx="237744" cy="237744"/>
          </a:xfrm>
          <a:prstGeom prst="rect">
            <a:avLst/>
          </a:prstGeom>
        </p:spPr>
      </p:pic>
      <p:sp>
        <p:nvSpPr>
          <p:cNvPr id="131" name="Shape 15">
            <a:extLst>
              <a:ext uri="{FF2B5EF4-FFF2-40B4-BE49-F238E27FC236}">
                <a16:creationId xmlns:a16="http://schemas.microsoft.com/office/drawing/2014/main" id="{8E7EEF4E-9757-E67B-AF72-6964480A96DF}"/>
              </a:ext>
            </a:extLst>
          </p:cNvPr>
          <p:cNvSpPr/>
          <p:nvPr/>
        </p:nvSpPr>
        <p:spPr>
          <a:xfrm>
            <a:off x="3925508" y="195854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2" name="Shape 16">
            <a:extLst>
              <a:ext uri="{FF2B5EF4-FFF2-40B4-BE49-F238E27FC236}">
                <a16:creationId xmlns:a16="http://schemas.microsoft.com/office/drawing/2014/main" id="{60F45BA5-FB2F-0408-CEDA-27C139B9B59C}"/>
              </a:ext>
            </a:extLst>
          </p:cNvPr>
          <p:cNvSpPr/>
          <p:nvPr/>
        </p:nvSpPr>
        <p:spPr>
          <a:xfrm>
            <a:off x="3931373" y="1969129"/>
            <a:ext cx="1393389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3" name="Text 17">
            <a:extLst>
              <a:ext uri="{FF2B5EF4-FFF2-40B4-BE49-F238E27FC236}">
                <a16:creationId xmlns:a16="http://schemas.microsoft.com/office/drawing/2014/main" id="{6C8CCCA1-CB85-2594-21B0-B50560F46961}"/>
              </a:ext>
            </a:extLst>
          </p:cNvPr>
          <p:cNvSpPr/>
          <p:nvPr/>
        </p:nvSpPr>
        <p:spPr>
          <a:xfrm>
            <a:off x="3996048" y="195854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34" name="Image 4" descr="preencoded.png">
            <a:extLst>
              <a:ext uri="{FF2B5EF4-FFF2-40B4-BE49-F238E27FC236}">
                <a16:creationId xmlns:a16="http://schemas.microsoft.com/office/drawing/2014/main" id="{A9305C69-786B-AC28-A993-F6DD8B7E2E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970" y="2035782"/>
            <a:ext cx="329184" cy="329184"/>
          </a:xfrm>
          <a:prstGeom prst="rect">
            <a:avLst/>
          </a:prstGeom>
        </p:spPr>
      </p:pic>
      <p:sp>
        <p:nvSpPr>
          <p:cNvPr id="135" name="Text 18">
            <a:extLst>
              <a:ext uri="{FF2B5EF4-FFF2-40B4-BE49-F238E27FC236}">
                <a16:creationId xmlns:a16="http://schemas.microsoft.com/office/drawing/2014/main" id="{D96A5AFA-F2F0-A05B-04D0-9ECDBAEE927B}"/>
              </a:ext>
            </a:extLst>
          </p:cNvPr>
          <p:cNvSpPr/>
          <p:nvPr/>
        </p:nvSpPr>
        <p:spPr>
          <a:xfrm>
            <a:off x="4020847" y="2606218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136" name="Text 19">
            <a:extLst>
              <a:ext uri="{FF2B5EF4-FFF2-40B4-BE49-F238E27FC236}">
                <a16:creationId xmlns:a16="http://schemas.microsoft.com/office/drawing/2014/main" id="{35C3F10A-967F-81D4-577A-E2EEFCDCE50C}"/>
              </a:ext>
            </a:extLst>
          </p:cNvPr>
          <p:cNvSpPr/>
          <p:nvPr/>
        </p:nvSpPr>
        <p:spPr>
          <a:xfrm>
            <a:off x="4080651" y="3016140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137" name="Image 5" descr="preencoded.png">
            <a:extLst>
              <a:ext uri="{FF2B5EF4-FFF2-40B4-BE49-F238E27FC236}">
                <a16:creationId xmlns:a16="http://schemas.microsoft.com/office/drawing/2014/main" id="{758E59A0-72D9-07CF-E87B-6613EF9B9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9944" y="2987000"/>
            <a:ext cx="237744" cy="237744"/>
          </a:xfrm>
          <a:prstGeom prst="rect">
            <a:avLst/>
          </a:prstGeom>
        </p:spPr>
      </p:pic>
      <p:sp>
        <p:nvSpPr>
          <p:cNvPr id="138" name="Shape 20">
            <a:extLst>
              <a:ext uri="{FF2B5EF4-FFF2-40B4-BE49-F238E27FC236}">
                <a16:creationId xmlns:a16="http://schemas.microsoft.com/office/drawing/2014/main" id="{4E551887-E0B0-7498-E9E5-E0FE3E49611D}"/>
              </a:ext>
            </a:extLst>
          </p:cNvPr>
          <p:cNvSpPr/>
          <p:nvPr/>
        </p:nvSpPr>
        <p:spPr>
          <a:xfrm>
            <a:off x="5527073" y="196912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9" name="Shape 21">
            <a:extLst>
              <a:ext uri="{FF2B5EF4-FFF2-40B4-BE49-F238E27FC236}">
                <a16:creationId xmlns:a16="http://schemas.microsoft.com/office/drawing/2014/main" id="{16E6B34A-165E-AE38-51EC-2ADC6D776EDE}"/>
              </a:ext>
            </a:extLst>
          </p:cNvPr>
          <p:cNvSpPr/>
          <p:nvPr/>
        </p:nvSpPr>
        <p:spPr>
          <a:xfrm>
            <a:off x="5540528" y="195372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0" name="Text 22">
            <a:extLst>
              <a:ext uri="{FF2B5EF4-FFF2-40B4-BE49-F238E27FC236}">
                <a16:creationId xmlns:a16="http://schemas.microsoft.com/office/drawing/2014/main" id="{139E12DC-9AAB-1F4D-607B-AA409AAB2660}"/>
              </a:ext>
            </a:extLst>
          </p:cNvPr>
          <p:cNvSpPr/>
          <p:nvPr/>
        </p:nvSpPr>
        <p:spPr>
          <a:xfrm>
            <a:off x="5540528" y="195372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41" name="Text 23">
            <a:extLst>
              <a:ext uri="{FF2B5EF4-FFF2-40B4-BE49-F238E27FC236}">
                <a16:creationId xmlns:a16="http://schemas.microsoft.com/office/drawing/2014/main" id="{16448B02-B0DE-7E0B-D59D-223161CF07BF}"/>
              </a:ext>
            </a:extLst>
          </p:cNvPr>
          <p:cNvSpPr/>
          <p:nvPr/>
        </p:nvSpPr>
        <p:spPr>
          <a:xfrm>
            <a:off x="5726846" y="24772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142" name="Text 24">
            <a:extLst>
              <a:ext uri="{FF2B5EF4-FFF2-40B4-BE49-F238E27FC236}">
                <a16:creationId xmlns:a16="http://schemas.microsoft.com/office/drawing/2014/main" id="{8F56D65E-716E-3D96-BD93-21EC8150EC3A}"/>
              </a:ext>
            </a:extLst>
          </p:cNvPr>
          <p:cNvSpPr/>
          <p:nvPr/>
        </p:nvSpPr>
        <p:spPr>
          <a:xfrm>
            <a:off x="5736327" y="285447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158" name="Shape 35">
            <a:extLst>
              <a:ext uri="{FF2B5EF4-FFF2-40B4-BE49-F238E27FC236}">
                <a16:creationId xmlns:a16="http://schemas.microsoft.com/office/drawing/2014/main" id="{2AEE3F8F-A192-EFAF-7944-1E589D97E71C}"/>
              </a:ext>
            </a:extLst>
          </p:cNvPr>
          <p:cNvSpPr/>
          <p:nvPr/>
        </p:nvSpPr>
        <p:spPr>
          <a:xfrm>
            <a:off x="8630756" y="1969129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9" name="Shape 36">
            <a:extLst>
              <a:ext uri="{FF2B5EF4-FFF2-40B4-BE49-F238E27FC236}">
                <a16:creationId xmlns:a16="http://schemas.microsoft.com/office/drawing/2014/main" id="{D3D40BC1-5EAD-637D-30CC-F641B72EB1AF}"/>
              </a:ext>
            </a:extLst>
          </p:cNvPr>
          <p:cNvSpPr/>
          <p:nvPr/>
        </p:nvSpPr>
        <p:spPr>
          <a:xfrm>
            <a:off x="8630756" y="1969130"/>
            <a:ext cx="1218607" cy="438912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0" name="Text 37">
            <a:extLst>
              <a:ext uri="{FF2B5EF4-FFF2-40B4-BE49-F238E27FC236}">
                <a16:creationId xmlns:a16="http://schemas.microsoft.com/office/drawing/2014/main" id="{C11ACD71-E349-B4F8-00D0-F3128D8CDC07}"/>
              </a:ext>
            </a:extLst>
          </p:cNvPr>
          <p:cNvSpPr/>
          <p:nvPr/>
        </p:nvSpPr>
        <p:spPr>
          <a:xfrm>
            <a:off x="8630756" y="196913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61" name="Image 12" descr="preencoded.png">
            <a:extLst>
              <a:ext uri="{FF2B5EF4-FFF2-40B4-BE49-F238E27FC236}">
                <a16:creationId xmlns:a16="http://schemas.microsoft.com/office/drawing/2014/main" id="{AD563121-8DA3-4CA8-7DCF-14B0D16F34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3123" y="2054199"/>
            <a:ext cx="288037" cy="288037"/>
          </a:xfrm>
          <a:prstGeom prst="rect">
            <a:avLst/>
          </a:prstGeom>
        </p:spPr>
      </p:pic>
      <p:sp>
        <p:nvSpPr>
          <p:cNvPr id="162" name="Text 38">
            <a:extLst>
              <a:ext uri="{FF2B5EF4-FFF2-40B4-BE49-F238E27FC236}">
                <a16:creationId xmlns:a16="http://schemas.microsoft.com/office/drawing/2014/main" id="{74C399EC-4527-0344-49A9-F110CC247A09}"/>
              </a:ext>
            </a:extLst>
          </p:cNvPr>
          <p:cNvSpPr/>
          <p:nvPr/>
        </p:nvSpPr>
        <p:spPr>
          <a:xfrm>
            <a:off x="8568342" y="2588279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163" name="Text 39">
            <a:extLst>
              <a:ext uri="{FF2B5EF4-FFF2-40B4-BE49-F238E27FC236}">
                <a16:creationId xmlns:a16="http://schemas.microsoft.com/office/drawing/2014/main" id="{B5C6C52F-29B4-0954-BE39-0E087F2F7471}"/>
              </a:ext>
            </a:extLst>
          </p:cNvPr>
          <p:cNvSpPr/>
          <p:nvPr/>
        </p:nvSpPr>
        <p:spPr>
          <a:xfrm>
            <a:off x="8729746" y="293092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64" name="Graphic 163" descr="Dice with solid fill">
            <a:extLst>
              <a:ext uri="{FF2B5EF4-FFF2-40B4-BE49-F238E27FC236}">
                <a16:creationId xmlns:a16="http://schemas.microsoft.com/office/drawing/2014/main" id="{68A36980-BBD4-66CA-7F7E-C4ADDF2CB6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2709" y="1981159"/>
            <a:ext cx="402338" cy="402338"/>
          </a:xfrm>
          <a:prstGeom prst="rect">
            <a:avLst/>
          </a:prstGeom>
        </p:spPr>
      </p:pic>
      <p:sp>
        <p:nvSpPr>
          <p:cNvPr id="165" name="Shape 20">
            <a:extLst>
              <a:ext uri="{FF2B5EF4-FFF2-40B4-BE49-F238E27FC236}">
                <a16:creationId xmlns:a16="http://schemas.microsoft.com/office/drawing/2014/main" id="{417A1DEC-C0D6-D8D6-56A7-49F8701D1B06}"/>
              </a:ext>
            </a:extLst>
          </p:cNvPr>
          <p:cNvSpPr/>
          <p:nvPr/>
        </p:nvSpPr>
        <p:spPr>
          <a:xfrm>
            <a:off x="7083031" y="196312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66" name="Shape 21">
            <a:extLst>
              <a:ext uri="{FF2B5EF4-FFF2-40B4-BE49-F238E27FC236}">
                <a16:creationId xmlns:a16="http://schemas.microsoft.com/office/drawing/2014/main" id="{E9E0B432-F3FE-38F2-E945-89CA469A2DCF}"/>
              </a:ext>
            </a:extLst>
          </p:cNvPr>
          <p:cNvSpPr/>
          <p:nvPr/>
        </p:nvSpPr>
        <p:spPr>
          <a:xfrm>
            <a:off x="7083030" y="195854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7" name="Text 22">
            <a:extLst>
              <a:ext uri="{FF2B5EF4-FFF2-40B4-BE49-F238E27FC236}">
                <a16:creationId xmlns:a16="http://schemas.microsoft.com/office/drawing/2014/main" id="{85A8BECC-EA21-3299-432D-7EEF224CB153}"/>
              </a:ext>
            </a:extLst>
          </p:cNvPr>
          <p:cNvSpPr/>
          <p:nvPr/>
        </p:nvSpPr>
        <p:spPr>
          <a:xfrm>
            <a:off x="7157672" y="195854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68" name="Text 23">
            <a:extLst>
              <a:ext uri="{FF2B5EF4-FFF2-40B4-BE49-F238E27FC236}">
                <a16:creationId xmlns:a16="http://schemas.microsoft.com/office/drawing/2014/main" id="{1D46DCC7-826B-0B49-E4AF-C6F81DB44D00}"/>
              </a:ext>
            </a:extLst>
          </p:cNvPr>
          <p:cNvSpPr/>
          <p:nvPr/>
        </p:nvSpPr>
        <p:spPr>
          <a:xfrm>
            <a:off x="7343990" y="24820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69" name="Text 24">
            <a:extLst>
              <a:ext uri="{FF2B5EF4-FFF2-40B4-BE49-F238E27FC236}">
                <a16:creationId xmlns:a16="http://schemas.microsoft.com/office/drawing/2014/main" id="{3CCA5F01-17A2-F21F-6F7D-1BE746652B3F}"/>
              </a:ext>
            </a:extLst>
          </p:cNvPr>
          <p:cNvSpPr/>
          <p:nvPr/>
        </p:nvSpPr>
        <p:spPr>
          <a:xfrm>
            <a:off x="7343990" y="29918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70" name="Graphic 169" descr="Database with solid fill">
            <a:extLst>
              <a:ext uri="{FF2B5EF4-FFF2-40B4-BE49-F238E27FC236}">
                <a16:creationId xmlns:a16="http://schemas.microsoft.com/office/drawing/2014/main" id="{9D281805-78F2-729A-246D-168804F7C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1255" y="1982868"/>
            <a:ext cx="390272" cy="390272"/>
          </a:xfrm>
          <a:prstGeom prst="rect">
            <a:avLst/>
          </a:prstGeom>
        </p:spPr>
      </p:pic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406870E-57DB-42FB-1EA7-90054EB1C535}"/>
              </a:ext>
            </a:extLst>
          </p:cNvPr>
          <p:cNvCxnSpPr>
            <a:stCxn id="131" idx="3"/>
            <a:endCxn id="138" idx="1"/>
          </p:cNvCxnSpPr>
          <p:nvPr/>
        </p:nvCxnSpPr>
        <p:spPr>
          <a:xfrm>
            <a:off x="5332236" y="294911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440F9871-D6B2-1BE0-B70A-43A7AD6592BC}"/>
              </a:ext>
            </a:extLst>
          </p:cNvPr>
          <p:cNvCxnSpPr>
            <a:stCxn id="138" idx="3"/>
            <a:endCxn id="165" idx="1"/>
          </p:cNvCxnSpPr>
          <p:nvPr/>
        </p:nvCxnSpPr>
        <p:spPr>
          <a:xfrm flipV="1">
            <a:off x="6924511" y="295369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37DA82D2-0A3C-8987-9F75-1E7011898CC8}"/>
              </a:ext>
            </a:extLst>
          </p:cNvPr>
          <p:cNvCxnSpPr>
            <a:cxnSpLocks/>
            <a:endCxn id="158" idx="1"/>
          </p:cNvCxnSpPr>
          <p:nvPr/>
        </p:nvCxnSpPr>
        <p:spPr>
          <a:xfrm>
            <a:off x="8485604" y="2964271"/>
            <a:ext cx="145152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" name="Image 1" descr="preencoded.png">
            <a:extLst>
              <a:ext uri="{FF2B5EF4-FFF2-40B4-BE49-F238E27FC236}">
                <a16:creationId xmlns:a16="http://schemas.microsoft.com/office/drawing/2014/main" id="{ED7416B3-D051-1614-EDAB-274B1C1EF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376" y="3016140"/>
            <a:ext cx="237744" cy="237744"/>
          </a:xfrm>
          <a:prstGeom prst="rect">
            <a:avLst/>
          </a:prstGeom>
        </p:spPr>
      </p:pic>
      <p:sp>
        <p:nvSpPr>
          <p:cNvPr id="177" name="Shape 10">
            <a:extLst>
              <a:ext uri="{FF2B5EF4-FFF2-40B4-BE49-F238E27FC236}">
                <a16:creationId xmlns:a16="http://schemas.microsoft.com/office/drawing/2014/main" id="{B83A63AB-D069-845E-6329-7EF53E773BE6}"/>
              </a:ext>
            </a:extLst>
          </p:cNvPr>
          <p:cNvSpPr/>
          <p:nvPr/>
        </p:nvSpPr>
        <p:spPr>
          <a:xfrm>
            <a:off x="2386893" y="196051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78" name="Shape 11">
            <a:extLst>
              <a:ext uri="{FF2B5EF4-FFF2-40B4-BE49-F238E27FC236}">
                <a16:creationId xmlns:a16="http://schemas.microsoft.com/office/drawing/2014/main" id="{8F90E75E-45BF-E019-E95F-770C9F40AED8}"/>
              </a:ext>
            </a:extLst>
          </p:cNvPr>
          <p:cNvSpPr/>
          <p:nvPr/>
        </p:nvSpPr>
        <p:spPr>
          <a:xfrm>
            <a:off x="2386893" y="1960516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9" name="Text 12">
            <a:extLst>
              <a:ext uri="{FF2B5EF4-FFF2-40B4-BE49-F238E27FC236}">
                <a16:creationId xmlns:a16="http://schemas.microsoft.com/office/drawing/2014/main" id="{B9C08674-3B0B-88A6-64BF-91ADE783E48C}"/>
              </a:ext>
            </a:extLst>
          </p:cNvPr>
          <p:cNvSpPr/>
          <p:nvPr/>
        </p:nvSpPr>
        <p:spPr>
          <a:xfrm>
            <a:off x="2386893" y="196051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80" name="Text 13">
            <a:extLst>
              <a:ext uri="{FF2B5EF4-FFF2-40B4-BE49-F238E27FC236}">
                <a16:creationId xmlns:a16="http://schemas.microsoft.com/office/drawing/2014/main" id="{E8E17C3A-D1B4-EB51-2113-3745EBB8FB8F}"/>
              </a:ext>
            </a:extLst>
          </p:cNvPr>
          <p:cNvSpPr/>
          <p:nvPr/>
        </p:nvSpPr>
        <p:spPr>
          <a:xfrm>
            <a:off x="2592970" y="24425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81" name="Text 14">
            <a:extLst>
              <a:ext uri="{FF2B5EF4-FFF2-40B4-BE49-F238E27FC236}">
                <a16:creationId xmlns:a16="http://schemas.microsoft.com/office/drawing/2014/main" id="{7E8378E5-A3EE-7FC5-51F7-92167AF8FBA7}"/>
              </a:ext>
            </a:extLst>
          </p:cNvPr>
          <p:cNvSpPr/>
          <p:nvPr/>
        </p:nvSpPr>
        <p:spPr>
          <a:xfrm>
            <a:off x="2551485" y="2822115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remove HTML,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Noisy text</a:t>
            </a:r>
            <a:endParaRPr lang="en-US" sz="1000" noProof="0" dirty="0"/>
          </a:p>
        </p:txBody>
      </p:sp>
      <p:pic>
        <p:nvPicPr>
          <p:cNvPr id="182" name="Graphic 181" descr="Eraser with solid fill">
            <a:extLst>
              <a:ext uri="{FF2B5EF4-FFF2-40B4-BE49-F238E27FC236}">
                <a16:creationId xmlns:a16="http://schemas.microsoft.com/office/drawing/2014/main" id="{8AFDCD61-C96B-DD02-EE8A-0F7072B158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31027" y="2026176"/>
            <a:ext cx="329184" cy="329184"/>
          </a:xfrm>
          <a:prstGeom prst="rect">
            <a:avLst/>
          </a:prstGeom>
        </p:spPr>
      </p:pic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3B5761ED-E710-AD4C-382F-4E7F5402C58E}"/>
              </a:ext>
            </a:extLst>
          </p:cNvPr>
          <p:cNvCxnSpPr>
            <a:stCxn id="123" idx="3"/>
            <a:endCxn id="177" idx="1"/>
          </p:cNvCxnSpPr>
          <p:nvPr/>
        </p:nvCxnSpPr>
        <p:spPr>
          <a:xfrm flipV="1">
            <a:off x="2251275" y="294758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5CB811C6-8E72-50FA-1C1B-96A38EEC0D86}"/>
              </a:ext>
            </a:extLst>
          </p:cNvPr>
          <p:cNvCxnSpPr>
            <a:stCxn id="177" idx="3"/>
            <a:endCxn id="131" idx="1"/>
          </p:cNvCxnSpPr>
          <p:nvPr/>
        </p:nvCxnSpPr>
        <p:spPr>
          <a:xfrm>
            <a:off x="3799641" y="294758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259C64-3848-9026-6B60-7E4FA11D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34</a:t>
            </a:fld>
            <a:endParaRPr lang="en-US" noProof="0" dirty="0"/>
          </a:p>
        </p:txBody>
      </p:sp>
      <p:sp>
        <p:nvSpPr>
          <p:cNvPr id="4" name="Shape 44">
            <a:extLst>
              <a:ext uri="{FF2B5EF4-FFF2-40B4-BE49-F238E27FC236}">
                <a16:creationId xmlns:a16="http://schemas.microsoft.com/office/drawing/2014/main" id="{983EFF2F-1893-9A6B-FD78-8AB9C88831AC}"/>
              </a:ext>
            </a:extLst>
          </p:cNvPr>
          <p:cNvSpPr/>
          <p:nvPr/>
        </p:nvSpPr>
        <p:spPr>
          <a:xfrm>
            <a:off x="5300476" y="4496363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45">
            <a:extLst>
              <a:ext uri="{FF2B5EF4-FFF2-40B4-BE49-F238E27FC236}">
                <a16:creationId xmlns:a16="http://schemas.microsoft.com/office/drawing/2014/main" id="{01977AF0-8CE9-6BDB-1C7E-875FFB7FE3B0}"/>
              </a:ext>
            </a:extLst>
          </p:cNvPr>
          <p:cNvSpPr/>
          <p:nvPr/>
        </p:nvSpPr>
        <p:spPr>
          <a:xfrm>
            <a:off x="5300476" y="4496363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6">
            <a:extLst>
              <a:ext uri="{FF2B5EF4-FFF2-40B4-BE49-F238E27FC236}">
                <a16:creationId xmlns:a16="http://schemas.microsoft.com/office/drawing/2014/main" id="{6BEAC3D6-A53F-B17F-C869-2D5CB5D33DB7}"/>
              </a:ext>
            </a:extLst>
          </p:cNvPr>
          <p:cNvSpPr/>
          <p:nvPr/>
        </p:nvSpPr>
        <p:spPr>
          <a:xfrm>
            <a:off x="5501644" y="4587803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Evaluation Objective ?</a:t>
            </a:r>
            <a:endParaRPr lang="en-US" sz="1050" noProof="0" dirty="0"/>
          </a:p>
        </p:txBody>
      </p:sp>
      <p:sp>
        <p:nvSpPr>
          <p:cNvPr id="7" name="Text 47">
            <a:extLst>
              <a:ext uri="{FF2B5EF4-FFF2-40B4-BE49-F238E27FC236}">
                <a16:creationId xmlns:a16="http://schemas.microsoft.com/office/drawing/2014/main" id="{FB4D3F3B-F3EC-311C-ABC2-47C83B8058F1}"/>
              </a:ext>
            </a:extLst>
          </p:cNvPr>
          <p:cNvSpPr/>
          <p:nvPr/>
        </p:nvSpPr>
        <p:spPr>
          <a:xfrm>
            <a:off x="5501644" y="4881934"/>
            <a:ext cx="388240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rgbClr val="1B2A3B"/>
                </a:solidFill>
              </a:rPr>
              <a:t>Test whether our preprocessing decisions produce the right answers , before anything reaches ST ChatGPT.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noProof="0" dirty="0">
              <a:solidFill>
                <a:srgbClr val="1B2A3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rgbClr val="1B2A3B"/>
                </a:solidFill>
              </a:rPr>
              <a:t>50 real questions, measured </a:t>
            </a:r>
            <a:r>
              <a:rPr lang="en-US" sz="1050" b="1" noProof="0" dirty="0">
                <a:solidFill>
                  <a:srgbClr val="1B2A3B"/>
                </a:solidFill>
              </a:rPr>
              <a:t>offline</a:t>
            </a:r>
            <a:r>
              <a:rPr lang="en-US" sz="1050" noProof="0" dirty="0">
                <a:solidFill>
                  <a:srgbClr val="1B2A3B"/>
                </a:solidFill>
              </a:rPr>
              <a:t> and </a:t>
            </a:r>
            <a:r>
              <a:rPr lang="en-US" sz="1050" b="1" noProof="0" dirty="0">
                <a:solidFill>
                  <a:srgbClr val="1B2A3B"/>
                </a:solidFill>
              </a:rPr>
              <a:t>online</a:t>
            </a:r>
            <a:r>
              <a:rPr lang="en-US" sz="1050" noProof="0" dirty="0">
                <a:solidFill>
                  <a:srgbClr val="1B2A3B"/>
                </a:solidFill>
              </a:rPr>
              <a:t>, to catch hallucinations and missing context before deployment.</a:t>
            </a:r>
            <a:endParaRPr lang="en-US" sz="1050" noProof="0" dirty="0"/>
          </a:p>
        </p:txBody>
      </p:sp>
      <p:pic>
        <p:nvPicPr>
          <p:cNvPr id="8" name="Graphic 52" descr="Back outline">
            <a:extLst>
              <a:ext uri="{FF2B5EF4-FFF2-40B4-BE49-F238E27FC236}">
                <a16:creationId xmlns:a16="http://schemas.microsoft.com/office/drawing/2014/main" id="{C09B13EB-9591-985B-A9BA-9D7FF0BE1F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015657" flipH="1" flipV="1">
            <a:off x="9676564" y="4481335"/>
            <a:ext cx="1481109" cy="1481109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C360769C-2EEE-BA90-EE8B-49C238E31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6011" y="2097612"/>
            <a:ext cx="237744" cy="237744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8CD6F947-1FF3-D82F-76E7-F7B0D9B81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442" y="3012430"/>
            <a:ext cx="237744" cy="237744"/>
          </a:xfrm>
          <a:prstGeom prst="rect">
            <a:avLst/>
          </a:prstGeom>
        </p:spPr>
      </p:pic>
      <p:sp>
        <p:nvSpPr>
          <p:cNvPr id="16" name="Shape 30">
            <a:extLst>
              <a:ext uri="{FF2B5EF4-FFF2-40B4-BE49-F238E27FC236}">
                <a16:creationId xmlns:a16="http://schemas.microsoft.com/office/drawing/2014/main" id="{F2CDEDBA-832C-F8D6-006F-3DEC8A5688F0}"/>
              </a:ext>
            </a:extLst>
          </p:cNvPr>
          <p:cNvSpPr/>
          <p:nvPr/>
        </p:nvSpPr>
        <p:spPr>
          <a:xfrm>
            <a:off x="10012314" y="1969129"/>
            <a:ext cx="1401778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Shape 31">
            <a:extLst>
              <a:ext uri="{FF2B5EF4-FFF2-40B4-BE49-F238E27FC236}">
                <a16:creationId xmlns:a16="http://schemas.microsoft.com/office/drawing/2014/main" id="{0AF13558-371F-E936-5507-0501EB968EED}"/>
              </a:ext>
            </a:extLst>
          </p:cNvPr>
          <p:cNvSpPr/>
          <p:nvPr/>
        </p:nvSpPr>
        <p:spPr>
          <a:xfrm>
            <a:off x="10012314" y="1969130"/>
            <a:ext cx="139743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32">
            <a:extLst>
              <a:ext uri="{FF2B5EF4-FFF2-40B4-BE49-F238E27FC236}">
                <a16:creationId xmlns:a16="http://schemas.microsoft.com/office/drawing/2014/main" id="{BF5B210B-7A1A-D1DA-C6E3-34A4456B94D7}"/>
              </a:ext>
            </a:extLst>
          </p:cNvPr>
          <p:cNvSpPr/>
          <p:nvPr/>
        </p:nvSpPr>
        <p:spPr>
          <a:xfrm>
            <a:off x="10012314" y="196913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2" name="Image 10" descr="preencoded.png">
            <a:extLst>
              <a:ext uri="{FF2B5EF4-FFF2-40B4-BE49-F238E27FC236}">
                <a16:creationId xmlns:a16="http://schemas.microsoft.com/office/drawing/2014/main" id="{C14078D4-E4A6-383A-4765-3DB6E99B45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85472" y="2062117"/>
            <a:ext cx="263059" cy="263059"/>
          </a:xfrm>
          <a:prstGeom prst="rect">
            <a:avLst/>
          </a:prstGeom>
        </p:spPr>
      </p:pic>
      <p:sp>
        <p:nvSpPr>
          <p:cNvPr id="24" name="Text 33">
            <a:extLst>
              <a:ext uri="{FF2B5EF4-FFF2-40B4-BE49-F238E27FC236}">
                <a16:creationId xmlns:a16="http://schemas.microsoft.com/office/drawing/2014/main" id="{1F995855-6919-FEBF-4693-C1A2EED6AD04}"/>
              </a:ext>
            </a:extLst>
          </p:cNvPr>
          <p:cNvSpPr/>
          <p:nvPr/>
        </p:nvSpPr>
        <p:spPr>
          <a:xfrm>
            <a:off x="10208113" y="2547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26" name="Text 34">
            <a:extLst>
              <a:ext uri="{FF2B5EF4-FFF2-40B4-BE49-F238E27FC236}">
                <a16:creationId xmlns:a16="http://schemas.microsoft.com/office/drawing/2014/main" id="{8CC6BD03-8773-33D4-DC29-ECBFA1515804}"/>
              </a:ext>
            </a:extLst>
          </p:cNvPr>
          <p:cNvSpPr/>
          <p:nvPr/>
        </p:nvSpPr>
        <p:spPr>
          <a:xfrm>
            <a:off x="10227116" y="306848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28" name="Image 11" descr="preencoded.png">
            <a:extLst>
              <a:ext uri="{FF2B5EF4-FFF2-40B4-BE49-F238E27FC236}">
                <a16:creationId xmlns:a16="http://schemas.microsoft.com/office/drawing/2014/main" id="{10888B0D-FFCA-329F-C48E-6D9453F65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314" y="3002402"/>
            <a:ext cx="237744" cy="237744"/>
          </a:xfrm>
          <a:prstGeom prst="rect">
            <a:avLst/>
          </a:prstGeom>
        </p:spPr>
      </p:pic>
      <p:cxnSp>
        <p:nvCxnSpPr>
          <p:cNvPr id="29" name="Straight Arrow Connector 174">
            <a:extLst>
              <a:ext uri="{FF2B5EF4-FFF2-40B4-BE49-F238E27FC236}">
                <a16:creationId xmlns:a16="http://schemas.microsoft.com/office/drawing/2014/main" id="{8978FA25-8A84-7C1C-E129-CCE728D60C1C}"/>
              </a:ext>
            </a:extLst>
          </p:cNvPr>
          <p:cNvCxnSpPr>
            <a:cxnSpLocks/>
          </p:cNvCxnSpPr>
          <p:nvPr/>
        </p:nvCxnSpPr>
        <p:spPr>
          <a:xfrm>
            <a:off x="9858263" y="2964271"/>
            <a:ext cx="145152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610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Evaluation Protocol &amp; Benchmark Results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Concrete numbers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5D7000F6-3657-B851-DA40-61B5DB848475}"/>
              </a:ext>
            </a:extLst>
          </p:cNvPr>
          <p:cNvSpPr/>
          <p:nvPr/>
        </p:nvSpPr>
        <p:spPr>
          <a:xfrm>
            <a:off x="586202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G1">
            <a:extLst>
              <a:ext uri="{FF2B5EF4-FFF2-40B4-BE49-F238E27FC236}">
                <a16:creationId xmlns:a16="http://schemas.microsoft.com/office/drawing/2014/main" id="{F78B0074-D184-9D4A-2FD1-8010161CBD1A}"/>
              </a:ext>
            </a:extLst>
          </p:cNvPr>
          <p:cNvSpPr/>
          <p:nvPr/>
        </p:nvSpPr>
        <p:spPr>
          <a:xfrm>
            <a:off x="358822" y="2241181"/>
            <a:ext cx="26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noProof="0" dirty="0">
                <a:solidFill>
                  <a:srgbClr val="0D9488"/>
                </a:solidFill>
              </a:rPr>
              <a:t>Step 1</a:t>
            </a:r>
          </a:p>
          <a:p>
            <a:pPr algn="l">
              <a:buNone/>
            </a:pPr>
            <a:r>
              <a:rPr lang="en-US" sz="1100" b="1" noProof="0" dirty="0">
                <a:solidFill>
                  <a:srgbClr val="0D9589"/>
                </a:solidFill>
              </a:rPr>
              <a:t>Stats Quality</a:t>
            </a:r>
          </a:p>
          <a:p>
            <a:pPr algn="l">
              <a:buNone/>
            </a:pPr>
            <a:r>
              <a:rPr lang="en-US" sz="850" b="0" noProof="0" dirty="0"/>
              <a:t>test_stats_issues_v2</a:t>
            </a:r>
          </a:p>
          <a:p>
            <a:pPr algn="l">
              <a:buNone/>
            </a:pPr>
            <a:r>
              <a:rPr lang="en-US" sz="850" b="0" noProof="0" dirty="0"/>
              <a:t>test_stats_files_v2</a:t>
            </a:r>
          </a:p>
          <a:p>
            <a:pPr algn="l">
              <a:buNone/>
            </a:pPr>
            <a:endParaRPr lang="en-US" sz="850" b="0" noProof="0" dirty="0"/>
          </a:p>
          <a:p>
            <a:r>
              <a:rPr lang="en-US" sz="800" b="0" i="1" noProof="0" dirty="0"/>
              <a:t>Distribution + metadata</a:t>
            </a:r>
            <a:r>
              <a:rPr lang="en-US" sz="800" i="1" noProof="0" dirty="0"/>
              <a:t> cover</a:t>
            </a:r>
            <a:endParaRPr lang="en-US" sz="800" b="0" i="1" noProof="0" dirty="0"/>
          </a:p>
        </p:txBody>
      </p:sp>
      <p:sp>
        <p:nvSpPr>
          <p:cNvPr id="8" name="G2">
            <a:extLst>
              <a:ext uri="{FF2B5EF4-FFF2-40B4-BE49-F238E27FC236}">
                <a16:creationId xmlns:a16="http://schemas.microsoft.com/office/drawing/2014/main" id="{7E4FA9F5-F59D-5926-7159-891DC62E1FDA}"/>
              </a:ext>
            </a:extLst>
          </p:cNvPr>
          <p:cNvSpPr/>
          <p:nvPr/>
        </p:nvSpPr>
        <p:spPr>
          <a:xfrm>
            <a:off x="3258822" y="2241181"/>
            <a:ext cx="26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0D958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noProof="0" dirty="0">
                <a:solidFill>
                  <a:srgbClr val="0D9589"/>
                </a:solidFill>
              </a:rPr>
              <a:t>Step 2</a:t>
            </a:r>
          </a:p>
          <a:p>
            <a:pPr algn="l">
              <a:buNone/>
            </a:pPr>
            <a:r>
              <a:rPr lang="en-US" sz="1100" b="1" noProof="0" dirty="0">
                <a:solidFill>
                  <a:srgbClr val="0D9589"/>
                </a:solidFill>
              </a:rPr>
              <a:t>TF-IDF Retrieval</a:t>
            </a:r>
          </a:p>
          <a:p>
            <a:pPr algn="l">
              <a:buNone/>
            </a:pPr>
            <a:r>
              <a:rPr lang="en-US" sz="850" b="0" noProof="0" dirty="0"/>
              <a:t>test_tfidf_search_issues_v2</a:t>
            </a:r>
          </a:p>
          <a:p>
            <a:pPr algn="l">
              <a:buNone/>
            </a:pPr>
            <a:r>
              <a:rPr lang="en-US" sz="850" b="0" noProof="0" dirty="0"/>
              <a:t>test_tfidf_search_files_v2</a:t>
            </a:r>
          </a:p>
          <a:p>
            <a:pPr algn="l">
              <a:buNone/>
            </a:pPr>
            <a:endParaRPr lang="en-US" sz="850" b="0" noProof="0" dirty="0"/>
          </a:p>
          <a:p>
            <a:pPr algn="l">
              <a:buNone/>
            </a:pPr>
            <a:r>
              <a:rPr lang="en-US" sz="800" b="0" i="1" noProof="0" dirty="0"/>
              <a:t>Top-3 pertinence verified offline</a:t>
            </a:r>
          </a:p>
        </p:txBody>
      </p:sp>
      <p:sp>
        <p:nvSpPr>
          <p:cNvPr id="9" name="G3">
            <a:extLst>
              <a:ext uri="{FF2B5EF4-FFF2-40B4-BE49-F238E27FC236}">
                <a16:creationId xmlns:a16="http://schemas.microsoft.com/office/drawing/2014/main" id="{3DC8C0D3-4F14-6C4C-9A81-CEA22E5F489A}"/>
              </a:ext>
            </a:extLst>
          </p:cNvPr>
          <p:cNvSpPr/>
          <p:nvPr/>
        </p:nvSpPr>
        <p:spPr>
          <a:xfrm>
            <a:off x="6158822" y="2241181"/>
            <a:ext cx="26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0D9589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noProof="0" dirty="0">
                <a:solidFill>
                  <a:srgbClr val="0D9589"/>
                </a:solidFill>
              </a:rPr>
              <a:t>Step 3</a:t>
            </a:r>
          </a:p>
          <a:p>
            <a:pPr algn="l">
              <a:buNone/>
            </a:pPr>
            <a:r>
              <a:rPr lang="en-US" sz="1100" b="1" noProof="0" dirty="0">
                <a:solidFill>
                  <a:srgbClr val="0D9589"/>
                </a:solidFill>
              </a:rPr>
              <a:t>Schema Validation</a:t>
            </a:r>
          </a:p>
          <a:p>
            <a:pPr algn="l">
              <a:buNone/>
            </a:pPr>
            <a:r>
              <a:rPr lang="en-US" sz="850" b="0" noProof="0" dirty="0"/>
              <a:t>validate_schemas.py</a:t>
            </a:r>
          </a:p>
          <a:p>
            <a:pPr algn="l">
              <a:buNone/>
            </a:pPr>
            <a:endParaRPr lang="en-US" sz="850" b="0" noProof="0" dirty="0"/>
          </a:p>
          <a:p>
            <a:pPr algn="l">
              <a:buNone/>
            </a:pPr>
            <a:endParaRPr lang="en-US" sz="850" b="0" noProof="0" dirty="0"/>
          </a:p>
          <a:p>
            <a:pPr algn="l">
              <a:buNone/>
            </a:pPr>
            <a:r>
              <a:rPr lang="en-US" sz="800" b="0" i="1" noProof="0" dirty="0"/>
              <a:t>Contract doc verified</a:t>
            </a:r>
          </a:p>
        </p:txBody>
      </p:sp>
      <p:sp>
        <p:nvSpPr>
          <p:cNvPr id="10" name="G4">
            <a:extLst>
              <a:ext uri="{FF2B5EF4-FFF2-40B4-BE49-F238E27FC236}">
                <a16:creationId xmlns:a16="http://schemas.microsoft.com/office/drawing/2014/main" id="{28D57247-864C-41F3-9258-2EAA765E19FE}"/>
              </a:ext>
            </a:extLst>
          </p:cNvPr>
          <p:cNvSpPr/>
          <p:nvPr/>
        </p:nvSpPr>
        <p:spPr>
          <a:xfrm>
            <a:off x="9058822" y="2241181"/>
            <a:ext cx="28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noProof="0" dirty="0">
                <a:solidFill>
                  <a:srgbClr val="0D9589"/>
                </a:solidFill>
              </a:rPr>
              <a:t>Step 4</a:t>
            </a:r>
          </a:p>
          <a:p>
            <a:pPr algn="l">
              <a:buNone/>
            </a:pPr>
            <a:r>
              <a:rPr lang="en-US" sz="1100" b="1" noProof="0" dirty="0">
                <a:solidFill>
                  <a:srgbClr val="0D9589"/>
                </a:solidFill>
              </a:rPr>
              <a:t>30Q + 50Q Live</a:t>
            </a:r>
          </a:p>
          <a:p>
            <a:pPr algn="l">
              <a:buNone/>
            </a:pPr>
            <a:r>
              <a:rPr lang="en-US" sz="850" b="0" noProof="0" dirty="0"/>
              <a:t>run_h7_50q_ab_test.ps1</a:t>
            </a:r>
          </a:p>
          <a:p>
            <a:pPr algn="l">
              <a:buNone/>
            </a:pPr>
            <a:r>
              <a:rPr lang="en-US" sz="850" b="0" noProof="0" dirty="0"/>
              <a:t>DMA,UART,I2C,USB,ADC,FDCAN</a:t>
            </a:r>
          </a:p>
          <a:p>
            <a:pPr algn="l">
              <a:buNone/>
            </a:pPr>
            <a:endParaRPr lang="en-US" sz="850" b="0" noProof="0" dirty="0"/>
          </a:p>
          <a:p>
            <a:r>
              <a:rPr lang="en-US" sz="800" b="0" i="1" noProof="0" dirty="0"/>
              <a:t>Manuel</a:t>
            </a:r>
            <a:r>
              <a:rPr lang="en-US" sz="800" i="1" noProof="0" dirty="0"/>
              <a:t> Benchmark</a:t>
            </a:r>
            <a:endParaRPr lang="en-US" sz="800" b="0" i="1" noProof="0" dirty="0"/>
          </a:p>
        </p:txBody>
      </p:sp>
      <p:sp>
        <p:nvSpPr>
          <p:cNvPr id="11" name="flow">
            <a:extLst>
              <a:ext uri="{FF2B5EF4-FFF2-40B4-BE49-F238E27FC236}">
                <a16:creationId xmlns:a16="http://schemas.microsoft.com/office/drawing/2014/main" id="{E34A8314-6798-BA98-4CC9-BEF0D1B0DC2F}"/>
              </a:ext>
            </a:extLst>
          </p:cNvPr>
          <p:cNvSpPr/>
          <p:nvPr/>
        </p:nvSpPr>
        <p:spPr>
          <a:xfrm>
            <a:off x="-1743032" y="1678650"/>
            <a:ext cx="5876506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Offline Evaluation :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4C0AC5-B8D9-9EBE-1ACA-5FA993358044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008822" y="2941181"/>
            <a:ext cx="250000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603734-C4D1-6734-4809-CC36290520A1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908822" y="2941181"/>
            <a:ext cx="250000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18FACC-E98A-D385-CA26-4205BC76EAD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808822" y="2941181"/>
            <a:ext cx="250000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563EFEB-728E-C266-B004-74E9E2FA6EDA}"/>
              </a:ext>
            </a:extLst>
          </p:cNvPr>
          <p:cNvSpPr txBox="1"/>
          <p:nvPr/>
        </p:nvSpPr>
        <p:spPr>
          <a:xfrm>
            <a:off x="-1102740" y="3817961"/>
            <a:ext cx="7011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Online Evaluation </a:t>
            </a:r>
            <a:r>
              <a:rPr lang="en-US" sz="1200" b="1" i="1" noProof="0" dirty="0">
                <a:solidFill>
                  <a:srgbClr val="0D9589"/>
                </a:solidFill>
              </a:rPr>
              <a:t>( </a:t>
            </a:r>
            <a:r>
              <a:rPr lang="en-US" sz="1200" noProof="0" dirty="0"/>
              <a:t>50Q Live Run , ST Platform results </a:t>
            </a:r>
            <a:r>
              <a:rPr lang="en-US" sz="1200" noProof="0" dirty="0">
                <a:solidFill>
                  <a:srgbClr val="0D9589"/>
                </a:solidFill>
              </a:rPr>
              <a:t>)</a:t>
            </a:r>
            <a:r>
              <a:rPr lang="en-US" sz="1400" b="1" i="1" noProof="0" dirty="0">
                <a:solidFill>
                  <a:srgbClr val="0D9589"/>
                </a:solidFill>
              </a:rPr>
              <a:t> :</a:t>
            </a:r>
            <a:endParaRPr lang="en-US" sz="1400" noProof="0" dirty="0"/>
          </a:p>
          <a:p>
            <a:pPr algn="ctr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  </a:t>
            </a:r>
          </a:p>
        </p:txBody>
      </p:sp>
      <p:sp>
        <p:nvSpPr>
          <p:cNvPr id="19" name="IncNote">
            <a:extLst>
              <a:ext uri="{FF2B5EF4-FFF2-40B4-BE49-F238E27FC236}">
                <a16:creationId xmlns:a16="http://schemas.microsoft.com/office/drawing/2014/main" id="{46AB72AE-E4C8-6B09-EF09-16CD08C7AD4A}"/>
              </a:ext>
            </a:extLst>
          </p:cNvPr>
          <p:cNvSpPr/>
          <p:nvPr/>
        </p:nvSpPr>
        <p:spPr>
          <a:xfrm>
            <a:off x="2937735" y="1293750"/>
            <a:ext cx="7090898" cy="40157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9050">
            <a:solidFill>
              <a:srgbClr val="0369A1"/>
            </a:solidFill>
          </a:ln>
        </p:spPr>
        <p:txBody>
          <a:bodyPr wrap="square" lIns="152400" tIns="45720" rIns="152400" bIns="45720" anchor="ctr"/>
          <a:lstStyle/>
          <a:p>
            <a:pPr algn="l">
              <a:buNone/>
            </a:pPr>
            <a:r>
              <a:rPr lang="en-US" sz="900" b="1" noProof="0" dirty="0">
                <a:solidFill>
                  <a:srgbClr val="0369A1"/>
                </a:solidFill>
              </a:rPr>
              <a:t>Incremental evaluation: </a:t>
            </a:r>
            <a:r>
              <a:rPr lang="en-US" sz="900" b="0" noProof="0" dirty="0">
                <a:solidFill>
                  <a:srgbClr val="475569"/>
                </a:solidFill>
              </a:rPr>
              <a:t>each added source is evaluated separately to avoid introducing hallucinations or out-of-context responses.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992801-CC3D-0552-3411-DF656980A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031" y="4271386"/>
            <a:ext cx="5157623" cy="2458211"/>
          </a:xfrm>
          <a:prstGeom prst="rect">
            <a:avLst/>
          </a:prstGeom>
        </p:spPr>
      </p:pic>
      <p:sp>
        <p:nvSpPr>
          <p:cNvPr id="22" name="Gain">
            <a:extLst>
              <a:ext uri="{FF2B5EF4-FFF2-40B4-BE49-F238E27FC236}">
                <a16:creationId xmlns:a16="http://schemas.microsoft.com/office/drawing/2014/main" id="{BAA4EEB4-BB7D-E65F-E3FE-0700FED15C8C}"/>
              </a:ext>
            </a:extLst>
          </p:cNvPr>
          <p:cNvSpPr/>
          <p:nvPr/>
        </p:nvSpPr>
        <p:spPr>
          <a:xfrm>
            <a:off x="9485899" y="5278406"/>
            <a:ext cx="265376" cy="571688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noProof="0" dirty="0">
                <a:solidFill>
                  <a:srgbClr val="FFFFFF"/>
                </a:solidFill>
              </a:rPr>
              <a:t>↑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8823B-A7D3-C79C-3B7B-D92F9CB0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35</a:t>
            </a:fld>
            <a:endParaRPr lang="en-US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0B9AED0-0CD6-220D-E2A6-98D92BFB82ED}"/>
              </a:ext>
            </a:extLst>
          </p:cNvPr>
          <p:cNvSpPr txBox="1"/>
          <p:nvPr/>
        </p:nvSpPr>
        <p:spPr>
          <a:xfrm>
            <a:off x="1683822" y="5217960"/>
            <a:ext cx="6969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noProof="0" dirty="0"/>
              <a:t>Quality Index </a:t>
            </a:r>
            <a:endParaRPr lang="en-US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0FDF2-39FE-4635-4AEC-8EFEA108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A45C4-EE1F-2AAB-4396-CF592F9E9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Quality Index Evolution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DCAB4E87-BF67-B839-B7C6-ECCE2C332B29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CF46F1-974A-E561-B3B1-52E9AAD0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36</a:t>
            </a:fld>
            <a:endParaRPr lang="en-US" noProof="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3D0B436-4D60-4044-4C62-4A1579E61886}"/>
              </a:ext>
            </a:extLst>
          </p:cNvPr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31DCF035-C56D-3C6D-FA5F-02D49E62F046}"/>
              </a:ext>
            </a:extLst>
          </p:cNvPr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graphicFrame>
        <p:nvGraphicFramePr>
          <p:cNvPr id="12" name="Chart 0">
            <a:extLst>
              <a:ext uri="{FF2B5EF4-FFF2-40B4-BE49-F238E27FC236}">
                <a16:creationId xmlns:a16="http://schemas.microsoft.com/office/drawing/2014/main" id="{4346C626-EE0A-6EFB-1BE3-D9FC0E07D4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4352265"/>
              </p:ext>
            </p:extLst>
          </p:nvPr>
        </p:nvGraphicFramePr>
        <p:xfrm>
          <a:off x="548640" y="1417320"/>
          <a:ext cx="78638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4">
            <a:extLst>
              <a:ext uri="{FF2B5EF4-FFF2-40B4-BE49-F238E27FC236}">
                <a16:creationId xmlns:a16="http://schemas.microsoft.com/office/drawing/2014/main" id="{4AAB8CB9-2C6E-7A26-F867-F2F4A13733D5}"/>
              </a:ext>
            </a:extLst>
          </p:cNvPr>
          <p:cNvSpPr/>
          <p:nvPr/>
        </p:nvSpPr>
        <p:spPr>
          <a:xfrm>
            <a:off x="8595360" y="1990657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6435F5FC-8F98-1BDF-4DD2-221F5B29D21C}"/>
              </a:ext>
            </a:extLst>
          </p:cNvPr>
          <p:cNvSpPr/>
          <p:nvPr/>
        </p:nvSpPr>
        <p:spPr>
          <a:xfrm>
            <a:off x="8732520" y="2036377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+33 points</a:t>
            </a:r>
            <a:endParaRPr lang="en-US" sz="18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C11930C-8DFD-C9B1-4FB3-1FC8FE3960E1}"/>
              </a:ext>
            </a:extLst>
          </p:cNvPr>
          <p:cNvSpPr/>
          <p:nvPr/>
        </p:nvSpPr>
        <p:spPr>
          <a:xfrm>
            <a:off x="8732520" y="2356417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Cards jump</a:t>
            </a:r>
            <a:endParaRPr lang="en-US" sz="10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7CD2853E-7BB8-9438-BC35-CF40D30BEAD2}"/>
              </a:ext>
            </a:extLst>
          </p:cNvPr>
          <p:cNvSpPr/>
          <p:nvPr/>
        </p:nvSpPr>
        <p:spPr>
          <a:xfrm>
            <a:off x="8732520" y="2621593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→ Hypotheses → Root cause → Fix, plus query aliases. Structure beat model tuning.</a:t>
            </a:r>
            <a:endParaRPr lang="en-US" sz="95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A881C204-CF1C-E108-0B13-F844E1C095C3}"/>
              </a:ext>
            </a:extLst>
          </p:cNvPr>
          <p:cNvSpPr/>
          <p:nvPr/>
        </p:nvSpPr>
        <p:spPr>
          <a:xfrm>
            <a:off x="8595360" y="3362257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F9402689-7CCE-5A59-9B07-EEDD39024A23}"/>
              </a:ext>
            </a:extLst>
          </p:cNvPr>
          <p:cNvSpPr/>
          <p:nvPr/>
        </p:nvSpPr>
        <p:spPr>
          <a:xfrm>
            <a:off x="8732520" y="3407977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−40 points</a:t>
            </a:r>
            <a:endParaRPr lang="en-US" sz="18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9C585879-76D9-FF6E-58D0-7282C83460E3}"/>
              </a:ext>
            </a:extLst>
          </p:cNvPr>
          <p:cNvSpPr/>
          <p:nvPr/>
        </p:nvSpPr>
        <p:spPr>
          <a:xfrm>
            <a:off x="8732520" y="3728017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Multi-series dilution</a:t>
            </a:r>
            <a:endParaRPr lang="en-US" sz="10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B2D69428-C64E-52D2-8400-A34B9A99CEC6}"/>
              </a:ext>
            </a:extLst>
          </p:cNvPr>
          <p:cNvSpPr/>
          <p:nvPr/>
        </p:nvSpPr>
        <p:spPr>
          <a:xfrm>
            <a:off x="8732520" y="3993193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grew from ~2k to ~14k docs. Same-name APIs across F4/H7 blur retrieval. Scaling ≠ adding data.</a:t>
            </a:r>
            <a:endParaRPr lang="en-US" sz="95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04C925F9-6CB9-4CD5-F586-524F4201B83B}"/>
              </a:ext>
            </a:extLst>
          </p:cNvPr>
          <p:cNvSpPr/>
          <p:nvPr/>
        </p:nvSpPr>
        <p:spPr>
          <a:xfrm>
            <a:off x="548640" y="5806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2A3B"/>
                </a:solidFill>
                <a:ea typeface="Cambria" pitchFamily="34" charset="-122"/>
                <a:cs typeface="Cambria" pitchFamily="34" charset="-120"/>
              </a:rPr>
              <a:t>The biggest quality gain came from restructuring the knowledge , not from a bigger model, not from a bigger prompt.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33460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C94ED-BB26-2066-D5DC-8D837F18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EE9C-6E0B-1850-9334-C23A2E5CB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9" y="-222791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Alfred Vision  ·  Two integration paths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8152904-82EF-5F54-A308-D9816DE848D7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CAD05C8-E69F-BC90-5681-713761E6DBAC}"/>
              </a:ext>
            </a:extLst>
          </p:cNvPr>
          <p:cNvSpPr/>
          <p:nvPr/>
        </p:nvSpPr>
        <p:spPr>
          <a:xfrm>
            <a:off x="390500" y="87622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687C4-267F-F872-0155-AF610143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37</a:t>
            </a:fld>
            <a:endParaRPr lang="en-US" noProof="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299B0A84-0E65-DEAA-5F59-B29F7B822E28}"/>
              </a:ext>
            </a:extLst>
          </p:cNvPr>
          <p:cNvSpPr/>
          <p:nvPr/>
        </p:nvSpPr>
        <p:spPr>
          <a:xfrm>
            <a:off x="561938" y="1277313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603A615-E681-B697-32DF-BE29E04EF378}"/>
              </a:ext>
            </a:extLst>
          </p:cNvPr>
          <p:cNvSpPr/>
          <p:nvPr/>
        </p:nvSpPr>
        <p:spPr>
          <a:xfrm>
            <a:off x="790538" y="1414473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AB3A6A2-F296-4E7D-96BE-D535E1B1F91A}"/>
              </a:ext>
            </a:extLst>
          </p:cNvPr>
          <p:cNvSpPr/>
          <p:nvPr/>
        </p:nvSpPr>
        <p:spPr>
          <a:xfrm>
            <a:off x="790538" y="1414473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10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3166CFB-E51F-02EF-C2D6-70B3386EE17E}"/>
              </a:ext>
            </a:extLst>
          </p:cNvPr>
          <p:cNvSpPr/>
          <p:nvPr/>
        </p:nvSpPr>
        <p:spPr>
          <a:xfrm>
            <a:off x="2070698" y="1414473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figures  ·  BEFORE cleaning (Step 7)</a:t>
            </a:r>
            <a:endParaRPr lang="en-US" sz="12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8A1A02A7-AED1-2C95-CEA4-DE0D2F3376DD}"/>
              </a:ext>
            </a:extLst>
          </p:cNvPr>
          <p:cNvSpPr/>
          <p:nvPr/>
        </p:nvSpPr>
        <p:spPr>
          <a:xfrm>
            <a:off x="790538" y="1871673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D593E0F9-0106-C8AD-62CE-A95D59F925AA}"/>
              </a:ext>
            </a:extLst>
          </p:cNvPr>
          <p:cNvSpPr/>
          <p:nvPr/>
        </p:nvSpPr>
        <p:spPr>
          <a:xfrm>
            <a:off x="927698" y="1972257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2278AC13-DA15-685A-C1C3-AA143412AA34}"/>
              </a:ext>
            </a:extLst>
          </p:cNvPr>
          <p:cNvSpPr/>
          <p:nvPr/>
        </p:nvSpPr>
        <p:spPr>
          <a:xfrm>
            <a:off x="927698" y="19722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1A771780-8134-DFD2-3FE8-EFBF07F25D0A}"/>
              </a:ext>
            </a:extLst>
          </p:cNvPr>
          <p:cNvSpPr/>
          <p:nvPr/>
        </p:nvSpPr>
        <p:spPr>
          <a:xfrm>
            <a:off x="1293458" y="1871673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docs in cloned repos</a:t>
            </a:r>
            <a:endParaRPr lang="en-US" sz="105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1CA57ADD-6AA7-B52B-A208-B77F820BFBC5}"/>
              </a:ext>
            </a:extLst>
          </p:cNvPr>
          <p:cNvSpPr/>
          <p:nvPr/>
        </p:nvSpPr>
        <p:spPr>
          <a:xfrm>
            <a:off x="790538" y="2420313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E0444552-9A86-15D7-E8DC-254C2CD14497}"/>
              </a:ext>
            </a:extLst>
          </p:cNvPr>
          <p:cNvSpPr/>
          <p:nvPr/>
        </p:nvSpPr>
        <p:spPr>
          <a:xfrm>
            <a:off x="927698" y="2520897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687A7EE1-0695-5006-0C0B-781CB545284F}"/>
              </a:ext>
            </a:extLst>
          </p:cNvPr>
          <p:cNvSpPr/>
          <p:nvPr/>
        </p:nvSpPr>
        <p:spPr>
          <a:xfrm>
            <a:off x="927698" y="25208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057898DC-D3B5-EE14-1348-50163FB9052A}"/>
              </a:ext>
            </a:extLst>
          </p:cNvPr>
          <p:cNvSpPr/>
          <p:nvPr/>
        </p:nvSpPr>
        <p:spPr>
          <a:xfrm>
            <a:off x="1293458" y="2420313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· render pages @ 150 DPI</a:t>
            </a:r>
            <a:endParaRPr lang="en-US" sz="1050" dirty="0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12996731-827E-C3D8-8881-3048A8F92553}"/>
              </a:ext>
            </a:extLst>
          </p:cNvPr>
          <p:cNvSpPr/>
          <p:nvPr/>
        </p:nvSpPr>
        <p:spPr>
          <a:xfrm>
            <a:off x="790538" y="2968953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B0265486-6C41-1300-1A6D-C12A596E12F7}"/>
              </a:ext>
            </a:extLst>
          </p:cNvPr>
          <p:cNvSpPr/>
          <p:nvPr/>
        </p:nvSpPr>
        <p:spPr>
          <a:xfrm>
            <a:off x="927698" y="3069537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D88795B5-2997-AB80-8F57-22E069CDD603}"/>
              </a:ext>
            </a:extLst>
          </p:cNvPr>
          <p:cNvSpPr/>
          <p:nvPr/>
        </p:nvSpPr>
        <p:spPr>
          <a:xfrm>
            <a:off x="927698" y="306953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ACDAF5B4-DA00-8C17-1CD4-7141DF0EDA55}"/>
              </a:ext>
            </a:extLst>
          </p:cNvPr>
          <p:cNvSpPr/>
          <p:nvPr/>
        </p:nvSpPr>
        <p:spPr>
          <a:xfrm>
            <a:off x="1293458" y="2968953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detect + crop figures</a:t>
            </a:r>
            <a:endParaRPr lang="en-US" sz="1050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1B03D08F-F6F4-ACB6-5CE3-B47DD933BF20}"/>
              </a:ext>
            </a:extLst>
          </p:cNvPr>
          <p:cNvSpPr/>
          <p:nvPr/>
        </p:nvSpPr>
        <p:spPr>
          <a:xfrm>
            <a:off x="790538" y="3517593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15F089C3-87ED-ABB0-D14A-8FB780F44FC5}"/>
              </a:ext>
            </a:extLst>
          </p:cNvPr>
          <p:cNvSpPr/>
          <p:nvPr/>
        </p:nvSpPr>
        <p:spPr>
          <a:xfrm>
            <a:off x="927698" y="3618177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030556F1-A7C9-C524-6718-9B362D65C83D}"/>
              </a:ext>
            </a:extLst>
          </p:cNvPr>
          <p:cNvSpPr/>
          <p:nvPr/>
        </p:nvSpPr>
        <p:spPr>
          <a:xfrm>
            <a:off x="927698" y="36181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93BC55A2-018B-17E7-8D8B-221EBA1AEDEF}"/>
              </a:ext>
            </a:extLst>
          </p:cNvPr>
          <p:cNvSpPr/>
          <p:nvPr/>
        </p:nvSpPr>
        <p:spPr>
          <a:xfrm>
            <a:off x="1293458" y="3517593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API · describe each figure</a:t>
            </a:r>
            <a:endParaRPr lang="en-US" sz="1050" dirty="0"/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8534C3F4-328A-ADC3-B95F-6C912B94E2CA}"/>
              </a:ext>
            </a:extLst>
          </p:cNvPr>
          <p:cNvSpPr/>
          <p:nvPr/>
        </p:nvSpPr>
        <p:spPr>
          <a:xfrm>
            <a:off x="790538" y="4066233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A7217633-39C6-0424-68BA-6C39B36A7CA0}"/>
              </a:ext>
            </a:extLst>
          </p:cNvPr>
          <p:cNvSpPr/>
          <p:nvPr/>
        </p:nvSpPr>
        <p:spPr>
          <a:xfrm>
            <a:off x="927698" y="4166817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A9484C56-55A0-F12F-88C2-E421D99B19A9}"/>
              </a:ext>
            </a:extLst>
          </p:cNvPr>
          <p:cNvSpPr/>
          <p:nvPr/>
        </p:nvSpPr>
        <p:spPr>
          <a:xfrm>
            <a:off x="927698" y="41668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722ABA84-547D-A2C9-7D65-BAF618BD984D}"/>
              </a:ext>
            </a:extLst>
          </p:cNvPr>
          <p:cNvSpPr/>
          <p:nvPr/>
        </p:nvSpPr>
        <p:spPr>
          <a:xfrm>
            <a:off x="1293458" y="4066233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into files_to_docs_v2</a:t>
            </a:r>
            <a:endParaRPr lang="en-US" sz="1050" dirty="0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2B6E8A80-8D69-77B9-78D3-261255641A3D}"/>
              </a:ext>
            </a:extLst>
          </p:cNvPr>
          <p:cNvSpPr/>
          <p:nvPr/>
        </p:nvSpPr>
        <p:spPr>
          <a:xfrm>
            <a:off x="790538" y="4614873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7D28ECCF-CDF8-6AF0-290B-DDA6CE15A8A0}"/>
              </a:ext>
            </a:extLst>
          </p:cNvPr>
          <p:cNvSpPr/>
          <p:nvPr/>
        </p:nvSpPr>
        <p:spPr>
          <a:xfrm>
            <a:off x="927698" y="4715457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2B7C8FE9-584B-1180-3998-BC01CB892899}"/>
              </a:ext>
            </a:extLst>
          </p:cNvPr>
          <p:cNvSpPr/>
          <p:nvPr/>
        </p:nvSpPr>
        <p:spPr>
          <a:xfrm>
            <a:off x="927698" y="47154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F4BBEF6C-139D-4CA9-D99C-6FA32BCFF989}"/>
              </a:ext>
            </a:extLst>
          </p:cNvPr>
          <p:cNvSpPr/>
          <p:nvPr/>
        </p:nvSpPr>
        <p:spPr>
          <a:xfrm>
            <a:off x="1293458" y="4614873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st_ready_files_v3.json with descriptions</a:t>
            </a:r>
            <a:endParaRPr lang="en-US" sz="1050" dirty="0"/>
          </a:p>
        </p:txBody>
      </p:sp>
      <p:sp>
        <p:nvSpPr>
          <p:cNvPr id="67" name="Shape 32">
            <a:extLst>
              <a:ext uri="{FF2B5EF4-FFF2-40B4-BE49-F238E27FC236}">
                <a16:creationId xmlns:a16="http://schemas.microsoft.com/office/drawing/2014/main" id="{F4FFE43C-3EE9-772F-98DC-5DBEC144409C}"/>
              </a:ext>
            </a:extLst>
          </p:cNvPr>
          <p:cNvSpPr/>
          <p:nvPr/>
        </p:nvSpPr>
        <p:spPr>
          <a:xfrm>
            <a:off x="6368378" y="1277313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978554E6-73BF-8CF3-8E62-D365E7331B8A}"/>
              </a:ext>
            </a:extLst>
          </p:cNvPr>
          <p:cNvSpPr/>
          <p:nvPr/>
        </p:nvSpPr>
        <p:spPr>
          <a:xfrm>
            <a:off x="6596978" y="1414473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878BDD3B-AF13-DAA9-28C4-C1C081335F0D}"/>
              </a:ext>
            </a:extLst>
          </p:cNvPr>
          <p:cNvSpPr/>
          <p:nvPr/>
        </p:nvSpPr>
        <p:spPr>
          <a:xfrm>
            <a:off x="6596978" y="1414473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1000" dirty="0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D73CDE94-EF63-49D5-5BCA-B7D5F7868AF2}"/>
              </a:ext>
            </a:extLst>
          </p:cNvPr>
          <p:cNvSpPr/>
          <p:nvPr/>
        </p:nvSpPr>
        <p:spPr>
          <a:xfrm>
            <a:off x="7877138" y="1414473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images  ·  AFTER delivery (Step 23)</a:t>
            </a:r>
            <a:endParaRPr lang="en-US" sz="1200" dirty="0"/>
          </a:p>
        </p:txBody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07265223-5E47-6249-2109-72B63C76B6CA}"/>
              </a:ext>
            </a:extLst>
          </p:cNvPr>
          <p:cNvSpPr/>
          <p:nvPr/>
        </p:nvSpPr>
        <p:spPr>
          <a:xfrm>
            <a:off x="6596978" y="1871673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7" name="Shape 37">
            <a:extLst>
              <a:ext uri="{FF2B5EF4-FFF2-40B4-BE49-F238E27FC236}">
                <a16:creationId xmlns:a16="http://schemas.microsoft.com/office/drawing/2014/main" id="{772DFD53-50A6-95F7-BE6F-F5ADE6732C58}"/>
              </a:ext>
            </a:extLst>
          </p:cNvPr>
          <p:cNvSpPr/>
          <p:nvPr/>
        </p:nvSpPr>
        <p:spPr>
          <a:xfrm>
            <a:off x="6734138" y="1972257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F33061F2-1650-60F9-A259-4D4F96B6812B}"/>
              </a:ext>
            </a:extLst>
          </p:cNvPr>
          <p:cNvSpPr/>
          <p:nvPr/>
        </p:nvSpPr>
        <p:spPr>
          <a:xfrm>
            <a:off x="6734138" y="19722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1C7AFB15-3839-1ACB-836C-82E6DDC77594}"/>
              </a:ext>
            </a:extLst>
          </p:cNvPr>
          <p:cNvSpPr/>
          <p:nvPr/>
        </p:nvSpPr>
        <p:spPr>
          <a:xfrm>
            <a:off x="7099898" y="1871673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st_ready_issues_with_images_*.json</a:t>
            </a:r>
            <a:endParaRPr lang="en-US" sz="1050" dirty="0"/>
          </a:p>
        </p:txBody>
      </p:sp>
      <p:sp>
        <p:nvSpPr>
          <p:cNvPr id="83" name="Shape 40">
            <a:extLst>
              <a:ext uri="{FF2B5EF4-FFF2-40B4-BE49-F238E27FC236}">
                <a16:creationId xmlns:a16="http://schemas.microsoft.com/office/drawing/2014/main" id="{7D4FAEE5-162C-B233-A7C0-049F9C844ED9}"/>
              </a:ext>
            </a:extLst>
          </p:cNvPr>
          <p:cNvSpPr/>
          <p:nvPr/>
        </p:nvSpPr>
        <p:spPr>
          <a:xfrm>
            <a:off x="6596978" y="2420313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5" name="Shape 41">
            <a:extLst>
              <a:ext uri="{FF2B5EF4-FFF2-40B4-BE49-F238E27FC236}">
                <a16:creationId xmlns:a16="http://schemas.microsoft.com/office/drawing/2014/main" id="{68EBACBB-45E1-630A-D74D-34990A0E9F7F}"/>
              </a:ext>
            </a:extLst>
          </p:cNvPr>
          <p:cNvSpPr/>
          <p:nvPr/>
        </p:nvSpPr>
        <p:spPr>
          <a:xfrm>
            <a:off x="6734138" y="2520897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3E098E30-ECCB-F7DF-7582-759228CE74A1}"/>
              </a:ext>
            </a:extLst>
          </p:cNvPr>
          <p:cNvSpPr/>
          <p:nvPr/>
        </p:nvSpPr>
        <p:spPr>
          <a:xfrm>
            <a:off x="6734138" y="25208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918B8BA1-4D76-4D9A-A599-741C66A88182}"/>
              </a:ext>
            </a:extLst>
          </p:cNvPr>
          <p:cNvSpPr/>
          <p:nvPr/>
        </p:nvSpPr>
        <p:spPr>
          <a:xfrm>
            <a:off x="7099898" y="2420313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issue: download screenshot</a:t>
            </a:r>
            <a:endParaRPr lang="en-US" sz="1050" dirty="0"/>
          </a:p>
        </p:txBody>
      </p:sp>
      <p:sp>
        <p:nvSpPr>
          <p:cNvPr id="91" name="Shape 44">
            <a:extLst>
              <a:ext uri="{FF2B5EF4-FFF2-40B4-BE49-F238E27FC236}">
                <a16:creationId xmlns:a16="http://schemas.microsoft.com/office/drawing/2014/main" id="{865A7476-F2AD-90AB-011B-B57C7C6A327D}"/>
              </a:ext>
            </a:extLst>
          </p:cNvPr>
          <p:cNvSpPr/>
          <p:nvPr/>
        </p:nvSpPr>
        <p:spPr>
          <a:xfrm>
            <a:off x="6596978" y="2968953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EAD6A365-2658-62F7-2ABB-184978DFBFCD}"/>
              </a:ext>
            </a:extLst>
          </p:cNvPr>
          <p:cNvSpPr/>
          <p:nvPr/>
        </p:nvSpPr>
        <p:spPr>
          <a:xfrm>
            <a:off x="6734138" y="3069537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6C739F1E-3BC1-51C3-3239-6C88D6B093A2}"/>
              </a:ext>
            </a:extLst>
          </p:cNvPr>
          <p:cNvSpPr/>
          <p:nvPr/>
        </p:nvSpPr>
        <p:spPr>
          <a:xfrm>
            <a:off x="6734138" y="306953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AAEEB18D-7453-F92E-7A82-97A33A754FC5}"/>
              </a:ext>
            </a:extLst>
          </p:cNvPr>
          <p:cNvSpPr/>
          <p:nvPr/>
        </p:nvSpPr>
        <p:spPr>
          <a:xfrm>
            <a:off x="7099898" y="2968953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API · describe screenshot</a:t>
            </a:r>
            <a:endParaRPr lang="en-US" sz="1050" dirty="0"/>
          </a:p>
        </p:txBody>
      </p:sp>
      <p:sp>
        <p:nvSpPr>
          <p:cNvPr id="99" name="Shape 48">
            <a:extLst>
              <a:ext uri="{FF2B5EF4-FFF2-40B4-BE49-F238E27FC236}">
                <a16:creationId xmlns:a16="http://schemas.microsoft.com/office/drawing/2014/main" id="{D4FE7733-F692-D63A-41DA-159CAB2282D5}"/>
              </a:ext>
            </a:extLst>
          </p:cNvPr>
          <p:cNvSpPr/>
          <p:nvPr/>
        </p:nvSpPr>
        <p:spPr>
          <a:xfrm>
            <a:off x="6596978" y="3517593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1" name="Shape 49">
            <a:extLst>
              <a:ext uri="{FF2B5EF4-FFF2-40B4-BE49-F238E27FC236}">
                <a16:creationId xmlns:a16="http://schemas.microsoft.com/office/drawing/2014/main" id="{67DCE154-3B8E-6F7D-D373-46D216C954C0}"/>
              </a:ext>
            </a:extLst>
          </p:cNvPr>
          <p:cNvSpPr/>
          <p:nvPr/>
        </p:nvSpPr>
        <p:spPr>
          <a:xfrm>
            <a:off x="6734138" y="3618177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4" name="Text 50">
            <a:extLst>
              <a:ext uri="{FF2B5EF4-FFF2-40B4-BE49-F238E27FC236}">
                <a16:creationId xmlns:a16="http://schemas.microsoft.com/office/drawing/2014/main" id="{ED684FA3-C9BB-89B5-A5BD-45063835FA84}"/>
              </a:ext>
            </a:extLst>
          </p:cNvPr>
          <p:cNvSpPr/>
          <p:nvPr/>
        </p:nvSpPr>
        <p:spPr>
          <a:xfrm>
            <a:off x="6734138" y="36181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  <p:sp>
        <p:nvSpPr>
          <p:cNvPr id="106" name="Text 51">
            <a:extLst>
              <a:ext uri="{FF2B5EF4-FFF2-40B4-BE49-F238E27FC236}">
                <a16:creationId xmlns:a16="http://schemas.microsoft.com/office/drawing/2014/main" id="{2E15E008-6FB5-EBD0-4852-62FAC7B58C7D}"/>
              </a:ext>
            </a:extLst>
          </p:cNvPr>
          <p:cNvSpPr/>
          <p:nvPr/>
        </p:nvSpPr>
        <p:spPr>
          <a:xfrm>
            <a:off x="7099898" y="3517593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 ATTACHED] → [IMAGE DESCRIPTION]</a:t>
            </a:r>
            <a:endParaRPr lang="en-US" sz="1050" dirty="0"/>
          </a:p>
        </p:txBody>
      </p:sp>
      <p:sp>
        <p:nvSpPr>
          <p:cNvPr id="108" name="Shape 52">
            <a:extLst>
              <a:ext uri="{FF2B5EF4-FFF2-40B4-BE49-F238E27FC236}">
                <a16:creationId xmlns:a16="http://schemas.microsoft.com/office/drawing/2014/main" id="{10F0B0D8-FC0B-CF9D-1CB7-3CBB9BEE9417}"/>
              </a:ext>
            </a:extLst>
          </p:cNvPr>
          <p:cNvSpPr/>
          <p:nvPr/>
        </p:nvSpPr>
        <p:spPr>
          <a:xfrm>
            <a:off x="6596978" y="4066233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0" name="Shape 53">
            <a:extLst>
              <a:ext uri="{FF2B5EF4-FFF2-40B4-BE49-F238E27FC236}">
                <a16:creationId xmlns:a16="http://schemas.microsoft.com/office/drawing/2014/main" id="{7522278F-B37C-3257-9809-0817AEB6D737}"/>
              </a:ext>
            </a:extLst>
          </p:cNvPr>
          <p:cNvSpPr/>
          <p:nvPr/>
        </p:nvSpPr>
        <p:spPr>
          <a:xfrm>
            <a:off x="6734138" y="4166817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2" name="Text 54">
            <a:extLst>
              <a:ext uri="{FF2B5EF4-FFF2-40B4-BE49-F238E27FC236}">
                <a16:creationId xmlns:a16="http://schemas.microsoft.com/office/drawing/2014/main" id="{E126004C-75B5-6789-F458-1FCF6FD69B5A}"/>
              </a:ext>
            </a:extLst>
          </p:cNvPr>
          <p:cNvSpPr/>
          <p:nvPr/>
        </p:nvSpPr>
        <p:spPr>
          <a:xfrm>
            <a:off x="6734138" y="41668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  <p:sp>
        <p:nvSpPr>
          <p:cNvPr id="114" name="Text 55">
            <a:extLst>
              <a:ext uri="{FF2B5EF4-FFF2-40B4-BE49-F238E27FC236}">
                <a16:creationId xmlns:a16="http://schemas.microsoft.com/office/drawing/2014/main" id="{9F6134A9-DD1C-7C6E-9B61-D1308C2308AE}"/>
              </a:ext>
            </a:extLst>
          </p:cNvPr>
          <p:cNvSpPr/>
          <p:nvPr/>
        </p:nvSpPr>
        <p:spPr>
          <a:xfrm>
            <a:off x="7099898" y="4066233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modification (no new file)</a:t>
            </a:r>
            <a:endParaRPr lang="en-US" sz="1050" dirty="0"/>
          </a:p>
        </p:txBody>
      </p:sp>
      <p:sp>
        <p:nvSpPr>
          <p:cNvPr id="116" name="Shape 56">
            <a:extLst>
              <a:ext uri="{FF2B5EF4-FFF2-40B4-BE49-F238E27FC236}">
                <a16:creationId xmlns:a16="http://schemas.microsoft.com/office/drawing/2014/main" id="{8D2D5A2E-F9B0-B68D-72AB-99C1EA7F6AE4}"/>
              </a:ext>
            </a:extLst>
          </p:cNvPr>
          <p:cNvSpPr/>
          <p:nvPr/>
        </p:nvSpPr>
        <p:spPr>
          <a:xfrm>
            <a:off x="6596978" y="4614873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8" name="Shape 57">
            <a:extLst>
              <a:ext uri="{FF2B5EF4-FFF2-40B4-BE49-F238E27FC236}">
                <a16:creationId xmlns:a16="http://schemas.microsoft.com/office/drawing/2014/main" id="{7E17AB2F-35FD-4FD5-B5E9-73BDAAF60ED5}"/>
              </a:ext>
            </a:extLst>
          </p:cNvPr>
          <p:cNvSpPr/>
          <p:nvPr/>
        </p:nvSpPr>
        <p:spPr>
          <a:xfrm>
            <a:off x="6734138" y="4715457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0" name="Text 58">
            <a:extLst>
              <a:ext uri="{FF2B5EF4-FFF2-40B4-BE49-F238E27FC236}">
                <a16:creationId xmlns:a16="http://schemas.microsoft.com/office/drawing/2014/main" id="{6493C5D7-1BCA-9C33-95C8-B8AA2B3C9BCA}"/>
              </a:ext>
            </a:extLst>
          </p:cNvPr>
          <p:cNvSpPr/>
          <p:nvPr/>
        </p:nvSpPr>
        <p:spPr>
          <a:xfrm>
            <a:off x="6734138" y="47154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  <p:sp>
        <p:nvSpPr>
          <p:cNvPr id="122" name="Text 59">
            <a:extLst>
              <a:ext uri="{FF2B5EF4-FFF2-40B4-BE49-F238E27FC236}">
                <a16:creationId xmlns:a16="http://schemas.microsoft.com/office/drawing/2014/main" id="{1D7F082E-7D38-F7BE-4081-A5159EF3BEB8}"/>
              </a:ext>
            </a:extLst>
          </p:cNvPr>
          <p:cNvSpPr/>
          <p:nvPr/>
        </p:nvSpPr>
        <p:spPr>
          <a:xfrm>
            <a:off x="7099898" y="4614873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gets uploaded to KB</a:t>
            </a:r>
            <a:endParaRPr lang="en-US" sz="1050" dirty="0"/>
          </a:p>
        </p:txBody>
      </p:sp>
      <p:sp>
        <p:nvSpPr>
          <p:cNvPr id="124" name="Shape 60">
            <a:extLst>
              <a:ext uri="{FF2B5EF4-FFF2-40B4-BE49-F238E27FC236}">
                <a16:creationId xmlns:a16="http://schemas.microsoft.com/office/drawing/2014/main" id="{E712FC59-E3BD-ECCC-4C7C-437043750D1C}"/>
              </a:ext>
            </a:extLst>
          </p:cNvPr>
          <p:cNvSpPr/>
          <p:nvPr/>
        </p:nvSpPr>
        <p:spPr>
          <a:xfrm>
            <a:off x="561938" y="5574993"/>
            <a:ext cx="11338560" cy="502920"/>
          </a:xfrm>
          <a:prstGeom prst="roundRect">
            <a:avLst>
              <a:gd name="adj" fmla="val 14545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6" name="Text 61">
            <a:extLst>
              <a:ext uri="{FF2B5EF4-FFF2-40B4-BE49-F238E27FC236}">
                <a16:creationId xmlns:a16="http://schemas.microsoft.com/office/drawing/2014/main" id="{6C0B0927-CDC5-8C6D-2D6C-2745D962357E}"/>
              </a:ext>
            </a:extLst>
          </p:cNvPr>
          <p:cNvSpPr/>
          <p:nvPr/>
        </p:nvSpPr>
        <p:spPr>
          <a:xfrm>
            <a:off x="561938" y="5574993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  ·  api-ai-bridge.st.com  ·  Rate: ~20 req before throttle  ·  Retry 5s / Backoff 30s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1311090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58D05-72A7-9661-273D-8B3461756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82784A44-47F3-B5C6-8C84-7DD6692E6E94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C29731DF-E5A0-8C1D-52C7-5FAD48F01CCD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01C9C22E-2833-9BFE-032D-51F8DC25A3FD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1F395CBE-9870-2FF1-BC0B-1E0D8DC2FE93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AE795A34-2B96-0CF7-231E-C5EAE8253046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75E1B574-5B62-C430-A562-CAC93459C4DA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9030986C-5F2A-8F71-F60E-266A00589B06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67C63521-3D48-0265-9BCD-9721C4F514EE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Architecture Overview </a:t>
            </a:r>
            <a:endParaRPr lang="en-US" sz="1200" noProof="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8BE23480-89DA-9B00-6E8E-A66BC5A400EF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937EB46E-58A4-0B19-0D80-B07DEC1CA5EA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3348121C-D361-741B-EFD0-00BD9111E6D0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2A8AFA82-334A-4BF3-8CFB-3D90245C429C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A7B1BC8D-A2D6-02FB-3CEC-F2A781437EF8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56D8EAB0-DA77-4DDC-F067-39AB9A763C71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54E63ACF-F98A-3FE7-8A33-06C9E1BE9DE7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B58DB63B-B39E-7164-D280-B06575F75233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FBD56722-618A-889B-D169-678FA44ECFC1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The Data preprocessing pipeline and ALFRED Vision Integration </a:t>
            </a:r>
            <a:endParaRPr lang="en-US" sz="1200" noProof="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9B11946E-7108-4703-3212-234E792AFF96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48AD3A5F-8EC1-D94F-79CC-F372BB1F3BA9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EC2C53E0-3529-E027-5E98-781EDC3EAB2E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5A4C873F-D293-E69B-CCCA-F60777F0C11B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AAB7FC24-0932-F859-C81D-FA305A595416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Value Proposition &amp; Impact</a:t>
            </a:r>
            <a:endParaRPr lang="en-US" sz="1200" dirty="0"/>
          </a:p>
          <a:p>
            <a:r>
              <a:rPr lang="en-US" sz="1200" b="1" noProof="0" dirty="0">
                <a:solidFill>
                  <a:srgbClr val="1B2A3B"/>
                </a:solidFill>
              </a:rPr>
              <a:t> </a:t>
            </a:r>
            <a:endParaRPr lang="en-US" sz="1200" noProof="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4DDB8FC3-B149-C2E6-D79C-63E1E293E4AC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A4F32DC7-AC9B-3F74-AC1C-978D32C78666}"/>
              </a:ext>
            </a:extLst>
          </p:cNvPr>
          <p:cNvSpPr/>
          <p:nvPr/>
        </p:nvSpPr>
        <p:spPr>
          <a:xfrm>
            <a:off x="1758295" y="535040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279B68C7-7533-AF7D-09CF-732D85B2812E}"/>
              </a:ext>
            </a:extLst>
          </p:cNvPr>
          <p:cNvSpPr/>
          <p:nvPr/>
        </p:nvSpPr>
        <p:spPr>
          <a:xfrm>
            <a:off x="1758295" y="535040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02C6642D-A003-F1E9-D9B5-D30A434393D0}"/>
              </a:ext>
            </a:extLst>
          </p:cNvPr>
          <p:cNvSpPr/>
          <p:nvPr/>
        </p:nvSpPr>
        <p:spPr>
          <a:xfrm>
            <a:off x="1758295" y="535040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32EBFF42-DF57-7BF3-DFE5-1956BF08FB5B}"/>
              </a:ext>
            </a:extLst>
          </p:cNvPr>
          <p:cNvSpPr/>
          <p:nvPr/>
        </p:nvSpPr>
        <p:spPr>
          <a:xfrm>
            <a:off x="2233783" y="55607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Configuration &amp; Evaluation </a:t>
            </a:r>
            <a:endParaRPr lang="en-US" sz="1200" noProof="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745CDA62-B66A-09F2-D290-CD3F47B6C9AB}"/>
              </a:ext>
            </a:extLst>
          </p:cNvPr>
          <p:cNvSpPr/>
          <p:nvPr/>
        </p:nvSpPr>
        <p:spPr>
          <a:xfrm>
            <a:off x="2233783" y="575273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409B68FD-9641-DA03-0BFE-86044619B5DC}"/>
              </a:ext>
            </a:extLst>
          </p:cNvPr>
          <p:cNvSpPr/>
          <p:nvPr/>
        </p:nvSpPr>
        <p:spPr>
          <a:xfrm>
            <a:off x="6909008" y="3143994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D5A8A4B7-DC02-538D-86BA-054D2D9C1108}"/>
              </a:ext>
            </a:extLst>
          </p:cNvPr>
          <p:cNvSpPr/>
          <p:nvPr/>
        </p:nvSpPr>
        <p:spPr>
          <a:xfrm>
            <a:off x="6909008" y="3143994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A1F76BD6-B32B-8B9F-19B0-A97F9076E76B}"/>
              </a:ext>
            </a:extLst>
          </p:cNvPr>
          <p:cNvSpPr/>
          <p:nvPr/>
        </p:nvSpPr>
        <p:spPr>
          <a:xfrm>
            <a:off x="6909008" y="314399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61436624-3F88-755A-3E7D-03AA7AA38B91}"/>
              </a:ext>
            </a:extLst>
          </p:cNvPr>
          <p:cNvSpPr/>
          <p:nvPr/>
        </p:nvSpPr>
        <p:spPr>
          <a:xfrm>
            <a:off x="7384496" y="333904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Live Demo &amp; Hands-On</a:t>
            </a:r>
            <a:endParaRPr lang="en-US" sz="1200" noProof="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1733381E-7E07-47DC-6AA8-66C36527298B}"/>
              </a:ext>
            </a:extLst>
          </p:cNvPr>
          <p:cNvSpPr/>
          <p:nvPr/>
        </p:nvSpPr>
        <p:spPr>
          <a:xfrm>
            <a:off x="7384496" y="354633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88A66759-42EC-D1AC-B0A6-187BC0CBE50D}"/>
              </a:ext>
            </a:extLst>
          </p:cNvPr>
          <p:cNvSpPr/>
          <p:nvPr/>
        </p:nvSpPr>
        <p:spPr>
          <a:xfrm>
            <a:off x="6909008" y="4040106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2A365425-9C30-FE53-E903-3F2A8AD41F31}"/>
              </a:ext>
            </a:extLst>
          </p:cNvPr>
          <p:cNvSpPr/>
          <p:nvPr/>
        </p:nvSpPr>
        <p:spPr>
          <a:xfrm>
            <a:off x="6909008" y="4040106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9929881F-E642-1FBC-489A-27A9E04BEF2B}"/>
              </a:ext>
            </a:extLst>
          </p:cNvPr>
          <p:cNvSpPr/>
          <p:nvPr/>
        </p:nvSpPr>
        <p:spPr>
          <a:xfrm>
            <a:off x="6909008" y="404010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4432964A-F733-337A-37CE-6717025CCC41}"/>
              </a:ext>
            </a:extLst>
          </p:cNvPr>
          <p:cNvSpPr/>
          <p:nvPr/>
        </p:nvSpPr>
        <p:spPr>
          <a:xfrm>
            <a:off x="7397550" y="425956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Q&amp;A</a:t>
            </a:r>
            <a:endParaRPr lang="en-US" sz="1200" noProof="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CF1984CC-9A69-98E6-F302-83642479D4AF}"/>
              </a:ext>
            </a:extLst>
          </p:cNvPr>
          <p:cNvSpPr/>
          <p:nvPr/>
        </p:nvSpPr>
        <p:spPr>
          <a:xfrm>
            <a:off x="7384496" y="444244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725D47-5681-83A0-6913-3028641596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812397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57692-08DE-03FB-BB22-5E427B1C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E456-1C58-2A70-4B12-D7C67FC0E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Alfred Path A  ·  PDF Figure Pipeline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6235B2C3-367B-F11E-C61A-8F0CBCC8E719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6E0AC9-C451-9B80-ACD3-1B304B73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39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412FCCA-C4E8-01EF-E75C-6BB6307F03EF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344A9072-F90A-504A-53A9-B0178B05D204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D51BA63-02F2-7F23-2E28-C5674239DCE4}"/>
              </a:ext>
            </a:extLst>
          </p:cNvPr>
          <p:cNvSpPr/>
          <p:nvPr/>
        </p:nvSpPr>
        <p:spPr>
          <a:xfrm>
            <a:off x="459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9A1D375-0677-F161-749B-0C692C3E9869}"/>
              </a:ext>
            </a:extLst>
          </p:cNvPr>
          <p:cNvSpPr/>
          <p:nvPr/>
        </p:nvSpPr>
        <p:spPr>
          <a:xfrm>
            <a:off x="459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docs</a:t>
            </a:r>
            <a:endParaRPr lang="en-US" sz="14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DD99A52-9905-4DE2-0B15-F4A7A39A8E15}"/>
              </a:ext>
            </a:extLst>
          </p:cNvPr>
          <p:cNvSpPr/>
          <p:nvPr/>
        </p:nvSpPr>
        <p:spPr>
          <a:xfrm>
            <a:off x="551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GitHub_repos/&lt;repo&gt;/*.pdf</a:t>
            </a:r>
            <a:endParaRPr lang="en-US" sz="10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AB661367-E2BF-5033-B6B6-20C0C918F238}"/>
              </a:ext>
            </a:extLst>
          </p:cNvPr>
          <p:cNvSpPr/>
          <p:nvPr/>
        </p:nvSpPr>
        <p:spPr>
          <a:xfrm>
            <a:off x="2613047" y="1813455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D8680081-7B6C-73E5-159C-FC11463D3E74}"/>
              </a:ext>
            </a:extLst>
          </p:cNvPr>
          <p:cNvSpPr/>
          <p:nvPr/>
        </p:nvSpPr>
        <p:spPr>
          <a:xfrm>
            <a:off x="2745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922F092-3785-4ACD-1F1F-D9A5433F9327}"/>
              </a:ext>
            </a:extLst>
          </p:cNvPr>
          <p:cNvSpPr/>
          <p:nvPr/>
        </p:nvSpPr>
        <p:spPr>
          <a:xfrm>
            <a:off x="2745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PyMuPDF</a:t>
            </a:r>
            <a:endParaRPr lang="en-US" sz="14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4272E4B-DF09-803C-FB2B-F16CC2831FAF}"/>
              </a:ext>
            </a:extLst>
          </p:cNvPr>
          <p:cNvSpPr/>
          <p:nvPr/>
        </p:nvSpPr>
        <p:spPr>
          <a:xfrm>
            <a:off x="2837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pages @ 150 DPI</a:t>
            </a:r>
            <a:endParaRPr lang="en-US" sz="1000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1EC590F7-1C4D-AF84-BCB3-5EB36869FC28}"/>
              </a:ext>
            </a:extLst>
          </p:cNvPr>
          <p:cNvSpPr/>
          <p:nvPr/>
        </p:nvSpPr>
        <p:spPr>
          <a:xfrm>
            <a:off x="4899047" y="1813455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344A1C97-F3BA-CE06-6399-D2037E0424DA}"/>
              </a:ext>
            </a:extLst>
          </p:cNvPr>
          <p:cNvSpPr/>
          <p:nvPr/>
        </p:nvSpPr>
        <p:spPr>
          <a:xfrm>
            <a:off x="5031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55018040-10F5-F6DC-604E-3482E799726F}"/>
              </a:ext>
            </a:extLst>
          </p:cNvPr>
          <p:cNvSpPr/>
          <p:nvPr/>
        </p:nvSpPr>
        <p:spPr>
          <a:xfrm>
            <a:off x="5031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4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6E7384C6-A14B-DB1F-FDD9-BF00A13F9BBF}"/>
              </a:ext>
            </a:extLst>
          </p:cNvPr>
          <p:cNvSpPr/>
          <p:nvPr/>
        </p:nvSpPr>
        <p:spPr>
          <a:xfrm>
            <a:off x="5123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+ crop figures</a:t>
            </a:r>
            <a:endParaRPr lang="en-US" sz="1000" dirty="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D22D37AA-4DBF-5797-069B-7691A7E1D0A4}"/>
              </a:ext>
            </a:extLst>
          </p:cNvPr>
          <p:cNvSpPr/>
          <p:nvPr/>
        </p:nvSpPr>
        <p:spPr>
          <a:xfrm>
            <a:off x="7185047" y="1813455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F76129E9-CB7E-0D19-DA40-E6C6FCD6B9A7}"/>
              </a:ext>
            </a:extLst>
          </p:cNvPr>
          <p:cNvSpPr/>
          <p:nvPr/>
        </p:nvSpPr>
        <p:spPr>
          <a:xfrm>
            <a:off x="7317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2286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CE932A6B-BFCC-B1C0-50C1-102F6FB336CE}"/>
              </a:ext>
            </a:extLst>
          </p:cNvPr>
          <p:cNvSpPr/>
          <p:nvPr/>
        </p:nvSpPr>
        <p:spPr>
          <a:xfrm>
            <a:off x="7317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ALFRED API</a:t>
            </a:r>
            <a:endParaRPr lang="en-US" sz="1400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19AE0DC4-97F5-D30C-94A8-167C90D63AB5}"/>
              </a:ext>
            </a:extLst>
          </p:cNvPr>
          <p:cNvSpPr/>
          <p:nvPr/>
        </p:nvSpPr>
        <p:spPr>
          <a:xfrm>
            <a:off x="7409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figure</a:t>
            </a:r>
            <a:endParaRPr lang="en-US" sz="1000" dirty="0"/>
          </a:p>
        </p:txBody>
      </p:sp>
      <p:sp>
        <p:nvSpPr>
          <p:cNvPr id="55" name="Shape 19">
            <a:extLst>
              <a:ext uri="{FF2B5EF4-FFF2-40B4-BE49-F238E27FC236}">
                <a16:creationId xmlns:a16="http://schemas.microsoft.com/office/drawing/2014/main" id="{C1A54CAF-8563-743C-4F09-AFFC6172A564}"/>
              </a:ext>
            </a:extLst>
          </p:cNvPr>
          <p:cNvSpPr/>
          <p:nvPr/>
        </p:nvSpPr>
        <p:spPr>
          <a:xfrm>
            <a:off x="9471047" y="1813455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EACCA6B9-424D-5DB1-3A47-6FD2B64BC273}"/>
              </a:ext>
            </a:extLst>
          </p:cNvPr>
          <p:cNvSpPr/>
          <p:nvPr/>
        </p:nvSpPr>
        <p:spPr>
          <a:xfrm>
            <a:off x="9603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E60BB432-E3C7-49CA-EFC1-08CF24C56F9F}"/>
              </a:ext>
            </a:extLst>
          </p:cNvPr>
          <p:cNvSpPr/>
          <p:nvPr/>
        </p:nvSpPr>
        <p:spPr>
          <a:xfrm>
            <a:off x="9603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</a:t>
            </a:r>
            <a:endParaRPr lang="en-US" sz="1400" dirty="0"/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24EA5F75-61BE-3A3C-C054-CECE7C28A46B}"/>
              </a:ext>
            </a:extLst>
          </p:cNvPr>
          <p:cNvSpPr/>
          <p:nvPr/>
        </p:nvSpPr>
        <p:spPr>
          <a:xfrm>
            <a:off x="9695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files_to_docs</a:t>
            </a:r>
            <a:endParaRPr lang="en-US" sz="1000" dirty="0"/>
          </a:p>
        </p:txBody>
      </p:sp>
      <p:sp>
        <p:nvSpPr>
          <p:cNvPr id="66" name="Shape 23">
            <a:extLst>
              <a:ext uri="{FF2B5EF4-FFF2-40B4-BE49-F238E27FC236}">
                <a16:creationId xmlns:a16="http://schemas.microsoft.com/office/drawing/2014/main" id="{5DEFEF3A-9920-2F1A-16E7-0C078BACCCF1}"/>
              </a:ext>
            </a:extLst>
          </p:cNvPr>
          <p:cNvSpPr/>
          <p:nvPr/>
        </p:nvSpPr>
        <p:spPr>
          <a:xfrm>
            <a:off x="459635" y="2618127"/>
            <a:ext cx="68580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51EA557E-76BC-B4A9-AEBB-362EC693E228}"/>
              </a:ext>
            </a:extLst>
          </p:cNvPr>
          <p:cNvSpPr/>
          <p:nvPr/>
        </p:nvSpPr>
        <p:spPr>
          <a:xfrm>
            <a:off x="688235" y="2709567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pdf_figure_service.py  ·  functions called</a:t>
            </a:r>
            <a:endParaRPr lang="en-US" sz="1300" dirty="0"/>
          </a:p>
        </p:txBody>
      </p:sp>
      <p:sp>
        <p:nvSpPr>
          <p:cNvPr id="70" name="Shape 25">
            <a:extLst>
              <a:ext uri="{FF2B5EF4-FFF2-40B4-BE49-F238E27FC236}">
                <a16:creationId xmlns:a16="http://schemas.microsoft.com/office/drawing/2014/main" id="{029FCE22-D561-1031-D21F-0AEFC993401F}"/>
              </a:ext>
            </a:extLst>
          </p:cNvPr>
          <p:cNvSpPr/>
          <p:nvPr/>
        </p:nvSpPr>
        <p:spPr>
          <a:xfrm>
            <a:off x="688235" y="3194199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3E5DEEB0-493C-66B5-79B3-A53ADAB6CB47}"/>
              </a:ext>
            </a:extLst>
          </p:cNvPr>
          <p:cNvSpPr/>
          <p:nvPr/>
        </p:nvSpPr>
        <p:spPr>
          <a:xfrm>
            <a:off x="688235" y="319419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4" name="Text 27">
            <a:extLst>
              <a:ext uri="{FF2B5EF4-FFF2-40B4-BE49-F238E27FC236}">
                <a16:creationId xmlns:a16="http://schemas.microsoft.com/office/drawing/2014/main" id="{D2C84E1A-AE57-ACF0-3CCF-5D5932907A06}"/>
              </a:ext>
            </a:extLst>
          </p:cNvPr>
          <p:cNvSpPr/>
          <p:nvPr/>
        </p:nvSpPr>
        <p:spPr>
          <a:xfrm>
            <a:off x="1008275" y="3075327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extract_pdf_multimodal()</a:t>
            </a:r>
            <a:endParaRPr lang="en-US" sz="1050" dirty="0"/>
          </a:p>
        </p:txBody>
      </p:sp>
      <p:sp>
        <p:nvSpPr>
          <p:cNvPr id="76" name="Text 28">
            <a:extLst>
              <a:ext uri="{FF2B5EF4-FFF2-40B4-BE49-F238E27FC236}">
                <a16:creationId xmlns:a16="http://schemas.microsoft.com/office/drawing/2014/main" id="{CB7A49E6-8998-DBFF-F809-6AB73A1C1A15}"/>
              </a:ext>
            </a:extLst>
          </p:cNvPr>
          <p:cNvSpPr/>
          <p:nvPr/>
        </p:nvSpPr>
        <p:spPr>
          <a:xfrm>
            <a:off x="4665875" y="3075327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a repository</a:t>
            </a:r>
            <a:endParaRPr lang="en-US" sz="950" dirty="0"/>
          </a:p>
        </p:txBody>
      </p:sp>
      <p:sp>
        <p:nvSpPr>
          <p:cNvPr id="78" name="Shape 29">
            <a:extLst>
              <a:ext uri="{FF2B5EF4-FFF2-40B4-BE49-F238E27FC236}">
                <a16:creationId xmlns:a16="http://schemas.microsoft.com/office/drawing/2014/main" id="{B5C1FD92-CFFF-47AC-C5E7-58480C1EF721}"/>
              </a:ext>
            </a:extLst>
          </p:cNvPr>
          <p:cNvSpPr/>
          <p:nvPr/>
        </p:nvSpPr>
        <p:spPr>
          <a:xfrm>
            <a:off x="688235" y="3578247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0" name="Text 30">
            <a:extLst>
              <a:ext uri="{FF2B5EF4-FFF2-40B4-BE49-F238E27FC236}">
                <a16:creationId xmlns:a16="http://schemas.microsoft.com/office/drawing/2014/main" id="{E2FAF4FB-D303-1436-ED7F-66C0C77D2E07}"/>
              </a:ext>
            </a:extLst>
          </p:cNvPr>
          <p:cNvSpPr/>
          <p:nvPr/>
        </p:nvSpPr>
        <p:spPr>
          <a:xfrm>
            <a:off x="688235" y="3578247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2" name="Text 31">
            <a:extLst>
              <a:ext uri="{FF2B5EF4-FFF2-40B4-BE49-F238E27FC236}">
                <a16:creationId xmlns:a16="http://schemas.microsoft.com/office/drawing/2014/main" id="{CD3BF3DF-5A34-2BBB-6923-A94E4395EF7E}"/>
              </a:ext>
            </a:extLst>
          </p:cNvPr>
          <p:cNvSpPr/>
          <p:nvPr/>
        </p:nvSpPr>
        <p:spPr>
          <a:xfrm>
            <a:off x="1008275" y="3459375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render_pdf_pages()</a:t>
            </a:r>
            <a:endParaRPr lang="en-US" sz="1050" dirty="0"/>
          </a:p>
        </p:txBody>
      </p:sp>
      <p:sp>
        <p:nvSpPr>
          <p:cNvPr id="84" name="Text 32">
            <a:extLst>
              <a:ext uri="{FF2B5EF4-FFF2-40B4-BE49-F238E27FC236}">
                <a16:creationId xmlns:a16="http://schemas.microsoft.com/office/drawing/2014/main" id="{DD0FE063-4FE1-B7D4-9BC2-13D28B5F9890}"/>
              </a:ext>
            </a:extLst>
          </p:cNvPr>
          <p:cNvSpPr/>
          <p:nvPr/>
        </p:nvSpPr>
        <p:spPr>
          <a:xfrm>
            <a:off x="4665875" y="3459375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converts each page → 150 DPI PNG</a:t>
            </a:r>
            <a:endParaRPr lang="en-US" sz="950" dirty="0"/>
          </a:p>
        </p:txBody>
      </p:sp>
      <p:sp>
        <p:nvSpPr>
          <p:cNvPr id="86" name="Shape 33">
            <a:extLst>
              <a:ext uri="{FF2B5EF4-FFF2-40B4-BE49-F238E27FC236}">
                <a16:creationId xmlns:a16="http://schemas.microsoft.com/office/drawing/2014/main" id="{BAC9B4E1-3C14-1641-59FD-5637A37D86A3}"/>
              </a:ext>
            </a:extLst>
          </p:cNvPr>
          <p:cNvSpPr/>
          <p:nvPr/>
        </p:nvSpPr>
        <p:spPr>
          <a:xfrm>
            <a:off x="688235" y="3962295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8" name="Text 34">
            <a:extLst>
              <a:ext uri="{FF2B5EF4-FFF2-40B4-BE49-F238E27FC236}">
                <a16:creationId xmlns:a16="http://schemas.microsoft.com/office/drawing/2014/main" id="{8636938D-E836-0E86-C892-EA8D75846D4A}"/>
              </a:ext>
            </a:extLst>
          </p:cNvPr>
          <p:cNvSpPr/>
          <p:nvPr/>
        </p:nvSpPr>
        <p:spPr>
          <a:xfrm>
            <a:off x="688235" y="3962295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0" name="Text 35">
            <a:extLst>
              <a:ext uri="{FF2B5EF4-FFF2-40B4-BE49-F238E27FC236}">
                <a16:creationId xmlns:a16="http://schemas.microsoft.com/office/drawing/2014/main" id="{51B9570D-61FD-2F8C-2555-111A332A7CBB}"/>
              </a:ext>
            </a:extLst>
          </p:cNvPr>
          <p:cNvSpPr/>
          <p:nvPr/>
        </p:nvSpPr>
        <p:spPr>
          <a:xfrm>
            <a:off x="1008275" y="384342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detect_candidate_figure_regions()</a:t>
            </a:r>
            <a:endParaRPr lang="en-US" sz="1050" dirty="0"/>
          </a:p>
        </p:txBody>
      </p:sp>
      <p:sp>
        <p:nvSpPr>
          <p:cNvPr id="92" name="Text 36">
            <a:extLst>
              <a:ext uri="{FF2B5EF4-FFF2-40B4-BE49-F238E27FC236}">
                <a16:creationId xmlns:a16="http://schemas.microsoft.com/office/drawing/2014/main" id="{7F69E2A9-B667-8172-83D2-31EFB989F699}"/>
              </a:ext>
            </a:extLst>
          </p:cNvPr>
          <p:cNvSpPr/>
          <p:nvPr/>
        </p:nvSpPr>
        <p:spPr>
          <a:xfrm>
            <a:off x="4665875" y="3843423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contour + area filter</a:t>
            </a:r>
            <a:endParaRPr lang="en-US" sz="950" dirty="0"/>
          </a:p>
        </p:txBody>
      </p:sp>
      <p:sp>
        <p:nvSpPr>
          <p:cNvPr id="94" name="Shape 37">
            <a:extLst>
              <a:ext uri="{FF2B5EF4-FFF2-40B4-BE49-F238E27FC236}">
                <a16:creationId xmlns:a16="http://schemas.microsoft.com/office/drawing/2014/main" id="{F459DD2A-4F56-B4B8-1163-CC0F97D7EC54}"/>
              </a:ext>
            </a:extLst>
          </p:cNvPr>
          <p:cNvSpPr/>
          <p:nvPr/>
        </p:nvSpPr>
        <p:spPr>
          <a:xfrm>
            <a:off x="688235" y="4346343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6" name="Text 38">
            <a:extLst>
              <a:ext uri="{FF2B5EF4-FFF2-40B4-BE49-F238E27FC236}">
                <a16:creationId xmlns:a16="http://schemas.microsoft.com/office/drawing/2014/main" id="{9FC58497-90FE-AF90-AF2F-CA5E6617A7AF}"/>
              </a:ext>
            </a:extLst>
          </p:cNvPr>
          <p:cNvSpPr/>
          <p:nvPr/>
        </p:nvSpPr>
        <p:spPr>
          <a:xfrm>
            <a:off x="688235" y="434634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8" name="Text 39">
            <a:extLst>
              <a:ext uri="{FF2B5EF4-FFF2-40B4-BE49-F238E27FC236}">
                <a16:creationId xmlns:a16="http://schemas.microsoft.com/office/drawing/2014/main" id="{56253D84-6C0A-849F-0A10-359E6DCFF19B}"/>
              </a:ext>
            </a:extLst>
          </p:cNvPr>
          <p:cNvSpPr/>
          <p:nvPr/>
        </p:nvSpPr>
        <p:spPr>
          <a:xfrm>
            <a:off x="1008275" y="4227471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crop_figures_from_page()</a:t>
            </a:r>
            <a:endParaRPr lang="en-US" sz="1050" dirty="0"/>
          </a:p>
        </p:txBody>
      </p:sp>
      <p:sp>
        <p:nvSpPr>
          <p:cNvPr id="100" name="Text 40">
            <a:extLst>
              <a:ext uri="{FF2B5EF4-FFF2-40B4-BE49-F238E27FC236}">
                <a16:creationId xmlns:a16="http://schemas.microsoft.com/office/drawing/2014/main" id="{9E606CEB-F7BB-5D97-8EBC-B30BECEA176E}"/>
              </a:ext>
            </a:extLst>
          </p:cNvPr>
          <p:cNvSpPr/>
          <p:nvPr/>
        </p:nvSpPr>
        <p:spPr>
          <a:xfrm>
            <a:off x="4665875" y="4227471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individual figures as PNG</a:t>
            </a:r>
            <a:endParaRPr lang="en-US" sz="950" dirty="0"/>
          </a:p>
        </p:txBody>
      </p:sp>
      <p:sp>
        <p:nvSpPr>
          <p:cNvPr id="102" name="Shape 41">
            <a:extLst>
              <a:ext uri="{FF2B5EF4-FFF2-40B4-BE49-F238E27FC236}">
                <a16:creationId xmlns:a16="http://schemas.microsoft.com/office/drawing/2014/main" id="{51E6DD2D-BF9F-D586-359B-EF80A2F5D506}"/>
              </a:ext>
            </a:extLst>
          </p:cNvPr>
          <p:cNvSpPr/>
          <p:nvPr/>
        </p:nvSpPr>
        <p:spPr>
          <a:xfrm>
            <a:off x="688235" y="4730391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4" name="Text 42">
            <a:extLst>
              <a:ext uri="{FF2B5EF4-FFF2-40B4-BE49-F238E27FC236}">
                <a16:creationId xmlns:a16="http://schemas.microsoft.com/office/drawing/2014/main" id="{C45C8823-FF6E-4A31-FAB6-D223B152B3D5}"/>
              </a:ext>
            </a:extLst>
          </p:cNvPr>
          <p:cNvSpPr/>
          <p:nvPr/>
        </p:nvSpPr>
        <p:spPr>
          <a:xfrm>
            <a:off x="688235" y="4730391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06" name="Text 43">
            <a:extLst>
              <a:ext uri="{FF2B5EF4-FFF2-40B4-BE49-F238E27FC236}">
                <a16:creationId xmlns:a16="http://schemas.microsoft.com/office/drawing/2014/main" id="{FAB61690-BE2A-8CBB-A610-6E0FAC702A93}"/>
              </a:ext>
            </a:extLst>
          </p:cNvPr>
          <p:cNvSpPr/>
          <p:nvPr/>
        </p:nvSpPr>
        <p:spPr>
          <a:xfrm>
            <a:off x="1008275" y="461151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build_pdf_figure_tasks()</a:t>
            </a:r>
            <a:endParaRPr lang="en-US" sz="1050" dirty="0"/>
          </a:p>
        </p:txBody>
      </p:sp>
      <p:sp>
        <p:nvSpPr>
          <p:cNvPr id="108" name="Text 44">
            <a:extLst>
              <a:ext uri="{FF2B5EF4-FFF2-40B4-BE49-F238E27FC236}">
                <a16:creationId xmlns:a16="http://schemas.microsoft.com/office/drawing/2014/main" id="{BAAEAD74-5063-2C54-6E3E-AF01135B0CA8}"/>
              </a:ext>
            </a:extLst>
          </p:cNvPr>
          <p:cNvSpPr/>
          <p:nvPr/>
        </p:nvSpPr>
        <p:spPr>
          <a:xfrm>
            <a:off x="4665875" y="4611519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JSONL task file for ALFRED</a:t>
            </a:r>
            <a:endParaRPr lang="en-US" sz="950" dirty="0"/>
          </a:p>
        </p:txBody>
      </p:sp>
      <p:sp>
        <p:nvSpPr>
          <p:cNvPr id="110" name="Shape 45">
            <a:extLst>
              <a:ext uri="{FF2B5EF4-FFF2-40B4-BE49-F238E27FC236}">
                <a16:creationId xmlns:a16="http://schemas.microsoft.com/office/drawing/2014/main" id="{54657310-5A54-D1BD-8688-D5F2094AA406}"/>
              </a:ext>
            </a:extLst>
          </p:cNvPr>
          <p:cNvSpPr/>
          <p:nvPr/>
        </p:nvSpPr>
        <p:spPr>
          <a:xfrm>
            <a:off x="688235" y="5114439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2" name="Text 46">
            <a:extLst>
              <a:ext uri="{FF2B5EF4-FFF2-40B4-BE49-F238E27FC236}">
                <a16:creationId xmlns:a16="http://schemas.microsoft.com/office/drawing/2014/main" id="{85715452-4087-FB17-A937-2E1ED8BCCE1C}"/>
              </a:ext>
            </a:extLst>
          </p:cNvPr>
          <p:cNvSpPr/>
          <p:nvPr/>
        </p:nvSpPr>
        <p:spPr>
          <a:xfrm>
            <a:off x="688235" y="511443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14" name="Text 47">
            <a:extLst>
              <a:ext uri="{FF2B5EF4-FFF2-40B4-BE49-F238E27FC236}">
                <a16:creationId xmlns:a16="http://schemas.microsoft.com/office/drawing/2014/main" id="{B1C21184-F0B1-A161-56C4-29AD298D685A}"/>
              </a:ext>
            </a:extLst>
          </p:cNvPr>
          <p:cNvSpPr/>
          <p:nvPr/>
        </p:nvSpPr>
        <p:spPr>
          <a:xfrm>
            <a:off x="1008275" y="4995567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inject_figure_descriptions_into_pages()</a:t>
            </a:r>
            <a:endParaRPr lang="en-US" sz="1050" dirty="0"/>
          </a:p>
        </p:txBody>
      </p:sp>
      <p:sp>
        <p:nvSpPr>
          <p:cNvPr id="116" name="Text 48">
            <a:extLst>
              <a:ext uri="{FF2B5EF4-FFF2-40B4-BE49-F238E27FC236}">
                <a16:creationId xmlns:a16="http://schemas.microsoft.com/office/drawing/2014/main" id="{F14B3DC0-3B1D-4CCB-D7E1-8520F80AA78A}"/>
              </a:ext>
            </a:extLst>
          </p:cNvPr>
          <p:cNvSpPr/>
          <p:nvPr/>
        </p:nvSpPr>
        <p:spPr>
          <a:xfrm>
            <a:off x="4665875" y="4995567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descriptions back into docs</a:t>
            </a:r>
            <a:endParaRPr lang="en-US" sz="950" dirty="0"/>
          </a:p>
        </p:txBody>
      </p:sp>
      <p:sp>
        <p:nvSpPr>
          <p:cNvPr id="118" name="Shape 49">
            <a:extLst>
              <a:ext uri="{FF2B5EF4-FFF2-40B4-BE49-F238E27FC236}">
                <a16:creationId xmlns:a16="http://schemas.microsoft.com/office/drawing/2014/main" id="{53839B88-E168-ABA2-41C3-E1965CD1B9CE}"/>
              </a:ext>
            </a:extLst>
          </p:cNvPr>
          <p:cNvSpPr/>
          <p:nvPr/>
        </p:nvSpPr>
        <p:spPr>
          <a:xfrm>
            <a:off x="7500515" y="2618127"/>
            <a:ext cx="4297680" cy="2880360"/>
          </a:xfrm>
          <a:prstGeom prst="roundRect">
            <a:avLst>
              <a:gd name="adj" fmla="val 2540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0" name="Text 50">
            <a:extLst>
              <a:ext uri="{FF2B5EF4-FFF2-40B4-BE49-F238E27FC236}">
                <a16:creationId xmlns:a16="http://schemas.microsoft.com/office/drawing/2014/main" id="{9F8DE760-A884-5A41-70F3-821F260CDB94}"/>
              </a:ext>
            </a:extLst>
          </p:cNvPr>
          <p:cNvSpPr/>
          <p:nvPr/>
        </p:nvSpPr>
        <p:spPr>
          <a:xfrm>
            <a:off x="7729115" y="270956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layout</a:t>
            </a:r>
            <a:endParaRPr lang="en-US" sz="1300" dirty="0"/>
          </a:p>
        </p:txBody>
      </p:sp>
      <p:sp>
        <p:nvSpPr>
          <p:cNvPr id="122" name="Text 51">
            <a:extLst>
              <a:ext uri="{FF2B5EF4-FFF2-40B4-BE49-F238E27FC236}">
                <a16:creationId xmlns:a16="http://schemas.microsoft.com/office/drawing/2014/main" id="{BC8611EC-2160-3B85-3437-BD75AADA6E6C}"/>
              </a:ext>
            </a:extLst>
          </p:cNvPr>
          <p:cNvSpPr/>
          <p:nvPr/>
        </p:nvSpPr>
        <p:spPr>
          <a:xfrm>
            <a:off x="7729115" y="302960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On-disk artifacts produced by the pipeline:</a:t>
            </a:r>
            <a:endParaRPr lang="en-US" sz="1000" dirty="0"/>
          </a:p>
        </p:txBody>
      </p:sp>
      <p:sp>
        <p:nvSpPr>
          <p:cNvPr id="124" name="Text 52">
            <a:extLst>
              <a:ext uri="{FF2B5EF4-FFF2-40B4-BE49-F238E27FC236}">
                <a16:creationId xmlns:a16="http://schemas.microsoft.com/office/drawing/2014/main" id="{9847EB63-6A88-8828-4B54-1749EB543209}"/>
              </a:ext>
            </a:extLst>
          </p:cNvPr>
          <p:cNvSpPr/>
          <p:nvPr/>
        </p:nvSpPr>
        <p:spPr>
          <a:xfrm>
            <a:off x="7729115" y="330392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data/pdf_pages/&lt;repo&gt;/*.png</a:t>
            </a:r>
            <a:endParaRPr lang="en-US" sz="1000" dirty="0"/>
          </a:p>
        </p:txBody>
      </p:sp>
      <p:sp>
        <p:nvSpPr>
          <p:cNvPr id="126" name="Text 53">
            <a:extLst>
              <a:ext uri="{FF2B5EF4-FFF2-40B4-BE49-F238E27FC236}">
                <a16:creationId xmlns:a16="http://schemas.microsoft.com/office/drawing/2014/main" id="{04D60A65-5AF4-4BF1-3B0B-2CD05F988A99}"/>
              </a:ext>
            </a:extLst>
          </p:cNvPr>
          <p:cNvSpPr/>
          <p:nvPr/>
        </p:nvSpPr>
        <p:spPr>
          <a:xfrm>
            <a:off x="7729115" y="357824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(rendered pages)</a:t>
            </a:r>
            <a:endParaRPr lang="en-US" sz="900" dirty="0"/>
          </a:p>
        </p:txBody>
      </p:sp>
      <p:sp>
        <p:nvSpPr>
          <p:cNvPr id="128" name="Text 54">
            <a:extLst>
              <a:ext uri="{FF2B5EF4-FFF2-40B4-BE49-F238E27FC236}">
                <a16:creationId xmlns:a16="http://schemas.microsoft.com/office/drawing/2014/main" id="{3C65A58F-24F0-CE10-ACA2-EB5DA9696AAB}"/>
              </a:ext>
            </a:extLst>
          </p:cNvPr>
          <p:cNvSpPr/>
          <p:nvPr/>
        </p:nvSpPr>
        <p:spPr>
          <a:xfrm>
            <a:off x="7729115" y="385256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data/pdf_figures/&lt;repo&gt;/*.png</a:t>
            </a:r>
            <a:endParaRPr lang="en-US" sz="1000" dirty="0"/>
          </a:p>
        </p:txBody>
      </p:sp>
      <p:sp>
        <p:nvSpPr>
          <p:cNvPr id="130" name="Text 55">
            <a:extLst>
              <a:ext uri="{FF2B5EF4-FFF2-40B4-BE49-F238E27FC236}">
                <a16:creationId xmlns:a16="http://schemas.microsoft.com/office/drawing/2014/main" id="{9716C6B7-AFB9-7476-777C-358B398D89B8}"/>
              </a:ext>
            </a:extLst>
          </p:cNvPr>
          <p:cNvSpPr/>
          <p:nvPr/>
        </p:nvSpPr>
        <p:spPr>
          <a:xfrm>
            <a:off x="7729115" y="412688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(cropped figures)</a:t>
            </a:r>
            <a:endParaRPr lang="en-US" sz="900" dirty="0"/>
          </a:p>
        </p:txBody>
      </p:sp>
      <p:sp>
        <p:nvSpPr>
          <p:cNvPr id="132" name="Text 56">
            <a:extLst>
              <a:ext uri="{FF2B5EF4-FFF2-40B4-BE49-F238E27FC236}">
                <a16:creationId xmlns:a16="http://schemas.microsoft.com/office/drawing/2014/main" id="{8EE5189D-13E3-2347-E472-FCE709E19750}"/>
              </a:ext>
            </a:extLst>
          </p:cNvPr>
          <p:cNvSpPr/>
          <p:nvPr/>
        </p:nvSpPr>
        <p:spPr>
          <a:xfrm>
            <a:off x="7729115" y="440120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data/pdf_image_tasks_&lt;repo&gt;.jsonl</a:t>
            </a:r>
            <a:endParaRPr lang="en-US" sz="1000" dirty="0"/>
          </a:p>
        </p:txBody>
      </p:sp>
      <p:sp>
        <p:nvSpPr>
          <p:cNvPr id="134" name="Text 57">
            <a:extLst>
              <a:ext uri="{FF2B5EF4-FFF2-40B4-BE49-F238E27FC236}">
                <a16:creationId xmlns:a16="http://schemas.microsoft.com/office/drawing/2014/main" id="{F1915569-B468-DFA5-10E6-38FD4EA7B8C5}"/>
              </a:ext>
            </a:extLst>
          </p:cNvPr>
          <p:cNvSpPr/>
          <p:nvPr/>
        </p:nvSpPr>
        <p:spPr>
          <a:xfrm>
            <a:off x="7729115" y="467552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(ALFRED task queue)</a:t>
            </a:r>
            <a:endParaRPr lang="en-US" sz="900" dirty="0"/>
          </a:p>
        </p:txBody>
      </p:sp>
      <p:sp>
        <p:nvSpPr>
          <p:cNvPr id="136" name="Text 58">
            <a:extLst>
              <a:ext uri="{FF2B5EF4-FFF2-40B4-BE49-F238E27FC236}">
                <a16:creationId xmlns:a16="http://schemas.microsoft.com/office/drawing/2014/main" id="{417F8C30-9FA3-60D1-B656-234E7B21F066}"/>
              </a:ext>
            </a:extLst>
          </p:cNvPr>
          <p:cNvSpPr/>
          <p:nvPr/>
        </p:nvSpPr>
        <p:spPr>
          <a:xfrm>
            <a:off x="7729115" y="494984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data/pdf_image_descriptions.json</a:t>
            </a:r>
            <a:endParaRPr lang="en-US" sz="1000" dirty="0"/>
          </a:p>
        </p:txBody>
      </p:sp>
      <p:sp>
        <p:nvSpPr>
          <p:cNvPr id="138" name="Text 59">
            <a:extLst>
              <a:ext uri="{FF2B5EF4-FFF2-40B4-BE49-F238E27FC236}">
                <a16:creationId xmlns:a16="http://schemas.microsoft.com/office/drawing/2014/main" id="{85B41DDD-4084-379A-F90C-1E22B2AEE0AA}"/>
              </a:ext>
            </a:extLst>
          </p:cNvPr>
          <p:cNvSpPr/>
          <p:nvPr/>
        </p:nvSpPr>
        <p:spPr>
          <a:xfrm>
            <a:off x="7729115" y="522416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(242 descriptions · 19 series)</a:t>
            </a:r>
            <a:endParaRPr lang="en-US" sz="900" dirty="0"/>
          </a:p>
        </p:txBody>
      </p:sp>
      <p:sp>
        <p:nvSpPr>
          <p:cNvPr id="140" name="Shape 60">
            <a:extLst>
              <a:ext uri="{FF2B5EF4-FFF2-40B4-BE49-F238E27FC236}">
                <a16:creationId xmlns:a16="http://schemas.microsoft.com/office/drawing/2014/main" id="{CC1A6527-ABA5-7434-15A0-B80CB8067B67}"/>
              </a:ext>
            </a:extLst>
          </p:cNvPr>
          <p:cNvSpPr/>
          <p:nvPr/>
        </p:nvSpPr>
        <p:spPr>
          <a:xfrm>
            <a:off x="459635" y="5727087"/>
            <a:ext cx="11338560" cy="320040"/>
          </a:xfrm>
          <a:prstGeom prst="roundRect">
            <a:avLst>
              <a:gd name="adj" fmla="val 22857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2" name="Text 61">
            <a:extLst>
              <a:ext uri="{FF2B5EF4-FFF2-40B4-BE49-F238E27FC236}">
                <a16:creationId xmlns:a16="http://schemas.microsoft.com/office/drawing/2014/main" id="{E80BB0F0-FF75-7F8E-19F5-757E2852E0EA}"/>
              </a:ext>
            </a:extLst>
          </p:cNvPr>
          <p:cNvSpPr/>
          <p:nvPr/>
        </p:nvSpPr>
        <p:spPr>
          <a:xfrm>
            <a:off x="459635" y="5727087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BEFORE cleaning? Descriptions must exist before Enrichment can inject them into files_to_docs_v2.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411853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29E3B-ACB1-7C88-01A1-B1A364AD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334F7-7791-6356-6E4C-0C635B6A1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Alfred Path B  ·  Issue Screenshot Pipeline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812E72B0-64BA-6DE3-B01E-775C735E55EF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38FAD7-D623-3A9B-3C25-83E0F1CC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40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AB40580-D5CD-167E-5FAC-86D81BC788B5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1E3885FF-4841-F539-D05A-2DBB0DE13590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412E713-A1CA-FB6B-6977-12F9CDEC5496}"/>
              </a:ext>
            </a:extLst>
          </p:cNvPr>
          <p:cNvSpPr/>
          <p:nvPr/>
        </p:nvSpPr>
        <p:spPr>
          <a:xfrm>
            <a:off x="548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B9C4C0D-43ED-2261-E08D-153C9DAD610E}"/>
              </a:ext>
            </a:extLst>
          </p:cNvPr>
          <p:cNvSpPr/>
          <p:nvPr/>
        </p:nvSpPr>
        <p:spPr>
          <a:xfrm>
            <a:off x="548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JSON</a:t>
            </a:r>
            <a:endParaRPr lang="en-US" sz="13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7B0969FF-BC72-1914-EFAE-5371C475FD82}"/>
              </a:ext>
            </a:extLst>
          </p:cNvPr>
          <p:cNvSpPr/>
          <p:nvPr/>
        </p:nvSpPr>
        <p:spPr>
          <a:xfrm>
            <a:off x="640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st_ready_issues_with_images_*.json</a:t>
            </a:r>
            <a:endParaRPr lang="en-US" sz="95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4B8D5E55-A55E-65F1-35C5-96B5D9B6E452}"/>
              </a:ext>
            </a:extLst>
          </p:cNvPr>
          <p:cNvSpPr/>
          <p:nvPr/>
        </p:nvSpPr>
        <p:spPr>
          <a:xfrm>
            <a:off x="2702052" y="2029968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27720A84-F3EF-2B11-D64C-7E5D2C9B89C2}"/>
              </a:ext>
            </a:extLst>
          </p:cNvPr>
          <p:cNvSpPr/>
          <p:nvPr/>
        </p:nvSpPr>
        <p:spPr>
          <a:xfrm>
            <a:off x="2834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15091D0-8ADD-4544-17D4-EDF36A73D0D6}"/>
              </a:ext>
            </a:extLst>
          </p:cNvPr>
          <p:cNvSpPr/>
          <p:nvPr/>
        </p:nvSpPr>
        <p:spPr>
          <a:xfrm>
            <a:off x="2834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</a:t>
            </a:r>
            <a:endParaRPr lang="en-US" sz="13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70C5A169-C008-636E-D4CC-258E29EA185F}"/>
              </a:ext>
            </a:extLst>
          </p:cNvPr>
          <p:cNvSpPr/>
          <p:nvPr/>
        </p:nvSpPr>
        <p:spPr>
          <a:xfrm>
            <a:off x="2926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URLs from image_urls</a:t>
            </a:r>
            <a:endParaRPr lang="en-US" sz="95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60715D76-7060-005C-6301-76765E49378F}"/>
              </a:ext>
            </a:extLst>
          </p:cNvPr>
          <p:cNvSpPr/>
          <p:nvPr/>
        </p:nvSpPr>
        <p:spPr>
          <a:xfrm>
            <a:off x="4988052" y="2029968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9A7A246C-AB48-4026-EA64-1A98D980B7AA}"/>
              </a:ext>
            </a:extLst>
          </p:cNvPr>
          <p:cNvSpPr/>
          <p:nvPr/>
        </p:nvSpPr>
        <p:spPr>
          <a:xfrm>
            <a:off x="5120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2286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954090C3-B914-8FF2-FD7B-C9DBC370A33F}"/>
              </a:ext>
            </a:extLst>
          </p:cNvPr>
          <p:cNvSpPr/>
          <p:nvPr/>
        </p:nvSpPr>
        <p:spPr>
          <a:xfrm>
            <a:off x="5120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ALFRED API</a:t>
            </a:r>
            <a:endParaRPr lang="en-US" sz="135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A9090D36-0380-0B8D-B696-8848D4422DA0}"/>
              </a:ext>
            </a:extLst>
          </p:cNvPr>
          <p:cNvSpPr/>
          <p:nvPr/>
        </p:nvSpPr>
        <p:spPr>
          <a:xfrm>
            <a:off x="5212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each screenshot</a:t>
            </a:r>
            <a:endParaRPr lang="en-US" sz="950" dirty="0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17DBEB3A-D3CF-A691-7B7D-AFBA6C1102AD}"/>
              </a:ext>
            </a:extLst>
          </p:cNvPr>
          <p:cNvSpPr/>
          <p:nvPr/>
        </p:nvSpPr>
        <p:spPr>
          <a:xfrm>
            <a:off x="7274052" y="2029968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78EDAF16-980F-19B6-ADD6-12C665EE8E66}"/>
              </a:ext>
            </a:extLst>
          </p:cNvPr>
          <p:cNvSpPr/>
          <p:nvPr/>
        </p:nvSpPr>
        <p:spPr>
          <a:xfrm>
            <a:off x="7406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CFCDC487-E115-A860-EDB5-0D6CF69E07CD}"/>
              </a:ext>
            </a:extLst>
          </p:cNvPr>
          <p:cNvSpPr/>
          <p:nvPr/>
        </p:nvSpPr>
        <p:spPr>
          <a:xfrm>
            <a:off x="7406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tag</a:t>
            </a:r>
            <a:endParaRPr lang="en-US" sz="1350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E3396C49-A412-B494-61EC-7397D63D4A11}"/>
              </a:ext>
            </a:extLst>
          </p:cNvPr>
          <p:cNvSpPr/>
          <p:nvPr/>
        </p:nvSpPr>
        <p:spPr>
          <a:xfrm>
            <a:off x="7498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 ATTACHED] → [IMAGE DESCRIPTION]</a:t>
            </a:r>
            <a:endParaRPr lang="en-US" sz="950" dirty="0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C865F238-C2FD-BF9A-52D9-896DF9D24200}"/>
              </a:ext>
            </a:extLst>
          </p:cNvPr>
          <p:cNvSpPr/>
          <p:nvPr/>
        </p:nvSpPr>
        <p:spPr>
          <a:xfrm>
            <a:off x="9560052" y="2029968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ED94B51E-3834-1C98-13DD-C7E94C8B19F8}"/>
              </a:ext>
            </a:extLst>
          </p:cNvPr>
          <p:cNvSpPr/>
          <p:nvPr/>
        </p:nvSpPr>
        <p:spPr>
          <a:xfrm>
            <a:off x="9692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B131A8FE-62E4-C74B-A3F5-160FE4E77D94}"/>
              </a:ext>
            </a:extLst>
          </p:cNvPr>
          <p:cNvSpPr/>
          <p:nvPr/>
        </p:nvSpPr>
        <p:spPr>
          <a:xfrm>
            <a:off x="9692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In-place save</a:t>
            </a:r>
            <a:endParaRPr lang="en-US" sz="1350" dirty="0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D2A6DBEF-B13C-E4F3-D21F-9CDEBC375245}"/>
              </a:ext>
            </a:extLst>
          </p:cNvPr>
          <p:cNvSpPr/>
          <p:nvPr/>
        </p:nvSpPr>
        <p:spPr>
          <a:xfrm>
            <a:off x="9784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overwritten</a:t>
            </a:r>
            <a:endParaRPr lang="en-US" sz="950" dirty="0"/>
          </a:p>
        </p:txBody>
      </p:sp>
      <p:sp>
        <p:nvSpPr>
          <p:cNvPr id="65" name="Shape 23">
            <a:extLst>
              <a:ext uri="{FF2B5EF4-FFF2-40B4-BE49-F238E27FC236}">
                <a16:creationId xmlns:a16="http://schemas.microsoft.com/office/drawing/2014/main" id="{74FEF1BC-D9C5-5BB2-BD5E-AE5253F0D9E0}"/>
              </a:ext>
            </a:extLst>
          </p:cNvPr>
          <p:cNvSpPr/>
          <p:nvPr/>
        </p:nvSpPr>
        <p:spPr>
          <a:xfrm>
            <a:off x="548640" y="2834640"/>
            <a:ext cx="11338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9" name="Text 24">
            <a:extLst>
              <a:ext uri="{FF2B5EF4-FFF2-40B4-BE49-F238E27FC236}">
                <a16:creationId xmlns:a16="http://schemas.microsoft.com/office/drawing/2014/main" id="{25BABBE8-5D2E-798B-F2AC-CEAD2B9A5E4B}"/>
              </a:ext>
            </a:extLst>
          </p:cNvPr>
          <p:cNvSpPr/>
          <p:nvPr/>
        </p:nvSpPr>
        <p:spPr>
          <a:xfrm>
            <a:off x="777240" y="2926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 example  ·  STM32CubeH7 Issue #335</a:t>
            </a:r>
            <a:endParaRPr lang="en-US" sz="1300" dirty="0"/>
          </a:p>
        </p:txBody>
      </p:sp>
      <p:sp>
        <p:nvSpPr>
          <p:cNvPr id="73" name="Text 25">
            <a:extLst>
              <a:ext uri="{FF2B5EF4-FFF2-40B4-BE49-F238E27FC236}">
                <a16:creationId xmlns:a16="http://schemas.microsoft.com/office/drawing/2014/main" id="{54C8D5E8-E620-A2C1-9C39-1F799EB14DA8}"/>
              </a:ext>
            </a:extLst>
          </p:cNvPr>
          <p:cNvSpPr/>
          <p:nvPr/>
        </p:nvSpPr>
        <p:spPr>
          <a:xfrm>
            <a:off x="777240" y="3246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Warning observed with -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Wcast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-align flag during compilation</a:t>
            </a:r>
            <a:endParaRPr lang="en-US" sz="1100" dirty="0"/>
          </a:p>
        </p:txBody>
      </p:sp>
      <p:sp>
        <p:nvSpPr>
          <p:cNvPr id="77" name="Shape 26">
            <a:extLst>
              <a:ext uri="{FF2B5EF4-FFF2-40B4-BE49-F238E27FC236}">
                <a16:creationId xmlns:a16="http://schemas.microsoft.com/office/drawing/2014/main" id="{985CD36B-67BD-C5AF-BD66-78836346D038}"/>
              </a:ext>
            </a:extLst>
          </p:cNvPr>
          <p:cNvSpPr/>
          <p:nvPr/>
        </p:nvSpPr>
        <p:spPr>
          <a:xfrm>
            <a:off x="777240" y="3611880"/>
            <a:ext cx="5257800" cy="2148840"/>
          </a:xfrm>
          <a:prstGeom prst="roundRect">
            <a:avLst>
              <a:gd name="adj" fmla="val 2128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1" name="Text 27">
            <a:extLst>
              <a:ext uri="{FF2B5EF4-FFF2-40B4-BE49-F238E27FC236}">
                <a16:creationId xmlns:a16="http://schemas.microsoft.com/office/drawing/2014/main" id="{36B612D2-97C1-D307-EECD-7A2D52BA986D}"/>
              </a:ext>
            </a:extLst>
          </p:cNvPr>
          <p:cNvSpPr/>
          <p:nvPr/>
        </p:nvSpPr>
        <p:spPr>
          <a:xfrm>
            <a:off x="960120" y="3703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Alfred</a:t>
            </a:r>
            <a:endParaRPr lang="en-US" sz="1100" dirty="0"/>
          </a:p>
        </p:txBody>
      </p:sp>
      <p:sp>
        <p:nvSpPr>
          <p:cNvPr id="85" name="Text 28">
            <a:extLst>
              <a:ext uri="{FF2B5EF4-FFF2-40B4-BE49-F238E27FC236}">
                <a16:creationId xmlns:a16="http://schemas.microsoft.com/office/drawing/2014/main" id="{5A5AF2B2-351E-B0DF-6511-45E9240B25D9}"/>
              </a:ext>
            </a:extLst>
          </p:cNvPr>
          <p:cNvSpPr/>
          <p:nvPr/>
        </p:nvSpPr>
        <p:spPr>
          <a:xfrm>
            <a:off x="960120" y="39776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st_ready_text extract:</a:t>
            </a:r>
            <a:endParaRPr lang="en-US" sz="950" dirty="0"/>
          </a:p>
        </p:txBody>
      </p:sp>
      <p:sp>
        <p:nvSpPr>
          <p:cNvPr id="89" name="Shape 29">
            <a:extLst>
              <a:ext uri="{FF2B5EF4-FFF2-40B4-BE49-F238E27FC236}">
                <a16:creationId xmlns:a16="http://schemas.microsoft.com/office/drawing/2014/main" id="{0ABB83F4-219C-CDE5-DF36-13A5B09BC6E7}"/>
              </a:ext>
            </a:extLst>
          </p:cNvPr>
          <p:cNvSpPr/>
          <p:nvPr/>
        </p:nvSpPr>
        <p:spPr>
          <a:xfrm>
            <a:off x="960120" y="4251960"/>
            <a:ext cx="4892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3" name="Text 30">
            <a:extLst>
              <a:ext uri="{FF2B5EF4-FFF2-40B4-BE49-F238E27FC236}">
                <a16:creationId xmlns:a16="http://schemas.microsoft.com/office/drawing/2014/main" id="{C1F73756-B279-0296-9F33-079F91482793}"/>
              </a:ext>
            </a:extLst>
          </p:cNvPr>
          <p:cNvSpPr/>
          <p:nvPr/>
        </p:nvSpPr>
        <p:spPr>
          <a:xfrm>
            <a:off x="1051560" y="429768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"Reproduce steps: see screenshot below.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[IMAGE ATTACHED]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Expected: no warning.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Actual: warning at line ..."</a:t>
            </a:r>
            <a:endParaRPr lang="en-US" sz="950" dirty="0"/>
          </a:p>
        </p:txBody>
      </p:sp>
      <p:sp>
        <p:nvSpPr>
          <p:cNvPr id="97" name="Shape 31">
            <a:extLst>
              <a:ext uri="{FF2B5EF4-FFF2-40B4-BE49-F238E27FC236}">
                <a16:creationId xmlns:a16="http://schemas.microsoft.com/office/drawing/2014/main" id="{AA91E2B4-B915-41D1-C147-F819E29650EA}"/>
              </a:ext>
            </a:extLst>
          </p:cNvPr>
          <p:cNvSpPr/>
          <p:nvPr/>
        </p:nvSpPr>
        <p:spPr>
          <a:xfrm>
            <a:off x="6263640" y="3611880"/>
            <a:ext cx="5257800" cy="2148840"/>
          </a:xfrm>
          <a:prstGeom prst="roundRect">
            <a:avLst>
              <a:gd name="adj" fmla="val 2128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1" name="Text 32">
            <a:extLst>
              <a:ext uri="{FF2B5EF4-FFF2-40B4-BE49-F238E27FC236}">
                <a16:creationId xmlns:a16="http://schemas.microsoft.com/office/drawing/2014/main" id="{9DB86776-EF2A-00CA-3F32-7E2BC9378712}"/>
              </a:ext>
            </a:extLst>
          </p:cNvPr>
          <p:cNvSpPr/>
          <p:nvPr/>
        </p:nvSpPr>
        <p:spPr>
          <a:xfrm>
            <a:off x="6446520" y="3703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Alfred</a:t>
            </a:r>
            <a:endParaRPr lang="en-US" sz="1100" dirty="0"/>
          </a:p>
        </p:txBody>
      </p:sp>
      <p:sp>
        <p:nvSpPr>
          <p:cNvPr id="105" name="Text 33">
            <a:extLst>
              <a:ext uri="{FF2B5EF4-FFF2-40B4-BE49-F238E27FC236}">
                <a16:creationId xmlns:a16="http://schemas.microsoft.com/office/drawing/2014/main" id="{4DB81EFD-267A-D25E-959A-0891067C10A4}"/>
              </a:ext>
            </a:extLst>
          </p:cNvPr>
          <p:cNvSpPr/>
          <p:nvPr/>
        </p:nvSpPr>
        <p:spPr>
          <a:xfrm>
            <a:off x="6446520" y="39776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· in-place replacement:</a:t>
            </a:r>
            <a:endParaRPr lang="en-US" sz="950" dirty="0"/>
          </a:p>
        </p:txBody>
      </p:sp>
      <p:sp>
        <p:nvSpPr>
          <p:cNvPr id="109" name="Shape 34">
            <a:extLst>
              <a:ext uri="{FF2B5EF4-FFF2-40B4-BE49-F238E27FC236}">
                <a16:creationId xmlns:a16="http://schemas.microsoft.com/office/drawing/2014/main" id="{08FB6D1F-BC5A-2997-6511-D6ACC4F0B23E}"/>
              </a:ext>
            </a:extLst>
          </p:cNvPr>
          <p:cNvSpPr/>
          <p:nvPr/>
        </p:nvSpPr>
        <p:spPr>
          <a:xfrm>
            <a:off x="6446520" y="4251960"/>
            <a:ext cx="4892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3" name="Text 35">
            <a:extLst>
              <a:ext uri="{FF2B5EF4-FFF2-40B4-BE49-F238E27FC236}">
                <a16:creationId xmlns:a16="http://schemas.microsoft.com/office/drawing/2014/main" id="{2F90CAD9-8C62-4C3D-90B9-AAE4E07DBEF0}"/>
              </a:ext>
            </a:extLst>
          </p:cNvPr>
          <p:cNvSpPr/>
          <p:nvPr/>
        </p:nvSpPr>
        <p:spPr>
          <a:xfrm>
            <a:off x="6537960" y="429768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"Reproduce steps: see screenshot below.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[IMAGE DESCRIPTION] Eclipse Tool Settings panel showing GCC assembler flags including -Wcast-align enabled for arm-none-eabi-gcc.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Expected: no warning..."</a:t>
            </a:r>
            <a:endParaRPr lang="en-US" sz="950" dirty="0"/>
          </a:p>
        </p:txBody>
      </p:sp>
      <p:sp>
        <p:nvSpPr>
          <p:cNvPr id="117" name="Shape 36">
            <a:extLst>
              <a:ext uri="{FF2B5EF4-FFF2-40B4-BE49-F238E27FC236}">
                <a16:creationId xmlns:a16="http://schemas.microsoft.com/office/drawing/2014/main" id="{D60710CF-8D1B-AB4A-4C1B-4AACF31DE30B}"/>
              </a:ext>
            </a:extLst>
          </p:cNvPr>
          <p:cNvSpPr/>
          <p:nvPr/>
        </p:nvSpPr>
        <p:spPr>
          <a:xfrm>
            <a:off x="548640" y="6035040"/>
            <a:ext cx="11338560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1" name="Text 37">
            <a:extLst>
              <a:ext uri="{FF2B5EF4-FFF2-40B4-BE49-F238E27FC236}">
                <a16:creationId xmlns:a16="http://schemas.microsoft.com/office/drawing/2014/main" id="{8444ECBE-9B9A-53FF-2ACB-E0EB61C75A73}"/>
              </a:ext>
            </a:extLst>
          </p:cNvPr>
          <p:cNvSpPr/>
          <p:nvPr/>
        </p:nvSpPr>
        <p:spPr>
          <a:xfrm>
            <a:off x="548640" y="60350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AFTER delivery? Path B needs the final structured metadata; the enrichment for the LLM happens on the file the KB will actually see.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29930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DB359-4097-AF3E-6963-35DECDD8D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121A8-3B3A-AC4B-4F2B-F0A1B5269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Alfred Coverage Across the STM32Cube Family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37934794-E90C-D9F8-EB5D-CBF3770E1474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A696FD-8B99-6877-DF68-48504712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41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90BF3A3-5C0A-BFA4-90A7-A8A7BAB5A08E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9D6426B5-9CDA-9EAB-D6AF-6F6E0201AD76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7D3C1D7C-1730-3165-5F4B-B13FDE927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419025"/>
              </p:ext>
            </p:extLst>
          </p:nvPr>
        </p:nvGraphicFramePr>
        <p:xfrm>
          <a:off x="485245" y="1176633"/>
          <a:ext cx="7315200" cy="4160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 w/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Alfred 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Figures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/ 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/ 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/ 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/ 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 / F1 / F2 / F3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(19 series)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 figures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8" name="Shape 4">
            <a:extLst>
              <a:ext uri="{FF2B5EF4-FFF2-40B4-BE49-F238E27FC236}">
                <a16:creationId xmlns:a16="http://schemas.microsoft.com/office/drawing/2014/main" id="{DEC1E7F1-0561-5FAB-4769-4D8E0D46AFA1}"/>
              </a:ext>
            </a:extLst>
          </p:cNvPr>
          <p:cNvSpPr/>
          <p:nvPr/>
        </p:nvSpPr>
        <p:spPr>
          <a:xfrm>
            <a:off x="8029045" y="1633833"/>
            <a:ext cx="3794760" cy="1214188"/>
          </a:xfrm>
          <a:prstGeom prst="roundRect">
            <a:avLst>
              <a:gd name="adj" fmla="val 3721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BC29B9F8-5CBD-6F0C-35FB-DD981D5F205D}"/>
              </a:ext>
            </a:extLst>
          </p:cNvPr>
          <p:cNvSpPr/>
          <p:nvPr/>
        </p:nvSpPr>
        <p:spPr>
          <a:xfrm>
            <a:off x="8211925" y="172527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works</a:t>
            </a:r>
            <a:endParaRPr lang="en-US" sz="1300" dirty="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5FC4CFA2-9F3A-BB3A-0CEE-594EA91D7430}"/>
              </a:ext>
            </a:extLst>
          </p:cNvPr>
          <p:cNvSpPr/>
          <p:nvPr/>
        </p:nvSpPr>
        <p:spPr>
          <a:xfrm>
            <a:off x="8211925" y="2045313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 figures described across the whole family. ~1% failure rate is timeout / very small figure filtered out — negligible for retrieval.</a:t>
            </a:r>
            <a:endParaRPr lang="en-US" sz="1050" dirty="0"/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E0A5F4AD-592C-6E92-68A4-6FE48240B9DD}"/>
              </a:ext>
            </a:extLst>
          </p:cNvPr>
          <p:cNvSpPr/>
          <p:nvPr/>
        </p:nvSpPr>
        <p:spPr>
          <a:xfrm>
            <a:off x="8029045" y="3279753"/>
            <a:ext cx="3794760" cy="1214188"/>
          </a:xfrm>
          <a:prstGeom prst="roundRect">
            <a:avLst>
              <a:gd name="adj" fmla="val 3721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279A224C-B59A-0588-5645-0AB9D14800E1}"/>
              </a:ext>
            </a:extLst>
          </p:cNvPr>
          <p:cNvSpPr/>
          <p:nvPr/>
        </p:nvSpPr>
        <p:spPr>
          <a:xfrm>
            <a:off x="8211925" y="337119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is not the metric</a:t>
            </a:r>
            <a:endParaRPr lang="en-US" sz="1300" dirty="0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14B62EAE-4AB8-D462-67DA-7F78251269B0}"/>
              </a:ext>
            </a:extLst>
          </p:cNvPr>
          <p:cNvSpPr/>
          <p:nvPr/>
        </p:nvSpPr>
        <p:spPr>
          <a:xfrm>
            <a:off x="8211925" y="3691233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API success ≠ 99% useful descriptions. That's why we measure contextual trust separately (next slide).</a:t>
            </a:r>
            <a:endParaRPr lang="en-US" sz="1050" dirty="0"/>
          </a:p>
        </p:txBody>
      </p:sp>
      <p:sp>
        <p:nvSpPr>
          <p:cNvPr id="56" name="Shape 10">
            <a:extLst>
              <a:ext uri="{FF2B5EF4-FFF2-40B4-BE49-F238E27FC236}">
                <a16:creationId xmlns:a16="http://schemas.microsoft.com/office/drawing/2014/main" id="{8811FA4C-1B70-06F5-FB77-B1CF6E43E5F8}"/>
              </a:ext>
            </a:extLst>
          </p:cNvPr>
          <p:cNvSpPr/>
          <p:nvPr/>
        </p:nvSpPr>
        <p:spPr>
          <a:xfrm>
            <a:off x="485245" y="5657193"/>
            <a:ext cx="11338560" cy="365760"/>
          </a:xfrm>
          <a:prstGeom prst="roundRect">
            <a:avLst>
              <a:gd name="adj" fmla="val 20000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4716512A-BD5F-4E49-D696-F6629D5E161E}"/>
              </a:ext>
            </a:extLst>
          </p:cNvPr>
          <p:cNvSpPr/>
          <p:nvPr/>
        </p:nvSpPr>
        <p:spPr>
          <a:xfrm>
            <a:off x="485245" y="5657193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done. The remaining work is on quality of descriptions in weak-context cases — not on making the pipeline reach more series.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278592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23042-F908-EA4C-C67D-E3E38C00D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B424-0613-1D81-1F5A-55177A170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KB-First Agent  ·  Persona, KB Tool, and the </a:t>
            </a:r>
            <a:r>
              <a:rPr lang="en-US" sz="1800" b="1" noProof="0" dirty="0" err="1"/>
              <a:t>NovaX</a:t>
            </a:r>
            <a:r>
              <a:rPr lang="en-US" sz="1800" b="1" noProof="0" dirty="0"/>
              <a:t> Fallback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062D1EA7-A3F7-5A18-0EFC-F11E53D8215F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37FAF3-35DD-D85E-8358-4BBA5CD30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42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30B58CD-2AB1-9820-1A7D-E78C92144A95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96192973-499F-A3A6-2813-C3B7DE20FEC8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72FB55E-CEA1-F0E2-76A9-19B9B6239EE6}"/>
              </a:ext>
            </a:extLst>
          </p:cNvPr>
          <p:cNvSpPr/>
          <p:nvPr/>
        </p:nvSpPr>
        <p:spPr>
          <a:xfrm>
            <a:off x="4953000" y="1286227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DA936A-0815-7D1A-77DB-4190F21E9103}"/>
              </a:ext>
            </a:extLst>
          </p:cNvPr>
          <p:cNvSpPr/>
          <p:nvPr/>
        </p:nvSpPr>
        <p:spPr>
          <a:xfrm>
            <a:off x="4953000" y="1377667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 GitHub Analyzer</a:t>
            </a:r>
            <a:endParaRPr lang="en-US" sz="13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D954C19-8529-439F-3C92-8BAD072A1755}"/>
              </a:ext>
            </a:extLst>
          </p:cNvPr>
          <p:cNvSpPr/>
          <p:nvPr/>
        </p:nvSpPr>
        <p:spPr>
          <a:xfrm>
            <a:off x="4953000" y="1697707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 ·  GPT-5.1</a:t>
            </a:r>
            <a:endParaRPr lang="en-US" sz="1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C770C0A-EB8C-F232-1848-1282D083C69B}"/>
              </a:ext>
            </a:extLst>
          </p:cNvPr>
          <p:cNvSpPr/>
          <p:nvPr/>
        </p:nvSpPr>
        <p:spPr>
          <a:xfrm>
            <a:off x="4953000" y="1972027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queries</a:t>
            </a:r>
            <a:endParaRPr lang="en-US" sz="95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BBB61664-F40C-D689-D76C-A495D7C2B36F}"/>
              </a:ext>
            </a:extLst>
          </p:cNvPr>
          <p:cNvSpPr/>
          <p:nvPr/>
        </p:nvSpPr>
        <p:spPr>
          <a:xfrm>
            <a:off x="563880" y="1423387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EF6B4307-ECE0-DF7A-6A8D-2DFB8DB62374}"/>
              </a:ext>
            </a:extLst>
          </p:cNvPr>
          <p:cNvSpPr/>
          <p:nvPr/>
        </p:nvSpPr>
        <p:spPr>
          <a:xfrm>
            <a:off x="563880" y="1423387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3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81930AA6-32B8-B555-37B4-55E24C50D0E8}"/>
              </a:ext>
            </a:extLst>
          </p:cNvPr>
          <p:cNvSpPr/>
          <p:nvPr/>
        </p:nvSpPr>
        <p:spPr>
          <a:xfrm>
            <a:off x="563880" y="1834867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question</a:t>
            </a:r>
            <a:endParaRPr lang="en-US" sz="10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7A69A054-D406-64AE-C499-8185C15450C1}"/>
              </a:ext>
            </a:extLst>
          </p:cNvPr>
          <p:cNvSpPr/>
          <p:nvPr/>
        </p:nvSpPr>
        <p:spPr>
          <a:xfrm>
            <a:off x="2621280" y="1807435"/>
            <a:ext cx="22860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C1571E0F-86FC-7C22-006F-F0C0024AF8D7}"/>
              </a:ext>
            </a:extLst>
          </p:cNvPr>
          <p:cNvSpPr/>
          <p:nvPr/>
        </p:nvSpPr>
        <p:spPr>
          <a:xfrm>
            <a:off x="9616440" y="1423387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D6D853C0-6BFC-798A-B22B-F145782F3C5A}"/>
              </a:ext>
            </a:extLst>
          </p:cNvPr>
          <p:cNvSpPr/>
          <p:nvPr/>
        </p:nvSpPr>
        <p:spPr>
          <a:xfrm>
            <a:off x="9616440" y="1423387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Sourced answer</a:t>
            </a:r>
            <a:endParaRPr lang="en-US" sz="13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6EDA935D-776C-6AFE-6365-91F2F5B1B887}"/>
              </a:ext>
            </a:extLst>
          </p:cNvPr>
          <p:cNvSpPr/>
          <p:nvPr/>
        </p:nvSpPr>
        <p:spPr>
          <a:xfrm>
            <a:off x="9616440" y="1834867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github_url citations</a:t>
            </a:r>
            <a:endParaRPr lang="en-US" sz="1000" dirty="0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1731DA11-83E6-2417-E7A0-8D608609EBCF}"/>
              </a:ext>
            </a:extLst>
          </p:cNvPr>
          <p:cNvSpPr/>
          <p:nvPr/>
        </p:nvSpPr>
        <p:spPr>
          <a:xfrm>
            <a:off x="7284720" y="1807435"/>
            <a:ext cx="22860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5582E3C1-5EFE-F746-C9C6-FFE576A0D7BF}"/>
              </a:ext>
            </a:extLst>
          </p:cNvPr>
          <p:cNvSpPr/>
          <p:nvPr/>
        </p:nvSpPr>
        <p:spPr>
          <a:xfrm>
            <a:off x="1478280" y="2840707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E6F4F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2C0211AA-0028-5E8E-BFBA-86F2842A0B2D}"/>
              </a:ext>
            </a:extLst>
          </p:cNvPr>
          <p:cNvSpPr/>
          <p:nvPr/>
        </p:nvSpPr>
        <p:spPr>
          <a:xfrm>
            <a:off x="1661160" y="2932147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6BD4CA40-08FE-B3AC-950A-9F9E4C6BF06F}"/>
              </a:ext>
            </a:extLst>
          </p:cNvPr>
          <p:cNvSpPr/>
          <p:nvPr/>
        </p:nvSpPr>
        <p:spPr>
          <a:xfrm>
            <a:off x="1661160" y="2932147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FIRST</a:t>
            </a:r>
            <a:endParaRPr lang="en-US" sz="90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870237C9-5AE4-7626-4221-75A6BCECF10D}"/>
              </a:ext>
            </a:extLst>
          </p:cNvPr>
          <p:cNvSpPr/>
          <p:nvPr/>
        </p:nvSpPr>
        <p:spPr>
          <a:xfrm>
            <a:off x="1661160" y="3252187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 Tool  ·  #793</a:t>
            </a:r>
            <a:endParaRPr lang="en-US" sz="140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A600032B-5CF1-D40C-637A-06E33ABA96B5}"/>
              </a:ext>
            </a:extLst>
          </p:cNvPr>
          <p:cNvSpPr/>
          <p:nvPr/>
        </p:nvSpPr>
        <p:spPr>
          <a:xfrm>
            <a:off x="1661160" y="3617947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over 83 datasources — issues, files, resolver cases, diagnostic cards.</a:t>
            </a:r>
            <a:endParaRPr lang="en-US" sz="10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E6331B31-ADF0-B524-B0F9-1BC6348435C4}"/>
              </a:ext>
            </a:extLst>
          </p:cNvPr>
          <p:cNvSpPr/>
          <p:nvPr/>
        </p:nvSpPr>
        <p:spPr>
          <a:xfrm>
            <a:off x="6141720" y="2840707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FEF3E1"/>
          </a:solidFill>
          <a:ln w="19050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1959C3B5-950C-54A4-709F-D68F8DCD2AE3}"/>
              </a:ext>
            </a:extLst>
          </p:cNvPr>
          <p:cNvSpPr/>
          <p:nvPr/>
        </p:nvSpPr>
        <p:spPr>
          <a:xfrm>
            <a:off x="6324600" y="2932147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6467BBAF-5098-BFBC-24FB-8DDD7E3CFDCA}"/>
              </a:ext>
            </a:extLst>
          </p:cNvPr>
          <p:cNvSpPr/>
          <p:nvPr/>
        </p:nvSpPr>
        <p:spPr>
          <a:xfrm>
            <a:off x="6324600" y="2932147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KB EMPTY</a:t>
            </a:r>
            <a:endParaRPr lang="en-US" sz="9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BB2B06EA-166D-A717-3EC8-89CB41952659}"/>
              </a:ext>
            </a:extLst>
          </p:cNvPr>
          <p:cNvSpPr/>
          <p:nvPr/>
        </p:nvSpPr>
        <p:spPr>
          <a:xfrm>
            <a:off x="6324600" y="3252187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NovaX Tool</a:t>
            </a:r>
            <a:endParaRPr lang="en-US" sz="1400" dirty="0"/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3B69B72B-D153-E1EF-F100-09AEF66CD990}"/>
              </a:ext>
            </a:extLst>
          </p:cNvPr>
          <p:cNvSpPr/>
          <p:nvPr/>
        </p:nvSpPr>
        <p:spPr>
          <a:xfrm>
            <a:off x="6324600" y="3617947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Bugzilla tickets + ST Community forum — coverage for topics the KB does not have yet.</a:t>
            </a:r>
            <a:endParaRPr lang="en-US" sz="1050" dirty="0"/>
          </a:p>
        </p:txBody>
      </p:sp>
      <p:sp>
        <p:nvSpPr>
          <p:cNvPr id="61" name="Shape 26">
            <a:extLst>
              <a:ext uri="{FF2B5EF4-FFF2-40B4-BE49-F238E27FC236}">
                <a16:creationId xmlns:a16="http://schemas.microsoft.com/office/drawing/2014/main" id="{B766A9CA-C26A-3B04-36B0-65313C756B72}"/>
              </a:ext>
            </a:extLst>
          </p:cNvPr>
          <p:cNvSpPr/>
          <p:nvPr/>
        </p:nvSpPr>
        <p:spPr>
          <a:xfrm>
            <a:off x="5410200" y="2337787"/>
            <a:ext cx="0" cy="50292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63" name="Shape 27">
            <a:extLst>
              <a:ext uri="{FF2B5EF4-FFF2-40B4-BE49-F238E27FC236}">
                <a16:creationId xmlns:a16="http://schemas.microsoft.com/office/drawing/2014/main" id="{BF185965-3259-94E8-2529-CEA7D2EE6611}"/>
              </a:ext>
            </a:extLst>
          </p:cNvPr>
          <p:cNvSpPr/>
          <p:nvPr/>
        </p:nvSpPr>
        <p:spPr>
          <a:xfrm>
            <a:off x="6781800" y="2337787"/>
            <a:ext cx="1280160" cy="502920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65" name="Shape 28">
            <a:extLst>
              <a:ext uri="{FF2B5EF4-FFF2-40B4-BE49-F238E27FC236}">
                <a16:creationId xmlns:a16="http://schemas.microsoft.com/office/drawing/2014/main" id="{1CAF1817-2D88-1173-C0D0-E2EFEA37CE24}"/>
              </a:ext>
            </a:extLst>
          </p:cNvPr>
          <p:cNvSpPr/>
          <p:nvPr/>
        </p:nvSpPr>
        <p:spPr>
          <a:xfrm>
            <a:off x="563880" y="4440907"/>
            <a:ext cx="5943600" cy="1737360"/>
          </a:xfrm>
          <a:prstGeom prst="roundRect">
            <a:avLst>
              <a:gd name="adj" fmla="val 4211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7" name="Text 29">
            <a:extLst>
              <a:ext uri="{FF2B5EF4-FFF2-40B4-BE49-F238E27FC236}">
                <a16:creationId xmlns:a16="http://schemas.microsoft.com/office/drawing/2014/main" id="{4A91C02F-3930-9ACC-6168-D61506630B87}"/>
              </a:ext>
            </a:extLst>
          </p:cNvPr>
          <p:cNvSpPr/>
          <p:nvPr/>
        </p:nvSpPr>
        <p:spPr>
          <a:xfrm>
            <a:off x="792480" y="4532347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order matters</a:t>
            </a:r>
            <a:endParaRPr lang="en-US" sz="1200" dirty="0"/>
          </a:p>
        </p:txBody>
      </p:sp>
      <p:sp>
        <p:nvSpPr>
          <p:cNvPr id="69" name="Text 30">
            <a:extLst>
              <a:ext uri="{FF2B5EF4-FFF2-40B4-BE49-F238E27FC236}">
                <a16:creationId xmlns:a16="http://schemas.microsoft.com/office/drawing/2014/main" id="{7D417C20-2EFA-3191-2795-D7BC8DB5CBDF}"/>
              </a:ext>
            </a:extLst>
          </p:cNvPr>
          <p:cNvSpPr/>
          <p:nvPr/>
        </p:nvSpPr>
        <p:spPr>
          <a:xfrm>
            <a:off x="792480" y="4920967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too permissive → persona calls NovaX first → loses github_url citations →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Quality Index drops (44/100 measured in early config)</a:t>
            </a:r>
          </a:p>
          <a:p>
            <a:pPr marL="0" indent="0">
              <a:spcAft>
                <a:spcPts val="500"/>
              </a:spcAft>
              <a:buNone/>
            </a:pP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restrictive → "Use ONLY if KB returned no relevant result" → 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KB priority restored, QI recovers to 52 → 66 with S1 tuning</a:t>
            </a:r>
            <a:endParaRPr lang="en-US" sz="1050" dirty="0"/>
          </a:p>
        </p:txBody>
      </p:sp>
      <p:sp>
        <p:nvSpPr>
          <p:cNvPr id="71" name="Shape 31">
            <a:extLst>
              <a:ext uri="{FF2B5EF4-FFF2-40B4-BE49-F238E27FC236}">
                <a16:creationId xmlns:a16="http://schemas.microsoft.com/office/drawing/2014/main" id="{F447528A-3FAD-D68E-AE32-750DE6A92393}"/>
              </a:ext>
            </a:extLst>
          </p:cNvPr>
          <p:cNvSpPr/>
          <p:nvPr/>
        </p:nvSpPr>
        <p:spPr>
          <a:xfrm>
            <a:off x="6690360" y="4440906"/>
            <a:ext cx="5212080" cy="2027221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3" name="Text 32">
            <a:extLst>
              <a:ext uri="{FF2B5EF4-FFF2-40B4-BE49-F238E27FC236}">
                <a16:creationId xmlns:a16="http://schemas.microsoft.com/office/drawing/2014/main" id="{2E836EE9-24AC-9E40-B706-A072422C5286}"/>
              </a:ext>
            </a:extLst>
          </p:cNvPr>
          <p:cNvSpPr/>
          <p:nvPr/>
        </p:nvSpPr>
        <p:spPr>
          <a:xfrm>
            <a:off x="6918960" y="4532347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KB configuration</a:t>
            </a:r>
            <a:endParaRPr lang="en-US" sz="1200" dirty="0"/>
          </a:p>
        </p:txBody>
      </p:sp>
      <p:sp>
        <p:nvSpPr>
          <p:cNvPr id="75" name="Text 33">
            <a:extLst>
              <a:ext uri="{FF2B5EF4-FFF2-40B4-BE49-F238E27FC236}">
                <a16:creationId xmlns:a16="http://schemas.microsoft.com/office/drawing/2014/main" id="{82C7BC85-BCE0-BF18-8BE3-631CBD86EC42}"/>
              </a:ext>
            </a:extLst>
          </p:cNvPr>
          <p:cNvSpPr/>
          <p:nvPr/>
        </p:nvSpPr>
        <p:spPr>
          <a:xfrm>
            <a:off x="6918960" y="4898107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type</a:t>
            </a:r>
            <a:endParaRPr lang="en-US" sz="1000" dirty="0"/>
          </a:p>
        </p:txBody>
      </p:sp>
      <p:sp>
        <p:nvSpPr>
          <p:cNvPr id="77" name="Text 34">
            <a:extLst>
              <a:ext uri="{FF2B5EF4-FFF2-40B4-BE49-F238E27FC236}">
                <a16:creationId xmlns:a16="http://schemas.microsoft.com/office/drawing/2014/main" id="{58528F6B-9E23-B6CA-B9BE-020631530037}"/>
              </a:ext>
            </a:extLst>
          </p:cNvPr>
          <p:cNvSpPr/>
          <p:nvPr/>
        </p:nvSpPr>
        <p:spPr>
          <a:xfrm>
            <a:off x="9479280" y="4898107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</a:t>
            </a:r>
            <a:endParaRPr lang="en-US" sz="1050" dirty="0"/>
          </a:p>
        </p:txBody>
      </p:sp>
      <p:sp>
        <p:nvSpPr>
          <p:cNvPr id="79" name="Text 35">
            <a:extLst>
              <a:ext uri="{FF2B5EF4-FFF2-40B4-BE49-F238E27FC236}">
                <a16:creationId xmlns:a16="http://schemas.microsoft.com/office/drawing/2014/main" id="{F7C23D18-5EC2-9DB1-F417-807423F704E4}"/>
              </a:ext>
            </a:extLst>
          </p:cNvPr>
          <p:cNvSpPr/>
          <p:nvPr/>
        </p:nvSpPr>
        <p:spPr>
          <a:xfrm>
            <a:off x="6918960" y="5154139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threshold</a:t>
            </a:r>
            <a:endParaRPr lang="en-US" sz="1000" dirty="0"/>
          </a:p>
        </p:txBody>
      </p:sp>
      <p:sp>
        <p:nvSpPr>
          <p:cNvPr id="81" name="Text 36">
            <a:extLst>
              <a:ext uri="{FF2B5EF4-FFF2-40B4-BE49-F238E27FC236}">
                <a16:creationId xmlns:a16="http://schemas.microsoft.com/office/drawing/2014/main" id="{5EF68AD6-9FB5-178B-3842-CABD236C81A3}"/>
              </a:ext>
            </a:extLst>
          </p:cNvPr>
          <p:cNvSpPr/>
          <p:nvPr/>
        </p:nvSpPr>
        <p:spPr>
          <a:xfrm>
            <a:off x="9479280" y="5154139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0.55</a:t>
            </a:r>
            <a:endParaRPr lang="en-US" sz="1050" dirty="0"/>
          </a:p>
        </p:txBody>
      </p:sp>
      <p:sp>
        <p:nvSpPr>
          <p:cNvPr id="83" name="Text 37">
            <a:extLst>
              <a:ext uri="{FF2B5EF4-FFF2-40B4-BE49-F238E27FC236}">
                <a16:creationId xmlns:a16="http://schemas.microsoft.com/office/drawing/2014/main" id="{323D18FD-39AB-A38E-4681-0A0698C4D438}"/>
              </a:ext>
            </a:extLst>
          </p:cNvPr>
          <p:cNvSpPr/>
          <p:nvPr/>
        </p:nvSpPr>
        <p:spPr>
          <a:xfrm>
            <a:off x="6918960" y="5410171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top-K docs</a:t>
            </a:r>
            <a:endParaRPr lang="en-US" sz="1000" dirty="0"/>
          </a:p>
        </p:txBody>
      </p:sp>
      <p:sp>
        <p:nvSpPr>
          <p:cNvPr id="85" name="Text 38">
            <a:extLst>
              <a:ext uri="{FF2B5EF4-FFF2-40B4-BE49-F238E27FC236}">
                <a16:creationId xmlns:a16="http://schemas.microsoft.com/office/drawing/2014/main" id="{68C6E005-AC70-DC38-B0ED-5D8AAD895B3D}"/>
              </a:ext>
            </a:extLst>
          </p:cNvPr>
          <p:cNvSpPr/>
          <p:nvPr/>
        </p:nvSpPr>
        <p:spPr>
          <a:xfrm>
            <a:off x="9479280" y="5410171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50" dirty="0"/>
          </a:p>
        </p:txBody>
      </p:sp>
      <p:sp>
        <p:nvSpPr>
          <p:cNvPr id="87" name="Text 39">
            <a:extLst>
              <a:ext uri="{FF2B5EF4-FFF2-40B4-BE49-F238E27FC236}">
                <a16:creationId xmlns:a16="http://schemas.microsoft.com/office/drawing/2014/main" id="{A3AFEE31-9C51-A5E5-7FB0-EADA963F8B5A}"/>
              </a:ext>
            </a:extLst>
          </p:cNvPr>
          <p:cNvSpPr/>
          <p:nvPr/>
        </p:nvSpPr>
        <p:spPr>
          <a:xfrm>
            <a:off x="6918960" y="5666203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top-K docs</a:t>
            </a:r>
            <a:endParaRPr lang="en-US" sz="1000" dirty="0"/>
          </a:p>
        </p:txBody>
      </p:sp>
      <p:sp>
        <p:nvSpPr>
          <p:cNvPr id="89" name="Text 40">
            <a:extLst>
              <a:ext uri="{FF2B5EF4-FFF2-40B4-BE49-F238E27FC236}">
                <a16:creationId xmlns:a16="http://schemas.microsoft.com/office/drawing/2014/main" id="{A1A90BAD-EA6F-348A-7E34-E694D3FE11CC}"/>
              </a:ext>
            </a:extLst>
          </p:cNvPr>
          <p:cNvSpPr/>
          <p:nvPr/>
        </p:nvSpPr>
        <p:spPr>
          <a:xfrm>
            <a:off x="9479280" y="5666203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91" name="Text 41">
            <a:extLst>
              <a:ext uri="{FF2B5EF4-FFF2-40B4-BE49-F238E27FC236}">
                <a16:creationId xmlns:a16="http://schemas.microsoft.com/office/drawing/2014/main" id="{EBFF84A5-A4D1-06BC-2574-877DE1F008B5}"/>
              </a:ext>
            </a:extLst>
          </p:cNvPr>
          <p:cNvSpPr/>
          <p:nvPr/>
        </p:nvSpPr>
        <p:spPr>
          <a:xfrm>
            <a:off x="6918960" y="5922235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Datasources</a:t>
            </a:r>
            <a:endParaRPr lang="en-US" sz="1000" dirty="0"/>
          </a:p>
        </p:txBody>
      </p:sp>
      <p:sp>
        <p:nvSpPr>
          <p:cNvPr id="93" name="Text 42">
            <a:extLst>
              <a:ext uri="{FF2B5EF4-FFF2-40B4-BE49-F238E27FC236}">
                <a16:creationId xmlns:a16="http://schemas.microsoft.com/office/drawing/2014/main" id="{2E498F73-243A-9391-5C57-253D9CEC173F}"/>
              </a:ext>
            </a:extLst>
          </p:cNvPr>
          <p:cNvSpPr/>
          <p:nvPr/>
        </p:nvSpPr>
        <p:spPr>
          <a:xfrm>
            <a:off x="9479280" y="5922235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  (per series × artifact type)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279687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046688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fr-FR" sz="2000" dirty="0"/>
              <a:t>   </a:t>
            </a:r>
            <a:r>
              <a:rPr sz="2000" dirty="0"/>
              <a:t>Value Dimensions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988936"/>
              </p:ext>
            </p:extLst>
          </p:nvPr>
        </p:nvGraphicFramePr>
        <p:xfrm>
          <a:off x="1280868" y="1409877"/>
          <a:ext cx="9387132" cy="38319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129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9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9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42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One-command processing for entire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 steps automated, batch multi-series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Traceability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Every answer links to 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github_url, evidence_refs in cards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Quality gates prevent bad data reaching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Schema validation + placeholder 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Config-driven, no code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25 series configured, 200+ sub-repos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Maintainability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Modular stages, clear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Each stage independently testable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Diagnostic cards explain cause+resolution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QI = 94/100 on H7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057321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rPr lang="fr-FR" sz="2200" dirty="0"/>
              <a:t>   </a:t>
            </a:r>
            <a:r>
              <a:rPr sz="2200" dirty="0"/>
              <a:t>Why This Matters for STMicroelectronics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287" y="1380106"/>
            <a:ext cx="8046720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sz="1600" dirty="0"/>
              <a:t>Business Impact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sz="1400" dirty="0"/>
              <a:t>• Reduces time-to-answer for technical support queries.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sz="1400" dirty="0"/>
              <a:t>• Enables non-expert users to get expert-level guidance from AI.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sz="1400" dirty="0"/>
              <a:t>• Makes visual information (screenshots, PDF figures) exploitable.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sz="1400"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sz="1600" dirty="0"/>
              <a:t>Competitive Advantages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sz="1400" dirty="0"/>
              <a:t>• End-to-end automation: no manual curation bottleneck.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sz="1400" dirty="0"/>
              <a:t>• Multi-modal: text + images + PDF figures all enriched and indexed.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sz="1400" dirty="0"/>
              <a:t>• Production-hardened: gates, retry logic, idempotent uploads.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sz="1400" dirty="0"/>
              <a:t>• Open architecture: modular Python, PowerShell, standard JSON.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sz="1400"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sz="1600" dirty="0"/>
              <a:t>Measured Results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sz="1400" dirty="0"/>
              <a:t>• +39% relevance improvement over generic LLM.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sz="1400" dirty="0"/>
              <a:t>• Quality Index: 94/100 on pilot H7 with Diagnostic Cards.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E477E-E524-BD5C-E09A-A876B6B37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B335D6A6-CCE8-F84C-5400-01887DAEF85A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3C69AAE4-9118-DED4-385B-F850A6FF65C9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091D2FC7-F663-E597-20D9-5617881AB80A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A013811C-ECE7-451D-F1AB-F96A5EADC598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F13740B1-60E3-3C47-D295-D47082A809E2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82A85CE6-9578-686C-0EB9-AFBE52323A21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D0CEB1F5-0ADB-FB79-15AF-842EDAA0295F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0187C9F8-671D-1C0C-FCE4-CCA897817F24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Architecture Overview </a:t>
            </a:r>
            <a:endParaRPr lang="en-US" sz="1200" noProof="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22E1E9B9-0BE4-81E4-AC5A-57CF35BB8E62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EF3EEE36-85F2-EAD7-2371-00D667617389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1C8BD385-8DB8-AA51-1D37-82D255D031C3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51A62A3F-9D06-8904-2ED3-823A0BB7A38D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E6E22482-20B2-5994-8E66-2967AF3D3713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E103F917-4D99-21C0-9728-07C5475ED3B0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F58975B9-A5DE-260D-D35F-FE7B7C124123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A2A7DF04-6C91-7A2D-C4C0-4ED2026180C3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8FDAC21A-F7D6-2A7F-D7A5-8C21A706E211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The Data preprocessing pipeline and ALFRED Vision Integration </a:t>
            </a:r>
            <a:endParaRPr lang="en-US" sz="1200" noProof="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1F2ABCDA-11EF-BF17-EC39-29C6D1F73FD6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66CAFAAC-40A3-848F-B69E-E94DCD0733B3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FCE6D943-CB92-F773-6EFE-4E71A4B415BF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73AB00D3-CB11-16AF-9A19-5CDA878A656E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72BE7945-05A6-AD19-9BAE-48DA1DBBAD54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Value Proposition &amp; Impact</a:t>
            </a:r>
            <a:endParaRPr lang="en-US" sz="1200" dirty="0"/>
          </a:p>
          <a:p>
            <a:r>
              <a:rPr lang="en-US" sz="1200" b="1" noProof="0" dirty="0">
                <a:solidFill>
                  <a:srgbClr val="1B2A3B"/>
                </a:solidFill>
              </a:rPr>
              <a:t> </a:t>
            </a:r>
            <a:endParaRPr lang="en-US" sz="1200" noProof="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F6B7D38F-61F8-8200-CEF9-C3FE2868226F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2FEE3944-429D-8B3E-0C04-868535B445D5}"/>
              </a:ext>
            </a:extLst>
          </p:cNvPr>
          <p:cNvSpPr/>
          <p:nvPr/>
        </p:nvSpPr>
        <p:spPr>
          <a:xfrm>
            <a:off x="1758295" y="535040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EA21EB63-3E06-173D-D23D-53BFB22B5D19}"/>
              </a:ext>
            </a:extLst>
          </p:cNvPr>
          <p:cNvSpPr/>
          <p:nvPr/>
        </p:nvSpPr>
        <p:spPr>
          <a:xfrm>
            <a:off x="1758295" y="535040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71FD67CD-79A7-8B40-7B94-0C25969BD070}"/>
              </a:ext>
            </a:extLst>
          </p:cNvPr>
          <p:cNvSpPr/>
          <p:nvPr/>
        </p:nvSpPr>
        <p:spPr>
          <a:xfrm>
            <a:off x="1758295" y="535040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8B7919C5-AEB5-2FB9-C20C-CD55955B7A98}"/>
              </a:ext>
            </a:extLst>
          </p:cNvPr>
          <p:cNvSpPr/>
          <p:nvPr/>
        </p:nvSpPr>
        <p:spPr>
          <a:xfrm>
            <a:off x="2233783" y="55607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Configuration &amp; Evaluation </a:t>
            </a:r>
            <a:endParaRPr lang="en-US" sz="1200" noProof="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955B89E7-82E4-3050-A6B8-BA3E8A6D9410}"/>
              </a:ext>
            </a:extLst>
          </p:cNvPr>
          <p:cNvSpPr/>
          <p:nvPr/>
        </p:nvSpPr>
        <p:spPr>
          <a:xfrm>
            <a:off x="2233783" y="575273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BBAC1AF7-2424-5D26-7037-F1FB007EEB3E}"/>
              </a:ext>
            </a:extLst>
          </p:cNvPr>
          <p:cNvSpPr/>
          <p:nvPr/>
        </p:nvSpPr>
        <p:spPr>
          <a:xfrm>
            <a:off x="6909008" y="3143994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9C2C4FBC-037F-0C41-4180-7BD24980CC3E}"/>
              </a:ext>
            </a:extLst>
          </p:cNvPr>
          <p:cNvSpPr/>
          <p:nvPr/>
        </p:nvSpPr>
        <p:spPr>
          <a:xfrm>
            <a:off x="6909008" y="3143994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BFE08AA2-2678-AB7E-DF55-667DA642473B}"/>
              </a:ext>
            </a:extLst>
          </p:cNvPr>
          <p:cNvSpPr/>
          <p:nvPr/>
        </p:nvSpPr>
        <p:spPr>
          <a:xfrm>
            <a:off x="6909008" y="314399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1666D7CE-C4F1-6CA4-DC3F-BF9B1FBD6850}"/>
              </a:ext>
            </a:extLst>
          </p:cNvPr>
          <p:cNvSpPr/>
          <p:nvPr/>
        </p:nvSpPr>
        <p:spPr>
          <a:xfrm>
            <a:off x="7384496" y="333904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Live Demo &amp; Hands-On</a:t>
            </a:r>
            <a:endParaRPr lang="en-US" sz="1200" noProof="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DD22EE9B-0713-2EB6-B2CA-D5A18711AD26}"/>
              </a:ext>
            </a:extLst>
          </p:cNvPr>
          <p:cNvSpPr/>
          <p:nvPr/>
        </p:nvSpPr>
        <p:spPr>
          <a:xfrm>
            <a:off x="7384496" y="354633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88962258-1E29-C504-BE12-016E2E466217}"/>
              </a:ext>
            </a:extLst>
          </p:cNvPr>
          <p:cNvSpPr/>
          <p:nvPr/>
        </p:nvSpPr>
        <p:spPr>
          <a:xfrm>
            <a:off x="6909008" y="4040106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B5A4F1C6-9FF5-9F8F-66FF-B63572FEC5D5}"/>
              </a:ext>
            </a:extLst>
          </p:cNvPr>
          <p:cNvSpPr/>
          <p:nvPr/>
        </p:nvSpPr>
        <p:spPr>
          <a:xfrm>
            <a:off x="6909008" y="4040106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A39F3A91-2CA3-39E4-917C-993DD841FE51}"/>
              </a:ext>
            </a:extLst>
          </p:cNvPr>
          <p:cNvSpPr/>
          <p:nvPr/>
        </p:nvSpPr>
        <p:spPr>
          <a:xfrm>
            <a:off x="6909008" y="404010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4AAD60BF-6B91-685F-3C33-3F586E7EBCC7}"/>
              </a:ext>
            </a:extLst>
          </p:cNvPr>
          <p:cNvSpPr/>
          <p:nvPr/>
        </p:nvSpPr>
        <p:spPr>
          <a:xfrm>
            <a:off x="7397550" y="425956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Q&amp;A</a:t>
            </a:r>
            <a:endParaRPr lang="en-US" sz="1200" noProof="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D2E49E39-B037-D3C0-9812-D9507FAD0F1A}"/>
              </a:ext>
            </a:extLst>
          </p:cNvPr>
          <p:cNvSpPr/>
          <p:nvPr/>
        </p:nvSpPr>
        <p:spPr>
          <a:xfrm>
            <a:off x="7384496" y="444244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BA1B5E-D4FC-C769-66AB-00E3316116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50971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DDFBD-5780-07ED-B067-BDA9E5CE4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AD5FF-1B24-FF5C-E830-734DCD4F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Per-Stage Quality Scores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3ECB5663-ECA8-58DB-BD3F-9E07667BE878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61EBBEF-761C-87CB-9105-5FE90536141C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05211C-F2F7-9BE0-7B28-2DF9B227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46</a:t>
            </a:fld>
            <a:endParaRPr lang="en-US" noProof="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E34539B-132C-7E46-7C4D-E4D415D3AF0B}"/>
              </a:ext>
            </a:extLst>
          </p:cNvPr>
          <p:cNvSpPr/>
          <p:nvPr/>
        </p:nvSpPr>
        <p:spPr>
          <a:xfrm>
            <a:off x="204144" y="1198800"/>
            <a:ext cx="11783711" cy="651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Evaluation is not only the final chatbot score, but each stage is also measured, separating pipeline defects from source-data limits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Every stage of the pipeline has its own metric , the global score is a weighted average</a:t>
            </a:r>
            <a:endParaRPr lang="en-US" sz="1300" b="1" dirty="0">
              <a:solidFill>
                <a:schemeClr val="bg2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78E5016-B992-60C9-33D1-D39826D4DDBF}"/>
              </a:ext>
            </a:extLst>
          </p:cNvPr>
          <p:cNvSpPr/>
          <p:nvPr/>
        </p:nvSpPr>
        <p:spPr>
          <a:xfrm>
            <a:off x="405547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504B0CB-DC9D-8B7A-6398-917291412A13}"/>
              </a:ext>
            </a:extLst>
          </p:cNvPr>
          <p:cNvSpPr/>
          <p:nvPr/>
        </p:nvSpPr>
        <p:spPr>
          <a:xfrm>
            <a:off x="405547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0179F32-A756-BCD4-175B-5BA3DA371109}"/>
              </a:ext>
            </a:extLst>
          </p:cNvPr>
          <p:cNvSpPr/>
          <p:nvPr/>
        </p:nvSpPr>
        <p:spPr>
          <a:xfrm>
            <a:off x="405547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23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782D2D4-226F-E147-8D17-EF04AE910F7F}"/>
              </a:ext>
            </a:extLst>
          </p:cNvPr>
          <p:cNvSpPr/>
          <p:nvPr/>
        </p:nvSpPr>
        <p:spPr>
          <a:xfrm>
            <a:off x="405547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</a:t>
            </a:r>
            <a:endParaRPr lang="en-US" sz="95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FC5BEA3F-B61B-1A31-8817-8D0AC0FC3740}"/>
              </a:ext>
            </a:extLst>
          </p:cNvPr>
          <p:cNvSpPr/>
          <p:nvPr/>
        </p:nvSpPr>
        <p:spPr>
          <a:xfrm>
            <a:off x="496987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4D158AB8-91AB-99D1-B6FD-332E998D1BF0}"/>
              </a:ext>
            </a:extLst>
          </p:cNvPr>
          <p:cNvSpPr/>
          <p:nvPr/>
        </p:nvSpPr>
        <p:spPr>
          <a:xfrm>
            <a:off x="496987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5C9D74D9-E0A4-17CE-F746-BF8046B24740}"/>
              </a:ext>
            </a:extLst>
          </p:cNvPr>
          <p:cNvSpPr/>
          <p:nvPr/>
        </p:nvSpPr>
        <p:spPr>
          <a:xfrm>
            <a:off x="1039095" y="4509760"/>
            <a:ext cx="274320" cy="59257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0D27AA8C-69AD-53C7-01C6-3F2137D64B48}"/>
              </a:ext>
            </a:extLst>
          </p:cNvPr>
          <p:cNvSpPr/>
          <p:nvPr/>
        </p:nvSpPr>
        <p:spPr>
          <a:xfrm>
            <a:off x="2038404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9727AA0A-F1B8-70EB-C77F-8707D1DECE8D}"/>
              </a:ext>
            </a:extLst>
          </p:cNvPr>
          <p:cNvSpPr/>
          <p:nvPr/>
        </p:nvSpPr>
        <p:spPr>
          <a:xfrm>
            <a:off x="2038404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V3</a:t>
            </a:r>
            <a:endParaRPr lang="en-US" sz="11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DC717EBB-6C69-92AA-EA7E-673CCEF59894}"/>
              </a:ext>
            </a:extLst>
          </p:cNvPr>
          <p:cNvSpPr/>
          <p:nvPr/>
        </p:nvSpPr>
        <p:spPr>
          <a:xfrm>
            <a:off x="2038404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3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D1BB6175-B928-4B30-BFD1-F9C83462CBDB}"/>
              </a:ext>
            </a:extLst>
          </p:cNvPr>
          <p:cNvSpPr/>
          <p:nvPr/>
        </p:nvSpPr>
        <p:spPr>
          <a:xfrm>
            <a:off x="2038404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1.5</a:t>
            </a:r>
            <a:endParaRPr lang="en-US" sz="95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A544A6D0-3230-1A40-C1EB-FEF808A47854}"/>
              </a:ext>
            </a:extLst>
          </p:cNvPr>
          <p:cNvSpPr/>
          <p:nvPr/>
        </p:nvSpPr>
        <p:spPr>
          <a:xfrm>
            <a:off x="2129844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02317AD0-1810-88A1-323C-8FD790955209}"/>
              </a:ext>
            </a:extLst>
          </p:cNvPr>
          <p:cNvSpPr/>
          <p:nvPr/>
        </p:nvSpPr>
        <p:spPr>
          <a:xfrm>
            <a:off x="2129844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89F72CFD-1B7D-B188-F88E-C42C37AAEE7C}"/>
              </a:ext>
            </a:extLst>
          </p:cNvPr>
          <p:cNvSpPr/>
          <p:nvPr/>
        </p:nvSpPr>
        <p:spPr>
          <a:xfrm>
            <a:off x="2668307" y="4509760"/>
            <a:ext cx="2743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1" name="Shape 18">
            <a:extLst>
              <a:ext uri="{FF2B5EF4-FFF2-40B4-BE49-F238E27FC236}">
                <a16:creationId xmlns:a16="http://schemas.microsoft.com/office/drawing/2014/main" id="{3BAA5612-D6FF-E2DA-81D1-1F1486D3CCEF}"/>
              </a:ext>
            </a:extLst>
          </p:cNvPr>
          <p:cNvSpPr/>
          <p:nvPr/>
        </p:nvSpPr>
        <p:spPr>
          <a:xfrm>
            <a:off x="3671261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5B1585A7-86DD-0FF6-1408-EEB0541A2409}"/>
              </a:ext>
            </a:extLst>
          </p:cNvPr>
          <p:cNvSpPr/>
          <p:nvPr/>
        </p:nvSpPr>
        <p:spPr>
          <a:xfrm>
            <a:off x="3671261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Enrichment</a:t>
            </a:r>
            <a:endParaRPr lang="en-US" sz="11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2620178E-53D8-01BE-4CDD-598DE8578328}"/>
              </a:ext>
            </a:extLst>
          </p:cNvPr>
          <p:cNvSpPr/>
          <p:nvPr/>
        </p:nvSpPr>
        <p:spPr>
          <a:xfrm>
            <a:off x="3671261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72.2%</a:t>
            </a:r>
            <a:endParaRPr lang="en-US" sz="2300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A1D13DE1-7B53-2E06-5AA2-E592473C5FB2}"/>
              </a:ext>
            </a:extLst>
          </p:cNvPr>
          <p:cNvSpPr/>
          <p:nvPr/>
        </p:nvSpPr>
        <p:spPr>
          <a:xfrm>
            <a:off x="3671261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1.4</a:t>
            </a:r>
            <a:endParaRPr lang="en-US" sz="950" dirty="0"/>
          </a:p>
        </p:txBody>
      </p:sp>
      <p:sp>
        <p:nvSpPr>
          <p:cNvPr id="67" name="Shape 22">
            <a:extLst>
              <a:ext uri="{FF2B5EF4-FFF2-40B4-BE49-F238E27FC236}">
                <a16:creationId xmlns:a16="http://schemas.microsoft.com/office/drawing/2014/main" id="{4FF1A785-1528-E91E-573C-7B289A43EB25}"/>
              </a:ext>
            </a:extLst>
          </p:cNvPr>
          <p:cNvSpPr/>
          <p:nvPr/>
        </p:nvSpPr>
        <p:spPr>
          <a:xfrm>
            <a:off x="3762701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3B91ECE8-18DF-2E1B-C791-61C1804BB0D9}"/>
              </a:ext>
            </a:extLst>
          </p:cNvPr>
          <p:cNvSpPr/>
          <p:nvPr/>
        </p:nvSpPr>
        <p:spPr>
          <a:xfrm>
            <a:off x="3762701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800" dirty="0"/>
          </a:p>
        </p:txBody>
      </p:sp>
      <p:sp>
        <p:nvSpPr>
          <p:cNvPr id="75" name="Shape 24">
            <a:extLst>
              <a:ext uri="{FF2B5EF4-FFF2-40B4-BE49-F238E27FC236}">
                <a16:creationId xmlns:a16="http://schemas.microsoft.com/office/drawing/2014/main" id="{A1909313-1A92-1A72-0A63-B3CEC427E63B}"/>
              </a:ext>
            </a:extLst>
          </p:cNvPr>
          <p:cNvSpPr/>
          <p:nvPr/>
        </p:nvSpPr>
        <p:spPr>
          <a:xfrm>
            <a:off x="4304810" y="4669849"/>
            <a:ext cx="274320" cy="4291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9" name="Shape 25">
            <a:extLst>
              <a:ext uri="{FF2B5EF4-FFF2-40B4-BE49-F238E27FC236}">
                <a16:creationId xmlns:a16="http://schemas.microsoft.com/office/drawing/2014/main" id="{6E3D536A-FBE3-F161-9986-FC2B7D8BDFA9}"/>
              </a:ext>
            </a:extLst>
          </p:cNvPr>
          <p:cNvSpPr/>
          <p:nvPr/>
        </p:nvSpPr>
        <p:spPr>
          <a:xfrm>
            <a:off x="5304118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AA8D9813-7037-3238-8296-3ECB7C917797}"/>
              </a:ext>
            </a:extLst>
          </p:cNvPr>
          <p:cNvSpPr/>
          <p:nvPr/>
        </p:nvSpPr>
        <p:spPr>
          <a:xfrm>
            <a:off x="5304118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Alfred issues</a:t>
            </a:r>
            <a:endParaRPr lang="en-US" sz="1100" dirty="0"/>
          </a:p>
        </p:txBody>
      </p:sp>
      <p:sp>
        <p:nvSpPr>
          <p:cNvPr id="87" name="Text 27">
            <a:extLst>
              <a:ext uri="{FF2B5EF4-FFF2-40B4-BE49-F238E27FC236}">
                <a16:creationId xmlns:a16="http://schemas.microsoft.com/office/drawing/2014/main" id="{94A2545A-3444-5E9C-2AF5-723C1EEF0A41}"/>
              </a:ext>
            </a:extLst>
          </p:cNvPr>
          <p:cNvSpPr/>
          <p:nvPr/>
        </p:nvSpPr>
        <p:spPr>
          <a:xfrm>
            <a:off x="5304118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98.5%</a:t>
            </a:r>
            <a:endParaRPr lang="en-US" sz="2300" dirty="0"/>
          </a:p>
        </p:txBody>
      </p:sp>
      <p:sp>
        <p:nvSpPr>
          <p:cNvPr id="91" name="Text 28">
            <a:extLst>
              <a:ext uri="{FF2B5EF4-FFF2-40B4-BE49-F238E27FC236}">
                <a16:creationId xmlns:a16="http://schemas.microsoft.com/office/drawing/2014/main" id="{41C15D80-3EBD-33CC-08CA-0CCBFE7237AC}"/>
              </a:ext>
            </a:extLst>
          </p:cNvPr>
          <p:cNvSpPr/>
          <p:nvPr/>
        </p:nvSpPr>
        <p:spPr>
          <a:xfrm>
            <a:off x="5304118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0.4</a:t>
            </a:r>
            <a:endParaRPr lang="en-US" sz="950" dirty="0"/>
          </a:p>
        </p:txBody>
      </p:sp>
      <p:sp>
        <p:nvSpPr>
          <p:cNvPr id="94" name="Shape 29">
            <a:extLst>
              <a:ext uri="{FF2B5EF4-FFF2-40B4-BE49-F238E27FC236}">
                <a16:creationId xmlns:a16="http://schemas.microsoft.com/office/drawing/2014/main" id="{BB4B5FCE-E450-927D-C04D-A0F68D9E545D}"/>
              </a:ext>
            </a:extLst>
          </p:cNvPr>
          <p:cNvSpPr/>
          <p:nvPr/>
        </p:nvSpPr>
        <p:spPr>
          <a:xfrm>
            <a:off x="5395558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6" name="Text 30">
            <a:extLst>
              <a:ext uri="{FF2B5EF4-FFF2-40B4-BE49-F238E27FC236}">
                <a16:creationId xmlns:a16="http://schemas.microsoft.com/office/drawing/2014/main" id="{9577AD50-22D3-2821-911F-1A5DA61A6003}"/>
              </a:ext>
            </a:extLst>
          </p:cNvPr>
          <p:cNvSpPr/>
          <p:nvPr/>
        </p:nvSpPr>
        <p:spPr>
          <a:xfrm>
            <a:off x="5395558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98" name="Shape 31">
            <a:extLst>
              <a:ext uri="{FF2B5EF4-FFF2-40B4-BE49-F238E27FC236}">
                <a16:creationId xmlns:a16="http://schemas.microsoft.com/office/drawing/2014/main" id="{505B1791-B9B1-9C52-040F-F984B31FF896}"/>
              </a:ext>
            </a:extLst>
          </p:cNvPr>
          <p:cNvSpPr/>
          <p:nvPr/>
        </p:nvSpPr>
        <p:spPr>
          <a:xfrm>
            <a:off x="5937667" y="4532574"/>
            <a:ext cx="274320" cy="58544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0" name="Shape 32">
            <a:extLst>
              <a:ext uri="{FF2B5EF4-FFF2-40B4-BE49-F238E27FC236}">
                <a16:creationId xmlns:a16="http://schemas.microsoft.com/office/drawing/2014/main" id="{5B2F2D8E-117D-3181-756E-DFCC0707CB78}"/>
              </a:ext>
            </a:extLst>
          </p:cNvPr>
          <p:cNvSpPr/>
          <p:nvPr/>
        </p:nvSpPr>
        <p:spPr>
          <a:xfrm>
            <a:off x="6936976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2" name="Text 33">
            <a:extLst>
              <a:ext uri="{FF2B5EF4-FFF2-40B4-BE49-F238E27FC236}">
                <a16:creationId xmlns:a16="http://schemas.microsoft.com/office/drawing/2014/main" id="{A67CF182-D728-C4A3-08F3-35C0A55570DF}"/>
              </a:ext>
            </a:extLst>
          </p:cNvPr>
          <p:cNvSpPr/>
          <p:nvPr/>
        </p:nvSpPr>
        <p:spPr>
          <a:xfrm>
            <a:off x="6936976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Alfred PDF</a:t>
            </a:r>
            <a:endParaRPr lang="en-US" sz="1100" dirty="0"/>
          </a:p>
        </p:txBody>
      </p:sp>
      <p:sp>
        <p:nvSpPr>
          <p:cNvPr id="104" name="Text 34">
            <a:extLst>
              <a:ext uri="{FF2B5EF4-FFF2-40B4-BE49-F238E27FC236}">
                <a16:creationId xmlns:a16="http://schemas.microsoft.com/office/drawing/2014/main" id="{F95D294C-A83A-9703-06CC-BE797BFC0CE0}"/>
              </a:ext>
            </a:extLst>
          </p:cNvPr>
          <p:cNvSpPr/>
          <p:nvPr/>
        </p:nvSpPr>
        <p:spPr>
          <a:xfrm>
            <a:off x="6936976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41.7%</a:t>
            </a:r>
            <a:endParaRPr lang="en-US" sz="2300" dirty="0"/>
          </a:p>
        </p:txBody>
      </p:sp>
      <p:sp>
        <p:nvSpPr>
          <p:cNvPr id="106" name="Text 35">
            <a:extLst>
              <a:ext uri="{FF2B5EF4-FFF2-40B4-BE49-F238E27FC236}">
                <a16:creationId xmlns:a16="http://schemas.microsoft.com/office/drawing/2014/main" id="{E3D7DF57-9BE1-E4F7-FBBD-BDDF7BBBCD6E}"/>
              </a:ext>
            </a:extLst>
          </p:cNvPr>
          <p:cNvSpPr/>
          <p:nvPr/>
        </p:nvSpPr>
        <p:spPr>
          <a:xfrm>
            <a:off x="6936976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0.2</a:t>
            </a:r>
            <a:endParaRPr lang="en-US" sz="950" dirty="0"/>
          </a:p>
        </p:txBody>
      </p:sp>
      <p:sp>
        <p:nvSpPr>
          <p:cNvPr id="108" name="Shape 36">
            <a:extLst>
              <a:ext uri="{FF2B5EF4-FFF2-40B4-BE49-F238E27FC236}">
                <a16:creationId xmlns:a16="http://schemas.microsoft.com/office/drawing/2014/main" id="{A6F79C87-828A-5659-EC44-C53201E27292}"/>
              </a:ext>
            </a:extLst>
          </p:cNvPr>
          <p:cNvSpPr/>
          <p:nvPr/>
        </p:nvSpPr>
        <p:spPr>
          <a:xfrm>
            <a:off x="7028416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0" name="Text 37">
            <a:extLst>
              <a:ext uri="{FF2B5EF4-FFF2-40B4-BE49-F238E27FC236}">
                <a16:creationId xmlns:a16="http://schemas.microsoft.com/office/drawing/2014/main" id="{7AF24FF3-1834-C345-CFBF-C5B892DF7C9F}"/>
              </a:ext>
            </a:extLst>
          </p:cNvPr>
          <p:cNvSpPr/>
          <p:nvPr/>
        </p:nvSpPr>
        <p:spPr>
          <a:xfrm>
            <a:off x="7028416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</a:t>
            </a:r>
            <a:endParaRPr lang="en-US" sz="800" dirty="0"/>
          </a:p>
        </p:txBody>
      </p:sp>
      <p:sp>
        <p:nvSpPr>
          <p:cNvPr id="112" name="Shape 38">
            <a:extLst>
              <a:ext uri="{FF2B5EF4-FFF2-40B4-BE49-F238E27FC236}">
                <a16:creationId xmlns:a16="http://schemas.microsoft.com/office/drawing/2014/main" id="{3C16F668-1BAD-782B-196F-FD5C193A859F}"/>
              </a:ext>
            </a:extLst>
          </p:cNvPr>
          <p:cNvSpPr/>
          <p:nvPr/>
        </p:nvSpPr>
        <p:spPr>
          <a:xfrm>
            <a:off x="7570524" y="4851129"/>
            <a:ext cx="274320" cy="2478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4" name="Shape 39">
            <a:extLst>
              <a:ext uri="{FF2B5EF4-FFF2-40B4-BE49-F238E27FC236}">
                <a16:creationId xmlns:a16="http://schemas.microsoft.com/office/drawing/2014/main" id="{8F40DDB9-44A1-CE40-9D7A-59C11B702C33}"/>
              </a:ext>
            </a:extLst>
          </p:cNvPr>
          <p:cNvSpPr/>
          <p:nvPr/>
        </p:nvSpPr>
        <p:spPr>
          <a:xfrm>
            <a:off x="8569833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6" name="Text 40">
            <a:extLst>
              <a:ext uri="{FF2B5EF4-FFF2-40B4-BE49-F238E27FC236}">
                <a16:creationId xmlns:a16="http://schemas.microsoft.com/office/drawing/2014/main" id="{BB92CF94-BC91-7E84-617E-A25297B16935}"/>
              </a:ext>
            </a:extLst>
          </p:cNvPr>
          <p:cNvSpPr/>
          <p:nvPr/>
        </p:nvSpPr>
        <p:spPr>
          <a:xfrm>
            <a:off x="8569833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118" name="Text 41">
            <a:extLst>
              <a:ext uri="{FF2B5EF4-FFF2-40B4-BE49-F238E27FC236}">
                <a16:creationId xmlns:a16="http://schemas.microsoft.com/office/drawing/2014/main" id="{3528B07B-4CAA-AE32-FB40-0A601F095941}"/>
              </a:ext>
            </a:extLst>
          </p:cNvPr>
          <p:cNvSpPr/>
          <p:nvPr/>
        </p:nvSpPr>
        <p:spPr>
          <a:xfrm>
            <a:off x="8569833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2300" dirty="0"/>
          </a:p>
        </p:txBody>
      </p:sp>
      <p:sp>
        <p:nvSpPr>
          <p:cNvPr id="120" name="Text 42">
            <a:extLst>
              <a:ext uri="{FF2B5EF4-FFF2-40B4-BE49-F238E27FC236}">
                <a16:creationId xmlns:a16="http://schemas.microsoft.com/office/drawing/2014/main" id="{9CC94628-0A0E-0595-3BE2-F6CDD0D061CC}"/>
              </a:ext>
            </a:extLst>
          </p:cNvPr>
          <p:cNvSpPr/>
          <p:nvPr/>
        </p:nvSpPr>
        <p:spPr>
          <a:xfrm>
            <a:off x="8569833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0.5</a:t>
            </a:r>
            <a:endParaRPr lang="en-US" sz="950" dirty="0"/>
          </a:p>
        </p:txBody>
      </p:sp>
      <p:sp>
        <p:nvSpPr>
          <p:cNvPr id="122" name="Shape 43">
            <a:extLst>
              <a:ext uri="{FF2B5EF4-FFF2-40B4-BE49-F238E27FC236}">
                <a16:creationId xmlns:a16="http://schemas.microsoft.com/office/drawing/2014/main" id="{7F055E3D-E24D-1743-7368-0CEE1E0AE750}"/>
              </a:ext>
            </a:extLst>
          </p:cNvPr>
          <p:cNvSpPr/>
          <p:nvPr/>
        </p:nvSpPr>
        <p:spPr>
          <a:xfrm>
            <a:off x="8661273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4" name="Text 44">
            <a:extLst>
              <a:ext uri="{FF2B5EF4-FFF2-40B4-BE49-F238E27FC236}">
                <a16:creationId xmlns:a16="http://schemas.microsoft.com/office/drawing/2014/main" id="{23F935C7-7193-F38C-544A-41703B52B457}"/>
              </a:ext>
            </a:extLst>
          </p:cNvPr>
          <p:cNvSpPr/>
          <p:nvPr/>
        </p:nvSpPr>
        <p:spPr>
          <a:xfrm>
            <a:off x="8661273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</a:t>
            </a:r>
            <a:endParaRPr lang="en-US" sz="800" dirty="0"/>
          </a:p>
        </p:txBody>
      </p:sp>
      <p:sp>
        <p:nvSpPr>
          <p:cNvPr id="126" name="Shape 45">
            <a:extLst>
              <a:ext uri="{FF2B5EF4-FFF2-40B4-BE49-F238E27FC236}">
                <a16:creationId xmlns:a16="http://schemas.microsoft.com/office/drawing/2014/main" id="{7257D0F2-69A3-92B7-0643-D720DEDA037A}"/>
              </a:ext>
            </a:extLst>
          </p:cNvPr>
          <p:cNvSpPr/>
          <p:nvPr/>
        </p:nvSpPr>
        <p:spPr>
          <a:xfrm>
            <a:off x="9203381" y="4975053"/>
            <a:ext cx="274320" cy="130759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8" name="Shape 46">
            <a:extLst>
              <a:ext uri="{FF2B5EF4-FFF2-40B4-BE49-F238E27FC236}">
                <a16:creationId xmlns:a16="http://schemas.microsoft.com/office/drawing/2014/main" id="{0FC79416-DF3B-274F-DADC-69E95D7D8728}"/>
              </a:ext>
            </a:extLst>
          </p:cNvPr>
          <p:cNvSpPr/>
          <p:nvPr/>
        </p:nvSpPr>
        <p:spPr>
          <a:xfrm>
            <a:off x="10202690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30" name="Text 47">
            <a:extLst>
              <a:ext uri="{FF2B5EF4-FFF2-40B4-BE49-F238E27FC236}">
                <a16:creationId xmlns:a16="http://schemas.microsoft.com/office/drawing/2014/main" id="{C8A94BB3-3EB6-C3C6-66A9-DD039E9042E9}"/>
              </a:ext>
            </a:extLst>
          </p:cNvPr>
          <p:cNvSpPr/>
          <p:nvPr/>
        </p:nvSpPr>
        <p:spPr>
          <a:xfrm>
            <a:off x="10202690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100" dirty="0"/>
          </a:p>
        </p:txBody>
      </p:sp>
      <p:sp>
        <p:nvSpPr>
          <p:cNvPr id="132" name="Text 48">
            <a:extLst>
              <a:ext uri="{FF2B5EF4-FFF2-40B4-BE49-F238E27FC236}">
                <a16:creationId xmlns:a16="http://schemas.microsoft.com/office/drawing/2014/main" id="{3238BCC9-0FB3-579C-9463-F0F7EDB3B8E8}"/>
              </a:ext>
            </a:extLst>
          </p:cNvPr>
          <p:cNvSpPr/>
          <p:nvPr/>
        </p:nvSpPr>
        <p:spPr>
          <a:xfrm>
            <a:off x="10202690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300" dirty="0"/>
          </a:p>
        </p:txBody>
      </p:sp>
      <p:sp>
        <p:nvSpPr>
          <p:cNvPr id="134" name="Text 49">
            <a:extLst>
              <a:ext uri="{FF2B5EF4-FFF2-40B4-BE49-F238E27FC236}">
                <a16:creationId xmlns:a16="http://schemas.microsoft.com/office/drawing/2014/main" id="{04DDFEFF-3AD3-D6D4-1591-423A7CE2418D}"/>
              </a:ext>
            </a:extLst>
          </p:cNvPr>
          <p:cNvSpPr/>
          <p:nvPr/>
        </p:nvSpPr>
        <p:spPr>
          <a:xfrm>
            <a:off x="10202690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2</a:t>
            </a:r>
            <a:endParaRPr lang="en-US" sz="950" dirty="0"/>
          </a:p>
        </p:txBody>
      </p:sp>
      <p:sp>
        <p:nvSpPr>
          <p:cNvPr id="136" name="Shape 50">
            <a:extLst>
              <a:ext uri="{FF2B5EF4-FFF2-40B4-BE49-F238E27FC236}">
                <a16:creationId xmlns:a16="http://schemas.microsoft.com/office/drawing/2014/main" id="{40FD7D74-C57C-7540-4BC5-F6CF19D4E2F6}"/>
              </a:ext>
            </a:extLst>
          </p:cNvPr>
          <p:cNvSpPr/>
          <p:nvPr/>
        </p:nvSpPr>
        <p:spPr>
          <a:xfrm>
            <a:off x="10294130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8" name="Text 51">
            <a:extLst>
              <a:ext uri="{FF2B5EF4-FFF2-40B4-BE49-F238E27FC236}">
                <a16:creationId xmlns:a16="http://schemas.microsoft.com/office/drawing/2014/main" id="{7C9B8248-1109-98F2-3497-3BFC66415C17}"/>
              </a:ext>
            </a:extLst>
          </p:cNvPr>
          <p:cNvSpPr/>
          <p:nvPr/>
        </p:nvSpPr>
        <p:spPr>
          <a:xfrm>
            <a:off x="10294130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140" name="Shape 52">
            <a:extLst>
              <a:ext uri="{FF2B5EF4-FFF2-40B4-BE49-F238E27FC236}">
                <a16:creationId xmlns:a16="http://schemas.microsoft.com/office/drawing/2014/main" id="{3C013659-EA39-BC5A-2B02-F3248FAD48FB}"/>
              </a:ext>
            </a:extLst>
          </p:cNvPr>
          <p:cNvSpPr/>
          <p:nvPr/>
        </p:nvSpPr>
        <p:spPr>
          <a:xfrm>
            <a:off x="10836238" y="4504617"/>
            <a:ext cx="2743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2" name="Shape 53">
            <a:extLst>
              <a:ext uri="{FF2B5EF4-FFF2-40B4-BE49-F238E27FC236}">
                <a16:creationId xmlns:a16="http://schemas.microsoft.com/office/drawing/2014/main" id="{598FEED4-44DC-F7FC-2AE2-456D36AA59DB}"/>
              </a:ext>
            </a:extLst>
          </p:cNvPr>
          <p:cNvSpPr/>
          <p:nvPr/>
        </p:nvSpPr>
        <p:spPr>
          <a:xfrm>
            <a:off x="405547" y="5465377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4" name="Text 54">
            <a:extLst>
              <a:ext uri="{FF2B5EF4-FFF2-40B4-BE49-F238E27FC236}">
                <a16:creationId xmlns:a16="http://schemas.microsoft.com/office/drawing/2014/main" id="{6928EEE0-EB0B-4BD4-1B43-7A776EE7EC23}"/>
              </a:ext>
            </a:extLst>
          </p:cNvPr>
          <p:cNvSpPr/>
          <p:nvPr/>
        </p:nvSpPr>
        <p:spPr>
          <a:xfrm>
            <a:off x="634147" y="5511097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weighted score</a:t>
            </a:r>
            <a:endParaRPr lang="en-US" sz="1100" dirty="0"/>
          </a:p>
        </p:txBody>
      </p:sp>
      <p:sp>
        <p:nvSpPr>
          <p:cNvPr id="146" name="Text 55">
            <a:extLst>
              <a:ext uri="{FF2B5EF4-FFF2-40B4-BE49-F238E27FC236}">
                <a16:creationId xmlns:a16="http://schemas.microsoft.com/office/drawing/2014/main" id="{E2278216-3967-5F17-B5D9-E4FFFD2F83D8}"/>
              </a:ext>
            </a:extLst>
          </p:cNvPr>
          <p:cNvSpPr/>
          <p:nvPr/>
        </p:nvSpPr>
        <p:spPr>
          <a:xfrm>
            <a:off x="634147" y="5785417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87.1 / 100</a:t>
            </a:r>
            <a:endParaRPr lang="en-US" sz="3200" dirty="0"/>
          </a:p>
        </p:txBody>
      </p:sp>
      <p:sp>
        <p:nvSpPr>
          <p:cNvPr id="148" name="Text 56">
            <a:extLst>
              <a:ext uri="{FF2B5EF4-FFF2-40B4-BE49-F238E27FC236}">
                <a16:creationId xmlns:a16="http://schemas.microsoft.com/office/drawing/2014/main" id="{623F4213-0EE5-A218-6A5F-A45279E35729}"/>
              </a:ext>
            </a:extLst>
          </p:cNvPr>
          <p:cNvSpPr/>
          <p:nvPr/>
        </p:nvSpPr>
        <p:spPr>
          <a:xfrm>
            <a:off x="634147" y="6379777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Good   ·  Delivery (2.0 weight) drives most of the value</a:t>
            </a:r>
            <a:endParaRPr lang="en-US" sz="1000" dirty="0"/>
          </a:p>
        </p:txBody>
      </p:sp>
      <p:sp>
        <p:nvSpPr>
          <p:cNvPr id="150" name="Shape 57">
            <a:extLst>
              <a:ext uri="{FF2B5EF4-FFF2-40B4-BE49-F238E27FC236}">
                <a16:creationId xmlns:a16="http://schemas.microsoft.com/office/drawing/2014/main" id="{97F55B48-2722-2213-D3F4-31F376A4886D}"/>
              </a:ext>
            </a:extLst>
          </p:cNvPr>
          <p:cNvSpPr/>
          <p:nvPr/>
        </p:nvSpPr>
        <p:spPr>
          <a:xfrm>
            <a:off x="6211987" y="5465377"/>
            <a:ext cx="5532120" cy="865591"/>
          </a:xfrm>
          <a:prstGeom prst="roundRect">
            <a:avLst>
              <a:gd name="adj" fmla="val 5926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2" name="Text 58">
            <a:extLst>
              <a:ext uri="{FF2B5EF4-FFF2-40B4-BE49-F238E27FC236}">
                <a16:creationId xmlns:a16="http://schemas.microsoft.com/office/drawing/2014/main" id="{21091438-9529-2EC4-AD45-7B2DC39430B1}"/>
              </a:ext>
            </a:extLst>
          </p:cNvPr>
          <p:cNvSpPr/>
          <p:nvPr/>
        </p:nvSpPr>
        <p:spPr>
          <a:xfrm>
            <a:off x="6440587" y="5511097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</a:t>
            </a:r>
            <a:endParaRPr lang="en-US" sz="1100" dirty="0"/>
          </a:p>
        </p:txBody>
      </p:sp>
      <p:sp>
        <p:nvSpPr>
          <p:cNvPr id="154" name="Text 59">
            <a:extLst>
              <a:ext uri="{FF2B5EF4-FFF2-40B4-BE49-F238E27FC236}">
                <a16:creationId xmlns:a16="http://schemas.microsoft.com/office/drawing/2014/main" id="{67DE39A5-F739-A821-7F0D-22FDC073A04D}"/>
              </a:ext>
            </a:extLst>
          </p:cNvPr>
          <p:cNvSpPr/>
          <p:nvPr/>
        </p:nvSpPr>
        <p:spPr>
          <a:xfrm>
            <a:off x="6440587" y="5797139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PDF (41.7%) — page context too weak.  Similarity (22%) — real bug diversity, not a heuristic failure.  Impact on QI: negligible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970177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8311D-75C8-7F1C-8378-FA4443983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7964-FF32-A779-94C2-0CFD98998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Retrieval Strategy Benchmark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13650CE9-EC38-BCF2-86DA-91AF804B2296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259293-87DF-3784-ECE3-EB26BC75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47</a:t>
            </a:fld>
            <a:endParaRPr lang="en-US" noProof="0" dirty="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AC6750E7-B978-86B8-7CF2-7466DC66E7BF}"/>
              </a:ext>
            </a:extLst>
          </p:cNvPr>
          <p:cNvGraphicFramePr/>
          <p:nvPr/>
        </p:nvGraphicFramePr>
        <p:xfrm>
          <a:off x="548640" y="141732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AC875588-C211-CA62-751F-883A88241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284667"/>
              </p:ext>
            </p:extLst>
          </p:nvPr>
        </p:nvGraphicFramePr>
        <p:xfrm>
          <a:off x="6675120" y="1417320"/>
          <a:ext cx="5212080" cy="256032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4">
            <a:extLst>
              <a:ext uri="{FF2B5EF4-FFF2-40B4-BE49-F238E27FC236}">
                <a16:creationId xmlns:a16="http://schemas.microsoft.com/office/drawing/2014/main" id="{12B38454-5D00-1D70-9467-AC09CC8B2335}"/>
              </a:ext>
            </a:extLst>
          </p:cNvPr>
          <p:cNvSpPr/>
          <p:nvPr/>
        </p:nvSpPr>
        <p:spPr>
          <a:xfrm>
            <a:off x="6675120" y="42062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104DBF0-A444-ED7B-1EE5-001E90079E0A}"/>
              </a:ext>
            </a:extLst>
          </p:cNvPr>
          <p:cNvSpPr/>
          <p:nvPr/>
        </p:nvSpPr>
        <p:spPr>
          <a:xfrm>
            <a:off x="681228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numbers</a:t>
            </a:r>
            <a:endParaRPr lang="en-US" sz="12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0E172FFA-389C-C54D-E4B8-048F59DCD9A0}"/>
              </a:ext>
            </a:extLst>
          </p:cNvPr>
          <p:cNvSpPr/>
          <p:nvPr/>
        </p:nvSpPr>
        <p:spPr>
          <a:xfrm>
            <a:off x="6812280" y="4553712"/>
            <a:ext cx="49377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Ablate the full-text branch (S5) → −24 pts. STM32 questions need exact API/board matches.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Ablate semantic recall (S3) → −14 pts. Users reformulate — pure lexical is not enough.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wins by +1: modest, honest. The system is near its data-driven ceiling.</a:t>
            </a:r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5189CFB1-9181-D6EF-D299-0D6E1238897D}"/>
              </a:ext>
            </a:extLst>
          </p:cNvPr>
          <p:cNvSpPr/>
          <p:nvPr/>
        </p:nvSpPr>
        <p:spPr>
          <a:xfrm>
            <a:off x="548640" y="585216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adapts to the platform's fixed retrieval, it does not redesign it. Hybrid search is not preference, it's a measured requirement.</a:t>
            </a:r>
            <a:endParaRPr lang="en-US" sz="130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344A21CE-DE90-191B-C8A2-1C95B71D9428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98291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EFADA-38A3-A462-17A6-CE60E29E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5D0B-3BB4-3421-9F5C-07C49059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Alfred Vision — Contextual Trust, not just API success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3F457C01-2F21-BA69-5257-69ABA888EDF2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F7CEB8-63FC-F5E2-8314-673B45923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48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8B83A71-845B-A54A-B77C-C11C68509012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BB274DD-CC1A-2168-37E9-CF46E17D4707}"/>
              </a:ext>
            </a:extLst>
          </p:cNvPr>
          <p:cNvSpPr/>
          <p:nvPr/>
        </p:nvSpPr>
        <p:spPr>
          <a:xfrm>
            <a:off x="530965" y="1137979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Measuring whether generated image descriptions are actually anchored in the source context</a:t>
            </a:r>
            <a:endParaRPr lang="en-US" sz="1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76C4C62D-7C5C-5E2D-529F-325368D517AC}"/>
              </a:ext>
            </a:extLst>
          </p:cNvPr>
          <p:cNvSpPr/>
          <p:nvPr/>
        </p:nvSpPr>
        <p:spPr>
          <a:xfrm>
            <a:off x="530965" y="1637433"/>
            <a:ext cx="5532120" cy="4251960"/>
          </a:xfrm>
          <a:prstGeom prst="roundRect">
            <a:avLst>
              <a:gd name="adj" fmla="val 1720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CC33E456-C22F-1406-6418-3E39BF4874E4}"/>
              </a:ext>
            </a:extLst>
          </p:cNvPr>
          <p:cNvSpPr/>
          <p:nvPr/>
        </p:nvSpPr>
        <p:spPr>
          <a:xfrm>
            <a:off x="759565" y="1774593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screenshots</a:t>
            </a:r>
            <a:endParaRPr lang="en-US" sz="18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9576B2A1-740F-F6AD-3F64-3572FCD25782}"/>
              </a:ext>
            </a:extLst>
          </p:cNvPr>
          <p:cNvSpPr/>
          <p:nvPr/>
        </p:nvSpPr>
        <p:spPr>
          <a:xfrm>
            <a:off x="759565" y="2122065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pipeline path</a:t>
            </a:r>
            <a:endParaRPr lang="en-US" sz="10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D25BA25C-8780-251E-212F-F7A88DA3AADD}"/>
              </a:ext>
            </a:extLst>
          </p:cNvPr>
          <p:cNvSpPr/>
          <p:nvPr/>
        </p:nvSpPr>
        <p:spPr>
          <a:xfrm>
            <a:off x="759565" y="2551833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98.5%</a:t>
            </a:r>
            <a:endParaRPr lang="en-US" sz="60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B6FE0AD8-10B6-821C-873C-A57EA56BC88C}"/>
              </a:ext>
            </a:extLst>
          </p:cNvPr>
          <p:cNvSpPr/>
          <p:nvPr/>
        </p:nvSpPr>
        <p:spPr>
          <a:xfrm>
            <a:off x="759565" y="3557673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trust  (200 evaluated · 3 low coherence)</a:t>
            </a:r>
            <a:endParaRPr lang="en-US" sz="11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E053FF30-5533-B9DA-C1A7-22C57AB37686}"/>
              </a:ext>
            </a:extLst>
          </p:cNvPr>
          <p:cNvSpPr/>
          <p:nvPr/>
        </p:nvSpPr>
        <p:spPr>
          <a:xfrm>
            <a:off x="759565" y="4014873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logs, error strings, register dumps — vocabulary shared with the issue thread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fallback L_OCR reinforces token overlap with the surrounding text</a:t>
            </a:r>
            <a:endParaRPr lang="en-US" sz="1050" dirty="0"/>
          </a:p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context: body + comments provide the anchor Alfred needs</a:t>
            </a:r>
            <a:endParaRPr lang="en-US" sz="1050" dirty="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D01F52E0-6BE9-921F-ED6D-7520F63F623D}"/>
              </a:ext>
            </a:extLst>
          </p:cNvPr>
          <p:cNvSpPr/>
          <p:nvPr/>
        </p:nvSpPr>
        <p:spPr>
          <a:xfrm>
            <a:off x="6337405" y="1637433"/>
            <a:ext cx="5532120" cy="4251960"/>
          </a:xfrm>
          <a:prstGeom prst="roundRect">
            <a:avLst>
              <a:gd name="adj" fmla="val 1720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4E1C1DB1-FE8E-7E9B-929A-CFBC822B805E}"/>
              </a:ext>
            </a:extLst>
          </p:cNvPr>
          <p:cNvSpPr/>
          <p:nvPr/>
        </p:nvSpPr>
        <p:spPr>
          <a:xfrm>
            <a:off x="6566005" y="1774593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figures</a:t>
            </a:r>
            <a:endParaRPr lang="en-US" sz="18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759CB2DC-4A06-A70F-A932-9947843645C3}"/>
              </a:ext>
            </a:extLst>
          </p:cNvPr>
          <p:cNvSpPr/>
          <p:nvPr/>
        </p:nvSpPr>
        <p:spPr>
          <a:xfrm>
            <a:off x="6566005" y="2122065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validate</a:t>
            </a:r>
            <a:endParaRPr lang="en-US" sz="10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9A3E6B34-3B26-01C0-BCE6-3D1199766C60}"/>
              </a:ext>
            </a:extLst>
          </p:cNvPr>
          <p:cNvSpPr/>
          <p:nvPr/>
        </p:nvSpPr>
        <p:spPr>
          <a:xfrm>
            <a:off x="6566005" y="2551833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41.7%</a:t>
            </a:r>
            <a:endParaRPr lang="en-US" sz="6000" dirty="0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9B2193C3-F524-EE3D-06DB-6FA94D8E2C54}"/>
              </a:ext>
            </a:extLst>
          </p:cNvPr>
          <p:cNvSpPr/>
          <p:nvPr/>
        </p:nvSpPr>
        <p:spPr>
          <a:xfrm>
            <a:off x="6566005" y="3557673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trust  (242 evaluated · 141 low coherence)</a:t>
            </a:r>
            <a:endParaRPr lang="en-US" sz="1100" dirty="0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7E85BF27-C0D5-BD28-094E-874658FB0FEC}"/>
              </a:ext>
            </a:extLst>
          </p:cNvPr>
          <p:cNvSpPr/>
          <p:nvPr/>
        </p:nvSpPr>
        <p:spPr>
          <a:xfrm>
            <a:off x="6566005" y="4014873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Diagrams, block schemas, migration tables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OCR — validator has less overlap material to work with</a:t>
            </a:r>
            <a:endParaRPr lang="en-US" sz="1050" dirty="0"/>
          </a:p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enrich the prompt with section title and figure caption before validation</a:t>
            </a:r>
            <a:endParaRPr lang="en-US" sz="105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E2D4891B-0DCB-752A-F7A2-FAF6F7ECC89C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666276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F07DB-6D56-5E38-AF2B-102E9A1F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2B0E5-9627-ACEC-D3D3-23276B197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Comparative Study  ·  Generic LLM vs Persona KB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2EB16A4A-96D0-DCFE-C056-76F9193EA839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72A85A-6954-D875-F2FD-793DDE5BF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49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8DD81E1-C305-B4CF-B070-855AA5420BA2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DE937306-759E-6A03-E24D-E0115B93A8A8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896F45F-D149-5428-7560-17CEC39635D6}"/>
              </a:ext>
            </a:extLst>
          </p:cNvPr>
          <p:cNvSpPr/>
          <p:nvPr/>
        </p:nvSpPr>
        <p:spPr>
          <a:xfrm>
            <a:off x="413915" y="1398375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0D9488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6A3C026-9441-649C-D8FF-E3462EE412F1}"/>
              </a:ext>
            </a:extLst>
          </p:cNvPr>
          <p:cNvSpPr/>
          <p:nvPr/>
        </p:nvSpPr>
        <p:spPr>
          <a:xfrm>
            <a:off x="413915" y="1581255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+39%</a:t>
            </a:r>
            <a:endParaRPr lang="en-US" sz="90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08CC9AB-9900-0954-F8AF-40178FD9885F}"/>
              </a:ext>
            </a:extLst>
          </p:cNvPr>
          <p:cNvSpPr/>
          <p:nvPr/>
        </p:nvSpPr>
        <p:spPr>
          <a:xfrm>
            <a:off x="413915" y="327289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gain vs generic LLM</a:t>
            </a:r>
            <a:endParaRPr lang="en-US" sz="15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E5B7E44-5291-CFA1-4453-43E2DFE80165}"/>
              </a:ext>
            </a:extLst>
          </p:cNvPr>
          <p:cNvSpPr/>
          <p:nvPr/>
        </p:nvSpPr>
        <p:spPr>
          <a:xfrm>
            <a:off x="413915" y="368437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/ 10  →  8.1 / 10  (average score per answer)</a:t>
            </a:r>
            <a:endParaRPr lang="en-US" sz="1100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B919B7B1-B9ED-742A-3ED5-A2A58AC61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605438"/>
              </p:ext>
            </p:extLst>
          </p:nvPr>
        </p:nvGraphicFramePr>
        <p:xfrm>
          <a:off x="5717435" y="1398375"/>
          <a:ext cx="603504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/ 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answers (10/10)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Verifiable citations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Actionable 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8">
            <a:extLst>
              <a:ext uri="{FF2B5EF4-FFF2-40B4-BE49-F238E27FC236}">
                <a16:creationId xmlns:a16="http://schemas.microsoft.com/office/drawing/2014/main" id="{B556F771-E09E-E9AC-9C57-10833D1A53E9}"/>
              </a:ext>
            </a:extLst>
          </p:cNvPr>
          <p:cNvSpPr/>
          <p:nvPr/>
        </p:nvSpPr>
        <p:spPr>
          <a:xfrm>
            <a:off x="413915" y="4324455"/>
            <a:ext cx="11338560" cy="1645920"/>
          </a:xfrm>
          <a:prstGeom prst="roundRect">
            <a:avLst>
              <a:gd name="adj" fmla="val 4571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B002D100-E26E-9C78-1620-BA45C4F47DCA}"/>
              </a:ext>
            </a:extLst>
          </p:cNvPr>
          <p:cNvSpPr/>
          <p:nvPr/>
        </p:nvSpPr>
        <p:spPr>
          <a:xfrm>
            <a:off x="642515" y="44158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gain comes from</a:t>
            </a:r>
            <a:endParaRPr lang="en-US" sz="120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5CDCAF46-650A-6C2E-7DC4-DA416C6094C2}"/>
              </a:ext>
            </a:extLst>
          </p:cNvPr>
          <p:cNvSpPr/>
          <p:nvPr/>
        </p:nvSpPr>
        <p:spPr>
          <a:xfrm>
            <a:off x="642515" y="4781655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7A1677F0-36B0-958A-A358-5029E90D2138}"/>
              </a:ext>
            </a:extLst>
          </p:cNvPr>
          <p:cNvSpPr/>
          <p:nvPr/>
        </p:nvSpPr>
        <p:spPr>
          <a:xfrm>
            <a:off x="642515" y="487309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Issue-specific</a:t>
            </a:r>
            <a:endParaRPr lang="en-US" sz="11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D75AFF0C-A797-72D3-0A6D-602B6777EAEF}"/>
              </a:ext>
            </a:extLst>
          </p:cNvPr>
          <p:cNvSpPr/>
          <p:nvPr/>
        </p:nvSpPr>
        <p:spPr>
          <a:xfrm>
            <a:off x="642515" y="5284575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LLM </a:t>
            </a:r>
            <a:r>
              <a:rPr lang="en-US" sz="1200" b="1" dirty="0">
                <a:solidFill>
                  <a:srgbClr val="B91C1C"/>
                </a:solidFill>
              </a:rPr>
              <a:t>5.9</a:t>
            </a:r>
            <a:r>
              <a:rPr lang="en-US" sz="1000" dirty="0">
                <a:solidFill>
                  <a:srgbClr val="64748B"/>
                </a:solidFill>
              </a:rPr>
              <a:t>     KB </a:t>
            </a:r>
            <a:r>
              <a:rPr lang="en-US" sz="1200" b="1" dirty="0">
                <a:solidFill>
                  <a:srgbClr val="0D9488"/>
                </a:solidFill>
              </a:rPr>
              <a:t>9.2</a:t>
            </a:r>
            <a:endParaRPr lang="en-US" sz="1000" dirty="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C96F3986-F55F-2BBE-4915-259841C92EB6}"/>
              </a:ext>
            </a:extLst>
          </p:cNvPr>
          <p:cNvSpPr/>
          <p:nvPr/>
        </p:nvSpPr>
        <p:spPr>
          <a:xfrm>
            <a:off x="3431435" y="4781655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2D23FCFE-7C2D-8178-9579-573771E0748B}"/>
              </a:ext>
            </a:extLst>
          </p:cNvPr>
          <p:cNvSpPr/>
          <p:nvPr/>
        </p:nvSpPr>
        <p:spPr>
          <a:xfrm>
            <a:off x="3431435" y="487309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/ Version</a:t>
            </a:r>
            <a:endParaRPr lang="en-US" sz="11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0FDE9743-791D-575C-090E-6BC6D9C118C0}"/>
              </a:ext>
            </a:extLst>
          </p:cNvPr>
          <p:cNvSpPr/>
          <p:nvPr/>
        </p:nvSpPr>
        <p:spPr>
          <a:xfrm>
            <a:off x="3431435" y="5284575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LLM </a:t>
            </a:r>
            <a:r>
              <a:rPr lang="en-US" sz="1200" b="1" dirty="0">
                <a:solidFill>
                  <a:srgbClr val="B91C1C"/>
                </a:solidFill>
              </a:rPr>
              <a:t>3.7</a:t>
            </a:r>
            <a:r>
              <a:rPr lang="en-US" sz="1000" dirty="0">
                <a:solidFill>
                  <a:srgbClr val="64748B"/>
                </a:solidFill>
              </a:rPr>
              <a:t>     KB </a:t>
            </a:r>
            <a:r>
              <a:rPr lang="en-US" sz="1200" b="1" dirty="0">
                <a:solidFill>
                  <a:srgbClr val="0D9488"/>
                </a:solidFill>
              </a:rPr>
              <a:t>9.7</a:t>
            </a:r>
            <a:endParaRPr lang="en-US" sz="1000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612CAA04-3911-79F3-D8EE-456359F1C0B5}"/>
              </a:ext>
            </a:extLst>
          </p:cNvPr>
          <p:cNvSpPr/>
          <p:nvPr/>
        </p:nvSpPr>
        <p:spPr>
          <a:xfrm>
            <a:off x="6220355" y="4781655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AC5D7F79-0D20-A2B3-E0EC-9BD808F8837A}"/>
              </a:ext>
            </a:extLst>
          </p:cNvPr>
          <p:cNvSpPr/>
          <p:nvPr/>
        </p:nvSpPr>
        <p:spPr>
          <a:xfrm>
            <a:off x="6220355" y="487309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knowledge</a:t>
            </a:r>
            <a:endParaRPr lang="en-US" sz="1100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D909A79F-FF64-428E-48E8-54968A37583D}"/>
              </a:ext>
            </a:extLst>
          </p:cNvPr>
          <p:cNvSpPr/>
          <p:nvPr/>
        </p:nvSpPr>
        <p:spPr>
          <a:xfrm>
            <a:off x="6220355" y="5284575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LLM </a:t>
            </a:r>
            <a:r>
              <a:rPr lang="en-US" sz="1200" b="1" dirty="0">
                <a:solidFill>
                  <a:srgbClr val="B91C1C"/>
                </a:solidFill>
              </a:rPr>
              <a:t>7.0</a:t>
            </a:r>
            <a:r>
              <a:rPr lang="en-US" sz="1000" dirty="0">
                <a:solidFill>
                  <a:srgbClr val="64748B"/>
                </a:solidFill>
              </a:rPr>
              <a:t>     KB </a:t>
            </a:r>
            <a:r>
              <a:rPr lang="en-US" sz="1200" b="1" dirty="0">
                <a:solidFill>
                  <a:srgbClr val="0D9488"/>
                </a:solidFill>
              </a:rPr>
              <a:t>7.0</a:t>
            </a:r>
            <a:endParaRPr lang="en-US" sz="1000" dirty="0"/>
          </a:p>
        </p:txBody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B94C7E27-CEFD-6D74-1968-1A239FDF78B1}"/>
              </a:ext>
            </a:extLst>
          </p:cNvPr>
          <p:cNvSpPr/>
          <p:nvPr/>
        </p:nvSpPr>
        <p:spPr>
          <a:xfrm>
            <a:off x="9009275" y="4781655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C2BF8152-7AB0-A21F-666B-9CD0582618AD}"/>
              </a:ext>
            </a:extLst>
          </p:cNvPr>
          <p:cNvSpPr/>
          <p:nvPr/>
        </p:nvSpPr>
        <p:spPr>
          <a:xfrm>
            <a:off x="9009275" y="487309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74F1C7C9-DC65-A3C6-55BB-0849FC856B4D}"/>
              </a:ext>
            </a:extLst>
          </p:cNvPr>
          <p:cNvSpPr/>
          <p:nvPr/>
        </p:nvSpPr>
        <p:spPr>
          <a:xfrm>
            <a:off x="9009275" y="5284575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LLM </a:t>
            </a:r>
            <a:r>
              <a:rPr lang="en-US" sz="1200" b="1" dirty="0">
                <a:solidFill>
                  <a:srgbClr val="B91C1C"/>
                </a:solidFill>
              </a:rPr>
              <a:t>5.0</a:t>
            </a:r>
            <a:r>
              <a:rPr lang="en-US" sz="1000" dirty="0">
                <a:solidFill>
                  <a:srgbClr val="64748B"/>
                </a:solidFill>
              </a:rPr>
              <a:t>     KB </a:t>
            </a:r>
            <a:r>
              <a:rPr lang="en-US" sz="1200" b="1" dirty="0">
                <a:solidFill>
                  <a:srgbClr val="0D9488"/>
                </a:solidFill>
              </a:rPr>
              <a:t>4.0</a:t>
            </a:r>
            <a:endParaRPr lang="en-US" sz="1000" dirty="0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8613780F-994E-0ED3-CA59-3ECD19F7A1ED}"/>
              </a:ext>
            </a:extLst>
          </p:cNvPr>
          <p:cNvSpPr/>
          <p:nvPr/>
        </p:nvSpPr>
        <p:spPr>
          <a:xfrm>
            <a:off x="413915" y="6061815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architecture:  KB-first  +  restrictive NovaX fallback  —  traceability protected, coverage extended.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6519040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25128-D97C-F25C-B691-34CC9FAF0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20EF140E-2AB9-0200-7D0D-6D715496E74C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12B31306-92AB-822B-FA88-2FD61C4A1EA9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31560133-A8FC-81EE-D226-68B27BE72D5A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26E347A7-9773-D36D-995A-B16ED6E876FE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0AC21FA9-539D-9C6B-FC55-768A50292B04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8C70E77C-4D05-2470-8E39-8C98ABD92C49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F3F6CDDD-921F-9747-D93B-DABDDAE9F629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DB74D9CF-2979-9B8A-77A5-FD2713A44783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Architecture Overview </a:t>
            </a:r>
            <a:endParaRPr lang="en-US" sz="1200" noProof="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3EBDAC99-9F7B-9483-FDC5-50E26F689EA0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9314224A-71E5-6193-E7B8-6C0E7C8974D2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2229D600-17A6-2A18-436F-1856C471E326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EAD4B8FD-22B8-FDD1-57FE-DC2955AC8581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4FE237A2-4458-4BDD-1660-0A3E731F0866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FFF15386-CA84-8B43-9382-202C23B0F756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32FD4E72-40C9-B929-2D3E-3F6A773E7054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30E69EB7-446D-B4A0-A0F9-46F0CDF1A7E3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64FB641A-6486-EBC8-5B5E-D0F49A102E5B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The Data preprocessing pipeline and ALFRED Vision Integration </a:t>
            </a:r>
            <a:endParaRPr lang="en-US" sz="1200" noProof="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6AFDB702-0C89-410A-6584-7F4EBA656858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030BB0FD-28A8-D214-1F34-36A7063F912D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DCF71A73-4220-D1D0-A865-0DED5A5A0E72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CEDED722-1F1E-96F2-59B4-487BA13E29BD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085DAAE1-D0FF-A377-8A7D-423C7BFFA4DF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Value Proposition &amp; Impact</a:t>
            </a:r>
            <a:endParaRPr lang="en-US" sz="1200" dirty="0"/>
          </a:p>
          <a:p>
            <a:r>
              <a:rPr lang="en-US" sz="1200" b="1" noProof="0" dirty="0">
                <a:solidFill>
                  <a:srgbClr val="1B2A3B"/>
                </a:solidFill>
              </a:rPr>
              <a:t> </a:t>
            </a:r>
            <a:endParaRPr lang="en-US" sz="1200" noProof="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36671A72-A716-2292-7BF2-5AC46F397F1E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10ACDDAC-1FAA-B235-496E-2C5A3BBDA4A7}"/>
              </a:ext>
            </a:extLst>
          </p:cNvPr>
          <p:cNvSpPr/>
          <p:nvPr/>
        </p:nvSpPr>
        <p:spPr>
          <a:xfrm>
            <a:off x="1758295" y="535040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45814B48-B033-9023-5FED-081BD1EA4FE1}"/>
              </a:ext>
            </a:extLst>
          </p:cNvPr>
          <p:cNvSpPr/>
          <p:nvPr/>
        </p:nvSpPr>
        <p:spPr>
          <a:xfrm>
            <a:off x="1758295" y="535040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C7F08992-D146-E071-5C5F-F3A2F0BA605F}"/>
              </a:ext>
            </a:extLst>
          </p:cNvPr>
          <p:cNvSpPr/>
          <p:nvPr/>
        </p:nvSpPr>
        <p:spPr>
          <a:xfrm>
            <a:off x="1758295" y="535040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DBD5A93B-2290-C139-6398-DE3D0BD3EF32}"/>
              </a:ext>
            </a:extLst>
          </p:cNvPr>
          <p:cNvSpPr/>
          <p:nvPr/>
        </p:nvSpPr>
        <p:spPr>
          <a:xfrm>
            <a:off x="2233783" y="55607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Configuration &amp; Evaluation </a:t>
            </a:r>
            <a:endParaRPr lang="en-US" sz="1200" noProof="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DA13E328-8129-599F-8C91-B3A96F4F8306}"/>
              </a:ext>
            </a:extLst>
          </p:cNvPr>
          <p:cNvSpPr/>
          <p:nvPr/>
        </p:nvSpPr>
        <p:spPr>
          <a:xfrm>
            <a:off x="2233783" y="575273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6A59B7FB-744C-D896-2EB9-97A8CDCA84D4}"/>
              </a:ext>
            </a:extLst>
          </p:cNvPr>
          <p:cNvSpPr/>
          <p:nvPr/>
        </p:nvSpPr>
        <p:spPr>
          <a:xfrm>
            <a:off x="6909008" y="3143994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12E926D1-D4F5-400E-8C9C-DC548ACED385}"/>
              </a:ext>
            </a:extLst>
          </p:cNvPr>
          <p:cNvSpPr/>
          <p:nvPr/>
        </p:nvSpPr>
        <p:spPr>
          <a:xfrm>
            <a:off x="6909008" y="3143994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89CB1150-655D-896A-4B58-44040F2BEC77}"/>
              </a:ext>
            </a:extLst>
          </p:cNvPr>
          <p:cNvSpPr/>
          <p:nvPr/>
        </p:nvSpPr>
        <p:spPr>
          <a:xfrm>
            <a:off x="6909008" y="314399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3BF05F38-6F49-D753-60CD-74AE341DD3ED}"/>
              </a:ext>
            </a:extLst>
          </p:cNvPr>
          <p:cNvSpPr/>
          <p:nvPr/>
        </p:nvSpPr>
        <p:spPr>
          <a:xfrm>
            <a:off x="7384496" y="333904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Live Demo &amp; Hands-On</a:t>
            </a:r>
            <a:endParaRPr lang="en-US" sz="1200" noProof="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53359CF9-B0F0-C38C-98A1-9A1951C62AFA}"/>
              </a:ext>
            </a:extLst>
          </p:cNvPr>
          <p:cNvSpPr/>
          <p:nvPr/>
        </p:nvSpPr>
        <p:spPr>
          <a:xfrm>
            <a:off x="7384496" y="354633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88BF5CC2-41F5-3416-D740-75386959CEF1}"/>
              </a:ext>
            </a:extLst>
          </p:cNvPr>
          <p:cNvSpPr/>
          <p:nvPr/>
        </p:nvSpPr>
        <p:spPr>
          <a:xfrm>
            <a:off x="6909008" y="4040106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2A696517-D50B-8A2B-2A6E-CDF42B4933BE}"/>
              </a:ext>
            </a:extLst>
          </p:cNvPr>
          <p:cNvSpPr/>
          <p:nvPr/>
        </p:nvSpPr>
        <p:spPr>
          <a:xfrm>
            <a:off x="6909008" y="4040106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E2109CDB-CB57-09E5-ED51-82D9C5CC2EF6}"/>
              </a:ext>
            </a:extLst>
          </p:cNvPr>
          <p:cNvSpPr/>
          <p:nvPr/>
        </p:nvSpPr>
        <p:spPr>
          <a:xfrm>
            <a:off x="6909008" y="404010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C5715EF8-474D-E7AD-0E55-83ECF78F3F40}"/>
              </a:ext>
            </a:extLst>
          </p:cNvPr>
          <p:cNvSpPr/>
          <p:nvPr/>
        </p:nvSpPr>
        <p:spPr>
          <a:xfrm>
            <a:off x="7397550" y="425956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Q&amp;A</a:t>
            </a:r>
            <a:endParaRPr lang="en-US" sz="1200" noProof="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AB347F64-F87D-28AF-1C44-614984558CB3}"/>
              </a:ext>
            </a:extLst>
          </p:cNvPr>
          <p:cNvSpPr/>
          <p:nvPr/>
        </p:nvSpPr>
        <p:spPr>
          <a:xfrm>
            <a:off x="7384496" y="444244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007C78-C676-61F2-FEB2-EB3B180860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25875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2129667" y="271026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bg2">
                    <a:lumMod val="1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Pipeline for the Big PDFs</a:t>
            </a:r>
            <a:endParaRPr lang="en-US" sz="3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92608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Second Pipeline?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pipeline handles GitHub — but STM32's biggest knowledge lives in giant PDFs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32120" cy="2468880"/>
          </a:xfrm>
          <a:prstGeom prst="roundRect">
            <a:avLst>
              <a:gd name="adj" fmla="val 2963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Reference Manual?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STM32 technical document for a family of microcontrollers. It describes every register, peripheral, memory address, and bit — everything an embedded engineer needs to program the chip.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size: </a:t>
            </a: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3 000+ pages · thousands of tables · thousands of diagrams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>
            <a:off x="6537960" y="1554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corpus we target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537960" y="24963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Manuals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0" y="192024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~15 000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44000" y="24963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288036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~5 000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537960" y="34564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&amp; diagrams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0" y="288036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STM32H7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144000" y="34564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(pilot)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11338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" name="Text 20"/>
          <p:cNvSpPr/>
          <p:nvPr/>
        </p:nvSpPr>
        <p:spPr>
          <a:xfrm>
            <a:off x="777240" y="4114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workshop pipeline cannot do this — four measured obstacles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4480560"/>
            <a:ext cx="2651760" cy="160020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Shape 22"/>
          <p:cNvSpPr/>
          <p:nvPr/>
        </p:nvSpPr>
        <p:spPr>
          <a:xfrm>
            <a:off x="914400" y="4617720"/>
            <a:ext cx="320040" cy="3200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Text 23"/>
          <p:cNvSpPr/>
          <p:nvPr/>
        </p:nvSpPr>
        <p:spPr>
          <a:xfrm>
            <a:off x="91440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25880" y="4617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PDFs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5029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tables, bus diagrams, clock trees — no GitHub source, only massive PDF files.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66160" y="4480560"/>
            <a:ext cx="2651760" cy="160020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Shape 27"/>
          <p:cNvSpPr/>
          <p:nvPr/>
        </p:nvSpPr>
        <p:spPr>
          <a:xfrm>
            <a:off x="3703320" y="4617720"/>
            <a:ext cx="320040" cy="3200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8"/>
          <p:cNvSpPr/>
          <p:nvPr/>
        </p:nvSpPr>
        <p:spPr>
          <a:xfrm>
            <a:off x="37033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0" y="4617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crashes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03320" y="5029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PDF libraries hit std::bad_alloc ("out of memory") on 3 000+ page documents in one pass.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4480560"/>
            <a:ext cx="2651760" cy="160020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Shape 32"/>
          <p:cNvSpPr/>
          <p:nvPr/>
        </p:nvSpPr>
        <p:spPr>
          <a:xfrm>
            <a:off x="6492240" y="4617720"/>
            <a:ext cx="320040" cy="3200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649224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03720" y="4617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figure AI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0" y="5029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takes ~100 seconds per figure → 33 hours estimated for a single PDF, unusable in production.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44000" y="4480560"/>
            <a:ext cx="2651760" cy="160020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9" name="Shape 37"/>
          <p:cNvSpPr/>
          <p:nvPr/>
        </p:nvSpPr>
        <p:spPr>
          <a:xfrm>
            <a:off x="9281160" y="4617720"/>
            <a:ext cx="320040" cy="3200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Text 38"/>
          <p:cNvSpPr/>
          <p:nvPr/>
        </p:nvSpPr>
        <p:spPr>
          <a:xfrm>
            <a:off x="928116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92640" y="4617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context limit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281160" y="5029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extractor AI can only read ~8 000 characters at a time — but one PDF produces 7 600 000 characters.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doc_pipeline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— from a raw PDF to structured, searchable knowledge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: a raw PDF Reference Manual        →        Output : a structured JSON file, ready for the Knowledge Base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157984" cy="3383280"/>
          </a:xfrm>
          <a:prstGeom prst="roundRect">
            <a:avLst>
              <a:gd name="adj" fmla="val 3390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" name="Shape 6"/>
          <p:cNvSpPr/>
          <p:nvPr/>
        </p:nvSpPr>
        <p:spPr>
          <a:xfrm>
            <a:off x="1353312" y="2057400"/>
            <a:ext cx="548640" cy="548640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1353312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08152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· pypdfium2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3429000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PDF. Extract every page's text and every figure as an image.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937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ingest.py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43784" y="1874520"/>
            <a:ext cx="2157984" cy="3383280"/>
          </a:xfrm>
          <a:prstGeom prst="roundRect">
            <a:avLst>
              <a:gd name="adj" fmla="val 3390"/>
            </a:avLst>
          </a:prstGeom>
          <a:solidFill>
            <a:srgbClr val="E6F4F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Shape 14"/>
          <p:cNvSpPr/>
          <p:nvPr/>
        </p:nvSpPr>
        <p:spPr>
          <a:xfrm>
            <a:off x="3648456" y="20574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3648456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43784" y="26974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935224" y="308152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via Ollama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63824" y="3429000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2980944" y="352044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"looks" at each figure and writes a text description of what's in it.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43784" y="4937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vlm.py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38928" y="1874520"/>
            <a:ext cx="2157984" cy="3383280"/>
          </a:xfrm>
          <a:prstGeom prst="roundRect">
            <a:avLst>
              <a:gd name="adj" fmla="val 3390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" name="Shape 22"/>
          <p:cNvSpPr/>
          <p:nvPr/>
        </p:nvSpPr>
        <p:spPr>
          <a:xfrm>
            <a:off x="5943600" y="2057400"/>
            <a:ext cx="548640" cy="548640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Text 23"/>
          <p:cNvSpPr/>
          <p:nvPr/>
        </p:nvSpPr>
        <p:spPr>
          <a:xfrm>
            <a:off x="59436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138928" y="26974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Recombine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30368" y="308152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merge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58968" y="3429000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5276088" y="352044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every figure's description into the text at the exact place where the figure was.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38928" y="4937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recombine.py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34072" y="1874520"/>
            <a:ext cx="2157984" cy="3383280"/>
          </a:xfrm>
          <a:prstGeom prst="roundRect">
            <a:avLst>
              <a:gd name="adj" fmla="val 3390"/>
            </a:avLst>
          </a:prstGeom>
          <a:solidFill>
            <a:srgbClr val="E6F4F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2" name="Shape 30"/>
          <p:cNvSpPr/>
          <p:nvPr/>
        </p:nvSpPr>
        <p:spPr>
          <a:xfrm>
            <a:off x="8238744" y="20574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3" name="Text 31"/>
          <p:cNvSpPr/>
          <p:nvPr/>
        </p:nvSpPr>
        <p:spPr>
          <a:xfrm>
            <a:off x="8238744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434072" y="26974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525512" y="308152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54112" y="3429000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Text 35"/>
          <p:cNvSpPr/>
          <p:nvPr/>
        </p:nvSpPr>
        <p:spPr>
          <a:xfrm>
            <a:off x="7571232" y="352044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the combined text and outputs structured data: registers, peripherals, tables.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34072" y="4937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extract.py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729216" y="1874520"/>
            <a:ext cx="2157984" cy="3383280"/>
          </a:xfrm>
          <a:prstGeom prst="roundRect">
            <a:avLst>
              <a:gd name="adj" fmla="val 3390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0" name="Shape 38"/>
          <p:cNvSpPr/>
          <p:nvPr/>
        </p:nvSpPr>
        <p:spPr>
          <a:xfrm>
            <a:off x="10533888" y="2057400"/>
            <a:ext cx="548640" cy="548640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39"/>
          <p:cNvSpPr/>
          <p:nvPr/>
        </p:nvSpPr>
        <p:spPr>
          <a:xfrm>
            <a:off x="1053388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9729216" y="26974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820656" y="308152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renderer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049256" y="3429000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5" name="Text 43"/>
          <p:cNvSpPr/>
          <p:nvPr/>
        </p:nvSpPr>
        <p:spPr>
          <a:xfrm>
            <a:off x="9866376" y="352044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structured result to disk, ready for indexing in a Knowledge Base.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729216" y="4937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output.py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5486400"/>
            <a:ext cx="11338560" cy="685800"/>
          </a:xfrm>
          <a:prstGeom prst="roundRect">
            <a:avLst>
              <a:gd name="adj" fmla="val 10667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8" name="Text 46"/>
          <p:cNvSpPr/>
          <p:nvPr/>
        </p:nvSpPr>
        <p:spPr>
          <a:xfrm>
            <a:off x="548640" y="5486400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PipelineState  ·  </a:t>
            </a:r>
            <a:r>
              <a:rPr lang="en-US" sz="1150" i="1" dirty="0">
                <a:solidFill>
                  <a:srgbClr val="FFFFFF"/>
                </a:solidFill>
              </a:rPr>
              <a:t>a single shared object flows through all five stages — no coupling, no messaging bus.  Each stage reads what the previous produced, adds its result, and passes it along.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 : Ingest — Reading a 3 000-page PDF Without Crashing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never load the whole PDF at once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open-source library that reads a PDF and extracts its text, images, and structure.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pypdfium2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faster PDF-reading engine (~10× faster than the default).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splitting a big file into small blocks and processing them one at a time.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safety limit; if a step takes longer than the timeout, we stop it and move 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1417320"/>
            <a:ext cx="5897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62179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strategy  ·  50 pages at a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3 550-page manual becomes 71 chunks — each processed independently.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621792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7920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1-50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739128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6739128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39128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260336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8"/>
          <p:cNvSpPr/>
          <p:nvPr/>
        </p:nvSpPr>
        <p:spPr>
          <a:xfrm>
            <a:off x="7260336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60336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781544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7781544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81544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8302752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4"/>
          <p:cNvSpPr/>
          <p:nvPr/>
        </p:nvSpPr>
        <p:spPr>
          <a:xfrm>
            <a:off x="8302752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02752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823960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882396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823960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345168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9345168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345168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866376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9866376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866376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0387584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Text 36"/>
          <p:cNvSpPr/>
          <p:nvPr/>
        </p:nvSpPr>
        <p:spPr>
          <a:xfrm>
            <a:off x="10387584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387584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908792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39"/>
          <p:cNvSpPr/>
          <p:nvPr/>
        </p:nvSpPr>
        <p:spPr>
          <a:xfrm>
            <a:off x="10908792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908792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430000" y="2194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  71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1792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 skipped — cover + Table of Contents can block Docling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1792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180s per chunk — a stuck chunk is killed, not the whole run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3749040"/>
            <a:ext cx="11338560" cy="2423160"/>
          </a:xfrm>
          <a:prstGeom prst="roundRect">
            <a:avLst>
              <a:gd name="adj" fmla="val 3019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7" name="Text 45"/>
          <p:cNvSpPr/>
          <p:nvPr/>
        </p:nvSpPr>
        <p:spPr>
          <a:xfrm>
            <a:off x="777240" y="3840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choices that made this work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77240" y="42976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9" name="Text 47"/>
          <p:cNvSpPr/>
          <p:nvPr/>
        </p:nvSpPr>
        <p:spPr>
          <a:xfrm>
            <a:off x="77724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188720" y="4233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SKIP_FIRST_N_PAGES = 6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88720" y="4572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cover, TOC, revision history — pages that block the parser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480560" y="42976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51"/>
          <p:cNvSpPr/>
          <p:nvPr/>
        </p:nvSpPr>
        <p:spPr>
          <a:xfrm>
            <a:off x="44805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892040" y="4233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pages per chunk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92040" y="4572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fit in memory · large enough to be efficient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183880" y="42976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7" name="Text 55"/>
          <p:cNvSpPr/>
          <p:nvPr/>
        </p:nvSpPr>
        <p:spPr>
          <a:xfrm>
            <a:off x="818388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595360" y="4233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multiprocessing.Process.kill()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595360" y="4572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chunk hangs, we can force-stop just that chunk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15768" y="521284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1" name="Text 59"/>
          <p:cNvSpPr/>
          <p:nvPr/>
        </p:nvSpPr>
        <p:spPr>
          <a:xfrm>
            <a:off x="2715768" y="52128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3127248" y="514883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gc.collect() between chunks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3127248" y="548716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memory before the next chunk starts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419088" y="521284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5" name="Text 63"/>
          <p:cNvSpPr/>
          <p:nvPr/>
        </p:nvSpPr>
        <p:spPr>
          <a:xfrm>
            <a:off x="6419088" y="52128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6830568" y="514883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pypdfium2 backend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830568" y="548716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10× faster than the default Docling backend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0122408" y="52128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8595360" y="5148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8595360" y="5486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 : VLM — Making Every Figure Readable to Text 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tables carry critical information — but text-search engines cannot see pixels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338560" cy="1280160"/>
          </a:xfrm>
          <a:prstGeom prst="roundRect">
            <a:avLst>
              <a:gd name="adj" fmla="val 5714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(Vision Language Model)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an AI that looks at an image and writes a text description of what's in it.        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specific open-source VLM (free, runs on your own GPU).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tool that lets you run AI models on your own computer instead of calling a paid cloud API.        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273177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" name="Shape 9"/>
          <p:cNvSpPr/>
          <p:nvPr/>
        </p:nvSpPr>
        <p:spPr>
          <a:xfrm>
            <a:off x="685800" y="30175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extracted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2457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caption + page number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84982" y="347472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16" name="Shape 14"/>
          <p:cNvSpPr/>
          <p:nvPr/>
        </p:nvSpPr>
        <p:spPr>
          <a:xfrm>
            <a:off x="3417570" y="2880360"/>
            <a:ext cx="273177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7" name="Shape 15"/>
          <p:cNvSpPr/>
          <p:nvPr/>
        </p:nvSpPr>
        <p:spPr>
          <a:xfrm>
            <a:off x="3554730" y="30175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Text 16"/>
          <p:cNvSpPr/>
          <p:nvPr/>
        </p:nvSpPr>
        <p:spPr>
          <a:xfrm>
            <a:off x="355473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66210" y="301752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prompt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54730" y="3383280"/>
            <a:ext cx="2457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tell LLaVA: "here is a figure from page N, caption is X, describe what you see"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53912" y="347472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22" name="Shape 20"/>
          <p:cNvSpPr/>
          <p:nvPr/>
        </p:nvSpPr>
        <p:spPr>
          <a:xfrm>
            <a:off x="6286500" y="2880360"/>
            <a:ext cx="273177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" name="Shape 21"/>
          <p:cNvSpPr/>
          <p:nvPr/>
        </p:nvSpPr>
        <p:spPr>
          <a:xfrm>
            <a:off x="6423660" y="30175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Text 22"/>
          <p:cNvSpPr/>
          <p:nvPr/>
        </p:nvSpPr>
        <p:spPr>
          <a:xfrm>
            <a:off x="642366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35140" y="301752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runs LLaVA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23660" y="3383280"/>
            <a:ext cx="2457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 the local GPU · timeout 120 seconds · never sends data to the cloud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22842" y="347472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28" name="Shape 26"/>
          <p:cNvSpPr/>
          <p:nvPr/>
        </p:nvSpPr>
        <p:spPr>
          <a:xfrm>
            <a:off x="9155430" y="2880360"/>
            <a:ext cx="273177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9" name="Shape 27"/>
          <p:cNvSpPr/>
          <p:nvPr/>
        </p:nvSpPr>
        <p:spPr>
          <a:xfrm>
            <a:off x="9292590" y="30175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8"/>
          <p:cNvSpPr/>
          <p:nvPr/>
        </p:nvSpPr>
        <p:spPr>
          <a:xfrm>
            <a:off x="929259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04070" y="301752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vlm_description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92590" y="3383280"/>
            <a:ext cx="2457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rich text description that replaces the figure in the document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11338560" cy="1828800"/>
          </a:xfrm>
          <a:prstGeom prst="roundRect">
            <a:avLst>
              <a:gd name="adj" fmla="val 4000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32"/>
          <p:cNvSpPr/>
          <p:nvPr/>
        </p:nvSpPr>
        <p:spPr>
          <a:xfrm>
            <a:off x="777240" y="4389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the first STM32H7 Reference Manual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4800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1 173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777240" y="5623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found in one PDF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66160" y="4800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76.7 s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3566160" y="5623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per figure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4800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6355080" y="5623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(kept moving on)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44000" y="4800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 h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9144000" y="5623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processing time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Stages 3 &amp; 4  :  Recombine + Extract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figure descriptions back where they belong, then turning it all into structured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32120" cy="2918075"/>
          </a:xfrm>
          <a:prstGeom prst="roundRect">
            <a:avLst>
              <a:gd name="adj" fmla="val 2807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554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Recombine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text + figure descriptions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286000"/>
            <a:ext cx="5074920" cy="62293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>
            <a:off x="868680" y="2427733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 </a:t>
            </a: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marker we put in the text where a figure was, so we can put its description back later. Format: </a:t>
            </a: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[[FIGURE_N]]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...The AHB bus  [[FIGURE_47]]  connects...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367588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3969067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...The AHB bus  [AHB bus diagram — 4 masters, 8 slaves, ...]  connects...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19"/>
            <a:ext cx="5577840" cy="2918071"/>
          </a:xfrm>
          <a:prstGeom prst="roundRect">
            <a:avLst>
              <a:gd name="adj" fmla="val 2807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6"/>
          <p:cNvSpPr/>
          <p:nvPr/>
        </p:nvSpPr>
        <p:spPr>
          <a:xfrm>
            <a:off x="6537960" y="155448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6537960" y="15544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38160" y="1554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19202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structured JSON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2286000"/>
            <a:ext cx="5166360" cy="62293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6665595" y="2479164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 </a:t>
            </a: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free open-source LLM, runs locally on your PC.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7960" y="320040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37960" y="342900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peripherals[]      list of every peripheral (UART, SPI, etc.)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37960" y="3630168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registers[]        list of every register with its address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37960" y="3831336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tables[]           bit-field tables from the manual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737735"/>
            <a:ext cx="11338560" cy="1234439"/>
          </a:xfrm>
          <a:prstGeom prst="roundRect">
            <a:avLst>
              <a:gd name="adj" fmla="val 3721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777240" y="485202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chunking-again problem  ·  and how we solved 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5239512"/>
            <a:ext cx="10972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maximum amount of text an AI can read at once.  Mistral's context window ≈ 8 000 characters.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PDF produces </a:t>
            </a: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7 629 693 characters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combined text. That's 950× the context window.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combined text into 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1 100 chunks of 8 000 characters each,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JSON from each independently, then merge the results (concat + de-duplicate).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STM32H7 Reference Manuals — processed end-to-end, no crashes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15 000+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38887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 processed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87464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PDFs · STM32H7 family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73880" y="141732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4373880" y="155448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5 000+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373880" y="238887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figures described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11040" y="287464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running on GPU · 100%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99120" y="141732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8199120" y="155448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5 500+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199120" y="238887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chunks extracted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6280" y="287464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running locally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49758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548640" y="363474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48640" y="446913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crashes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95490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timeouts handled gracefully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73880" y="349758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4373880" y="363474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 h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373880" y="446913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PDF (VLM stage)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11040" y="495490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seconds average per figure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99120" y="349758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7" name="Text 25"/>
          <p:cNvSpPr/>
          <p:nvPr/>
        </p:nvSpPr>
        <p:spPr>
          <a:xfrm>
            <a:off x="8199120" y="363474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8199120" y="446913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on error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36280" y="495490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progress.json — resumes after crash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623560"/>
            <a:ext cx="11338560" cy="640080"/>
          </a:xfrm>
          <a:prstGeom prst="roundRect">
            <a:avLst>
              <a:gd name="adj" fmla="val 11429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Text 29"/>
          <p:cNvSpPr/>
          <p:nvPr/>
        </p:nvSpPr>
        <p:spPr>
          <a:xfrm>
            <a:off x="548640" y="562356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Incremental saving  ·  </a:t>
            </a:r>
            <a:r>
              <a:rPr lang="en-US" sz="1150" dirty="0">
                <a:solidFill>
                  <a:srgbClr val="FFFFFF"/>
                </a:solidFill>
              </a:rPr>
              <a:t>the pipeline writes intermediate results to disk after every PDF.  </a:t>
            </a:r>
            <a:r>
              <a:rPr lang="en-US" sz="1150" i="1" dirty="0">
                <a:solidFill>
                  <a:srgbClr val="FFFFFF"/>
                </a:solidFill>
              </a:rPr>
              <a:t>If the PC shuts down mid-run, we resume from the next PDF — no work lost.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Challenges &amp; Solutions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real problems encountered while building this — and how each was solved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15087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memory  (std::bad_alloc) on 3 000+ page PDFs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1856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50 pages/chunk  +  multiprocessing.Process.kill()  +  gc.collect() between chunks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378440" y="167335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10378440" y="16733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Shape 14"/>
          <p:cNvSpPr/>
          <p:nvPr/>
        </p:nvSpPr>
        <p:spPr>
          <a:xfrm>
            <a:off x="685800" y="25146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68580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2468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hung &gt; 900 seconds on some pages  (cover, TOC)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28163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SKIP_FIRST_N_PAGES=6  + faster pypdfium2 backend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378440" y="263347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10378440" y="2633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33756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5" name="Shape 23"/>
          <p:cNvSpPr/>
          <p:nvPr/>
        </p:nvSpPr>
        <p:spPr>
          <a:xfrm>
            <a:off x="685800" y="34747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4"/>
          <p:cNvSpPr/>
          <p:nvPr/>
        </p:nvSpPr>
        <p:spPr>
          <a:xfrm>
            <a:off x="685800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91640" y="3429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at ~100 s/figure → 33 h ETA for one PDF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1732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91640" y="37764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asyncio.wait_for(timeout=120s)  +  live progress logs  +  real-time ETA display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378440" y="359359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10378440" y="35935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vlm.py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4" name="Shape 32"/>
          <p:cNvSpPr/>
          <p:nvPr/>
        </p:nvSpPr>
        <p:spPr>
          <a:xfrm>
            <a:off x="685800" y="4434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685800" y="4434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41732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91640" y="43891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returned empty JSON on 7.6 M characters  (context window too small)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41732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691640" y="47365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8 000-char chunks  +  robust JSON parser with regex fallback  +  merge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378440" y="455371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39"/>
          <p:cNvSpPr/>
          <p:nvPr/>
        </p:nvSpPr>
        <p:spPr>
          <a:xfrm>
            <a:off x="10378440" y="45537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extract.py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25780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3" name="Shape 41"/>
          <p:cNvSpPr/>
          <p:nvPr/>
        </p:nvSpPr>
        <p:spPr>
          <a:xfrm>
            <a:off x="685800" y="539496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42"/>
          <p:cNvSpPr/>
          <p:nvPr/>
        </p:nvSpPr>
        <p:spPr>
          <a:xfrm>
            <a:off x="685800" y="5394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417320" y="5367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691640" y="5349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lost if the PC shut down mid-run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417320" y="5715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691640" y="569671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JSON save after each PDF  +  progress.json  →  automatic resume on the next PDF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378440" y="551383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48"/>
          <p:cNvSpPr/>
          <p:nvPr/>
        </p:nvSpPr>
        <p:spPr>
          <a:xfrm>
            <a:off x="10378440" y="55138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stm32_refman.py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56617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project useful for STMicroelectronics next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338560" cy="2103120"/>
          </a:xfrm>
          <a:prstGeom prst="roundRect">
            <a:avLst>
              <a:gd name="adj" fmla="val 3478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delivered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Complete, robust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1874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PDFs × ~3 000 pages processed end-to-end — no crashes, no lost work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42316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1"/>
          <p:cNvSpPr/>
          <p:nvPr/>
        </p:nvSpPr>
        <p:spPr>
          <a:xfrm>
            <a:off x="82296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extraction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peripherals, registers, bit-fields, and tables extracted as machine-readable JSON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29260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82296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Modular, reusable 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2880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 swappable Python file — same design works for other document types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1338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777240" y="3749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  ·  three concrete directions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416052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Shape 21"/>
          <p:cNvSpPr/>
          <p:nvPr/>
        </p:nvSpPr>
        <p:spPr>
          <a:xfrm>
            <a:off x="914400" y="42976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Text 22"/>
          <p:cNvSpPr/>
          <p:nvPr/>
        </p:nvSpPr>
        <p:spPr>
          <a:xfrm>
            <a:off x="91440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into ST ChatGPT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20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the extracted JSON as RAG data — the workshop pipeline delivers the format, this pipeline delivers the content.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416052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Shape 26"/>
          <p:cNvSpPr/>
          <p:nvPr/>
        </p:nvSpPr>
        <p:spPr>
          <a:xfrm>
            <a:off x="4617720" y="42976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461772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figure AI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17720" y="5120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moondream (~7 seconds/figure) vs LLaVA (~76 seconds/figure) — potential 10× speedup on the same GPU.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83880" y="416052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3" name="Shape 31"/>
          <p:cNvSpPr/>
          <p:nvPr/>
        </p:nvSpPr>
        <p:spPr>
          <a:xfrm>
            <a:off x="8321040" y="42976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EF3E1"/>
          </a:solidFill>
          <a:ln w="12700">
            <a:solidFill>
              <a:srgbClr val="FEF3E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32"/>
          <p:cNvSpPr/>
          <p:nvPr/>
        </p:nvSpPr>
        <p:spPr>
          <a:xfrm>
            <a:off x="832104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2104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benchmark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21040" y="5120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extractions against real support questions to measure whether structured RM data actually improves answer quality.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2636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workshop pipeline (GitHub data) to the doc_pipeline (Reference Manuals) — two complementary halves of the same STM32 knowledge story.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2819399" y="419894"/>
            <a:ext cx="9372601" cy="1484312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288000" bIns="45720" rtlCol="0" anchor="ctr">
            <a:normAutofit/>
          </a:bodyPr>
          <a:lstStyle/>
          <a:p>
            <a:pPr marL="26352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baseline="0" noProof="0" dirty="0">
                <a:latin typeface="+mj-lt"/>
                <a:ea typeface="+mj-ea"/>
                <a:cs typeface="+mj-cs"/>
              </a:rPr>
              <a:t>Thank you for your attention 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1266937" y="1650206"/>
            <a:ext cx="5238526" cy="47879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027C7873-4FAC-CF0A-C8B0-66962E706FE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10261" y="6330968"/>
            <a:ext cx="411004" cy="292554"/>
          </a:xfrm>
        </p:spPr>
        <p:txBody>
          <a:bodyPr/>
          <a:lstStyle/>
          <a:p>
            <a:pPr>
              <a:spcAft>
                <a:spcPts val="600"/>
              </a:spcAft>
            </a:pPr>
            <a:fld id="{40A7B169-58CE-4E65-B1F9-ACF9E46440C2}" type="slidenum">
              <a:rPr lang="en-US" noProof="0" smtClean="0"/>
              <a:pPr>
                <a:spcAft>
                  <a:spcPts val="600"/>
                </a:spcAft>
              </a:pPr>
              <a:t>60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6EADF-2407-CD99-5BB4-62446B16E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EE32CF-45A7-EEE6-3DE2-35684C5AF764}"/>
              </a:ext>
            </a:extLst>
          </p:cNvPr>
          <p:cNvSpPr txBox="1"/>
          <p:nvPr/>
        </p:nvSpPr>
        <p:spPr>
          <a:xfrm>
            <a:off x="3009354" y="2743201"/>
            <a:ext cx="61732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sz="3200"/>
              <a:t>10. Value Proposition &amp; Impact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8850583-5900-6F52-F993-60D60E98C189}"/>
              </a:ext>
            </a:extLst>
          </p:cNvPr>
          <p:cNvSpPr txBox="1"/>
          <p:nvPr/>
        </p:nvSpPr>
        <p:spPr>
          <a:xfrm>
            <a:off x="3009354" y="2681645"/>
            <a:ext cx="6273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B2A3B"/>
                </a:solidFill>
              </a:rPr>
              <a:t>Annexe</a:t>
            </a:r>
            <a:r>
              <a:rPr lang="en-US" sz="3600" b="1" dirty="0">
                <a:solidFill>
                  <a:srgbClr val="1B2A3B"/>
                </a:solidFill>
              </a:rPr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422937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7539-90F3-E479-7D9C-2CFB3904D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4">
            <a:extLst>
              <a:ext uri="{FF2B5EF4-FFF2-40B4-BE49-F238E27FC236}">
                <a16:creationId xmlns:a16="http://schemas.microsoft.com/office/drawing/2014/main" id="{8B2289A7-FC1B-79DE-318B-17A3CD7028D5}"/>
              </a:ext>
            </a:extLst>
          </p:cNvPr>
          <p:cNvSpPr/>
          <p:nvPr/>
        </p:nvSpPr>
        <p:spPr>
          <a:xfrm>
            <a:off x="6700908" y="1883100"/>
            <a:ext cx="3358593" cy="2862547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pPr algn="ctr"/>
            <a:r>
              <a:rPr lang="en-US" sz="1600" b="1" noProof="0" dirty="0">
                <a:solidFill>
                  <a:srgbClr val="FF0000"/>
                </a:solidFill>
              </a:rPr>
              <a:t>Generation</a:t>
            </a:r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BFD726D6-6F5B-6B3D-042B-6958C34D2C23}"/>
              </a:ext>
            </a:extLst>
          </p:cNvPr>
          <p:cNvSpPr/>
          <p:nvPr/>
        </p:nvSpPr>
        <p:spPr>
          <a:xfrm>
            <a:off x="2753582" y="1879911"/>
            <a:ext cx="3855885" cy="2865737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pPr algn="ctr"/>
            <a:endParaRPr lang="en-US" sz="1600" b="1" noProof="0" dirty="0">
              <a:solidFill>
                <a:srgbClr val="0D9589"/>
              </a:solidFill>
            </a:endParaRPr>
          </a:p>
          <a:p>
            <a:pPr algn="ctr"/>
            <a:r>
              <a:rPr lang="en-US" sz="1600" b="1" noProof="0" dirty="0">
                <a:solidFill>
                  <a:srgbClr val="0D9589"/>
                </a:solidFill>
              </a:rPr>
              <a:t>Retrieval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C72BD-9BA3-B1CE-9F42-09C22D9D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 The ST ChatGPT Platform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D4278D-F3EF-8F81-FD7B-07AB95DE5C50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F4BE13C4-BAF5-4C70-4738-27C165E73B3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RAG workflow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9E01A47-D337-1FBB-1B45-27FA6F8115D7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D0179269-9950-2DAF-A57A-E00EE9A3B770}"/>
              </a:ext>
            </a:extLst>
          </p:cNvPr>
          <p:cNvSpPr/>
          <p:nvPr/>
        </p:nvSpPr>
        <p:spPr>
          <a:xfrm>
            <a:off x="894966" y="195861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D85069C7-739B-E097-449D-D75119A8B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438" y="225579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113AB8CA-38E5-8ED4-8015-01C77E6F4764}"/>
              </a:ext>
            </a:extLst>
          </p:cNvPr>
          <p:cNvSpPr/>
          <p:nvPr/>
        </p:nvSpPr>
        <p:spPr>
          <a:xfrm>
            <a:off x="785238" y="321133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12DC548-1A27-E1D0-021C-ECA625789C58}"/>
              </a:ext>
            </a:extLst>
          </p:cNvPr>
          <p:cNvSpPr/>
          <p:nvPr/>
        </p:nvSpPr>
        <p:spPr>
          <a:xfrm>
            <a:off x="766950" y="348565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Asks a technical question</a:t>
            </a:r>
            <a:endParaRPr lang="en-US" sz="850" noProof="0" dirty="0"/>
          </a:p>
        </p:txBody>
      </p:sp>
      <p:sp>
        <p:nvSpPr>
          <p:cNvPr id="68" name="Shape 8">
            <a:extLst>
              <a:ext uri="{FF2B5EF4-FFF2-40B4-BE49-F238E27FC236}">
                <a16:creationId xmlns:a16="http://schemas.microsoft.com/office/drawing/2014/main" id="{08587989-A379-6714-DA65-52CCF53CA632}"/>
              </a:ext>
            </a:extLst>
          </p:cNvPr>
          <p:cNvSpPr/>
          <p:nvPr/>
        </p:nvSpPr>
        <p:spPr>
          <a:xfrm>
            <a:off x="3087181" y="1954766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661420E0-A206-28D9-1CD5-4AC0762FD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653" y="2327020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86CFA791-05A1-5D1E-BCF7-1C97EB4D3D2D}"/>
              </a:ext>
            </a:extLst>
          </p:cNvPr>
          <p:cNvSpPr/>
          <p:nvPr/>
        </p:nvSpPr>
        <p:spPr>
          <a:xfrm>
            <a:off x="2977453" y="320749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D5670362-65BB-3F2B-81CB-8EDD1BFE8895}"/>
              </a:ext>
            </a:extLst>
          </p:cNvPr>
          <p:cNvSpPr/>
          <p:nvPr/>
        </p:nvSpPr>
        <p:spPr>
          <a:xfrm>
            <a:off x="3085260" y="3466713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B2858894-B3FC-06A7-DD95-A06E72745A40}"/>
              </a:ext>
            </a:extLst>
          </p:cNvPr>
          <p:cNvSpPr/>
          <p:nvPr/>
        </p:nvSpPr>
        <p:spPr>
          <a:xfrm>
            <a:off x="5201400" y="1944895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3C9C5CC6-BFC7-BC9C-6894-90BBC0A82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728" y="2290127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C00F1869-BB68-ADF4-1E20-736F98DE1B2C}"/>
              </a:ext>
            </a:extLst>
          </p:cNvPr>
          <p:cNvSpPr/>
          <p:nvPr/>
        </p:nvSpPr>
        <p:spPr>
          <a:xfrm>
            <a:off x="5091672" y="319762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Knowledge Base</a:t>
            </a:r>
            <a:endParaRPr lang="en-US" sz="1000" noProof="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3DDB45D4-9CD1-218E-A908-BF2920D2724B}"/>
              </a:ext>
            </a:extLst>
          </p:cNvPr>
          <p:cNvSpPr/>
          <p:nvPr/>
        </p:nvSpPr>
        <p:spPr>
          <a:xfrm>
            <a:off x="4804332" y="3466713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49882998-76CB-C38A-663D-DC89BA0C5B9C}"/>
              </a:ext>
            </a:extLst>
          </p:cNvPr>
          <p:cNvSpPr/>
          <p:nvPr/>
        </p:nvSpPr>
        <p:spPr>
          <a:xfrm>
            <a:off x="7761828" y="1961566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A5CF5775-CB21-0DF1-17CC-3E240D166B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3676" y="2299707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B115D7F5-0C9D-1741-FC67-E39F8B560C51}"/>
              </a:ext>
            </a:extLst>
          </p:cNvPr>
          <p:cNvSpPr/>
          <p:nvPr/>
        </p:nvSpPr>
        <p:spPr>
          <a:xfrm>
            <a:off x="7652100" y="321429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(AI)</a:t>
            </a:r>
            <a:endParaRPr lang="en-US" sz="1000" noProof="0" dirty="0"/>
          </a:p>
        </p:txBody>
      </p:sp>
      <p:sp>
        <p:nvSpPr>
          <p:cNvPr id="83" name="Shape 17">
            <a:extLst>
              <a:ext uri="{FF2B5EF4-FFF2-40B4-BE49-F238E27FC236}">
                <a16:creationId xmlns:a16="http://schemas.microsoft.com/office/drawing/2014/main" id="{CC00B7E1-F720-810D-BE2B-1204E4AA56EE}"/>
              </a:ext>
            </a:extLst>
          </p:cNvPr>
          <p:cNvSpPr/>
          <p:nvPr/>
        </p:nvSpPr>
        <p:spPr>
          <a:xfrm>
            <a:off x="10663221" y="1979985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9D5F8787-97A7-0F3F-F94F-F71F706C51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693" y="2340511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B25B997D-2EA4-6C4F-3BD9-5B3AAE24B0F2}"/>
              </a:ext>
            </a:extLst>
          </p:cNvPr>
          <p:cNvSpPr/>
          <p:nvPr/>
        </p:nvSpPr>
        <p:spPr>
          <a:xfrm>
            <a:off x="10571781" y="324923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EEE57109-E756-D807-385F-E1936BB57D17}"/>
              </a:ext>
            </a:extLst>
          </p:cNvPr>
          <p:cNvSpPr/>
          <p:nvPr/>
        </p:nvSpPr>
        <p:spPr>
          <a:xfrm>
            <a:off x="10535205" y="3479841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Answer + sources</a:t>
            </a:r>
            <a:endParaRPr lang="en-US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AB2B0BCB-852C-5F47-1F17-CC3491D8A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7153" y="232702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EA63D720-FC23-0494-101C-C54DA89A3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39526" y="2321683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B7131365-352B-AAA1-CB59-7AFE59BE7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50942" y="2398876"/>
            <a:ext cx="417123" cy="417123"/>
          </a:xfrm>
          <a:prstGeom prst="rect">
            <a:avLst/>
          </a:prstGeom>
        </p:spPr>
      </p:pic>
      <p:pic>
        <p:nvPicPr>
          <p:cNvPr id="7" name="Graphic 6" descr="Back outline">
            <a:extLst>
              <a:ext uri="{FF2B5EF4-FFF2-40B4-BE49-F238E27FC236}">
                <a16:creationId xmlns:a16="http://schemas.microsoft.com/office/drawing/2014/main" id="{EF40AF60-B0FF-66C2-6CFC-B29E8EA84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034598" flipV="1">
            <a:off x="6193045" y="4552164"/>
            <a:ext cx="1004387" cy="1004387"/>
          </a:xfrm>
          <a:prstGeom prst="rect">
            <a:avLst/>
          </a:prstGeom>
        </p:spPr>
      </p:pic>
      <p:sp>
        <p:nvSpPr>
          <p:cNvPr id="8" name="Shape 24">
            <a:extLst>
              <a:ext uri="{FF2B5EF4-FFF2-40B4-BE49-F238E27FC236}">
                <a16:creationId xmlns:a16="http://schemas.microsoft.com/office/drawing/2014/main" id="{769EE8BD-DC14-C420-5C23-A8FD03442F96}"/>
              </a:ext>
            </a:extLst>
          </p:cNvPr>
          <p:cNvSpPr/>
          <p:nvPr/>
        </p:nvSpPr>
        <p:spPr>
          <a:xfrm>
            <a:off x="4869600" y="5340514"/>
            <a:ext cx="3755141" cy="736328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/>
            <a:r>
              <a:rPr lang="en-US" b="1" noProof="0" dirty="0">
                <a:solidFill>
                  <a:srgbClr val="FFC000"/>
                </a:solidFill>
              </a:rPr>
              <a:t>Augmented</a:t>
            </a:r>
            <a:r>
              <a:rPr lang="en-US" noProof="0" dirty="0">
                <a:solidFill>
                  <a:srgbClr val="FFC000"/>
                </a:solidFill>
              </a:rPr>
              <a:t> </a:t>
            </a:r>
            <a:endParaRPr lang="en-US" sz="1600" b="1" noProof="0" dirty="0">
              <a:solidFill>
                <a:srgbClr val="FFC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215C06-E534-6FFE-E9E3-BDDD4DB0A1C1}"/>
              </a:ext>
            </a:extLst>
          </p:cNvPr>
          <p:cNvSpPr txBox="1"/>
          <p:nvPr/>
        </p:nvSpPr>
        <p:spPr>
          <a:xfrm>
            <a:off x="2818743" y="4185632"/>
            <a:ext cx="37551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noProof="0" dirty="0">
                <a:solidFill>
                  <a:srgbClr val="000000"/>
                </a:solidFill>
              </a:rPr>
              <a:t>Search </a:t>
            </a:r>
            <a:r>
              <a:rPr lang="en-US" sz="1050" noProof="0" dirty="0">
                <a:solidFill>
                  <a:srgbClr val="000000"/>
                </a:solidFill>
              </a:rPr>
              <a:t>the knowledge base using </a:t>
            </a:r>
            <a:r>
              <a:rPr lang="en-US" sz="1050" b="1" noProof="0" dirty="0">
                <a:solidFill>
                  <a:srgbClr val="000000"/>
                </a:solidFill>
              </a:rPr>
              <a:t>embeddings </a:t>
            </a:r>
            <a:r>
              <a:rPr lang="en-US" sz="1050" noProof="0" dirty="0">
                <a:solidFill>
                  <a:srgbClr val="000000"/>
                </a:solidFill>
              </a:rPr>
              <a:t>to</a:t>
            </a:r>
            <a:r>
              <a:rPr lang="en-US" sz="1050" b="1" noProof="0" dirty="0">
                <a:solidFill>
                  <a:srgbClr val="000000"/>
                </a:solidFill>
              </a:rPr>
              <a:t> retrieve </a:t>
            </a:r>
            <a:r>
              <a:rPr lang="en-US" sz="1050" noProof="0" dirty="0">
                <a:solidFill>
                  <a:srgbClr val="000000"/>
                </a:solidFill>
              </a:rPr>
              <a:t>the</a:t>
            </a:r>
            <a:r>
              <a:rPr lang="en-US" sz="1050" b="1" noProof="0" dirty="0">
                <a:solidFill>
                  <a:srgbClr val="000000"/>
                </a:solidFill>
              </a:rPr>
              <a:t> most relevant passages (chunks)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A6677C-48C7-4E45-75D2-CEA01447AB8B}"/>
              </a:ext>
            </a:extLst>
          </p:cNvPr>
          <p:cNvSpPr txBox="1"/>
          <p:nvPr/>
        </p:nvSpPr>
        <p:spPr>
          <a:xfrm>
            <a:off x="5130998" y="5726235"/>
            <a:ext cx="3591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i="0" noProof="0" dirty="0">
                <a:solidFill>
                  <a:srgbClr val="000000"/>
                </a:solidFill>
                <a:effectLst/>
              </a:rPr>
              <a:t>Inject </a:t>
            </a:r>
            <a:r>
              <a:rPr lang="en-US" sz="1050" b="0" i="0" noProof="0" dirty="0">
                <a:solidFill>
                  <a:srgbClr val="000000"/>
                </a:solidFill>
                <a:effectLst/>
              </a:rPr>
              <a:t>those </a:t>
            </a:r>
            <a:r>
              <a:rPr lang="en-US" sz="1050" b="1" i="0" noProof="0" dirty="0">
                <a:solidFill>
                  <a:srgbClr val="000000"/>
                </a:solidFill>
                <a:effectLst/>
              </a:rPr>
              <a:t>passages</a:t>
            </a:r>
            <a:r>
              <a:rPr lang="en-US" sz="1050" b="0" i="0" noProof="0" dirty="0">
                <a:solidFill>
                  <a:srgbClr val="000000"/>
                </a:solidFill>
                <a:effectLst/>
              </a:rPr>
              <a:t> directly into the AI model's input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8BB2F7-B318-D5DD-EF02-6B8BBF9B56D5}"/>
              </a:ext>
            </a:extLst>
          </p:cNvPr>
          <p:cNvSpPr txBox="1"/>
          <p:nvPr/>
        </p:nvSpPr>
        <p:spPr>
          <a:xfrm>
            <a:off x="6747171" y="4190655"/>
            <a:ext cx="3203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0" dirty="0">
                <a:solidFill>
                  <a:srgbClr val="000000"/>
                </a:solidFill>
              </a:rPr>
              <a:t>The AI </a:t>
            </a:r>
            <a:r>
              <a:rPr lang="en-US" sz="1000" b="1" noProof="0" dirty="0">
                <a:solidFill>
                  <a:srgbClr val="000000"/>
                </a:solidFill>
              </a:rPr>
              <a:t>generates</a:t>
            </a:r>
            <a:r>
              <a:rPr lang="en-US" sz="1000" noProof="0" dirty="0">
                <a:solidFill>
                  <a:srgbClr val="000000"/>
                </a:solidFill>
              </a:rPr>
              <a:t> a precise, sourced answer from that </a:t>
            </a:r>
            <a:r>
              <a:rPr lang="en-US" sz="1000" b="1" i="0" noProof="0" dirty="0">
                <a:solidFill>
                  <a:srgbClr val="000000"/>
                </a:solidFill>
                <a:effectLst/>
              </a:rPr>
              <a:t>augmented context</a:t>
            </a:r>
            <a:endParaRPr lang="en-US" sz="1000" b="1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137B57-3577-1252-64F2-30885E36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41895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Configuration Parameters — What Each One Means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knobs of the ST retrieval platform, and how the pipeline honors them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0" y="155448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8"/>
          <p:cNvSpPr/>
          <p:nvPr/>
        </p:nvSpPr>
        <p:spPr>
          <a:xfrm>
            <a:off x="3063240" y="150876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semantic vectors (meaning) + full-text (exact terms). Ablating either branch costs 14–24 QI points — measured on the S3 / S5 configurations.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86500" y="141732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>
            <a:off x="642366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chunkStrategy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2366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PARENT_CHILD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63940" y="155448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8801100" y="150876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Small-to-big retrieval. Match on small 1 000-char child chunks, return the 3 000-char parent as LLM context. Precision + context in one strategy.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68580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childChunkSize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chars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26080" y="256032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8"/>
          <p:cNvSpPr/>
          <p:nvPr/>
        </p:nvSpPr>
        <p:spPr>
          <a:xfrm>
            <a:off x="3063240" y="251460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the vector index actually sees. Every artifact must survive this cut and still carry the discriminating terms — API names, boards, error codes go first.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86500" y="242316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" name="Text 20"/>
          <p:cNvSpPr/>
          <p:nvPr/>
        </p:nvSpPr>
        <p:spPr>
          <a:xfrm>
            <a:off x="642366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parentChunkSize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2366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3 000 chars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63940" y="256032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Text 23"/>
          <p:cNvSpPr/>
          <p:nvPr/>
        </p:nvSpPr>
        <p:spPr>
          <a:xfrm>
            <a:off x="8801100" y="251460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returned to the LLM after a match. Large enough to reconstruct the full symptom → root cause → fix reasoning around each hit.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7" name="Text 25"/>
          <p:cNvSpPr/>
          <p:nvPr/>
        </p:nvSpPr>
        <p:spPr>
          <a:xfrm>
            <a:off x="68580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AdaV2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926080" y="356616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8"/>
          <p:cNvSpPr/>
          <p:nvPr/>
        </p:nvSpPr>
        <p:spPr>
          <a:xfrm>
            <a:off x="3063240" y="352044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1 536-dimensional vectors. Fixed by the platform — no fine-tuning available. Pipeline compensates via structured cards and TF-IDF-friendly vocabulary.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86500" y="342900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642366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threshold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2366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663940" y="356616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8801100" y="352044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cosine similarity to consider a semantic hit. Lowered to 0.45 in S1 → recall+ configuration, gaining +1 QI point without noise.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43484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7" name="Text 35"/>
          <p:cNvSpPr/>
          <p:nvPr/>
        </p:nvSpPr>
        <p:spPr>
          <a:xfrm>
            <a:off x="685800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top-K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4800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docs  (S0)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926080" y="457200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Text 38"/>
          <p:cNvSpPr/>
          <p:nvPr/>
        </p:nvSpPr>
        <p:spPr>
          <a:xfrm>
            <a:off x="3063240" y="452628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semantic candidates. S1 raises to 35, gaining recall for reformulated questions users actually ask.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86500" y="443484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2" name="Text 40"/>
          <p:cNvSpPr/>
          <p:nvPr/>
        </p:nvSpPr>
        <p:spPr>
          <a:xfrm>
            <a:off x="6423660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top-K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23660" y="4800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docs  (S0)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663940" y="457200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5" name="Text 43"/>
          <p:cNvSpPr/>
          <p:nvPr/>
        </p:nvSpPr>
        <p:spPr>
          <a:xfrm>
            <a:off x="8801100" y="452628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exact-match candidates. Critical for STM32-specific terms (HAL_UART_Init, NUCLEO-H743ZI). Removing it (S5) costs −24 QI.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44068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7" name="Text 45"/>
          <p:cNvSpPr/>
          <p:nvPr/>
        </p:nvSpPr>
        <p:spPr>
          <a:xfrm>
            <a:off x="685800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jobBatchSize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" y="5806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docs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2926080" y="557784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48"/>
          <p:cNvSpPr/>
          <p:nvPr/>
        </p:nvSpPr>
        <p:spPr>
          <a:xfrm>
            <a:off x="3063240" y="553212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job size. Drives the ~57 MB per-batch limit — the reason large series (H7: 4 707 docs) require a 50-part manual split.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86500" y="544068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2" name="Text 50"/>
          <p:cNvSpPr/>
          <p:nvPr/>
        </p:nvSpPr>
        <p:spPr>
          <a:xfrm>
            <a:off x="6423660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embeddingsBatchSize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23660" y="5806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texts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8663940" y="557784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5" name="Text 53"/>
          <p:cNvSpPr/>
          <p:nvPr/>
        </p:nvSpPr>
        <p:spPr>
          <a:xfrm>
            <a:off x="8801100" y="553212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Embedding-API call size. Fixed platform parameter that the pipeline respects by design (no per-doc oversized fields).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" y="6400800"/>
            <a:ext cx="1133856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7" name="Text 55"/>
          <p:cNvSpPr/>
          <p:nvPr/>
        </p:nvSpPr>
        <p:spPr>
          <a:xfrm>
            <a:off x="548640" y="635508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above was measured, not assumed. The S0–S5 ablation study on slide 26 shows the impact of moving each knob.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STM32Cube Workshop  ·  Abir GHARBI  ·  PFE 2026  ·  STMicroelectronics Tunis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47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0F02419-9CEA-068A-A57C-39FBE605D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887F-CE9C-DBC5-8CF1-15818F31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9" y="-222791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Pipeline: Delivery</a:t>
            </a:r>
            <a:endParaRPr lang="en-US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6DB77D-2939-F4E2-9380-A0E83B7E9A9E}"/>
              </a:ext>
            </a:extLst>
          </p:cNvPr>
          <p:cNvSpPr txBox="1"/>
          <p:nvPr/>
        </p:nvSpPr>
        <p:spPr>
          <a:xfrm>
            <a:off x="291339" y="427728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Delivery , Why structure the final output?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46FB8820-2AB0-0E55-C62D-02F624BFB38A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noProof="0" dirty="0">
                <a:solidFill>
                  <a:srgbClr val="64748B"/>
                </a:solidFill>
              </a:rPr>
              <a:t>From processed data → ST-ready Knowledge Base payload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B77E502-4147-B9B3-DAB5-71F8D7C21317}"/>
              </a:ext>
            </a:extLst>
          </p:cNvPr>
          <p:cNvSpPr/>
          <p:nvPr/>
        </p:nvSpPr>
        <p:spPr>
          <a:xfrm>
            <a:off x="340201" y="109482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395FD-B686-D5E8-23BD-B9DF49C20D92}"/>
              </a:ext>
            </a:extLst>
          </p:cNvPr>
          <p:cNvSpPr txBox="1"/>
          <p:nvPr/>
        </p:nvSpPr>
        <p:spPr>
          <a:xfrm>
            <a:off x="390500" y="1355246"/>
            <a:ext cx="10554216" cy="27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1" noProof="0" dirty="0">
                <a:solidFill>
                  <a:srgbClr val="0D9589"/>
                </a:solidFill>
                <a:effectLst/>
              </a:rPr>
              <a:t>Goal: </a:t>
            </a:r>
            <a:r>
              <a:rPr lang="en-US" sz="1400" b="0" noProof="0" dirty="0">
                <a:effectLst/>
              </a:rPr>
              <a:t>convert enriched STM32Cube data into a format directly ingestible by ST ChatGPT Knowledge Base</a:t>
            </a:r>
            <a:r>
              <a:rPr lang="en-US" sz="1600" b="0" noProof="0" dirty="0">
                <a:effectLst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53AB2-3C7D-5B50-6B26-6906456DB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64</a:t>
            </a:fld>
            <a:endParaRPr lang="en-US" noProof="0" dirty="0"/>
          </a:p>
        </p:txBody>
      </p:sp>
      <p:sp>
        <p:nvSpPr>
          <p:cNvPr id="10" name="Shape 34">
            <a:extLst>
              <a:ext uri="{FF2B5EF4-FFF2-40B4-BE49-F238E27FC236}">
                <a16:creationId xmlns:a16="http://schemas.microsoft.com/office/drawing/2014/main" id="{39E9F0D5-87F2-32C8-9A2B-905C5DA6DC09}"/>
              </a:ext>
            </a:extLst>
          </p:cNvPr>
          <p:cNvSpPr/>
          <p:nvPr/>
        </p:nvSpPr>
        <p:spPr>
          <a:xfrm>
            <a:off x="491718" y="1837528"/>
            <a:ext cx="5195552" cy="191823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35">
            <a:extLst>
              <a:ext uri="{FF2B5EF4-FFF2-40B4-BE49-F238E27FC236}">
                <a16:creationId xmlns:a16="http://schemas.microsoft.com/office/drawing/2014/main" id="{5201EA72-3839-7499-81DF-6A29BFF50AF6}"/>
              </a:ext>
            </a:extLst>
          </p:cNvPr>
          <p:cNvSpPr/>
          <p:nvPr/>
        </p:nvSpPr>
        <p:spPr>
          <a:xfrm>
            <a:off x="491717" y="1837526"/>
            <a:ext cx="50327" cy="1598063"/>
          </a:xfrm>
          <a:prstGeom prst="rect">
            <a:avLst/>
          </a:prstGeom>
          <a:solidFill>
            <a:srgbClr val="425A78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36">
            <a:extLst>
              <a:ext uri="{FF2B5EF4-FFF2-40B4-BE49-F238E27FC236}">
                <a16:creationId xmlns:a16="http://schemas.microsoft.com/office/drawing/2014/main" id="{04A45F3C-674D-E82E-9021-06F1EE66A992}"/>
              </a:ext>
            </a:extLst>
          </p:cNvPr>
          <p:cNvSpPr/>
          <p:nvPr/>
        </p:nvSpPr>
        <p:spPr>
          <a:xfrm>
            <a:off x="618570" y="1855148"/>
            <a:ext cx="54528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4 ST-ready JSON payloads generated automatically:</a:t>
            </a:r>
            <a:endParaRPr lang="en-US" sz="1400" noProof="0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4E999F8-C44E-2056-3F95-2216527C8FEB}"/>
              </a:ext>
            </a:extLst>
          </p:cNvPr>
          <p:cNvSpPr txBox="1"/>
          <p:nvPr/>
        </p:nvSpPr>
        <p:spPr>
          <a:xfrm>
            <a:off x="618652" y="2299291"/>
            <a:ext cx="5195553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Issues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Files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Resolver Cases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Diagnostic Cards JSON</a:t>
            </a:r>
            <a:endParaRPr lang="en-US" sz="1400" noProof="0" dirty="0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1857809C-A8F4-A3DA-3476-CA0E51A9E863}"/>
              </a:ext>
            </a:extLst>
          </p:cNvPr>
          <p:cNvSpPr/>
          <p:nvPr/>
        </p:nvSpPr>
        <p:spPr>
          <a:xfrm>
            <a:off x="6201768" y="1837528"/>
            <a:ext cx="5449419" cy="191823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Shape 35">
            <a:extLst>
              <a:ext uri="{FF2B5EF4-FFF2-40B4-BE49-F238E27FC236}">
                <a16:creationId xmlns:a16="http://schemas.microsoft.com/office/drawing/2014/main" id="{4A12EDD4-1CC1-1480-7CCB-0A6142E23745}"/>
              </a:ext>
            </a:extLst>
          </p:cNvPr>
          <p:cNvSpPr/>
          <p:nvPr/>
        </p:nvSpPr>
        <p:spPr>
          <a:xfrm>
            <a:off x="6201768" y="1837526"/>
            <a:ext cx="50327" cy="1598063"/>
          </a:xfrm>
          <a:prstGeom prst="rect">
            <a:avLst/>
          </a:prstGeom>
          <a:solidFill>
            <a:srgbClr val="425A78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Text 36">
            <a:extLst>
              <a:ext uri="{FF2B5EF4-FFF2-40B4-BE49-F238E27FC236}">
                <a16:creationId xmlns:a16="http://schemas.microsoft.com/office/drawing/2014/main" id="{372E801D-338D-F689-4CB4-CB94D1F9C292}"/>
              </a:ext>
            </a:extLst>
          </p:cNvPr>
          <p:cNvSpPr/>
          <p:nvPr/>
        </p:nvSpPr>
        <p:spPr>
          <a:xfrm>
            <a:off x="6328621" y="1855148"/>
            <a:ext cx="54528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Why Delivery matters (RAG constraints)</a:t>
            </a:r>
            <a:endParaRPr lang="en-US" sz="1400" noProof="0" dirty="0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42356634-AB97-55AA-2A51-FC14B2A133F8}"/>
              </a:ext>
            </a:extLst>
          </p:cNvPr>
          <p:cNvSpPr txBox="1"/>
          <p:nvPr/>
        </p:nvSpPr>
        <p:spPr>
          <a:xfrm>
            <a:off x="6328620" y="2281932"/>
            <a:ext cx="5195553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Upload logs confirm Parent/Child chunking strategy.</a:t>
            </a:r>
          </a:p>
          <a:p>
            <a:pPr>
              <a:lnSpc>
                <a:spcPct val="150000"/>
              </a:lnSpc>
            </a:pPr>
            <a:endParaRPr lang="en-US" sz="1200" noProof="0" dirty="0"/>
          </a:p>
          <a:p>
            <a:pPr>
              <a:lnSpc>
                <a:spcPct val="150000"/>
              </a:lnSpc>
            </a:pPr>
            <a:r>
              <a:rPr lang="en-US" sz="1200" b="1" noProof="0" dirty="0">
                <a:sym typeface="Wingdings" panose="05000000000000000000" pitchFamily="2" charset="2"/>
              </a:rPr>
              <a:t> </a:t>
            </a:r>
            <a:r>
              <a:rPr lang="en-US" sz="1200" b="1" noProof="0" dirty="0"/>
              <a:t>Therefore, each document must be self-contained and chunk-friendly.</a:t>
            </a:r>
            <a:endParaRPr lang="en-US" sz="1200" noProof="0" dirty="0"/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1D7ECCEC-ED2D-0381-2553-313726F4A40A}"/>
              </a:ext>
            </a:extLst>
          </p:cNvPr>
          <p:cNvSpPr txBox="1"/>
          <p:nvPr/>
        </p:nvSpPr>
        <p:spPr>
          <a:xfrm>
            <a:off x="355498" y="3878406"/>
            <a:ext cx="11946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noProof="0" dirty="0"/>
              <a:t>ST-ready text template (retrieval-optimized) </a:t>
            </a:r>
            <a:r>
              <a:rPr lang="en-US" b="1" noProof="0" dirty="0"/>
              <a:t>: </a:t>
            </a:r>
            <a:r>
              <a:rPr lang="en-US" sz="1400" noProof="0" dirty="0"/>
              <a:t>All key technical signals are injected into one structured field: </a:t>
            </a:r>
            <a:r>
              <a:rPr lang="en-US" sz="1400" b="1" noProof="0" dirty="0" err="1">
                <a:solidFill>
                  <a:srgbClr val="0D9589"/>
                </a:solidFill>
              </a:rPr>
              <a:t>st_ready_text</a:t>
            </a:r>
            <a:endParaRPr lang="en-US" b="1" noProof="0" dirty="0">
              <a:solidFill>
                <a:srgbClr val="0D9589"/>
              </a:solidFill>
            </a:endParaRPr>
          </a:p>
        </p:txBody>
      </p:sp>
      <p:sp>
        <p:nvSpPr>
          <p:cNvPr id="81" name="Shape 34">
            <a:extLst>
              <a:ext uri="{FF2B5EF4-FFF2-40B4-BE49-F238E27FC236}">
                <a16:creationId xmlns:a16="http://schemas.microsoft.com/office/drawing/2014/main" id="{8E50E9F8-5A22-E672-4B27-D74F8ABAE4C9}"/>
              </a:ext>
            </a:extLst>
          </p:cNvPr>
          <p:cNvSpPr/>
          <p:nvPr/>
        </p:nvSpPr>
        <p:spPr>
          <a:xfrm>
            <a:off x="4847773" y="4410336"/>
            <a:ext cx="4821544" cy="2254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2" name="Shape 35">
            <a:extLst>
              <a:ext uri="{FF2B5EF4-FFF2-40B4-BE49-F238E27FC236}">
                <a16:creationId xmlns:a16="http://schemas.microsoft.com/office/drawing/2014/main" id="{02B64F94-165A-6249-BE3C-9D0E48D80A12}"/>
              </a:ext>
            </a:extLst>
          </p:cNvPr>
          <p:cNvSpPr/>
          <p:nvPr/>
        </p:nvSpPr>
        <p:spPr>
          <a:xfrm>
            <a:off x="4820341" y="4415991"/>
            <a:ext cx="54864" cy="1737360"/>
          </a:xfrm>
          <a:prstGeom prst="rect">
            <a:avLst/>
          </a:prstGeom>
          <a:solidFill>
            <a:srgbClr val="425A78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3" name="Text 36">
            <a:extLst>
              <a:ext uri="{FF2B5EF4-FFF2-40B4-BE49-F238E27FC236}">
                <a16:creationId xmlns:a16="http://schemas.microsoft.com/office/drawing/2014/main" id="{EA96C93F-957F-1D41-42FD-7672CA3B2130}"/>
              </a:ext>
            </a:extLst>
          </p:cNvPr>
          <p:cNvSpPr/>
          <p:nvPr/>
        </p:nvSpPr>
        <p:spPr>
          <a:xfrm>
            <a:off x="4875205" y="4419919"/>
            <a:ext cx="54528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Structure: </a:t>
            </a:r>
            <a:r>
              <a:rPr lang="en-US" sz="1100" b="1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st_ready_text</a:t>
            </a:r>
            <a:r>
              <a:rPr lang="en-US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(issues) — fields exposed to the </a:t>
            </a:r>
            <a:r>
              <a:rPr lang="en-US" sz="1100" b="1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moteur</a:t>
            </a:r>
            <a:r>
              <a:rPr lang="en-US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RAG</a:t>
            </a:r>
            <a:endParaRPr lang="en-US" sz="1100" noProof="0" dirty="0"/>
          </a:p>
        </p:txBody>
      </p:sp>
      <p:sp>
        <p:nvSpPr>
          <p:cNvPr id="84" name="Shape 37">
            <a:extLst>
              <a:ext uri="{FF2B5EF4-FFF2-40B4-BE49-F238E27FC236}">
                <a16:creationId xmlns:a16="http://schemas.microsoft.com/office/drawing/2014/main" id="{02E0932F-974F-8412-9219-53E5ED1993F7}"/>
              </a:ext>
            </a:extLst>
          </p:cNvPr>
          <p:cNvSpPr/>
          <p:nvPr/>
        </p:nvSpPr>
        <p:spPr>
          <a:xfrm>
            <a:off x="5342905" y="48160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5" name="Text 38">
            <a:extLst>
              <a:ext uri="{FF2B5EF4-FFF2-40B4-BE49-F238E27FC236}">
                <a16:creationId xmlns:a16="http://schemas.microsoft.com/office/drawing/2014/main" id="{278BD09E-602E-013F-8576-AE59DB17A491}"/>
              </a:ext>
            </a:extLst>
          </p:cNvPr>
          <p:cNvSpPr/>
          <p:nvPr/>
        </p:nvSpPr>
        <p:spPr>
          <a:xfrm>
            <a:off x="5388625" y="48160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Problem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86" name="Shape 39">
            <a:extLst>
              <a:ext uri="{FF2B5EF4-FFF2-40B4-BE49-F238E27FC236}">
                <a16:creationId xmlns:a16="http://schemas.microsoft.com/office/drawing/2014/main" id="{4CEE1425-9E1F-A63B-0B68-8A4D99EB0684}"/>
              </a:ext>
            </a:extLst>
          </p:cNvPr>
          <p:cNvSpPr/>
          <p:nvPr/>
        </p:nvSpPr>
        <p:spPr>
          <a:xfrm>
            <a:off x="7491745" y="48160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7" name="Text 40">
            <a:extLst>
              <a:ext uri="{FF2B5EF4-FFF2-40B4-BE49-F238E27FC236}">
                <a16:creationId xmlns:a16="http://schemas.microsoft.com/office/drawing/2014/main" id="{3D929638-89FA-8FF2-C243-4E35843956B0}"/>
              </a:ext>
            </a:extLst>
          </p:cNvPr>
          <p:cNvSpPr/>
          <p:nvPr/>
        </p:nvSpPr>
        <p:spPr>
          <a:xfrm>
            <a:off x="7537465" y="48160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Context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88" name="Shape 41">
            <a:extLst>
              <a:ext uri="{FF2B5EF4-FFF2-40B4-BE49-F238E27FC236}">
                <a16:creationId xmlns:a16="http://schemas.microsoft.com/office/drawing/2014/main" id="{F1519E47-AA7D-5179-7066-40A378362AFB}"/>
              </a:ext>
            </a:extLst>
          </p:cNvPr>
          <p:cNvSpPr/>
          <p:nvPr/>
        </p:nvSpPr>
        <p:spPr>
          <a:xfrm>
            <a:off x="5342905" y="57304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9" name="Text 42">
            <a:extLst>
              <a:ext uri="{FF2B5EF4-FFF2-40B4-BE49-F238E27FC236}">
                <a16:creationId xmlns:a16="http://schemas.microsoft.com/office/drawing/2014/main" id="{4F58ADA4-89E6-CCF9-DF08-E009B6A62CC4}"/>
              </a:ext>
            </a:extLst>
          </p:cNvPr>
          <p:cNvSpPr/>
          <p:nvPr/>
        </p:nvSpPr>
        <p:spPr>
          <a:xfrm>
            <a:off x="5388625" y="57304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Root cause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0" name="Shape 43">
            <a:extLst>
              <a:ext uri="{FF2B5EF4-FFF2-40B4-BE49-F238E27FC236}">
                <a16:creationId xmlns:a16="http://schemas.microsoft.com/office/drawing/2014/main" id="{F1A4FFFF-9562-2DD6-7365-49CA297BB4F6}"/>
              </a:ext>
            </a:extLst>
          </p:cNvPr>
          <p:cNvSpPr/>
          <p:nvPr/>
        </p:nvSpPr>
        <p:spPr>
          <a:xfrm>
            <a:off x="7491745" y="57304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C05EE432-5451-236F-344C-349897350EAF}"/>
              </a:ext>
            </a:extLst>
          </p:cNvPr>
          <p:cNvSpPr/>
          <p:nvPr/>
        </p:nvSpPr>
        <p:spPr>
          <a:xfrm>
            <a:off x="7537465" y="57304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Fix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2" name="Shape 45">
            <a:extLst>
              <a:ext uri="{FF2B5EF4-FFF2-40B4-BE49-F238E27FC236}">
                <a16:creationId xmlns:a16="http://schemas.microsoft.com/office/drawing/2014/main" id="{0DF27CA6-5555-DAA5-C5B7-C83E7948B64C}"/>
              </a:ext>
            </a:extLst>
          </p:cNvPr>
          <p:cNvSpPr/>
          <p:nvPr/>
        </p:nvSpPr>
        <p:spPr>
          <a:xfrm>
            <a:off x="5342905" y="52732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3" name="Text 46">
            <a:extLst>
              <a:ext uri="{FF2B5EF4-FFF2-40B4-BE49-F238E27FC236}">
                <a16:creationId xmlns:a16="http://schemas.microsoft.com/office/drawing/2014/main" id="{8AC73B14-C4B4-457A-A1E5-765C7BE1F380}"/>
              </a:ext>
            </a:extLst>
          </p:cNvPr>
          <p:cNvSpPr/>
          <p:nvPr/>
        </p:nvSpPr>
        <p:spPr>
          <a:xfrm>
            <a:off x="5388625" y="52732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Constraints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4" name="Shape 47">
            <a:extLst>
              <a:ext uri="{FF2B5EF4-FFF2-40B4-BE49-F238E27FC236}">
                <a16:creationId xmlns:a16="http://schemas.microsoft.com/office/drawing/2014/main" id="{CC4A1B44-A15A-E190-2C2B-84881DAB5511}"/>
              </a:ext>
            </a:extLst>
          </p:cNvPr>
          <p:cNvSpPr/>
          <p:nvPr/>
        </p:nvSpPr>
        <p:spPr>
          <a:xfrm>
            <a:off x="7491745" y="52732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5" name="Text 48">
            <a:extLst>
              <a:ext uri="{FF2B5EF4-FFF2-40B4-BE49-F238E27FC236}">
                <a16:creationId xmlns:a16="http://schemas.microsoft.com/office/drawing/2014/main" id="{85B2EEF4-B413-42E1-471F-DAB9D5D6A07E}"/>
              </a:ext>
            </a:extLst>
          </p:cNvPr>
          <p:cNvSpPr/>
          <p:nvPr/>
        </p:nvSpPr>
        <p:spPr>
          <a:xfrm>
            <a:off x="7537465" y="52732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Keywords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6" name="Shape 49">
            <a:extLst>
              <a:ext uri="{FF2B5EF4-FFF2-40B4-BE49-F238E27FC236}">
                <a16:creationId xmlns:a16="http://schemas.microsoft.com/office/drawing/2014/main" id="{49CC19CF-4A53-C7E7-AFE5-6416066AA81A}"/>
              </a:ext>
            </a:extLst>
          </p:cNvPr>
          <p:cNvSpPr/>
          <p:nvPr/>
        </p:nvSpPr>
        <p:spPr>
          <a:xfrm>
            <a:off x="5342905" y="61876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Text 50">
            <a:extLst>
              <a:ext uri="{FF2B5EF4-FFF2-40B4-BE49-F238E27FC236}">
                <a16:creationId xmlns:a16="http://schemas.microsoft.com/office/drawing/2014/main" id="{7EE755CE-3160-EAFE-093B-1E5A59C92BAF}"/>
              </a:ext>
            </a:extLst>
          </p:cNvPr>
          <p:cNvSpPr/>
          <p:nvPr/>
        </p:nvSpPr>
        <p:spPr>
          <a:xfrm>
            <a:off x="5388625" y="61876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Technical details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8" name="Shape 51">
            <a:extLst>
              <a:ext uri="{FF2B5EF4-FFF2-40B4-BE49-F238E27FC236}">
                <a16:creationId xmlns:a16="http://schemas.microsoft.com/office/drawing/2014/main" id="{D0A48036-D7AA-A827-09FB-2F81AF4E6BC4}"/>
              </a:ext>
            </a:extLst>
          </p:cNvPr>
          <p:cNvSpPr/>
          <p:nvPr/>
        </p:nvSpPr>
        <p:spPr>
          <a:xfrm>
            <a:off x="7491745" y="61876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9" name="Text 52">
            <a:extLst>
              <a:ext uri="{FF2B5EF4-FFF2-40B4-BE49-F238E27FC236}">
                <a16:creationId xmlns:a16="http://schemas.microsoft.com/office/drawing/2014/main" id="{0EDD20B8-103E-BB36-4F00-87D0F668F067}"/>
              </a:ext>
            </a:extLst>
          </p:cNvPr>
          <p:cNvSpPr/>
          <p:nvPr/>
        </p:nvSpPr>
        <p:spPr>
          <a:xfrm>
            <a:off x="7537465" y="61876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Key comments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pic>
        <p:nvPicPr>
          <p:cNvPr id="100" name="Picture 32">
            <a:extLst>
              <a:ext uri="{FF2B5EF4-FFF2-40B4-BE49-F238E27FC236}">
                <a16:creationId xmlns:a16="http://schemas.microsoft.com/office/drawing/2014/main" id="{CED24328-878C-C802-EC5E-B80BF75F25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2"/>
          <a:stretch>
            <a:fillRect/>
          </a:stretch>
        </p:blipFill>
        <p:spPr>
          <a:xfrm>
            <a:off x="1589892" y="4826825"/>
            <a:ext cx="2633873" cy="120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668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647B2-AF90-00C7-807C-C2FB2AEF5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B10D1-B4C6-07F5-6562-0A5A7DD5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Enrichment (Feature Engineering)    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606BE04-858A-AE67-E574-D5C7C3BB0FE1}"/>
              </a:ext>
            </a:extLst>
          </p:cNvPr>
          <p:cNvSpPr txBox="1"/>
          <p:nvPr/>
        </p:nvSpPr>
        <p:spPr>
          <a:xfrm>
            <a:off x="315540" y="730113"/>
            <a:ext cx="61737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100" i="1" noProof="0" dirty="0">
                <a:solidFill>
                  <a:srgbClr val="425A78"/>
                </a:solidFill>
              </a:rPr>
              <a:t>Enriched fields 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660B512-0C7A-9F01-6146-C33BDD281112}"/>
              </a:ext>
            </a:extLst>
          </p:cNvPr>
          <p:cNvSpPr/>
          <p:nvPr/>
        </p:nvSpPr>
        <p:spPr>
          <a:xfrm>
            <a:off x="340364" y="104658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2EFF3-4A8A-9532-AD02-B4EA2B77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65</a:t>
            </a:fld>
            <a:endParaRPr lang="en-US" noProof="0" dirty="0"/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4DF90A24-6B3B-50A9-F991-206EC4CB115E}"/>
              </a:ext>
            </a:extLst>
          </p:cNvPr>
          <p:cNvSpPr/>
          <p:nvPr/>
        </p:nvSpPr>
        <p:spPr>
          <a:xfrm>
            <a:off x="344882" y="1995741"/>
            <a:ext cx="3620881" cy="347472"/>
          </a:xfrm>
          <a:prstGeom prst="rect">
            <a:avLst/>
          </a:prstGeom>
          <a:solidFill>
            <a:srgbClr val="F8FAFC"/>
          </a:solidFill>
          <a:ln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8C1BC759-8CDA-C71F-B9ED-EB2B846E9B8F}"/>
              </a:ext>
            </a:extLst>
          </p:cNvPr>
          <p:cNvSpPr/>
          <p:nvPr/>
        </p:nvSpPr>
        <p:spPr>
          <a:xfrm>
            <a:off x="29342" y="1995741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noProof="0" dirty="0">
                <a:ea typeface="Calibri" pitchFamily="34" charset="-122"/>
                <a:cs typeface="Calibri" pitchFamily="34" charset="-120"/>
              </a:rPr>
              <a:t>Layer</a:t>
            </a:r>
            <a:endParaRPr lang="en-US" sz="1050" noProof="0" dirty="0"/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20BEF12D-8E22-8A8E-3D5A-582CB6FB2369}"/>
              </a:ext>
            </a:extLst>
          </p:cNvPr>
          <p:cNvSpPr/>
          <p:nvPr/>
        </p:nvSpPr>
        <p:spPr>
          <a:xfrm>
            <a:off x="344882" y="2288349"/>
            <a:ext cx="3620881" cy="45719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C804A2A6-D0AD-8E11-8112-1878A2AEE3F5}"/>
              </a:ext>
            </a:extLst>
          </p:cNvPr>
          <p:cNvSpPr/>
          <p:nvPr/>
        </p:nvSpPr>
        <p:spPr>
          <a:xfrm>
            <a:off x="610058" y="1931733"/>
            <a:ext cx="4032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noProof="0" dirty="0"/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E0048327-9375-3283-2931-A9B22A27C169}"/>
              </a:ext>
            </a:extLst>
          </p:cNvPr>
          <p:cNvSpPr/>
          <p:nvPr/>
        </p:nvSpPr>
        <p:spPr>
          <a:xfrm>
            <a:off x="344882" y="2343213"/>
            <a:ext cx="3620881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FE0E7E26-0FAD-7238-F279-E9F63606D50A}"/>
              </a:ext>
            </a:extLst>
          </p:cNvPr>
          <p:cNvSpPr/>
          <p:nvPr/>
        </p:nvSpPr>
        <p:spPr>
          <a:xfrm>
            <a:off x="436322" y="2379789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noProof="0" dirty="0"/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73BEEAA4-D162-8121-3E51-2CBC1A09E265}"/>
              </a:ext>
            </a:extLst>
          </p:cNvPr>
          <p:cNvSpPr/>
          <p:nvPr/>
        </p:nvSpPr>
        <p:spPr>
          <a:xfrm>
            <a:off x="482042" y="2451373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Detect API anchors: HAL_, LL_, MX_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Middleware keywords: </a:t>
            </a:r>
            <a:r>
              <a:rPr lang="en-US" sz="11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FreeRTOS</a:t>
            </a: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LwIP</a:t>
            </a: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FatFs</a:t>
            </a: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…</a:t>
            </a:r>
            <a:endParaRPr lang="en-US" sz="1100" noProof="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F3565B9D-F3B0-E5F8-4AD1-8E43EA70A93B}"/>
              </a:ext>
            </a:extLst>
          </p:cNvPr>
          <p:cNvSpPr/>
          <p:nvPr/>
        </p:nvSpPr>
        <p:spPr>
          <a:xfrm>
            <a:off x="4288234" y="1995741"/>
            <a:ext cx="3748897" cy="347472"/>
          </a:xfrm>
          <a:prstGeom prst="rect">
            <a:avLst/>
          </a:prstGeom>
          <a:solidFill>
            <a:srgbClr val="F8FAFC"/>
          </a:solidFill>
          <a:ln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B28A4EB4-9298-9101-FD5C-241BB67D93C6}"/>
              </a:ext>
            </a:extLst>
          </p:cNvPr>
          <p:cNvSpPr/>
          <p:nvPr/>
        </p:nvSpPr>
        <p:spPr>
          <a:xfrm>
            <a:off x="3972694" y="1995741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noProof="0" dirty="0">
                <a:ea typeface="Calibri" pitchFamily="34" charset="-122"/>
                <a:cs typeface="Calibri" pitchFamily="34" charset="-120"/>
              </a:rPr>
              <a:t>Severity</a:t>
            </a:r>
            <a:endParaRPr lang="en-US" sz="1050" noProof="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25040F6A-FB0B-4CF7-134A-A185731C9446}"/>
              </a:ext>
            </a:extLst>
          </p:cNvPr>
          <p:cNvSpPr/>
          <p:nvPr/>
        </p:nvSpPr>
        <p:spPr>
          <a:xfrm>
            <a:off x="4288234" y="2288349"/>
            <a:ext cx="3748897" cy="45719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7A952EAB-E031-7A1F-C09D-145B03FF67B5}"/>
              </a:ext>
            </a:extLst>
          </p:cNvPr>
          <p:cNvSpPr/>
          <p:nvPr/>
        </p:nvSpPr>
        <p:spPr>
          <a:xfrm>
            <a:off x="4553410" y="1931733"/>
            <a:ext cx="4032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noProof="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21F92C96-5952-C7B9-9C2A-C74D018F04D7}"/>
              </a:ext>
            </a:extLst>
          </p:cNvPr>
          <p:cNvSpPr/>
          <p:nvPr/>
        </p:nvSpPr>
        <p:spPr>
          <a:xfrm>
            <a:off x="4288234" y="2343213"/>
            <a:ext cx="3748897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94C72F74-D082-A3F8-F9FD-8BC6A32D4B5D}"/>
              </a:ext>
            </a:extLst>
          </p:cNvPr>
          <p:cNvSpPr/>
          <p:nvPr/>
        </p:nvSpPr>
        <p:spPr>
          <a:xfrm>
            <a:off x="4379674" y="2379789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noProof="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DA49EB48-8384-D076-88AA-8E3B44D9525D}"/>
              </a:ext>
            </a:extLst>
          </p:cNvPr>
          <p:cNvSpPr/>
          <p:nvPr/>
        </p:nvSpPr>
        <p:spPr>
          <a:xfrm>
            <a:off x="4368071" y="244222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High if crash keywords (</a:t>
            </a:r>
            <a:r>
              <a:rPr lang="en-US" sz="11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HardFault</a:t>
            </a: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, freeze, deadlock…)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Low if doc keywords (typo, documentation…)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Else medium</a:t>
            </a:r>
            <a:endParaRPr lang="en-US" sz="1100" noProof="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2CA967AB-4C17-CEBD-C4CC-5C0490AAB183}"/>
              </a:ext>
            </a:extLst>
          </p:cNvPr>
          <p:cNvSpPr/>
          <p:nvPr/>
        </p:nvSpPr>
        <p:spPr>
          <a:xfrm>
            <a:off x="8174291" y="1995741"/>
            <a:ext cx="3620881" cy="347472"/>
          </a:xfrm>
          <a:prstGeom prst="rect">
            <a:avLst/>
          </a:prstGeom>
          <a:solidFill>
            <a:srgbClr val="F8FAFC"/>
          </a:solidFill>
          <a:ln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4DAC514C-2A03-0CF6-09F1-ED9F4AAA9DC1}"/>
              </a:ext>
            </a:extLst>
          </p:cNvPr>
          <p:cNvSpPr/>
          <p:nvPr/>
        </p:nvSpPr>
        <p:spPr>
          <a:xfrm>
            <a:off x="7858751" y="2002361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noProof="0" dirty="0">
                <a:ea typeface="Calibri" pitchFamily="34" charset="-122"/>
                <a:cs typeface="Calibri" pitchFamily="34" charset="-120"/>
              </a:rPr>
              <a:t>Component</a:t>
            </a:r>
            <a:endParaRPr lang="en-US" sz="1050" noProof="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6E2CC998-E405-833E-DB0C-DC534DEA09F5}"/>
              </a:ext>
            </a:extLst>
          </p:cNvPr>
          <p:cNvSpPr/>
          <p:nvPr/>
        </p:nvSpPr>
        <p:spPr>
          <a:xfrm>
            <a:off x="8174291" y="2288349"/>
            <a:ext cx="3620881" cy="45719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33178357-8901-2DB6-6214-F0FEFFECD6BA}"/>
              </a:ext>
            </a:extLst>
          </p:cNvPr>
          <p:cNvSpPr/>
          <p:nvPr/>
        </p:nvSpPr>
        <p:spPr>
          <a:xfrm>
            <a:off x="8573205" y="1823573"/>
            <a:ext cx="4032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noProof="0" dirty="0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0077B9A8-76D7-8199-E6EE-3AD25E8F01DD}"/>
              </a:ext>
            </a:extLst>
          </p:cNvPr>
          <p:cNvSpPr/>
          <p:nvPr/>
        </p:nvSpPr>
        <p:spPr>
          <a:xfrm>
            <a:off x="8174291" y="2343213"/>
            <a:ext cx="3620881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2E1F2575-1EA6-0CDD-E385-490548F0A497}"/>
              </a:ext>
            </a:extLst>
          </p:cNvPr>
          <p:cNvSpPr/>
          <p:nvPr/>
        </p:nvSpPr>
        <p:spPr>
          <a:xfrm>
            <a:off x="8399469" y="2271629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noProof="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280C1AFD-1FC2-C801-75DA-B4E897F7E134}"/>
              </a:ext>
            </a:extLst>
          </p:cNvPr>
          <p:cNvSpPr/>
          <p:nvPr/>
        </p:nvSpPr>
        <p:spPr>
          <a:xfrm>
            <a:off x="8310317" y="246133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From labels (</a:t>
            </a:r>
            <a:r>
              <a:rPr lang="en-US" sz="11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usb</a:t>
            </a: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dma</a:t>
            </a: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usart</a:t>
            </a: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…)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Fallback from API patterns (HAL_UART_, USBD_)</a:t>
            </a:r>
            <a:endParaRPr lang="en-US" sz="1100" noProof="0" dirty="0"/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AAE5E1EC-FA6F-8250-0436-13639AE3AB01}"/>
              </a:ext>
            </a:extLst>
          </p:cNvPr>
          <p:cNvSpPr/>
          <p:nvPr/>
        </p:nvSpPr>
        <p:spPr>
          <a:xfrm>
            <a:off x="2152648" y="3737548"/>
            <a:ext cx="3620881" cy="347472"/>
          </a:xfrm>
          <a:prstGeom prst="rect">
            <a:avLst/>
          </a:prstGeom>
          <a:solidFill>
            <a:srgbClr val="F8FAFC"/>
          </a:solidFill>
          <a:ln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360A270F-0AB2-D7FD-8CAE-AADEE200DFEC}"/>
              </a:ext>
            </a:extLst>
          </p:cNvPr>
          <p:cNvSpPr/>
          <p:nvPr/>
        </p:nvSpPr>
        <p:spPr>
          <a:xfrm>
            <a:off x="1837108" y="373754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ea typeface="Calibri" pitchFamily="34" charset="-122"/>
                <a:cs typeface="Calibri" pitchFamily="34" charset="-120"/>
              </a:rPr>
              <a:t>Issue_kind</a:t>
            </a:r>
            <a:endParaRPr lang="en-US" sz="1050" noProof="0" dirty="0"/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CFC04B46-570A-6D60-8C5E-888080CB5717}"/>
              </a:ext>
            </a:extLst>
          </p:cNvPr>
          <p:cNvSpPr/>
          <p:nvPr/>
        </p:nvSpPr>
        <p:spPr>
          <a:xfrm>
            <a:off x="2152648" y="4030156"/>
            <a:ext cx="3620881" cy="45719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31C72B35-7477-947D-9CBC-50B3A2549759}"/>
              </a:ext>
            </a:extLst>
          </p:cNvPr>
          <p:cNvSpPr/>
          <p:nvPr/>
        </p:nvSpPr>
        <p:spPr>
          <a:xfrm>
            <a:off x="2417824" y="3673540"/>
            <a:ext cx="4032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noProof="0" dirty="0"/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76EDF2DB-9ADD-A026-9E7D-7B35B22AE915}"/>
              </a:ext>
            </a:extLst>
          </p:cNvPr>
          <p:cNvSpPr/>
          <p:nvPr/>
        </p:nvSpPr>
        <p:spPr>
          <a:xfrm>
            <a:off x="2152648" y="4085020"/>
            <a:ext cx="3620881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FD784468-0FC5-47E9-8451-BFF246480709}"/>
              </a:ext>
            </a:extLst>
          </p:cNvPr>
          <p:cNvSpPr/>
          <p:nvPr/>
        </p:nvSpPr>
        <p:spPr>
          <a:xfrm>
            <a:off x="2244088" y="41215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noProof="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3ED30F21-6108-58B9-A0DE-C7A2C9F267C9}"/>
              </a:ext>
            </a:extLst>
          </p:cNvPr>
          <p:cNvSpPr/>
          <p:nvPr/>
        </p:nvSpPr>
        <p:spPr>
          <a:xfrm>
            <a:off x="2289808" y="41931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Bug if labels contain bug / internal bug tracker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Doc issue if typo/documentation patterns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Config issue if </a:t>
            </a:r>
            <a:r>
              <a:rPr lang="en-US" sz="11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CubeMX</a:t>
            </a: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 configuration patterns</a:t>
            </a:r>
            <a:endParaRPr lang="en-US" sz="1100" noProof="0" dirty="0"/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94CAF223-F61D-A281-80A0-4611115C9B73}"/>
              </a:ext>
            </a:extLst>
          </p:cNvPr>
          <p:cNvSpPr/>
          <p:nvPr/>
        </p:nvSpPr>
        <p:spPr>
          <a:xfrm>
            <a:off x="6096000" y="3737548"/>
            <a:ext cx="3748897" cy="347472"/>
          </a:xfrm>
          <a:prstGeom prst="rect">
            <a:avLst/>
          </a:prstGeom>
          <a:solidFill>
            <a:srgbClr val="F8FAFC"/>
          </a:solidFill>
          <a:ln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E7FB6F70-C325-9699-04A7-F3BFDD8C26D5}"/>
              </a:ext>
            </a:extLst>
          </p:cNvPr>
          <p:cNvSpPr/>
          <p:nvPr/>
        </p:nvSpPr>
        <p:spPr>
          <a:xfrm>
            <a:off x="5780460" y="373754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noProof="0" dirty="0">
                <a:ea typeface="Calibri" pitchFamily="34" charset="-122"/>
                <a:cs typeface="Calibri" pitchFamily="34" charset="-120"/>
              </a:rPr>
              <a:t>Board</a:t>
            </a:r>
            <a:endParaRPr lang="en-US" sz="1050" noProof="0" dirty="0"/>
          </a:p>
        </p:txBody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90CC5835-CC4A-AA5C-11FA-1D1E8BC576C2}"/>
              </a:ext>
            </a:extLst>
          </p:cNvPr>
          <p:cNvSpPr/>
          <p:nvPr/>
        </p:nvSpPr>
        <p:spPr>
          <a:xfrm>
            <a:off x="6096000" y="4030156"/>
            <a:ext cx="3748897" cy="45719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AB8FB797-E728-3ED9-C8E3-4E96CD2F24CE}"/>
              </a:ext>
            </a:extLst>
          </p:cNvPr>
          <p:cNvSpPr/>
          <p:nvPr/>
        </p:nvSpPr>
        <p:spPr>
          <a:xfrm>
            <a:off x="6361176" y="3673540"/>
            <a:ext cx="4032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noProof="0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4FDAF583-1DC7-D7D6-0981-A2BBC1955B3B}"/>
              </a:ext>
            </a:extLst>
          </p:cNvPr>
          <p:cNvSpPr/>
          <p:nvPr/>
        </p:nvSpPr>
        <p:spPr>
          <a:xfrm>
            <a:off x="6096000" y="4085020"/>
            <a:ext cx="3748897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4" name="Text 13">
            <a:extLst>
              <a:ext uri="{FF2B5EF4-FFF2-40B4-BE49-F238E27FC236}">
                <a16:creationId xmlns:a16="http://schemas.microsoft.com/office/drawing/2014/main" id="{BCE39B4F-BBC2-0DDD-09E4-B608B15A0847}"/>
              </a:ext>
            </a:extLst>
          </p:cNvPr>
          <p:cNvSpPr/>
          <p:nvPr/>
        </p:nvSpPr>
        <p:spPr>
          <a:xfrm>
            <a:off x="6187440" y="41215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noProof="0" dirty="0"/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38ACE557-748F-1E8F-E359-3A453109A02D}"/>
              </a:ext>
            </a:extLst>
          </p:cNvPr>
          <p:cNvSpPr/>
          <p:nvPr/>
        </p:nvSpPr>
        <p:spPr>
          <a:xfrm>
            <a:off x="6175837" y="4184035"/>
            <a:ext cx="362088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Regex extraction (STM32H723VGTx, NUCLEO, DISCO…)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Fallback: STM32H7XX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2431212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7CC5E-EA32-24EF-72E3-4A13DA0D9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CB0A3-CE97-55C6-B2DC-A42EF4E74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801217"/>
          </a:xfrm>
        </p:spPr>
        <p:txBody>
          <a:bodyPr/>
          <a:lstStyle/>
          <a:p>
            <a:r>
              <a:rPr lang="en-US" sz="1800" b="1" noProof="0" dirty="0"/>
              <a:t>Pipeline: Similarity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6E5FEE-22B2-8A79-E5A2-07059BEDDD04}"/>
              </a:ext>
            </a:extLst>
          </p:cNvPr>
          <p:cNvSpPr txBox="1"/>
          <p:nvPr/>
        </p:nvSpPr>
        <p:spPr>
          <a:xfrm>
            <a:off x="340364" y="534230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TF-IDF ? Cosine Similarity  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32A77354-5DBE-45D9-C154-4F68FC12CEAB}"/>
              </a:ext>
            </a:extLst>
          </p:cNvPr>
          <p:cNvSpPr/>
          <p:nvPr/>
        </p:nvSpPr>
        <p:spPr>
          <a:xfrm>
            <a:off x="379477" y="8504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87A14B2D-22F9-B6E2-6FBF-EE19C431F497}"/>
              </a:ext>
            </a:extLst>
          </p:cNvPr>
          <p:cNvSpPr/>
          <p:nvPr/>
        </p:nvSpPr>
        <p:spPr>
          <a:xfrm>
            <a:off x="6997821" y="2272023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47488462-CBF2-4872-19BE-4E6EE69F32F1}"/>
              </a:ext>
            </a:extLst>
          </p:cNvPr>
          <p:cNvSpPr/>
          <p:nvPr/>
        </p:nvSpPr>
        <p:spPr>
          <a:xfrm>
            <a:off x="7155662" y="13822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F05AB-0B6E-96BD-C164-EE2E5798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66</a:t>
            </a:fld>
            <a:endParaRPr lang="en-US" noProof="0" dirty="0"/>
          </a:p>
        </p:txBody>
      </p:sp>
      <p:sp>
        <p:nvSpPr>
          <p:cNvPr id="19" name="G1">
            <a:extLst>
              <a:ext uri="{FF2B5EF4-FFF2-40B4-BE49-F238E27FC236}">
                <a16:creationId xmlns:a16="http://schemas.microsoft.com/office/drawing/2014/main" id="{AD3D9BD3-064D-05A9-89AC-2C9724876EF4}"/>
              </a:ext>
            </a:extLst>
          </p:cNvPr>
          <p:cNvSpPr/>
          <p:nvPr/>
        </p:nvSpPr>
        <p:spPr>
          <a:xfrm>
            <a:off x="140491" y="1335447"/>
            <a:ext cx="6373652" cy="4460346"/>
          </a:xfrm>
          <a:prstGeom prst="roundRect">
            <a:avLst>
              <a:gd name="adj" fmla="val 10000"/>
            </a:avLst>
          </a:prstGeom>
          <a:solidFill>
            <a:srgbClr val="E8F7FE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TF-IDF (Text → Vector)</a:t>
            </a:r>
          </a:p>
          <a:p>
            <a:pPr algn="l">
              <a:buNone/>
            </a:pPr>
            <a:endParaRPr lang="en-US" sz="1100" b="1" noProof="0" dirty="0"/>
          </a:p>
          <a:p>
            <a:pPr algn="l"/>
            <a:r>
              <a:rPr lang="en-US" sz="1300" b="0" noProof="0" dirty="0"/>
              <a:t>TF-IDF converts each issue text into a vector of important keywords.</a:t>
            </a:r>
          </a:p>
          <a:p>
            <a:pPr algn="l"/>
            <a:endParaRPr lang="en-US" sz="1300" b="0" noProof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300" b="0" noProof="0" dirty="0"/>
              <a:t>Words that appear often in one issue → </a:t>
            </a:r>
            <a:r>
              <a:rPr lang="en-US" sz="1300" b="1" noProof="0" dirty="0"/>
              <a:t>higher weight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300" b="0" noProof="0" dirty="0"/>
              <a:t> Words that are common in all issues (STM32, driver, error) → </a:t>
            </a:r>
            <a:r>
              <a:rPr lang="en-US" sz="1300" b="1" noProof="0" dirty="0"/>
              <a:t>lower weight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300" b="0" noProof="0" dirty="0"/>
              <a:t>Technical terms (HAL_CRYP, DMA, </a:t>
            </a:r>
            <a:r>
              <a:rPr lang="en-US" sz="1300" b="0" noProof="0" dirty="0" err="1"/>
              <a:t>HardFault</a:t>
            </a:r>
            <a:r>
              <a:rPr lang="en-US" sz="1300" b="0" noProof="0" dirty="0"/>
              <a:t>) → </a:t>
            </a:r>
            <a:r>
              <a:rPr lang="en-US" sz="1300" b="1" noProof="0" dirty="0"/>
              <a:t>higher weight</a:t>
            </a:r>
          </a:p>
          <a:p>
            <a:pPr algn="l"/>
            <a:endParaRPr lang="en-US" sz="1300" noProof="0" dirty="0"/>
          </a:p>
          <a:p>
            <a:pPr algn="l"/>
            <a:r>
              <a:rPr lang="en-US" sz="1300" b="1" noProof="0" dirty="0">
                <a:solidFill>
                  <a:srgbClr val="0D9589"/>
                </a:solidFill>
              </a:rPr>
              <a:t>Example:</a:t>
            </a:r>
          </a:p>
          <a:p>
            <a:pPr algn="l"/>
            <a:endParaRPr lang="en-US" sz="1300" noProof="0" dirty="0"/>
          </a:p>
          <a:p>
            <a:pPr algn="l"/>
            <a:r>
              <a:rPr lang="en-US" sz="1300" noProof="0" dirty="0"/>
              <a:t>Issue text contains many times: “</a:t>
            </a:r>
            <a:r>
              <a:rPr lang="en-US" sz="1300" b="1" noProof="0" dirty="0" err="1"/>
              <a:t>HAL_CRYP_Decrypt_DMA</a:t>
            </a:r>
            <a:r>
              <a:rPr lang="en-US" sz="1300" noProof="0" dirty="0"/>
              <a:t>”, “</a:t>
            </a:r>
            <a:r>
              <a:rPr lang="en-US" sz="1300" b="1" noProof="0" dirty="0"/>
              <a:t>Size overflow</a:t>
            </a:r>
            <a:r>
              <a:rPr lang="en-US" sz="1300" noProof="0" dirty="0"/>
              <a:t>”, “</a:t>
            </a:r>
            <a:r>
              <a:rPr lang="en-US" sz="1300" b="1" noProof="0" dirty="0"/>
              <a:t>uint16_t</a:t>
            </a:r>
            <a:r>
              <a:rPr lang="en-US" sz="1300" noProof="0" dirty="0"/>
              <a:t>”</a:t>
            </a:r>
          </a:p>
          <a:p>
            <a:pPr algn="l"/>
            <a:endParaRPr lang="en-US" sz="1300" noProof="0" dirty="0"/>
          </a:p>
          <a:p>
            <a:pPr algn="l"/>
            <a:r>
              <a:rPr lang="en-US" sz="1300" noProof="0" dirty="0">
                <a:sym typeface="Wingdings" panose="05000000000000000000" pitchFamily="2" charset="2"/>
              </a:rPr>
              <a:t> </a:t>
            </a:r>
            <a:r>
              <a:rPr lang="en-US" sz="1300" noProof="0" dirty="0"/>
              <a:t>TF-IDF gives these terms high weight, because they strongly describe the bug.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300" b="0" noProof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300" b="0" noProof="0" dirty="0"/>
          </a:p>
          <a:p>
            <a:pPr algn="l">
              <a:buNone/>
            </a:pPr>
            <a:r>
              <a:rPr lang="en-US" sz="1300" b="1" noProof="0" dirty="0">
                <a:solidFill>
                  <a:srgbClr val="0D9589"/>
                </a:solidFill>
              </a:rPr>
              <a:t>Result:</a:t>
            </a:r>
            <a:r>
              <a:rPr lang="en-US" sz="1300" b="0" noProof="0" dirty="0"/>
              <a:t> </a:t>
            </a:r>
          </a:p>
          <a:p>
            <a:pPr algn="l">
              <a:buNone/>
            </a:pPr>
            <a:endParaRPr lang="en-US" sz="1300" b="0" noProof="0" dirty="0"/>
          </a:p>
          <a:p>
            <a:pPr algn="l">
              <a:buNone/>
            </a:pPr>
            <a:r>
              <a:rPr lang="en-US" sz="1300" noProof="0" dirty="0"/>
              <a:t>E</a:t>
            </a:r>
            <a:r>
              <a:rPr lang="en-US" sz="1300" b="0" noProof="0" dirty="0"/>
              <a:t>ach issue becomes a numeric representation of its main technical topic.</a:t>
            </a:r>
            <a:endParaRPr lang="en-US" sz="1300" b="0" i="1" noProof="0" dirty="0"/>
          </a:p>
        </p:txBody>
      </p:sp>
      <p:sp>
        <p:nvSpPr>
          <p:cNvPr id="7" name="G1">
            <a:extLst>
              <a:ext uri="{FF2B5EF4-FFF2-40B4-BE49-F238E27FC236}">
                <a16:creationId xmlns:a16="http://schemas.microsoft.com/office/drawing/2014/main" id="{50887BA2-A9E0-1DD7-2FDA-0B0CCF5DD725}"/>
              </a:ext>
            </a:extLst>
          </p:cNvPr>
          <p:cNvSpPr/>
          <p:nvPr/>
        </p:nvSpPr>
        <p:spPr>
          <a:xfrm>
            <a:off x="6646779" y="1318765"/>
            <a:ext cx="5298286" cy="4368906"/>
          </a:xfrm>
          <a:prstGeom prst="roundRect">
            <a:avLst>
              <a:gd name="adj" fmla="val 10000"/>
            </a:avLst>
          </a:prstGeom>
          <a:solidFill>
            <a:srgbClr val="E8F7FE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Cosine Similarity (Vector → Similarity Score)</a:t>
            </a:r>
          </a:p>
          <a:p>
            <a:pPr algn="l">
              <a:buNone/>
            </a:pPr>
            <a:endParaRPr lang="en-US" sz="1200" b="1" noProof="0" dirty="0"/>
          </a:p>
          <a:p>
            <a:pPr algn="l"/>
            <a:r>
              <a:rPr lang="en-US" sz="1300" b="0" noProof="0" dirty="0"/>
              <a:t>Cosine similarity compares two issue vectors and returns a score:</a:t>
            </a:r>
          </a:p>
          <a:p>
            <a:pPr algn="l"/>
            <a:endParaRPr lang="en-US" sz="1300" noProof="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1" noProof="0" dirty="0"/>
              <a:t>1.0 </a:t>
            </a:r>
            <a:r>
              <a:rPr lang="en-US" sz="1300" b="0" noProof="0" dirty="0"/>
              <a:t>= very similar issues (same bug/topic)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1" noProof="0" dirty="0"/>
              <a:t>0.0</a:t>
            </a:r>
            <a:r>
              <a:rPr lang="en-US" sz="1300" b="0" noProof="0" dirty="0"/>
              <a:t> = unrelated issues</a:t>
            </a:r>
          </a:p>
          <a:p>
            <a:pPr algn="l"/>
            <a:endParaRPr lang="en-US" sz="1300" noProof="0" dirty="0"/>
          </a:p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en-US" sz="1300" b="0" noProof="0" dirty="0"/>
              <a:t>We keep only links above a tuned threshold (example : </a:t>
            </a:r>
            <a:r>
              <a:rPr lang="en-US" sz="1300" b="1" noProof="0" dirty="0"/>
              <a:t>0.55</a:t>
            </a:r>
            <a:r>
              <a:rPr lang="en-US" sz="1300" b="0" noProof="0" dirty="0"/>
              <a:t>) to avoid noise.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endParaRPr lang="en-US" sz="1300" i="1" noProof="0" dirty="0"/>
          </a:p>
          <a:p>
            <a:pPr algn="l"/>
            <a:r>
              <a:rPr lang="en-US" sz="1300" b="1" noProof="0" dirty="0">
                <a:solidFill>
                  <a:srgbClr val="0D9589"/>
                </a:solidFill>
              </a:rPr>
              <a:t>Example:</a:t>
            </a:r>
          </a:p>
          <a:p>
            <a:pPr algn="l"/>
            <a:endParaRPr lang="en-US" sz="1300" b="0" noProof="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1" noProof="0" dirty="0"/>
              <a:t>Issue A: </a:t>
            </a:r>
            <a:r>
              <a:rPr lang="en-US" sz="1300" b="0" noProof="0" dirty="0"/>
              <a:t>“HAL_UART compile error when UART disabled”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1" noProof="0" dirty="0"/>
              <a:t>Issue B: </a:t>
            </a:r>
            <a:r>
              <a:rPr lang="en-US" sz="1300" b="0" noProof="0" dirty="0"/>
              <a:t>“USART build fails due to missing UART macro definition”</a:t>
            </a:r>
          </a:p>
          <a:p>
            <a:pPr algn="l"/>
            <a:endParaRPr lang="en-US" sz="1300" noProof="0" dirty="0"/>
          </a:p>
          <a:p>
            <a:r>
              <a:rPr lang="en-US" sz="1300" b="1" noProof="0" dirty="0">
                <a:solidFill>
                  <a:srgbClr val="0D9589"/>
                </a:solidFill>
              </a:rPr>
              <a:t>Result:</a:t>
            </a:r>
            <a:r>
              <a:rPr lang="en-US" sz="1300" noProof="0" dirty="0"/>
              <a:t> </a:t>
            </a:r>
          </a:p>
          <a:p>
            <a:pPr algn="l"/>
            <a:endParaRPr lang="en-US" sz="1300" b="0" noProof="0" dirty="0"/>
          </a:p>
          <a:p>
            <a:pPr algn="l"/>
            <a:r>
              <a:rPr lang="en-US" sz="1300" b="0" noProof="0" dirty="0"/>
              <a:t>Cosine similarity might be 0.72 → they are likely the same topic</a:t>
            </a:r>
            <a:r>
              <a:rPr lang="en-US" sz="1300" b="0" i="1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28690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Resolver Cases — Tracing Bugs to Their Fix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145420" y="659139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100" b="0" i="1" noProof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7149D-A227-0A19-9853-FDE4560A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67</a:t>
            </a:fld>
            <a:endParaRPr lang="en-US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35FE891-BB16-18DE-4AD9-2DD8E8B41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8" t="9092" r="1448" b="520"/>
          <a:stretch>
            <a:fillRect/>
          </a:stretch>
        </p:blipFill>
        <p:spPr>
          <a:xfrm>
            <a:off x="1597554" y="1193607"/>
            <a:ext cx="8899003" cy="5522470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1EA12F07-0C3B-C9F4-0B2B-A8C38C7D101F}"/>
              </a:ext>
            </a:extLst>
          </p:cNvPr>
          <p:cNvSpPr/>
          <p:nvPr/>
        </p:nvSpPr>
        <p:spPr>
          <a:xfrm>
            <a:off x="250000" y="98714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E8B20-EAA4-14F9-569D-C779D45B6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9A99-1AD6-3348-38AF-B185FB0D0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Diagnostic Cards — Structured Troubleshooting Knowledge</a:t>
            </a:r>
            <a:endParaRPr lang="en-US" sz="1800" noProof="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3DF815E0-CD20-46A0-0DF2-D8D0331B5F0E}"/>
              </a:ext>
            </a:extLst>
          </p:cNvPr>
          <p:cNvSpPr>
            <a:spLocks noGrp="1"/>
          </p:cNvSpPr>
          <p:nvPr/>
        </p:nvSpPr>
        <p:spPr>
          <a:xfrm>
            <a:off x="240841" y="842873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D1F0699E-2848-408B-74C6-E8B08C4C29C4}"/>
              </a:ext>
            </a:extLst>
          </p:cNvPr>
          <p:cNvSpPr/>
          <p:nvPr/>
        </p:nvSpPr>
        <p:spPr>
          <a:xfrm>
            <a:off x="239205" y="945746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ECCAC-339C-DFBF-6B1E-6D828C91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68</a:t>
            </a:fld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0B85FA-31EE-534C-0C15-C7D55E0415C8}"/>
              </a:ext>
            </a:extLst>
          </p:cNvPr>
          <p:cNvGrpSpPr/>
          <p:nvPr/>
        </p:nvGrpSpPr>
        <p:grpSpPr>
          <a:xfrm>
            <a:off x="320023" y="1387920"/>
            <a:ext cx="11551953" cy="4618781"/>
            <a:chOff x="320023" y="1487186"/>
            <a:chExt cx="11551953" cy="4618781"/>
          </a:xfrm>
        </p:grpSpPr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8C7D6708-FB02-980B-E0EB-B0EAC58F1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5" t="32125" r="375" b="8434"/>
            <a:stretch>
              <a:fillRect/>
            </a:stretch>
          </p:blipFill>
          <p:spPr>
            <a:xfrm>
              <a:off x="320023" y="1487186"/>
              <a:ext cx="11551953" cy="4618781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E34C8D1-DC5B-7822-7CA1-DB1D2178D28B}"/>
                </a:ext>
              </a:extLst>
            </p:cNvPr>
            <p:cNvSpPr/>
            <p:nvPr/>
          </p:nvSpPr>
          <p:spPr>
            <a:xfrm>
              <a:off x="584204" y="4784494"/>
              <a:ext cx="8948416" cy="12886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noProof="0" dirty="0"/>
            </a:p>
          </p:txBody>
        </p:sp>
        <p:pic>
          <p:nvPicPr>
            <p:cNvPr id="6" name="Image 14">
              <a:extLst>
                <a:ext uri="{FF2B5EF4-FFF2-40B4-BE49-F238E27FC236}">
                  <a16:creationId xmlns:a16="http://schemas.microsoft.com/office/drawing/2014/main" id="{25200768-85C3-0565-579A-E53F5B782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45" t="91829" r="16849" b="597"/>
            <a:stretch>
              <a:fillRect/>
            </a:stretch>
          </p:blipFill>
          <p:spPr>
            <a:xfrm>
              <a:off x="2029680" y="5134576"/>
              <a:ext cx="8031480" cy="5884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49223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04E1B-00EB-D13D-E508-AD0B13EF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40A2-3B8F-724F-A2A6-58712861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STM32Cube RAG for R&amp;D</a:t>
            </a:r>
            <a:endParaRPr lang="en-US" sz="1800" noProof="0" dirty="0">
              <a:latin typeface="+mn-lt"/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E0F2FF0-1366-3A69-2B1D-C65FE2DDC3F2}"/>
              </a:ext>
            </a:extLst>
          </p:cNvPr>
          <p:cNvSpPr/>
          <p:nvPr/>
        </p:nvSpPr>
        <p:spPr>
          <a:xfrm>
            <a:off x="340364" y="1051136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D60E63-A9D0-4847-7F6D-003E6FA1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9898" y="6376086"/>
            <a:ext cx="411004" cy="292554"/>
          </a:xfrm>
        </p:spPr>
        <p:txBody>
          <a:bodyPr/>
          <a:lstStyle/>
          <a:p>
            <a:fld id="{40A7B169-58CE-4E65-B1F9-ACF9E46440C2}" type="slidenum">
              <a:rPr lang="en-US" noProof="0" smtClean="0"/>
              <a:t>69</a:t>
            </a:fld>
            <a:endParaRPr lang="en-US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D878C48-8058-A100-31C6-3E128185DF5F}"/>
              </a:ext>
            </a:extLst>
          </p:cNvPr>
          <p:cNvSpPr/>
          <p:nvPr/>
        </p:nvSpPr>
        <p:spPr>
          <a:xfrm>
            <a:off x="340364" y="593382"/>
            <a:ext cx="8229600" cy="513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A60CB6C-2BBB-E76E-7292-05450EB2D3DC}"/>
              </a:ext>
            </a:extLst>
          </p:cNvPr>
          <p:cNvSpPr txBox="1"/>
          <p:nvPr/>
        </p:nvSpPr>
        <p:spPr>
          <a:xfrm>
            <a:off x="242477" y="720962"/>
            <a:ext cx="62732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000" i="1" noProof="0" dirty="0">
                <a:solidFill>
                  <a:srgbClr val="425A78"/>
                </a:solidFill>
              </a:rPr>
              <a:t>We knew the strategy. Not how to prepare for it.</a:t>
            </a:r>
          </a:p>
        </p:txBody>
      </p:sp>
      <p:sp>
        <p:nvSpPr>
          <p:cNvPr id="11" name="Shape 3"/>
          <p:cNvSpPr/>
          <p:nvPr/>
        </p:nvSpPr>
        <p:spPr>
          <a:xfrm>
            <a:off x="1471313" y="1300658"/>
            <a:ext cx="3840480" cy="1766068"/>
          </a:xfrm>
          <a:prstGeom prst="rect">
            <a:avLst/>
          </a:prstGeom>
          <a:solidFill>
            <a:srgbClr val="FFFFFF"/>
          </a:solidFill>
          <a:ln w="1905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4"/>
          <p:cNvSpPr/>
          <p:nvPr/>
        </p:nvSpPr>
        <p:spPr>
          <a:xfrm>
            <a:off x="1471313" y="1392097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F59E0B"/>
                </a:solidFill>
                <a:ea typeface="Calibri" pitchFamily="34" charset="-122"/>
                <a:cs typeface="Calibri" pitchFamily="34" charset="-120"/>
              </a:rPr>
              <a:t>KNOWN</a:t>
            </a:r>
            <a:endParaRPr lang="en-US" sz="1400" noProof="0" dirty="0"/>
          </a:p>
        </p:txBody>
      </p:sp>
      <p:sp>
        <p:nvSpPr>
          <p:cNvPr id="13" name="Text 5"/>
          <p:cNvSpPr/>
          <p:nvPr/>
        </p:nvSpPr>
        <p:spPr>
          <a:xfrm>
            <a:off x="1608473" y="1472106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ST ChatGPT</a:t>
            </a:r>
            <a:r>
              <a:rPr lang="en-US" sz="13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uses parent-child</a:t>
            </a:r>
            <a:r>
              <a:rPr lang="en-US" sz="1300" noProof="0" dirty="0"/>
              <a:t> </a:t>
            </a:r>
            <a:r>
              <a:rPr lang="en-US" sz="13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chunking strategy internally. </a:t>
            </a:r>
            <a:endParaRPr lang="en-US" sz="1300" noProof="0" dirty="0"/>
          </a:p>
        </p:txBody>
      </p:sp>
      <p:sp>
        <p:nvSpPr>
          <p:cNvPr id="15" name="Text 7"/>
          <p:cNvSpPr/>
          <p:nvPr/>
        </p:nvSpPr>
        <p:spPr>
          <a:xfrm>
            <a:off x="5790258" y="2031469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noProof="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but</a:t>
            </a:r>
            <a:endParaRPr lang="en-US" sz="1100" b="1" noProof="0" dirty="0"/>
          </a:p>
        </p:txBody>
      </p:sp>
      <p:sp>
        <p:nvSpPr>
          <p:cNvPr id="16" name="Shape 8"/>
          <p:cNvSpPr/>
          <p:nvPr/>
        </p:nvSpPr>
        <p:spPr>
          <a:xfrm>
            <a:off x="6817364" y="1392098"/>
            <a:ext cx="3840480" cy="1674628"/>
          </a:xfrm>
          <a:prstGeom prst="rect">
            <a:avLst/>
          </a:prstGeom>
          <a:solidFill>
            <a:srgbClr val="FFFFFF"/>
          </a:solidFill>
          <a:ln w="1905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Text 9"/>
          <p:cNvSpPr/>
          <p:nvPr/>
        </p:nvSpPr>
        <p:spPr>
          <a:xfrm>
            <a:off x="6817364" y="1483537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0B0F0"/>
                </a:solidFill>
                <a:ea typeface="Calibri" pitchFamily="34" charset="-122"/>
                <a:cs typeface="Calibri" pitchFamily="34" charset="-120"/>
              </a:rPr>
              <a:t>UNKNOWN</a:t>
            </a:r>
            <a:endParaRPr lang="en-US" sz="1100" noProof="0" dirty="0">
              <a:solidFill>
                <a:srgbClr val="00B0F0"/>
              </a:solidFill>
            </a:endParaRPr>
          </a:p>
        </p:txBody>
      </p:sp>
      <p:sp>
        <p:nvSpPr>
          <p:cNvPr id="18" name="Text 10"/>
          <p:cNvSpPr/>
          <p:nvPr/>
        </p:nvSpPr>
        <p:spPr>
          <a:xfrm>
            <a:off x="6954524" y="1713784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bg2">
                    <a:lumMod val="25000"/>
                  </a:schemeClr>
                </a:solidFill>
              </a:rPr>
              <a:t>We don’t know why some questions retrieve the wrong content</a:t>
            </a:r>
            <a:endParaRPr lang="en-US" sz="1200" noProof="0" dirty="0">
              <a:solidFill>
                <a:schemeClr val="bg2">
                  <a:lumMod val="25000"/>
                </a:schemeClr>
              </a:solidFill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noProof="0" dirty="0">
              <a:solidFill>
                <a:schemeClr val="bg2">
                  <a:lumMod val="25000"/>
                </a:schemeClr>
              </a:solidFill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How to prepare our</a:t>
            </a:r>
            <a:r>
              <a:rPr lang="en-US" sz="1200" noProof="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1200" noProof="0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STM32CubeH7 data to be</a:t>
            </a:r>
            <a:r>
              <a:rPr lang="en-US" sz="1200" noProof="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1200" noProof="0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format-friendly to this</a:t>
            </a:r>
            <a:r>
              <a:rPr lang="en-US" sz="1200" noProof="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1200" noProof="0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strategy.</a:t>
            </a:r>
          </a:p>
          <a:p>
            <a:pPr marL="0" indent="0">
              <a:buNone/>
            </a:pPr>
            <a:endParaRPr lang="en-US" sz="1300" noProof="0" dirty="0"/>
          </a:p>
        </p:txBody>
      </p:sp>
      <p:sp>
        <p:nvSpPr>
          <p:cNvPr id="19" name="Shape 11"/>
          <p:cNvSpPr/>
          <p:nvPr/>
        </p:nvSpPr>
        <p:spPr>
          <a:xfrm>
            <a:off x="1745225" y="3255805"/>
            <a:ext cx="82296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2"/>
          <p:cNvSpPr/>
          <p:nvPr/>
        </p:nvSpPr>
        <p:spPr>
          <a:xfrm>
            <a:off x="1674614" y="328495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Solution: build a local off-domain benchmark to reverse-engineer the data requirements</a:t>
            </a:r>
            <a:endParaRPr lang="en-US" sz="1200" noProof="0" dirty="0"/>
          </a:p>
        </p:txBody>
      </p:sp>
      <p:sp>
        <p:nvSpPr>
          <p:cNvPr id="48" name="G1">
            <a:extLst>
              <a:ext uri="{FF2B5EF4-FFF2-40B4-BE49-F238E27FC236}">
                <a16:creationId xmlns:a16="http://schemas.microsoft.com/office/drawing/2014/main" id="{16F9BAB8-BB40-1791-CCD8-8792C07DB529}"/>
              </a:ext>
            </a:extLst>
          </p:cNvPr>
          <p:cNvSpPr/>
          <p:nvPr/>
        </p:nvSpPr>
        <p:spPr>
          <a:xfrm>
            <a:off x="1745225" y="4007924"/>
            <a:ext cx="3866668" cy="2505621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en-US" sz="1400" b="1" noProof="0" dirty="0">
                <a:solidFill>
                  <a:srgbClr val="0D9488"/>
                </a:solidFill>
              </a:rPr>
              <a:t>Understand Parent–Child behavior :</a:t>
            </a:r>
          </a:p>
          <a:p>
            <a:pPr marL="457200" indent="-457200" algn="l">
              <a:buAutoNum type="arabicParenR"/>
            </a:pPr>
            <a:endParaRPr lang="en-US" sz="1400" b="1" noProof="0" dirty="0">
              <a:solidFill>
                <a:srgbClr val="0D9488"/>
              </a:solidFill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F61D2128-029C-6363-D804-CA80D793FF1B}"/>
              </a:ext>
            </a:extLst>
          </p:cNvPr>
          <p:cNvSpPr txBox="1"/>
          <p:nvPr/>
        </p:nvSpPr>
        <p:spPr>
          <a:xfrm>
            <a:off x="1785924" y="4561436"/>
            <a:ext cx="37852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/>
              <a:t>Using the dashboard developed, we identified the key factors that impact retrieval quality:</a:t>
            </a:r>
          </a:p>
        </p:txBody>
      </p:sp>
      <p:sp>
        <p:nvSpPr>
          <p:cNvPr id="51" name="Rectangle 1">
            <a:extLst>
              <a:ext uri="{FF2B5EF4-FFF2-40B4-BE49-F238E27FC236}">
                <a16:creationId xmlns:a16="http://schemas.microsoft.com/office/drawing/2014/main" id="{4210AF26-8383-4868-8C76-AA69CFEFB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263" y="5169028"/>
            <a:ext cx="2959465" cy="1166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continuity is critical</a:t>
            </a:r>
            <a:endParaRPr lang="en-US" sz="1200" noProof="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anchors improve matching</a:t>
            </a:r>
            <a:endParaRPr lang="en-US" sz="1200" noProof="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 reconstruction is necessary</a:t>
            </a:r>
            <a:br>
              <a:rPr kumimoji="0" lang="en-US" sz="12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2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G1">
            <a:extLst>
              <a:ext uri="{FF2B5EF4-FFF2-40B4-BE49-F238E27FC236}">
                <a16:creationId xmlns:a16="http://schemas.microsoft.com/office/drawing/2014/main" id="{6B5C9C9B-F1A3-16C6-DB28-B55245CDB200}"/>
              </a:ext>
            </a:extLst>
          </p:cNvPr>
          <p:cNvSpPr/>
          <p:nvPr/>
        </p:nvSpPr>
        <p:spPr>
          <a:xfrm>
            <a:off x="5749053" y="4022359"/>
            <a:ext cx="4760061" cy="2491186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en-US" sz="1400" b="1" noProof="0" dirty="0">
                <a:solidFill>
                  <a:srgbClr val="0D9488"/>
                </a:solidFill>
              </a:rPr>
              <a:t>Extracted Data Preprocessing Best Practices :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697ABBFE-ECFC-EDA4-B76A-A3BD57976BC5}"/>
              </a:ext>
            </a:extLst>
          </p:cNvPr>
          <p:cNvSpPr txBox="1"/>
          <p:nvPr/>
        </p:nvSpPr>
        <p:spPr>
          <a:xfrm>
            <a:off x="5841192" y="4486824"/>
            <a:ext cx="4860208" cy="2181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Based on dataset + retrieval failures, we derived concrete rules, instead of guessing improvements, we validated them using:</a:t>
            </a:r>
          </a:p>
          <a:p>
            <a:pPr>
              <a:buNone/>
            </a:pPr>
            <a:endParaRPr lang="en-US" sz="1200" noProof="0" dirty="0"/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US" sz="1200" b="1" noProof="0" dirty="0"/>
              <a:t>Retrieval metrics</a:t>
            </a:r>
            <a:endParaRPr lang="en-US" sz="1200" noProof="0" dirty="0"/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US" sz="1200" b="1" noProof="0" dirty="0"/>
              <a:t>Chunk quality metrics</a:t>
            </a:r>
            <a:endParaRPr lang="en-US" sz="1200" noProof="0" dirty="0"/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US" sz="1200" b="1" noProof="0" dirty="0"/>
              <a:t>Per-question debugging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noProof="0" dirty="0"/>
          </a:p>
          <a:p>
            <a:pPr>
              <a:buNone/>
            </a:pPr>
            <a:r>
              <a:rPr lang="en-US" sz="1200" noProof="0" dirty="0">
                <a:solidFill>
                  <a:srgbClr val="0D9488"/>
                </a:solidFill>
                <a:sym typeface="Wingdings" panose="05000000000000000000" pitchFamily="2" charset="2"/>
              </a:rPr>
              <a:t></a:t>
            </a:r>
            <a:r>
              <a:rPr lang="en-US" sz="1200" noProof="0" dirty="0">
                <a:sym typeface="Wingdings" panose="05000000000000000000" pitchFamily="2" charset="2"/>
              </a:rPr>
              <a:t> </a:t>
            </a:r>
            <a:r>
              <a:rPr lang="en-US" sz="1200" b="1" noProof="0" dirty="0">
                <a:solidFill>
                  <a:srgbClr val="0D9589"/>
                </a:solidFill>
              </a:rPr>
              <a:t>Result: </a:t>
            </a:r>
            <a:r>
              <a:rPr lang="en-US" sz="1200" noProof="0" dirty="0"/>
              <a:t>preprocessing became a </a:t>
            </a:r>
            <a:r>
              <a:rPr lang="en-US" sz="1200" b="1" noProof="0" dirty="0"/>
              <a:t>measurable engineering process</a:t>
            </a:r>
            <a:endParaRPr lang="en-US" sz="1200" noProof="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16508544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29EC4-8C00-824E-EE78-7831B7DA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336C-DDD8-DD4E-6744-AC287FCE5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20" y="-319068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AI Agents — Two Specialized Assistants in the Project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B95795A1-5183-3060-DDB1-D385A121B318}"/>
              </a:ext>
            </a:extLst>
          </p:cNvPr>
          <p:cNvSpPr/>
          <p:nvPr/>
        </p:nvSpPr>
        <p:spPr>
          <a:xfrm>
            <a:off x="439525" y="68282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Not just one AI: two agents used for engineering acceleration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E7CE777-6CB8-7564-B98A-F00C4B882575}"/>
              </a:ext>
            </a:extLst>
          </p:cNvPr>
          <p:cNvSpPr/>
          <p:nvPr/>
        </p:nvSpPr>
        <p:spPr>
          <a:xfrm>
            <a:off x="439525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10EB5CA1-A26B-4A64-0493-961763176C6A}"/>
              </a:ext>
            </a:extLst>
          </p:cNvPr>
          <p:cNvSpPr/>
          <p:nvPr/>
        </p:nvSpPr>
        <p:spPr>
          <a:xfrm>
            <a:off x="364570" y="1298169"/>
            <a:ext cx="4234045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D7DFA3E7-BC58-0BB5-3F73-A4A47072A31C}"/>
              </a:ext>
            </a:extLst>
          </p:cNvPr>
          <p:cNvSpPr/>
          <p:nvPr/>
        </p:nvSpPr>
        <p:spPr>
          <a:xfrm flipH="1">
            <a:off x="291420" y="1298169"/>
            <a:ext cx="73150" cy="658368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18605C76-C373-1D69-3025-57D9C081D7D6}"/>
              </a:ext>
            </a:extLst>
          </p:cNvPr>
          <p:cNvSpPr/>
          <p:nvPr/>
        </p:nvSpPr>
        <p:spPr>
          <a:xfrm>
            <a:off x="764315" y="1361931"/>
            <a:ext cx="8800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noProof="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F174005A-FE81-766B-86DB-E24EBC50F990}"/>
              </a:ext>
            </a:extLst>
          </p:cNvPr>
          <p:cNvSpPr/>
          <p:nvPr/>
        </p:nvSpPr>
        <p:spPr>
          <a:xfrm>
            <a:off x="308134" y="2097069"/>
            <a:ext cx="4234044" cy="37801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noProof="0" dirty="0"/>
              <a:t>benchmark outputs</a:t>
            </a: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31D917A9-AA22-4C1A-F419-E771A41F3EF9}"/>
              </a:ext>
            </a:extLst>
          </p:cNvPr>
          <p:cNvSpPr/>
          <p:nvPr/>
        </p:nvSpPr>
        <p:spPr>
          <a:xfrm>
            <a:off x="308134" y="2097069"/>
            <a:ext cx="45719" cy="378018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69F09090-008A-5447-44B8-E843E5FF56BA}"/>
              </a:ext>
            </a:extLst>
          </p:cNvPr>
          <p:cNvSpPr/>
          <p:nvPr/>
        </p:nvSpPr>
        <p:spPr>
          <a:xfrm>
            <a:off x="362998" y="2097069"/>
            <a:ext cx="41791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DB91AD11-2909-03DF-5BBF-616CEE470B64}"/>
              </a:ext>
            </a:extLst>
          </p:cNvPr>
          <p:cNvSpPr/>
          <p:nvPr/>
        </p:nvSpPr>
        <p:spPr>
          <a:xfrm>
            <a:off x="445294" y="2097069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Agent 1 — Preprocessing Agent</a:t>
            </a:r>
            <a:endParaRPr lang="en-US" sz="1200" noProof="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055A6C3B-9751-A313-7F4F-BB1350B95194}"/>
              </a:ext>
            </a:extLst>
          </p:cNvPr>
          <p:cNvSpPr/>
          <p:nvPr/>
        </p:nvSpPr>
        <p:spPr>
          <a:xfrm>
            <a:off x="445294" y="2599989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noProof="0" dirty="0">
                <a:solidFill>
                  <a:srgbClr val="0D9488"/>
                </a:solidFill>
                <a:ea typeface="Calibri" pitchFamily="34" charset="-122"/>
                <a:cs typeface="Calibri" pitchFamily="34" charset="-120"/>
              </a:rPr>
              <a:t>STM32Cube Preprocessing Agent</a:t>
            </a:r>
            <a:endParaRPr lang="en-US" sz="1000" noProof="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C262AF6D-282C-5F71-012D-C35430EA86C2}"/>
              </a:ext>
            </a:extLst>
          </p:cNvPr>
          <p:cNvSpPr/>
          <p:nvPr/>
        </p:nvSpPr>
        <p:spPr>
          <a:xfrm>
            <a:off x="445294" y="2984037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CC93A921-E7BF-8390-2138-EB5A8C8CAA1B}"/>
              </a:ext>
            </a:extLst>
          </p:cNvPr>
          <p:cNvSpPr/>
          <p:nvPr/>
        </p:nvSpPr>
        <p:spPr>
          <a:xfrm>
            <a:off x="445294" y="2984037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Role</a:t>
            </a:r>
            <a:endParaRPr lang="en-US" sz="950" noProof="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57318F25-D31C-7E1F-EB1D-0BEDF2855C00}"/>
              </a:ext>
            </a:extLst>
          </p:cNvPr>
          <p:cNvSpPr/>
          <p:nvPr/>
        </p:nvSpPr>
        <p:spPr>
          <a:xfrm>
            <a:off x="1542574" y="3011469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Assistant dedicated to pipeline analysis and documentation</a:t>
            </a:r>
            <a:endParaRPr lang="en-US" sz="950" noProof="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18D5232E-AE4F-1253-591D-E0AB92EB4226}"/>
              </a:ext>
            </a:extLst>
          </p:cNvPr>
          <p:cNvSpPr/>
          <p:nvPr/>
        </p:nvSpPr>
        <p:spPr>
          <a:xfrm>
            <a:off x="445294" y="3550965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7EA6B79A-AF90-F3A3-572C-44B25355CCA4}"/>
              </a:ext>
            </a:extLst>
          </p:cNvPr>
          <p:cNvSpPr/>
          <p:nvPr/>
        </p:nvSpPr>
        <p:spPr>
          <a:xfrm>
            <a:off x="445294" y="355096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Analyze</a:t>
            </a:r>
            <a:endParaRPr lang="en-US" sz="950" noProof="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CB235AB3-ADC9-3BE7-2443-661DE6DFACB9}"/>
              </a:ext>
            </a:extLst>
          </p:cNvPr>
          <p:cNvSpPr/>
          <p:nvPr/>
        </p:nvSpPr>
        <p:spPr>
          <a:xfrm>
            <a:off x="1515143" y="359264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The data flow, JSON outputs, and benchmark outputs</a:t>
            </a:r>
            <a:endParaRPr lang="en-US" sz="950" noProof="0" dirty="0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1297BE13-866D-E08E-C158-F32A3C947953}"/>
              </a:ext>
            </a:extLst>
          </p:cNvPr>
          <p:cNvSpPr/>
          <p:nvPr/>
        </p:nvSpPr>
        <p:spPr>
          <a:xfrm>
            <a:off x="445294" y="4117893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AB3D344B-22B7-3CEE-7F3C-DC334545D2C2}"/>
              </a:ext>
            </a:extLst>
          </p:cNvPr>
          <p:cNvSpPr/>
          <p:nvPr/>
        </p:nvSpPr>
        <p:spPr>
          <a:xfrm>
            <a:off x="445294" y="4117893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Document</a:t>
            </a:r>
            <a:endParaRPr lang="en-US" sz="950" noProof="0" dirty="0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E76E4066-38D9-35D1-9E5A-F48E0DC4D261}"/>
              </a:ext>
            </a:extLst>
          </p:cNvPr>
          <p:cNvSpPr/>
          <p:nvPr/>
        </p:nvSpPr>
        <p:spPr>
          <a:xfrm>
            <a:off x="1515143" y="4153961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 Data schemas, test results</a:t>
            </a:r>
            <a:endParaRPr lang="en-US" sz="950" noProof="0" dirty="0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E21FEF7F-5C35-E550-8B47-24EEDA293A6F}"/>
              </a:ext>
            </a:extLst>
          </p:cNvPr>
          <p:cNvSpPr/>
          <p:nvPr/>
        </p:nvSpPr>
        <p:spPr>
          <a:xfrm>
            <a:off x="445294" y="4684821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DEB73949-CC74-E152-0C88-91C274BC643D}"/>
              </a:ext>
            </a:extLst>
          </p:cNvPr>
          <p:cNvSpPr/>
          <p:nvPr/>
        </p:nvSpPr>
        <p:spPr>
          <a:xfrm>
            <a:off x="445294" y="4684821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Compare</a:t>
            </a:r>
            <a:endParaRPr lang="en-US" sz="950" noProof="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18751870-CAAC-6309-AE02-3BAEF930AB6A}"/>
              </a:ext>
            </a:extLst>
          </p:cNvPr>
          <p:cNvSpPr/>
          <p:nvPr/>
        </p:nvSpPr>
        <p:spPr>
          <a:xfrm>
            <a:off x="1542574" y="471225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Structuring strategies</a:t>
            </a:r>
            <a:endParaRPr lang="en-US" sz="950" noProof="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4B0175B4-3047-F5EA-F80D-64520ACF1316}"/>
              </a:ext>
            </a:extLst>
          </p:cNvPr>
          <p:cNvSpPr/>
          <p:nvPr/>
        </p:nvSpPr>
        <p:spPr>
          <a:xfrm>
            <a:off x="445294" y="5251749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3DD8A7E2-8AD7-4D4F-5028-890B4C9CB5D6}"/>
              </a:ext>
            </a:extLst>
          </p:cNvPr>
          <p:cNvSpPr/>
          <p:nvPr/>
        </p:nvSpPr>
        <p:spPr>
          <a:xfrm>
            <a:off x="445294" y="5251749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Value</a:t>
            </a:r>
            <a:endParaRPr lang="en-US" sz="950" noProof="0" dirty="0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87DCD588-A867-50B5-CB9D-109D4A9B64B0}"/>
              </a:ext>
            </a:extLst>
          </p:cNvPr>
          <p:cNvSpPr/>
          <p:nvPr/>
        </p:nvSpPr>
        <p:spPr>
          <a:xfrm>
            <a:off x="1451134" y="5276669"/>
            <a:ext cx="318178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Documentation acceleration + pipeline readability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Faster iteration on data quality improvements</a:t>
            </a:r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7A2959F9-5E54-862F-F868-BF3C0FA0E80A}"/>
              </a:ext>
            </a:extLst>
          </p:cNvPr>
          <p:cNvSpPr/>
          <p:nvPr/>
        </p:nvSpPr>
        <p:spPr>
          <a:xfrm>
            <a:off x="4916755" y="2101620"/>
            <a:ext cx="4114800" cy="37801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78D061FE-3E2B-550A-B4C6-A7930C217B29}"/>
              </a:ext>
            </a:extLst>
          </p:cNvPr>
          <p:cNvSpPr/>
          <p:nvPr/>
        </p:nvSpPr>
        <p:spPr>
          <a:xfrm>
            <a:off x="4916755" y="2101620"/>
            <a:ext cx="45719" cy="377232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27D4AF82-8147-BD9E-0110-310C2C69F865}"/>
              </a:ext>
            </a:extLst>
          </p:cNvPr>
          <p:cNvSpPr/>
          <p:nvPr/>
        </p:nvSpPr>
        <p:spPr>
          <a:xfrm>
            <a:off x="4971619" y="2101620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84E9ABBD-E17C-CD0E-2FD6-B93CF8E5457B}"/>
              </a:ext>
            </a:extLst>
          </p:cNvPr>
          <p:cNvSpPr/>
          <p:nvPr/>
        </p:nvSpPr>
        <p:spPr>
          <a:xfrm>
            <a:off x="5026483" y="21016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Agent 2 — PDF Vision Agent</a:t>
            </a:r>
            <a:endParaRPr lang="en-US" sz="1200" noProof="0" dirty="0">
              <a:solidFill>
                <a:schemeClr val="bg1"/>
              </a:solidFill>
            </a:endParaRPr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A3757B89-84D9-6F4C-8BAC-9989F7957F67}"/>
              </a:ext>
            </a:extLst>
          </p:cNvPr>
          <p:cNvSpPr/>
          <p:nvPr/>
        </p:nvSpPr>
        <p:spPr>
          <a:xfrm>
            <a:off x="5026483" y="26045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STM32Cube PDF Vision Agent</a:t>
            </a:r>
            <a:endParaRPr lang="en-US" sz="1000" noProof="0" dirty="0">
              <a:solidFill>
                <a:srgbClr val="0D9589"/>
              </a:solidFill>
            </a:endParaRPr>
          </a:p>
        </p:txBody>
      </p:sp>
      <p:sp>
        <p:nvSpPr>
          <p:cNvPr id="63" name="Shape 28">
            <a:extLst>
              <a:ext uri="{FF2B5EF4-FFF2-40B4-BE49-F238E27FC236}">
                <a16:creationId xmlns:a16="http://schemas.microsoft.com/office/drawing/2014/main" id="{B6DDD175-0CC7-98F0-E823-7E1E24C990ED}"/>
              </a:ext>
            </a:extLst>
          </p:cNvPr>
          <p:cNvSpPr/>
          <p:nvPr/>
        </p:nvSpPr>
        <p:spPr>
          <a:xfrm>
            <a:off x="5026483" y="2988588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52836A59-D233-6464-8266-A771A75B4957}"/>
              </a:ext>
            </a:extLst>
          </p:cNvPr>
          <p:cNvSpPr/>
          <p:nvPr/>
        </p:nvSpPr>
        <p:spPr>
          <a:xfrm>
            <a:off x="5026483" y="29885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Role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50BFCACD-BF4C-05EC-E4F7-6D4CF4E1195C}"/>
              </a:ext>
            </a:extLst>
          </p:cNvPr>
          <p:cNvSpPr/>
          <p:nvPr/>
        </p:nvSpPr>
        <p:spPr>
          <a:xfrm>
            <a:off x="6123763" y="30160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Analyzes figures and diagrams extracted from technical PDFs</a:t>
            </a:r>
            <a:endParaRPr lang="en-US" sz="950" noProof="0" dirty="0"/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45F21099-AEE1-F12B-ABB6-86F96CE7A433}"/>
              </a:ext>
            </a:extLst>
          </p:cNvPr>
          <p:cNvSpPr/>
          <p:nvPr/>
        </p:nvSpPr>
        <p:spPr>
          <a:xfrm>
            <a:off x="5026483" y="3555516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E65319AA-2696-196F-7039-8C8D2EFC31EB}"/>
              </a:ext>
            </a:extLst>
          </p:cNvPr>
          <p:cNvSpPr/>
          <p:nvPr/>
        </p:nvSpPr>
        <p:spPr>
          <a:xfrm>
            <a:off x="5026483" y="355551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Read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16602276-8A29-0600-3735-61157D5A4246}"/>
              </a:ext>
            </a:extLst>
          </p:cNvPr>
          <p:cNvSpPr/>
          <p:nvPr/>
        </p:nvSpPr>
        <p:spPr>
          <a:xfrm>
            <a:off x="6123763" y="35829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 err="1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pdf_image_tasks</a:t>
            </a: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_&lt;repo&gt;.</a:t>
            </a:r>
            <a:r>
              <a:rPr lang="en-US" sz="950" noProof="0" dirty="0" err="1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jsonl</a:t>
            </a:r>
            <a:endParaRPr lang="en-US" sz="950" noProof="0" dirty="0"/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84FD88A5-4F19-3785-8BCA-2DB920AE14E6}"/>
              </a:ext>
            </a:extLst>
          </p:cNvPr>
          <p:cNvSpPr/>
          <p:nvPr/>
        </p:nvSpPr>
        <p:spPr>
          <a:xfrm>
            <a:off x="5026483" y="4122444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DCEF7CEF-CB03-A0ED-78AC-3DA0EC9A85A5}"/>
              </a:ext>
            </a:extLst>
          </p:cNvPr>
          <p:cNvSpPr/>
          <p:nvPr/>
        </p:nvSpPr>
        <p:spPr>
          <a:xfrm>
            <a:off x="5026483" y="412244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Analyze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8665424C-D262-3AD0-4B70-6E44B1F92A8B}"/>
              </a:ext>
            </a:extLst>
          </p:cNvPr>
          <p:cNvSpPr/>
          <p:nvPr/>
        </p:nvSpPr>
        <p:spPr>
          <a:xfrm>
            <a:off x="6123763" y="414987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Figures / diagrams from PDFs</a:t>
            </a:r>
          </a:p>
        </p:txBody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3C7DE127-7A36-EBEB-B7A3-14DF3286FB7D}"/>
              </a:ext>
            </a:extLst>
          </p:cNvPr>
          <p:cNvSpPr/>
          <p:nvPr/>
        </p:nvSpPr>
        <p:spPr>
          <a:xfrm>
            <a:off x="5026483" y="4689372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Text 38">
            <a:extLst>
              <a:ext uri="{FF2B5EF4-FFF2-40B4-BE49-F238E27FC236}">
                <a16:creationId xmlns:a16="http://schemas.microsoft.com/office/drawing/2014/main" id="{9A55BA80-2F2E-619E-2370-015738A3B495}"/>
              </a:ext>
            </a:extLst>
          </p:cNvPr>
          <p:cNvSpPr/>
          <p:nvPr/>
        </p:nvSpPr>
        <p:spPr>
          <a:xfrm>
            <a:off x="5026483" y="46893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Describe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74" name="Text 39">
            <a:extLst>
              <a:ext uri="{FF2B5EF4-FFF2-40B4-BE49-F238E27FC236}">
                <a16:creationId xmlns:a16="http://schemas.microsoft.com/office/drawing/2014/main" id="{F818EAF8-6C84-E599-6C01-4D4BFE4DDE61}"/>
              </a:ext>
            </a:extLst>
          </p:cNvPr>
          <p:cNvSpPr/>
          <p:nvPr/>
        </p:nvSpPr>
        <p:spPr>
          <a:xfrm>
            <a:off x="6123763" y="471680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Injectable technical text descriptions</a:t>
            </a:r>
            <a:endParaRPr lang="en-US" sz="950" noProof="0" dirty="0"/>
          </a:p>
        </p:txBody>
      </p:sp>
      <p:sp>
        <p:nvSpPr>
          <p:cNvPr id="75" name="Shape 40">
            <a:extLst>
              <a:ext uri="{FF2B5EF4-FFF2-40B4-BE49-F238E27FC236}">
                <a16:creationId xmlns:a16="http://schemas.microsoft.com/office/drawing/2014/main" id="{5AD0D949-A43C-E0E5-95A0-64D15E12D73C}"/>
              </a:ext>
            </a:extLst>
          </p:cNvPr>
          <p:cNvSpPr/>
          <p:nvPr/>
        </p:nvSpPr>
        <p:spPr>
          <a:xfrm>
            <a:off x="5026483" y="5256300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6" name="Text 41">
            <a:extLst>
              <a:ext uri="{FF2B5EF4-FFF2-40B4-BE49-F238E27FC236}">
                <a16:creationId xmlns:a16="http://schemas.microsoft.com/office/drawing/2014/main" id="{93963607-AF50-D14D-F49D-D8A38A4695DB}"/>
              </a:ext>
            </a:extLst>
          </p:cNvPr>
          <p:cNvSpPr/>
          <p:nvPr/>
        </p:nvSpPr>
        <p:spPr>
          <a:xfrm>
            <a:off x="5026483" y="52563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Value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77" name="Text 42">
            <a:extLst>
              <a:ext uri="{FF2B5EF4-FFF2-40B4-BE49-F238E27FC236}">
                <a16:creationId xmlns:a16="http://schemas.microsoft.com/office/drawing/2014/main" id="{CB703920-3813-6637-D09C-643148F1998B}"/>
              </a:ext>
            </a:extLst>
          </p:cNvPr>
          <p:cNvSpPr/>
          <p:nvPr/>
        </p:nvSpPr>
        <p:spPr>
          <a:xfrm>
            <a:off x="6123763" y="528373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Preserve information in PDF diagrams</a:t>
            </a:r>
            <a:endParaRPr lang="en-US" sz="950" noProof="0" dirty="0"/>
          </a:p>
        </p:txBody>
      </p:sp>
      <p:sp>
        <p:nvSpPr>
          <p:cNvPr id="78" name="Shape 43">
            <a:extLst>
              <a:ext uri="{FF2B5EF4-FFF2-40B4-BE49-F238E27FC236}">
                <a16:creationId xmlns:a16="http://schemas.microsoft.com/office/drawing/2014/main" id="{2226132C-D1F0-17B4-8062-4714B0B0AA4E}"/>
              </a:ext>
            </a:extLst>
          </p:cNvPr>
          <p:cNvSpPr/>
          <p:nvPr/>
        </p:nvSpPr>
        <p:spPr>
          <a:xfrm>
            <a:off x="291420" y="6078477"/>
            <a:ext cx="9428899" cy="67008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9" name="Text 44">
            <a:extLst>
              <a:ext uri="{FF2B5EF4-FFF2-40B4-BE49-F238E27FC236}">
                <a16:creationId xmlns:a16="http://schemas.microsoft.com/office/drawing/2014/main" id="{79CDEDA2-3443-ADDC-F8D9-8327FB0118E4}"/>
              </a:ext>
            </a:extLst>
          </p:cNvPr>
          <p:cNvSpPr/>
          <p:nvPr/>
        </p:nvSpPr>
        <p:spPr>
          <a:xfrm>
            <a:off x="469107" y="6250989"/>
            <a:ext cx="201168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PDF workflow:</a:t>
            </a:r>
            <a:endParaRPr lang="en-US" sz="950" noProof="0" dirty="0"/>
          </a:p>
        </p:txBody>
      </p:sp>
      <p:sp>
        <p:nvSpPr>
          <p:cNvPr id="80" name="Text 45">
            <a:extLst>
              <a:ext uri="{FF2B5EF4-FFF2-40B4-BE49-F238E27FC236}">
                <a16:creationId xmlns:a16="http://schemas.microsoft.com/office/drawing/2014/main" id="{09C39D04-BB1E-80D7-7908-CE05F2CB84CD}"/>
              </a:ext>
            </a:extLst>
          </p:cNvPr>
          <p:cNvSpPr/>
          <p:nvPr/>
        </p:nvSpPr>
        <p:spPr>
          <a:xfrm>
            <a:off x="2151128" y="6249824"/>
            <a:ext cx="115186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→</a:t>
            </a:r>
            <a:endParaRPr lang="en-US" sz="850" noProof="0" dirty="0"/>
          </a:p>
        </p:txBody>
      </p:sp>
      <p:sp>
        <p:nvSpPr>
          <p:cNvPr id="81" name="Text 46">
            <a:extLst>
              <a:ext uri="{FF2B5EF4-FFF2-40B4-BE49-F238E27FC236}">
                <a16:creationId xmlns:a16="http://schemas.microsoft.com/office/drawing/2014/main" id="{AFC156EB-2F55-AFEA-8339-9E5809B9C87C}"/>
              </a:ext>
            </a:extLst>
          </p:cNvPr>
          <p:cNvSpPr/>
          <p:nvPr/>
        </p:nvSpPr>
        <p:spPr>
          <a:xfrm>
            <a:off x="3138113" y="6249824"/>
            <a:ext cx="1280585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image rendering →</a:t>
            </a:r>
            <a:endParaRPr lang="en-US" sz="850" noProof="0" dirty="0"/>
          </a:p>
        </p:txBody>
      </p:sp>
      <p:sp>
        <p:nvSpPr>
          <p:cNvPr id="82" name="Text 47">
            <a:extLst>
              <a:ext uri="{FF2B5EF4-FFF2-40B4-BE49-F238E27FC236}">
                <a16:creationId xmlns:a16="http://schemas.microsoft.com/office/drawing/2014/main" id="{8FDBD8DD-653E-36C3-DDD2-2128398AF726}"/>
              </a:ext>
            </a:extLst>
          </p:cNvPr>
          <p:cNvSpPr/>
          <p:nvPr/>
        </p:nvSpPr>
        <p:spPr>
          <a:xfrm>
            <a:off x="4376079" y="6249257"/>
            <a:ext cx="1097279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Figure detection →</a:t>
            </a:r>
            <a:endParaRPr lang="en-US" sz="850" noProof="0" dirty="0"/>
          </a:p>
        </p:txBody>
      </p:sp>
      <p:sp>
        <p:nvSpPr>
          <p:cNvPr id="83" name="Text 48">
            <a:extLst>
              <a:ext uri="{FF2B5EF4-FFF2-40B4-BE49-F238E27FC236}">
                <a16:creationId xmlns:a16="http://schemas.microsoft.com/office/drawing/2014/main" id="{FBBAE22A-999B-3931-A824-E42D6CB6E322}"/>
              </a:ext>
            </a:extLst>
          </p:cNvPr>
          <p:cNvSpPr/>
          <p:nvPr/>
        </p:nvSpPr>
        <p:spPr>
          <a:xfrm>
            <a:off x="5360531" y="6249257"/>
            <a:ext cx="91440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figures →</a:t>
            </a:r>
            <a:endParaRPr lang="en-US" sz="850" noProof="0" dirty="0"/>
          </a:p>
        </p:txBody>
      </p:sp>
      <p:sp>
        <p:nvSpPr>
          <p:cNvPr id="84" name="Text 49">
            <a:extLst>
              <a:ext uri="{FF2B5EF4-FFF2-40B4-BE49-F238E27FC236}">
                <a16:creationId xmlns:a16="http://schemas.microsoft.com/office/drawing/2014/main" id="{A77874B4-CFB5-3346-2A79-3B4208D00AC6}"/>
              </a:ext>
            </a:extLst>
          </p:cNvPr>
          <p:cNvSpPr/>
          <p:nvPr/>
        </p:nvSpPr>
        <p:spPr>
          <a:xfrm>
            <a:off x="6229210" y="6250391"/>
            <a:ext cx="91440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JSONL tasks →</a:t>
            </a:r>
            <a:endParaRPr lang="en-US" sz="850" noProof="0" dirty="0"/>
          </a:p>
        </p:txBody>
      </p:sp>
      <p:sp>
        <p:nvSpPr>
          <p:cNvPr id="85" name="Text 50">
            <a:extLst>
              <a:ext uri="{FF2B5EF4-FFF2-40B4-BE49-F238E27FC236}">
                <a16:creationId xmlns:a16="http://schemas.microsoft.com/office/drawing/2014/main" id="{14AA4D9F-4EE9-11A3-E8CF-38563F48FC35}"/>
              </a:ext>
            </a:extLst>
          </p:cNvPr>
          <p:cNvSpPr/>
          <p:nvPr/>
        </p:nvSpPr>
        <p:spPr>
          <a:xfrm>
            <a:off x="7057982" y="6249824"/>
            <a:ext cx="116462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descriptions →</a:t>
            </a:r>
            <a:endParaRPr lang="en-US" sz="850" noProof="0" dirty="0"/>
          </a:p>
        </p:txBody>
      </p:sp>
      <p:sp>
        <p:nvSpPr>
          <p:cNvPr id="86" name="Text 51">
            <a:extLst>
              <a:ext uri="{FF2B5EF4-FFF2-40B4-BE49-F238E27FC236}">
                <a16:creationId xmlns:a16="http://schemas.microsoft.com/office/drawing/2014/main" id="{A4445835-105F-44D5-4CE1-A93CB808DB63}"/>
              </a:ext>
            </a:extLst>
          </p:cNvPr>
          <p:cNvSpPr/>
          <p:nvPr/>
        </p:nvSpPr>
        <p:spPr>
          <a:xfrm>
            <a:off x="8131163" y="6249257"/>
            <a:ext cx="111571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Enriched re-injection</a:t>
            </a:r>
            <a:endParaRPr lang="en-US" sz="850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49DB2775-6381-04D2-B12A-91F07D501898}"/>
              </a:ext>
            </a:extLst>
          </p:cNvPr>
          <p:cNvSpPr/>
          <p:nvPr/>
        </p:nvSpPr>
        <p:spPr>
          <a:xfrm>
            <a:off x="4989905" y="1319808"/>
            <a:ext cx="4234045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76824F28-6DA3-DBB5-205F-EABBB892B840}"/>
              </a:ext>
            </a:extLst>
          </p:cNvPr>
          <p:cNvSpPr/>
          <p:nvPr/>
        </p:nvSpPr>
        <p:spPr>
          <a:xfrm flipH="1">
            <a:off x="4916755" y="1319808"/>
            <a:ext cx="73150" cy="658368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5641B-1B7F-A7F1-4EAD-D95D51F95D39}"/>
              </a:ext>
            </a:extLst>
          </p:cNvPr>
          <p:cNvSpPr txBox="1"/>
          <p:nvPr/>
        </p:nvSpPr>
        <p:spPr>
          <a:xfrm>
            <a:off x="419436" y="1408030"/>
            <a:ext cx="4034297" cy="438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1" noProof="0" dirty="0">
                <a:solidFill>
                  <a:srgbClr val="0D9589"/>
                </a:solidFill>
                <a:effectLst/>
              </a:rPr>
              <a:t>Real need: </a:t>
            </a:r>
            <a:r>
              <a:rPr lang="en-US" sz="1100" b="0" noProof="0" dirty="0">
                <a:effectLst/>
              </a:rPr>
              <a:t>avoid bad or noisy data before upload and keep the pipeline easy to improve.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E78F7-691A-81CA-FB96-77090A6D30CF}"/>
              </a:ext>
            </a:extLst>
          </p:cNvPr>
          <p:cNvSpPr txBox="1"/>
          <p:nvPr/>
        </p:nvSpPr>
        <p:spPr>
          <a:xfrm>
            <a:off x="4989905" y="1447824"/>
            <a:ext cx="4181912" cy="438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1" noProof="0" dirty="0">
                <a:solidFill>
                  <a:srgbClr val="0D9589"/>
                </a:solidFill>
                <a:effectLst/>
              </a:rPr>
              <a:t>Real need: </a:t>
            </a:r>
            <a:r>
              <a:rPr lang="en-US" sz="1100" b="0" noProof="0" dirty="0">
                <a:effectLst/>
              </a:rPr>
              <a:t>capture technical information that exists only in PDF images.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15583-13B6-4734-652A-985A3D26D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70</a:t>
            </a:fld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1649C8-CCD7-6104-B92B-4FAF2742FC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15"/>
          <a:stretch>
            <a:fillRect/>
          </a:stretch>
        </p:blipFill>
        <p:spPr>
          <a:xfrm>
            <a:off x="9213551" y="3134374"/>
            <a:ext cx="2926612" cy="167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127190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afee58-01aa-4ad6-b1bb-5b519a87ae9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C05EB5702C6041B8F691A10DF1B24F" ma:contentTypeVersion="9" ma:contentTypeDescription="Create a new document." ma:contentTypeScope="" ma:versionID="96e1826aeedd6b40707d1745bb20c6d7">
  <xsd:schema xmlns:xsd="http://www.w3.org/2001/XMLSchema" xmlns:xs="http://www.w3.org/2001/XMLSchema" xmlns:p="http://schemas.microsoft.com/office/2006/metadata/properties" xmlns:ns3="5366181a-06aa-4807-906e-6a6b06815c74" xmlns:ns4="94afee58-01aa-4ad6-b1bb-5b519a87ae9f" targetNamespace="http://schemas.microsoft.com/office/2006/metadata/properties" ma:root="true" ma:fieldsID="f309ae2d459dfa63c2a2c4ad8a1d4266" ns3:_="" ns4:_="">
    <xsd:import namespace="5366181a-06aa-4807-906e-6a6b06815c74"/>
    <xsd:import namespace="94afee58-01aa-4ad6-b1bb-5b519a87ae9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66181a-06aa-4807-906e-6a6b06815c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afee58-01aa-4ad6-b1bb-5b519a87ae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CB8446A-891D-4E00-8259-E4025A836D60}">
  <ds:schemaRefs>
    <ds:schemaRef ds:uri="http://schemas.microsoft.com/office/2006/documentManagement/types"/>
    <ds:schemaRef ds:uri="http://purl.org/dc/terms/"/>
    <ds:schemaRef ds:uri="5366181a-06aa-4807-906e-6a6b06815c74"/>
    <ds:schemaRef ds:uri="94afee58-01aa-4ad6-b1bb-5b519a87ae9f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7872EB9-DE0B-4134-8BB4-AFA519D56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66181a-06aa-4807-906e-6a6b06815c74"/>
    <ds:schemaRef ds:uri="94afee58-01aa-4ad6-b1bb-5b519a87ae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2B9293-6E89-44A0-8ACC-8E3FDF77ED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17143</TotalTime>
  <Words>8784</Words>
  <Application>Microsoft Office PowerPoint</Application>
  <PresentationFormat>Widescreen</PresentationFormat>
  <Paragraphs>1807</Paragraphs>
  <Slides>70</Slides>
  <Notes>65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Arial</vt:lpstr>
      <vt:lpstr>Calibri</vt:lpstr>
      <vt:lpstr>Cambria</vt:lpstr>
      <vt:lpstr>Consolas</vt:lpstr>
      <vt:lpstr>Courier New</vt:lpstr>
      <vt:lpstr>Wingdings</vt:lpstr>
      <vt:lpstr>ST PowerPoint Template 16x9</vt:lpstr>
      <vt:lpstr>An AI Tool for STM32Cube Technical Support  From raw GitHub data to precise technical answers: Understanding how it works , step by step.  </vt:lpstr>
      <vt:lpstr>PowerPoint Presentation</vt:lpstr>
      <vt:lpstr>PowerPoint Presentation</vt:lpstr>
      <vt:lpstr>PowerPoint Presentation</vt:lpstr>
      <vt:lpstr>PowerPoint Presentation</vt:lpstr>
      <vt:lpstr>Architecture</vt:lpstr>
      <vt:lpstr>Data Sources Used</vt:lpstr>
      <vt:lpstr> The ST ChatGPT Platform</vt:lpstr>
      <vt:lpstr> The ST ChatGPT Platform</vt:lpstr>
      <vt:lpstr>Why RAG , not just standard ChatGPT</vt:lpstr>
      <vt:lpstr>Existing Platform Constraints</vt:lpstr>
      <vt:lpstr>How the Pipeline Adapts to the Existing RAG</vt:lpstr>
      <vt:lpstr>PowerPoint Presentation</vt:lpstr>
      <vt:lpstr>The Data Preprocessing Pipeline</vt:lpstr>
      <vt:lpstr>The Data Preprocessing Pipeline</vt:lpstr>
      <vt:lpstr>The Data Preprocessing Pipeline</vt:lpstr>
      <vt:lpstr>The Data Preprocessing Pipeline</vt:lpstr>
      <vt:lpstr>Pipeline: cleaning V1</vt:lpstr>
      <vt:lpstr>Pipeline: cleaning V2  </vt:lpstr>
      <vt:lpstr>The Data Preprocessing Pipeline</vt:lpstr>
      <vt:lpstr>Pipeline: Enrichment (Feature Engineering)    </vt:lpstr>
      <vt:lpstr>Pipeline: Enrichment (Feature Engineering)    </vt:lpstr>
      <vt:lpstr>The Data Preprocessing Pipeline</vt:lpstr>
      <vt:lpstr>Pipeline: Similarity</vt:lpstr>
      <vt:lpstr>Pipeline: Similarity</vt:lpstr>
      <vt:lpstr>The Data Preprocessing Pipeline</vt:lpstr>
      <vt:lpstr>Pipeline: Data Generation</vt:lpstr>
      <vt:lpstr>Pipeline: Data Generation(Resolver cases)</vt:lpstr>
      <vt:lpstr>Resolver Cases : Why they matter</vt:lpstr>
      <vt:lpstr>Pipeline: Data Generation(Diagnostic cards)</vt:lpstr>
      <vt:lpstr>Diagnostic Cards — Why they matter</vt:lpstr>
      <vt:lpstr>The Data Preprocessing Pipeline</vt:lpstr>
      <vt:lpstr>Pipeline: Delivery</vt:lpstr>
      <vt:lpstr>The Data Preprocessing Pipeline</vt:lpstr>
      <vt:lpstr>Evaluation Protocol &amp; Benchmark Results</vt:lpstr>
      <vt:lpstr>Quality Index Evolution</vt:lpstr>
      <vt:lpstr>Alfred Vision  ·  Two integration paths</vt:lpstr>
      <vt:lpstr>PowerPoint Presentation</vt:lpstr>
      <vt:lpstr>Alfred Path A  ·  PDF Figure Pipeline</vt:lpstr>
      <vt:lpstr>Alfred Path B  ·  Issue Screenshot Pipeline</vt:lpstr>
      <vt:lpstr>Alfred Coverage Across the STM32Cube Family</vt:lpstr>
      <vt:lpstr>KB-First Agent  ·  Persona, KB Tool, and the NovaX Fallback</vt:lpstr>
      <vt:lpstr>PowerPoint Presentation</vt:lpstr>
      <vt:lpstr>PowerPoint Presentation</vt:lpstr>
      <vt:lpstr>PowerPoint Presentation</vt:lpstr>
      <vt:lpstr>Per-Stage Quality Scores</vt:lpstr>
      <vt:lpstr>Retrieval Strategy Benchmark</vt:lpstr>
      <vt:lpstr>Alfred Vision — Contextual Trust, not just API success</vt:lpstr>
      <vt:lpstr>Comparative Study  ·  Generic LLM vs Persona KB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The ST ChatGPT Platform</vt:lpstr>
      <vt:lpstr>PowerPoint Presentation</vt:lpstr>
      <vt:lpstr>Pipeline: Delivery</vt:lpstr>
      <vt:lpstr>Pipeline: Enrichment (Feature Engineering)    </vt:lpstr>
      <vt:lpstr>Pipeline: Similarity</vt:lpstr>
      <vt:lpstr>Resolver Cases — Tracing Bugs to Their Fix</vt:lpstr>
      <vt:lpstr>Diagnostic Cards — Structured Troubleshooting Knowledge</vt:lpstr>
      <vt:lpstr>STM32Cube RAG for R&amp;D</vt:lpstr>
      <vt:lpstr>Pipeline: AI Agents — Two Specialized Assistants in the Project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 GHARBI</dc:creator>
  <cp:keywords/>
  <cp:lastModifiedBy>Abir GHARBI</cp:lastModifiedBy>
  <cp:revision>37</cp:revision>
  <dcterms:created xsi:type="dcterms:W3CDTF">2026-04-28T15:20:14Z</dcterms:created>
  <dcterms:modified xsi:type="dcterms:W3CDTF">2026-07-10T15:18:05Z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0x01010053C05EB5702C6041B8F691A10DF1B24F</vt:lpwstr>
  </property>
</Properties>
</file>