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6"/>
  </p:notesMasterIdLst>
  <p:sldIdLst>
    <p:sldId id="262" r:id="rId5"/>
    <p:sldId id="290" r:id="rId6"/>
    <p:sldId id="291" r:id="rId7"/>
    <p:sldId id="320" r:id="rId8"/>
    <p:sldId id="289" r:id="rId9"/>
    <p:sldId id="347" r:id="rId10"/>
    <p:sldId id="348" r:id="rId11"/>
    <p:sldId id="349" r:id="rId12"/>
    <p:sldId id="323" r:id="rId13"/>
    <p:sldId id="294" r:id="rId14"/>
    <p:sldId id="359" r:id="rId15"/>
    <p:sldId id="295" r:id="rId16"/>
    <p:sldId id="360" r:id="rId17"/>
    <p:sldId id="362" r:id="rId18"/>
    <p:sldId id="306" r:id="rId19"/>
    <p:sldId id="307" r:id="rId20"/>
    <p:sldId id="317" r:id="rId21"/>
    <p:sldId id="296" r:id="rId22"/>
    <p:sldId id="321" r:id="rId23"/>
    <p:sldId id="314" r:id="rId24"/>
    <p:sldId id="297" r:id="rId25"/>
    <p:sldId id="299" r:id="rId26"/>
    <p:sldId id="302" r:id="rId27"/>
    <p:sldId id="303" r:id="rId28"/>
    <p:sldId id="308" r:id="rId29"/>
    <p:sldId id="309" r:id="rId30"/>
    <p:sldId id="312" r:id="rId31"/>
    <p:sldId id="313" r:id="rId32"/>
    <p:sldId id="346" r:id="rId33"/>
    <p:sldId id="301" r:id="rId34"/>
    <p:sldId id="316" r:id="rId35"/>
    <p:sldId id="304" r:id="rId36"/>
    <p:sldId id="322" r:id="rId37"/>
    <p:sldId id="350" r:id="rId38"/>
    <p:sldId id="351" r:id="rId39"/>
    <p:sldId id="310" r:id="rId40"/>
    <p:sldId id="311" r:id="rId41"/>
    <p:sldId id="345" r:id="rId42"/>
    <p:sldId id="343" r:id="rId43"/>
    <p:sldId id="318" r:id="rId44"/>
    <p:sldId id="361" r:id="rId45"/>
    <p:sldId id="356" r:id="rId46"/>
    <p:sldId id="355" r:id="rId47"/>
    <p:sldId id="353" r:id="rId48"/>
    <p:sldId id="319" r:id="rId49"/>
    <p:sldId id="352" r:id="rId50"/>
    <p:sldId id="315" r:id="rId51"/>
    <p:sldId id="357" r:id="rId52"/>
    <p:sldId id="358" r:id="rId53"/>
    <p:sldId id="354" r:id="rId54"/>
    <p:sldId id="265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262"/>
            <p14:sldId id="290"/>
            <p14:sldId id="291"/>
            <p14:sldId id="320"/>
            <p14:sldId id="289"/>
            <p14:sldId id="347"/>
            <p14:sldId id="348"/>
            <p14:sldId id="349"/>
            <p14:sldId id="323"/>
            <p14:sldId id="294"/>
            <p14:sldId id="359"/>
            <p14:sldId id="295"/>
            <p14:sldId id="360"/>
            <p14:sldId id="362"/>
            <p14:sldId id="306"/>
            <p14:sldId id="307"/>
            <p14:sldId id="317"/>
            <p14:sldId id="296"/>
            <p14:sldId id="321"/>
            <p14:sldId id="314"/>
            <p14:sldId id="297"/>
            <p14:sldId id="299"/>
            <p14:sldId id="302"/>
            <p14:sldId id="303"/>
            <p14:sldId id="308"/>
            <p14:sldId id="309"/>
            <p14:sldId id="312"/>
            <p14:sldId id="313"/>
            <p14:sldId id="346"/>
            <p14:sldId id="301"/>
            <p14:sldId id="316"/>
            <p14:sldId id="304"/>
            <p14:sldId id="322"/>
            <p14:sldId id="350"/>
            <p14:sldId id="351"/>
            <p14:sldId id="310"/>
            <p14:sldId id="311"/>
            <p14:sldId id="345"/>
            <p14:sldId id="343"/>
            <p14:sldId id="318"/>
            <p14:sldId id="361"/>
            <p14:sldId id="356"/>
            <p14:sldId id="355"/>
            <p14:sldId id="353"/>
            <p14:sldId id="319"/>
            <p14:sldId id="352"/>
            <p14:sldId id="315"/>
            <p14:sldId id="357"/>
            <p14:sldId id="358"/>
            <p14:sldId id="35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589"/>
    <a:srgbClr val="FFFFFF"/>
    <a:srgbClr val="F4FEF7"/>
    <a:srgbClr val="FBFFFC"/>
    <a:srgbClr val="F8FAFC"/>
    <a:srgbClr val="93C5FD"/>
    <a:srgbClr val="3CB4E6"/>
    <a:srgbClr val="BAE6FD"/>
    <a:srgbClr val="425A78"/>
    <a:srgbClr val="EF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3C8639-76F7-4CDD-A463-593D55E97AE5}" v="7" dt="2026-05-12T17:05:12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8" autoAdjust="0"/>
    <p:restoredTop sz="86172" autoAdjust="0"/>
  </p:normalViewPr>
  <p:slideViewPr>
    <p:cSldViewPr snapToGrid="0">
      <p:cViewPr varScale="1">
        <p:scale>
          <a:sx n="137" d="100"/>
          <a:sy n="137" d="100"/>
        </p:scale>
        <p:origin x="119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85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83A70-72D3-4073-A5D5-79871D78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FAA2C-F37D-C4AE-A83E-6A23A445B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55CD1-F958-EDAE-944E-27A1C6997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022F0-235A-C533-9BE6-BD81B643D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49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70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83A70-72D3-4073-A5D5-79871D78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FAA2C-F37D-C4AE-A83E-6A23A445B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55CD1-F958-EDAE-944E-27A1C6997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022F0-235A-C533-9BE6-BD81B643D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49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2F487-0165-1430-961C-567078131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D3909-DFEE-B301-0E47-5EB9E39FB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C3387-B538-4A38-2EC0-E8625A1B9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A1215-216F-305F-891A-BA5DCF8EF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60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BDE27-C231-CD00-E509-E3F32DBC2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F3C50-8CDB-2B2C-AABC-CB6BC7869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05FFF-CC3F-2606-970E-CD632801F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C1489-D248-D67E-E4AD-6137FFB79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4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4EF5C-33DC-614F-035A-19AA495F1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4979E-56F5-740E-4957-7CF7D6305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FA021-4B77-681C-48F4-5F32EC823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Centralize:</a:t>
            </a:r>
            <a:r>
              <a:rPr lang="en-US" dirty="0"/>
              <a:t> all STM32Cube knowledge in one place </a:t>
            </a:r>
            <a:r>
              <a:rPr lang="en-US" b="1" dirty="0"/>
              <a:t>Structure:</a:t>
            </a:r>
            <a:r>
              <a:rPr lang="en-US" dirty="0"/>
              <a:t> data normalized, enriched, ready for retrieval </a:t>
            </a:r>
            <a:r>
              <a:rPr lang="en-US" b="1" dirty="0"/>
              <a:t>Answer:</a:t>
            </a:r>
            <a:r>
              <a:rPr lang="en-US" dirty="0"/>
              <a:t> technical questions in seconds with sources </a:t>
            </a:r>
            <a:r>
              <a:rPr lang="en-US" b="1" dirty="0"/>
              <a:t>Trace:</a:t>
            </a:r>
            <a:r>
              <a:rPr lang="en-US" dirty="0"/>
              <a:t> every answer back to issue, PR, commit, or doc </a:t>
            </a:r>
            <a:r>
              <a:rPr lang="en-US" b="1" dirty="0"/>
              <a:t>Learn:</a:t>
            </a:r>
            <a:r>
              <a:rPr lang="en-US" dirty="0"/>
              <a:t> from every resolved bug for the next ones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A6EF9-9D5B-59E5-E13E-02C639BBD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58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7D570-E399-D10A-557D-F8437A75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1981F-D793-376F-3C90-7F83FF0D2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94583-72AC-46F3-8DF5-05D2C40B7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58B9A-F898-F291-8667-C9674CF77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6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31FE9-C8D6-C91E-4A13-7ECBC5D0F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7C6C8-D3A2-15AD-D617-6C307F654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FB1561-2927-1389-4B3E-3E1887CE6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Flèche pleine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flux principal opérationnel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Flèche pointillée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feedback / recommandation / boucle de correction / lien secondaire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fr-FR" dirty="0"/>
            </a:br>
            <a:endParaRPr lang="fr-FR" dirty="0"/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 que tu peux dire si on te pose la question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flèches pleines représentent le flux principal du projet, depuis la préparation des données jusqu’au live dans l’outil ST.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flèches pointillées représentent les retours d’amélioration : recommandations du benchmark offline et feedback observé en production, qui servent à corriger le pipeline.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AF3EE-F32B-A2D4-CA13-1DC879E6A7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348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7823B-FD8B-730F-F404-AD1DFE016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C94C3-1E39-40A6-FD49-A7F50A634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93A51-1BA1-63EC-B621-8CC7AB8BB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87150-D2B2-EED4-7359-B6944E126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35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0FA0-FC4A-D81E-4A89-99DCCFD38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DAD78-C918-0304-7C4D-44FC1BFB5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37E2C-DE3E-E9E9-CE9A-5F518589F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99F3C-2020-2CE9-B58C-149862905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86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D0E27-3119-FF90-E764-2159D102A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DB3F0-562E-1D0E-9DAF-6C02D1D0A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C0F920-0076-A864-9140-27FDDA478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BEFA3-4BA0-6871-7ED1-60B5604DA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27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34D88-403A-B72F-F51E-076635A7A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89011-22A9-F37A-8C20-F3BC62CC2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D003E-FE44-9202-EF36-5C2EBFFA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1B2A3B"/>
                </a:solidFill>
              </a:rPr>
              <a:t>Data Sources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B18C9-1251-4476-A9AE-8AFDAB53D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166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155BB-2E0D-CA24-94B8-3A4539940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DC85A-339B-4BEF-347C-C3B286D0D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60C564-8A93-DFED-C099-287188D5C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1B2A3B"/>
                </a:solidFill>
              </a:rPr>
              <a:t>Data Sources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C5650-B236-2BE4-54F0-309106F7F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566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3A135-2108-F847-C2E3-C39B241C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D500E-AF6D-CF71-064B-179673102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8E7A1-AD2A-0152-4D52-BA4419A68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1B2A3B"/>
                </a:solidFill>
              </a:rPr>
              <a:t>Data Sources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BEA6A-6C02-C260-C42A-081901C0C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8178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D76C0-7C46-9275-43CA-404C92B13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2D46A-6EC9-3F0C-FCC4-836E086C4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9761A-484F-F951-D041-D5251E9EC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9DF06-031E-A262-D37F-932FFFDDC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558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BDE27-C231-CD00-E509-E3F32DBC2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F3C50-8CDB-2B2C-AABC-CB6BC7869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05FFF-CC3F-2606-970E-CD632801F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C1489-D248-D67E-E4AD-6137FFB79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42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76FFF-38B4-FEE2-0890-236FF240A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68667-0DE3-DCDD-2946-50E8D155D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2D3E11-1F39-D872-F9EC-AB55CE9F3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1E162-5708-F6BF-3822-2BFCBA767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057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B369D-E199-06D4-7814-3BFCE8017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BB910-24C5-F603-2DDE-E2C4E1855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7C9D7-4734-911E-1955-476ED9171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BC481-9C57-B0B8-EB39-A9FC13E6A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271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3D3D-EEEE-A0F2-806C-BE31BDBA5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EF0D7-E3B2-A2E3-1315-48196B4DD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E74A9-0579-9149-07A9-B35D43A2E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8A016-CE0D-E186-2D4D-F7CF7CB5D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811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BEDBE-CE08-F91B-4A09-352D1CE3D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6F313-31A9-32D1-F532-672D9FEC3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D578C-8484-DD5B-3114-B3620054A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12728-78C7-7679-A6BF-99DB3B927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115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91417-907A-67A0-77CE-A17CDEA8F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FA1FC-FDE1-A1E7-87C3-409E76049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91EDF-DFC2-91DD-A475-ECB31FE2D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E1E0C-4183-5204-56CE-11A697C63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573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21160-5DBB-EA70-8752-A378C1E80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2BB72-F5B9-7713-E0EB-DCDE01694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91302-77CA-1971-2A7B-48F1D35B6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4BCE8-6C8A-D7CC-4494-560044645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812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C4B3-47E6-F3EB-68D6-139726A0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C3212-4A66-1526-0145-1ED2CFD0E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4D01F-E4DC-5107-EA04-264C388EC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rend les données lisibles. L’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Enrichment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rend intelligentes pour la décision technique.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7EE80-DF28-62AD-19D3-EE025693F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293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0BBC-0986-574C-9CD7-40A9D146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80DD5-F4EE-E4DE-F29B-C061F473C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425AC3-DF6C-073F-370E-691835985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62E69-39D2-38B2-2BF2-CB13F8219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213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E1CEB-7531-66C5-3A24-FF7BAAA30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BDBAA-0E29-4589-C183-7F9D75A2C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160C0-8FEA-5E62-A695-185B3A209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Modifier HOW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6F52F-5944-F1E0-9EA9-BB24B728B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867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7F87-A6B9-974F-49D7-63956B2D5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78791-C636-8306-A397-400330786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037C0-AF0D-E800-791B-163F86BF6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E4157-FCF8-9DFD-8D45-8FE5A7DBE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00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587CD-017E-F979-B34C-EC9E4B91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D0A41-E2EB-0701-98C8-E4ECE72D3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4E765-359D-86F2-3361-2ACA2BBC7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C70EE-F816-6146-8359-1C9E11F0F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158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1C833-F237-3800-4DB6-0E9788CD7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87B9E-9869-28E5-B966-45725849E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D3004-E6AE-89F5-DD12-2622C61D1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8F543-413D-E697-2BF9-8063DA796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575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9E204-3E95-E0A1-838C-BFF09A92F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99E412-9F26-9AB0-14DA-429CB3FB1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7FCC2-98CE-A715-6404-875E434F7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5DB2C-8D82-02BD-9329-CB4417131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638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2F487-0165-1430-961C-567078131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D3909-DFEE-B301-0E47-5EB9E39FB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C3387-B538-4A38-2EC0-E8625A1B9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A1215-216F-305F-891A-BA5DCF8EF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055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2D515-B745-CBA5-58CF-711BC63AF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E3036-DF05-4264-377E-3D5A69B06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05B8A-E9B5-3601-6074-705689FA5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59389-56AC-6D7D-8FEB-299056B0F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6181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00B3B-F0A6-D2DD-40B7-84F0323EE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4C535-2965-430C-3EFD-CC418AEB6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E20F9-B262-3157-585D-2A119DE09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3BED2-F8B9-3623-B948-0818F5643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8429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7B855-7CCC-33C7-9CBF-299690CC8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8001E-E9BA-111E-2C3A-F02B64B43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8A619-D052-510B-ED14-8B55C695C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80CA9-E0E0-643D-2F03-178DB0C2D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070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93FB7-835B-3D96-FEE1-C4BF681A0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D62C57-1E03-7026-9743-C0833842E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F3DC4-3750-208A-7A47-6BC24BBFE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4CD15-6DD7-149B-291F-7FF4B7E45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946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93388-651D-EF78-4C77-8341716B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3E477-5EC5-93CB-A91D-A6E0A9C69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FD860-031C-47AD-F03E-65BDAAFDF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76C46-C83C-C20D-0646-3C1A76C93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542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33D8-32FE-74CA-3CCA-BC262613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FE11-F6BC-87D5-3EC5-4605430F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DD177-609D-A6B8-9455-DF78BB460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fr-FR" sz="1200" b="1" noProof="0" dirty="0" err="1">
                <a:solidFill>
                  <a:srgbClr val="3C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200" b="1" noProof="0" dirty="0">
                <a:solidFill>
                  <a:srgbClr val="3C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</a:t>
            </a:r>
            <a:r>
              <a:rPr lang="fr-FR" sz="1200" noProof="0" dirty="0">
                <a:solidFill>
                  <a:srgbClr val="3C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la réponse structurée à cette question : pour chaque issue GitHub, on crée une fiche qui indique le statut de résolution, les </a:t>
            </a:r>
            <a:r>
              <a:rPr lang="fr-FR" sz="12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fr-FR" sz="12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liés, et les fichiers modifiés par le fix. 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FC9E-0D1F-3EB1-91E0-B109A7E0A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797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33D8-32FE-74CA-3CCA-BC262613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FE11-F6BC-87D5-3EC5-4605430F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DD177-609D-A6B8-9455-DF78BB460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noProof="0" dirty="0">
                <a:solidFill>
                  <a:srgbClr val="334155"/>
                </a:solidFill>
              </a:rPr>
              <a:t>1. Start from a resolved GitHub issue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2. Fetch all related PRs (pull requests) for that repo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3. Match PRs to the issue via text similarity + label linking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4. Fetch commits from each candidate PR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5. Compute </a:t>
            </a:r>
            <a:r>
              <a:rPr lang="en-US" sz="1200" b="0" noProof="0" dirty="0" err="1">
                <a:solidFill>
                  <a:srgbClr val="334155"/>
                </a:solidFill>
              </a:rPr>
              <a:t>link_score</a:t>
            </a:r>
            <a:r>
              <a:rPr lang="en-US" sz="1200" b="0" noProof="0" dirty="0">
                <a:solidFill>
                  <a:srgbClr val="334155"/>
                </a:solidFill>
              </a:rPr>
              <a:t> (0.0–1.0) and </a:t>
            </a:r>
            <a:r>
              <a:rPr lang="en-US" sz="1200" b="0" noProof="0" dirty="0" err="1">
                <a:solidFill>
                  <a:srgbClr val="334155"/>
                </a:solidFill>
              </a:rPr>
              <a:t>link_confidence</a:t>
            </a:r>
            <a:endParaRPr lang="en-US" sz="1200" b="0" noProof="0" dirty="0">
              <a:solidFill>
                <a:srgbClr val="334155"/>
              </a:solidFill>
            </a:endParaRPr>
          </a:p>
          <a:p>
            <a:r>
              <a:rPr lang="en-US" sz="1200" b="0" noProof="0" dirty="0">
                <a:solidFill>
                  <a:srgbClr val="334155"/>
                </a:solidFill>
              </a:rPr>
              <a:t>6. Assign </a:t>
            </a:r>
            <a:r>
              <a:rPr lang="en-US" sz="1200" b="0" noProof="0" dirty="0" err="1">
                <a:solidFill>
                  <a:srgbClr val="334155"/>
                </a:solidFill>
              </a:rPr>
              <a:t>resolution_status</a:t>
            </a:r>
            <a:r>
              <a:rPr lang="en-US" sz="1200" b="0" noProof="0" dirty="0">
                <a:solidFill>
                  <a:srgbClr val="334155"/>
                </a:solidFill>
              </a:rPr>
              <a:t>: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</a:t>
            </a:r>
            <a:r>
              <a:rPr lang="en-US" sz="1200" b="0" noProof="0" dirty="0" err="1">
                <a:solidFill>
                  <a:srgbClr val="334155"/>
                </a:solidFill>
              </a:rPr>
              <a:t>merged_fix</a:t>
            </a:r>
            <a:r>
              <a:rPr lang="en-US" sz="1200" b="0" noProof="0" dirty="0">
                <a:solidFill>
                  <a:srgbClr val="334155"/>
                </a:solidFill>
              </a:rPr>
              <a:t> — PR merged, commit confirmed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</a:t>
            </a:r>
            <a:r>
              <a:rPr lang="en-US" sz="1200" b="0" noProof="0" dirty="0" err="1">
                <a:solidFill>
                  <a:srgbClr val="334155"/>
                </a:solidFill>
              </a:rPr>
              <a:t>candidate_fix</a:t>
            </a:r>
            <a:r>
              <a:rPr lang="en-US" sz="1200" b="0" noProof="0" dirty="0">
                <a:solidFill>
                  <a:srgbClr val="334155"/>
                </a:solidFill>
              </a:rPr>
              <a:t> — strong candidate, not 100% confirmed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</a:t>
            </a:r>
            <a:r>
              <a:rPr lang="en-US" sz="1200" b="0" noProof="0" dirty="0" err="1">
                <a:solidFill>
                  <a:srgbClr val="334155"/>
                </a:solidFill>
              </a:rPr>
              <a:t>reference_only</a:t>
            </a:r>
            <a:r>
              <a:rPr lang="en-US" sz="1200" b="0" noProof="0" dirty="0">
                <a:solidFill>
                  <a:srgbClr val="334155"/>
                </a:solidFill>
              </a:rPr>
              <a:t> — mentioned but not a direct fix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unlinked — no credible fix path found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7. Generate </a:t>
            </a:r>
            <a:r>
              <a:rPr lang="en-US" sz="1200" b="0" noProof="0" dirty="0" err="1">
                <a:solidFill>
                  <a:srgbClr val="334155"/>
                </a:solidFill>
              </a:rPr>
              <a:t>resolver_card_text</a:t>
            </a:r>
            <a:r>
              <a:rPr lang="en-US" sz="1200" b="0" noProof="0" dirty="0">
                <a:solidFill>
                  <a:srgbClr val="334155"/>
                </a:solidFill>
              </a:rPr>
              <a:t> (structured fix summary)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FC9E-0D1F-3EB1-91E0-B109A7E0A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797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31EE3-0BF0-1AF6-61C2-C1FED5623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AD42CA-7787-C14C-AA83-6D778E6C4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2A8B0-87F5-F54F-6E18-07D9D1023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noProof="0" dirty="0">
                <a:solidFill>
                  <a:srgbClr val="334155"/>
                </a:solidFill>
              </a:rPr>
              <a:t>1. Start from a resolved GitHub issue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2. Fetch all related PRs (pull requests) for that repo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3. Match PRs to the issue via text similarity + label linking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4. Fetch commits from each candidate PR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5. Compute </a:t>
            </a:r>
            <a:r>
              <a:rPr lang="en-US" sz="1200" b="0" noProof="0" dirty="0" err="1">
                <a:solidFill>
                  <a:srgbClr val="334155"/>
                </a:solidFill>
              </a:rPr>
              <a:t>link_score</a:t>
            </a:r>
            <a:r>
              <a:rPr lang="en-US" sz="1200" b="0" noProof="0" dirty="0">
                <a:solidFill>
                  <a:srgbClr val="334155"/>
                </a:solidFill>
              </a:rPr>
              <a:t> (0.0–1.0) and </a:t>
            </a:r>
            <a:r>
              <a:rPr lang="en-US" sz="1200" b="0" noProof="0" dirty="0" err="1">
                <a:solidFill>
                  <a:srgbClr val="334155"/>
                </a:solidFill>
              </a:rPr>
              <a:t>link_confidence</a:t>
            </a:r>
            <a:endParaRPr lang="en-US" sz="1200" b="0" noProof="0" dirty="0">
              <a:solidFill>
                <a:srgbClr val="334155"/>
              </a:solidFill>
            </a:endParaRPr>
          </a:p>
          <a:p>
            <a:r>
              <a:rPr lang="en-US" sz="1200" b="0" noProof="0" dirty="0">
                <a:solidFill>
                  <a:srgbClr val="334155"/>
                </a:solidFill>
              </a:rPr>
              <a:t>6. Assign </a:t>
            </a:r>
            <a:r>
              <a:rPr lang="en-US" sz="1200" b="0" noProof="0" dirty="0" err="1">
                <a:solidFill>
                  <a:srgbClr val="334155"/>
                </a:solidFill>
              </a:rPr>
              <a:t>resolution_status</a:t>
            </a:r>
            <a:r>
              <a:rPr lang="en-US" sz="1200" b="0" noProof="0" dirty="0">
                <a:solidFill>
                  <a:srgbClr val="334155"/>
                </a:solidFill>
              </a:rPr>
              <a:t>: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</a:t>
            </a:r>
            <a:r>
              <a:rPr lang="en-US" sz="1200" b="0" noProof="0" dirty="0" err="1">
                <a:solidFill>
                  <a:srgbClr val="334155"/>
                </a:solidFill>
              </a:rPr>
              <a:t>merged_fix</a:t>
            </a:r>
            <a:r>
              <a:rPr lang="en-US" sz="1200" b="0" noProof="0" dirty="0">
                <a:solidFill>
                  <a:srgbClr val="334155"/>
                </a:solidFill>
              </a:rPr>
              <a:t> — PR merged, commit confirmed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</a:t>
            </a:r>
            <a:r>
              <a:rPr lang="en-US" sz="1200" b="0" noProof="0" dirty="0" err="1">
                <a:solidFill>
                  <a:srgbClr val="334155"/>
                </a:solidFill>
              </a:rPr>
              <a:t>candidate_fix</a:t>
            </a:r>
            <a:r>
              <a:rPr lang="en-US" sz="1200" b="0" noProof="0" dirty="0">
                <a:solidFill>
                  <a:srgbClr val="334155"/>
                </a:solidFill>
              </a:rPr>
              <a:t> — strong candidate, not 100% confirmed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</a:t>
            </a:r>
            <a:r>
              <a:rPr lang="en-US" sz="1200" b="0" noProof="0" dirty="0" err="1">
                <a:solidFill>
                  <a:srgbClr val="334155"/>
                </a:solidFill>
              </a:rPr>
              <a:t>reference_only</a:t>
            </a:r>
            <a:r>
              <a:rPr lang="en-US" sz="1200" b="0" noProof="0" dirty="0">
                <a:solidFill>
                  <a:srgbClr val="334155"/>
                </a:solidFill>
              </a:rPr>
              <a:t> — mentioned but not a direct fix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unlinked — no credible fix path found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7. Generate </a:t>
            </a:r>
            <a:r>
              <a:rPr lang="en-US" sz="1200" b="0" noProof="0" dirty="0" err="1">
                <a:solidFill>
                  <a:srgbClr val="334155"/>
                </a:solidFill>
              </a:rPr>
              <a:t>resolver_card_text</a:t>
            </a:r>
            <a:r>
              <a:rPr lang="en-US" sz="1200" b="0" noProof="0" dirty="0">
                <a:solidFill>
                  <a:srgbClr val="334155"/>
                </a:solidFill>
              </a:rPr>
              <a:t> (structured fix summary)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CC9A3-07F9-B70C-F5D9-397F4A98F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4151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BCCB4-23CD-56A5-EE54-C7E9B5025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06526-C30E-F051-3054-61F42775D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7D38EBB-E9BC-DC73-A0B4-5988A84F27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Dans ton pipeline, un commit est considéré non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meaningful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si son message commence par:</a:t>
                </a:r>
              </a:p>
              <a:p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merge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branch</a:t>
                </a:r>
                <a:endParaRPr lang="fr-FR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merge pull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request</a:t>
                </a:r>
                <a:endParaRPr lang="fr-FR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Commit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meaningful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vrai changement de code (patch, correction,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refactor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utile au bug).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Commit non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meaningful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commit de merge “administratif” sans preuve technique directe.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 min dans le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calcul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de score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veut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dire: 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plafonne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le score à 1.0.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Formellement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𝑠𝑐𝑜𝑟𝑒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min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⁡</m:t>
                      </m:r>
                      <m:d>
                        <m:dPr>
                          <m:sepChr m:val=",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  </m:t>
                          </m:r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𝑠𝑐𝑜𝑟</m:t>
                          </m:r>
                          <m:sSub>
                            <m:sSubPr>
                              <m:ctrlP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𝑏𝑟𝑢𝑡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Interprétation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simple: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score brut = 0.8,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alors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score final = 0.8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score brut = 1.2,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alors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score final = 1.0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Pourquoi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on met min: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C’est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sécurité pour ne jamais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dépasser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1.0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Même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plus tard 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ajoute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d’autres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bonus, le score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reste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borné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Avec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règles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actuelles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le maximum est déjà 1.0,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mais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min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reste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bonne protection.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Exemple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rapide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commit meaningful: </a:t>
                </a:r>
                <a14:m>
                  <m:oMath xmlns:m="http://schemas.openxmlformats.org/officeDocument/2006/math"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5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3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pas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commit meaningful: </a:t>
                </a:r>
                <a14:m>
                  <m:oMath xmlns:m="http://schemas.openxmlformats.org/officeDocument/2006/math"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5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8</m:t>
                    </m:r>
                  </m:oMath>
                </a14:m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Seulement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commit meaningful, sans 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 </a:t>
                </a:r>
                <a14:m>
                  <m:oMath xmlns:m="http://schemas.openxmlformats.org/officeDocument/2006/math"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(signal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faible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</a:p>
              <a:p>
                <a:endParaRPr lang="fr-FR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7D38EBB-E9BC-DC73-A0B4-5988A84F27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Dans ton pipeline, un commit est considéré non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meaningful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si son message commence par:</a:t>
                </a:r>
              </a:p>
              <a:p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merge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branch</a:t>
                </a:r>
                <a:endParaRPr lang="fr-FR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merge pull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request</a:t>
                </a:r>
                <a:endParaRPr lang="fr-FR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Commit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meaningful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= vrai changement de code (patch, correction,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refactor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utile au bug).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Commit non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meaningful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= commit de merge “administratif” sans preuve technique directe.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e min dans le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calcul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de score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veut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dire: 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plafonne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le score à 1.0.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Formellement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𝑠𝑐𝑜𝑟𝑒=min⁡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(1.0ⓜ,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"  " 𝑠𝑐𝑜𝑟𝑒_𝑏𝑟𝑢𝑡 )</a:t>
                </a:r>
                <a:endParaRPr lang="ar-A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Interprétation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simple: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Si score brut = 0.8,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alors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score final = 0.8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Si score brut = 1.2,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alors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score final = 1.0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Pourquoi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on met min: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C’est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sécurité pour ne jamais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dépasser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1.0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Même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plus tard 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ajoute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d’autres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bonus, le score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reste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borné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Avec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règles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actuelles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, le maximum est déjà 1.0,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mais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min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reste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bonne protection.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Exemple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rapide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+ 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+ commit meaningful: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0.5+0.3+0.2=1.0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+ pas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+ commit meaningful: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0.5+0.1+0.2=0.8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Seulement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commit meaningful, sans 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0.2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 (signal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faible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</a:p>
              <a:p>
                <a:endParaRPr lang="fr-FR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4E90E-9765-7CA8-88F9-6E90BF2616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3674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8973A-47EB-82CD-6F34-0451F4B21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5DBF38-1610-CA93-6D02-7B8142D36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1F05F-73A1-1FF1-6D0B-CF774F44C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merged_fix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a une preuve forte qu’un correctif est intégré.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mergée + commit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meaningful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à dire: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“Le fix est très probablement dans la branche principale.”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candidate_fix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a un candidat sérieux de correction, mais pas encore confirmé à 100%.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trouvée + commit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meaningful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mais merge non confirmé.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à dire: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“Le correctif est plausible, à valider avant de conclure.”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reference_only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existe une PR liée au sujet, mais sans preuve technique suffisante du fix.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trouvée, mais pas de commit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meaningful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à dire: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“C’est une référence utile, pas une preuve de correction.”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unlinked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Aucun chemin crédible issue → PR → commit n’a été trouvé.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 de liaison fiable vers un fix.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à dire: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“Pas de preuve de correction disponible, on passe en diagnostic par similarité.”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Résumé ultra-court (ligne slide):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merged_fix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confirmé,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candidate_fix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probable,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reference_only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indicatif,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unlinked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non prouvé.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Case ne devine pas un fix, il mesure une chaîne de preuves; notre amélioration consiste à enrichir cette preuve pour passer d’un score heuristique à une décision plus fiable et plus explicable.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168BA-F95D-F7A2-5E2C-082CD1C88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5270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24481-2EE5-93C2-C429-B33735DCA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E12E6-9FC7-79A5-FF58-800D39BE3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51BF0-8F20-0797-812D-7239096A8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</a:t>
            </a:r>
            <a:r>
              <a:rPr lang="fr-FR" sz="120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</a:t>
            </a:r>
            <a:r>
              <a:rPr lang="fr-FR" sz="1200" b="1" noProof="0" dirty="0" err="1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fusionne l'issue GitHub + le </a:t>
            </a:r>
            <a:r>
              <a:rPr lang="fr-FR" sz="12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 pour produire : le symptôme, les causes probables, les actions de </a:t>
            </a:r>
            <a:r>
              <a:rPr lang="fr-FR" sz="12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les contournements, les faits confirmés et les liens de preuve ,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EE9F0-5B41-FD67-892A-D6A02DC68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470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51E73-4B52-235A-0305-0F524B63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ECD25-4A04-1A6D-4CE9-936C1D625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FDB37-EC91-CBF6-088F-2283912CA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Diagnostic Cards convert raw GitHub history into </a:t>
            </a:r>
          </a:p>
          <a:p>
            <a:r>
              <a:rPr lang="en-US" sz="1600" b="1" noProof="0" dirty="0">
                <a:solidFill>
                  <a:srgbClr val="FFD200"/>
                </a:solidFill>
              </a:rPr>
              <a:t>Card Statistics &amp; Scores</a:t>
            </a:r>
          </a:p>
          <a:p>
            <a:endParaRPr lang="en-US" sz="1000" dirty="0"/>
          </a:p>
          <a:p>
            <a:r>
              <a:rPr lang="en-US" sz="1200" b="1" noProof="0" dirty="0">
                <a:solidFill>
                  <a:srgbClr val="FFD200"/>
                </a:solidFill>
              </a:rPr>
              <a:t>18 diagnostic cards delivered — distribution: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● 13 technical diagnostic cards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● 3 assistant behavior cards (guardrails, uncertainty handling)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● 2 resolution guidance cards (structured fix workflows)</a:t>
            </a:r>
          </a:p>
          <a:p>
            <a:endParaRPr lang="en-US" sz="1000" dirty="0"/>
          </a:p>
          <a:p>
            <a:r>
              <a:rPr lang="en-US" sz="1200" b="1" noProof="0" dirty="0">
                <a:solidFill>
                  <a:srgbClr val="FFD200"/>
                </a:solidFill>
              </a:rPr>
              <a:t>Confidence score distribution: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● High confidence (score &gt;= 0.75): 8 cards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● Medium confidence (0.50–0.74): 7 cards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● Low confidence (score </a:t>
            </a:r>
            <a:r>
              <a:rPr lang="en-US" sz="1200" b="0" noProof="0" dirty="0" err="1">
                <a:solidFill>
                  <a:srgbClr val="334155"/>
                </a:solidFill>
              </a:rPr>
              <a:t>lt</a:t>
            </a:r>
            <a:r>
              <a:rPr lang="en-US" sz="1200" b="0" noProof="0" dirty="0">
                <a:solidFill>
                  <a:srgbClr val="334155"/>
                </a:solidFill>
              </a:rPr>
              <a:t> 0.50): 3 cards</a:t>
            </a:r>
          </a:p>
          <a:p>
            <a:endParaRPr lang="en-US" sz="1000" dirty="0"/>
          </a:p>
          <a:p>
            <a:r>
              <a:rPr lang="en-US" sz="1200" b="1" noProof="0" dirty="0">
                <a:solidFill>
                  <a:srgbClr val="FFD200"/>
                </a:solidFill>
              </a:rPr>
              <a:t>Schema validation pass rate: </a:t>
            </a:r>
            <a:r>
              <a:rPr lang="en-US" sz="1200" b="1" noProof="0" dirty="0" err="1">
                <a:solidFill>
                  <a:srgbClr val="FFD200"/>
                </a:solidFill>
              </a:rPr>
              <a:t>gt</a:t>
            </a:r>
            <a:r>
              <a:rPr lang="en-US" sz="1200" b="1" noProof="0" dirty="0">
                <a:solidFill>
                  <a:srgbClr val="FFD200"/>
                </a:solidFill>
              </a:rPr>
              <a:t> 95%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All card fields verified: problem, context, facts,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hypotheses, actions, </a:t>
            </a:r>
            <a:r>
              <a:rPr lang="en-US" sz="1200" b="0" noProof="0" dirty="0" err="1">
                <a:solidFill>
                  <a:srgbClr val="334155"/>
                </a:solidFill>
              </a:rPr>
              <a:t>fix_reference</a:t>
            </a:r>
            <a:r>
              <a:rPr lang="en-US" sz="1200" b="0" noProof="0" dirty="0">
                <a:solidFill>
                  <a:srgbClr val="334155"/>
                </a:solidFill>
              </a:rPr>
              <a:t>, </a:t>
            </a:r>
            <a:r>
              <a:rPr lang="en-US" sz="1200" b="0" noProof="0" dirty="0" err="1">
                <a:solidFill>
                  <a:srgbClr val="334155"/>
                </a:solidFill>
              </a:rPr>
              <a:t>confidence_level</a:t>
            </a:r>
            <a:endParaRPr lang="en-US" sz="1200" b="0" noProof="0" dirty="0">
              <a:solidFill>
                <a:srgbClr val="334155"/>
              </a:solidFill>
            </a:endParaRPr>
          </a:p>
          <a:p>
            <a:endParaRPr lang="en-US" sz="1000" dirty="0"/>
          </a:p>
          <a:p>
            <a:r>
              <a:rPr lang="en-US" sz="1200" b="1" noProof="0" dirty="0">
                <a:solidFill>
                  <a:srgbClr val="16A34A"/>
                </a:solidFill>
              </a:rPr>
              <a:t>Key value: cards answer support questions directly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without requiring the user to browse raw issues.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Traceable to real GitHub issue + PR + commit.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immediate troubleshooting guidance: what is confirmed, what is still hypothesis, what to test now, and where the fix evidence is. They make support faster, more consistent, and fully traceable.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7584D-EBDF-5C3B-5579-C79F94687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4055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FF458-9BEB-7FE3-B990-3ACDD95FE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2AAC3-261A-1580-0D4C-4C34BBE51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FA201-4BA9-254B-6147-4E5469433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B87D2-9062-389E-AF51-5967FD882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376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93388-651D-EF78-4C77-8341716B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3E477-5EC5-93CB-A91D-A6E0A9C69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FD860-031C-47AD-F03E-65BDAAFDF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76C46-C83C-C20D-0646-3C1A76C93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5420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7BAC4-E5F5-AFD6-29F6-99F851EF0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FD2B0-F56C-D705-5773-3A333AC68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8ECB1-5CCE-EEE7-F1F8-15A131A6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2475D-9BAF-7BE6-EC6F-C0F897643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68714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D5E6C-375F-235A-0510-7B3AF7538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D41BA-8948-5E82-C6DE-C543AFE8D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86D423-4E82-F896-2F49-E8DF661F8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DD171-7D9D-D1C9-9A20-C8DCCA5DE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189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9F91F-7C61-6A7A-0FD4-24A76D49A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D282C5-692D-B577-9E9C-353FE51B1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4329D-9D5B-B2B6-3004-C2256B29C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3497A-DBD7-0820-921F-044C59643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46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0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trademark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  <p:pic>
        <p:nvPicPr>
          <p:cNvPr id="6" name="Graphic 7">
            <a:extLst>
              <a:ext uri="{FF2B5EF4-FFF2-40B4-BE49-F238E27FC236}">
                <a16:creationId xmlns:a16="http://schemas.microsoft.com/office/drawing/2014/main" id="{0A935D2C-8C8E-184B-D8FC-8FF74926C0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33052DD4-CDE3-4E33-AB80-AED4CE4AC3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1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t.service-now.com/hub?id=support_details&amp;topic=d0a6002b1b53d2d0aaf48553604bcb1b" TargetMode="External"/><Relationship Id="rId5" Type="http://schemas.openxmlformats.org/officeDocument/2006/relationships/hyperlink" Target="https://st.service-now.com/hub?id=sc_cat_item&amp;sys_id=b7e4acc9fb1d66103949f4bbaeefdc7b" TargetMode="Externa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t.service-now.com/hub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10" Type="http://schemas.openxmlformats.org/officeDocument/2006/relationships/image" Target="../media/image11.svg"/><Relationship Id="rId4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24.svg"/><Relationship Id="rId5" Type="http://schemas.openxmlformats.org/officeDocument/2006/relationships/image" Target="../media/image21.png"/><Relationship Id="rId10" Type="http://schemas.openxmlformats.org/officeDocument/2006/relationships/image" Target="../media/image11.svg"/><Relationship Id="rId4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24.svg"/><Relationship Id="rId5" Type="http://schemas.openxmlformats.org/officeDocument/2006/relationships/image" Target="../media/image21.png"/><Relationship Id="rId10" Type="http://schemas.openxmlformats.org/officeDocument/2006/relationships/image" Target="../media/image11.svg"/><Relationship Id="rId4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24.svg"/><Relationship Id="rId5" Type="http://schemas.openxmlformats.org/officeDocument/2006/relationships/image" Target="../media/image21.png"/><Relationship Id="rId10" Type="http://schemas.openxmlformats.org/officeDocument/2006/relationships/image" Target="../media/image11.svg"/><Relationship Id="rId4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3.svg"/><Relationship Id="rId4" Type="http://schemas.openxmlformats.org/officeDocument/2006/relationships/image" Target="../media/image9.png"/><Relationship Id="rId9" Type="http://schemas.openxmlformats.org/officeDocument/2006/relationships/image" Target="../media/image32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2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9.png"/><Relationship Id="rId9" Type="http://schemas.openxmlformats.org/officeDocument/2006/relationships/image" Target="../media/image3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sv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34.svg"/><Relationship Id="rId5" Type="http://schemas.openxmlformats.org/officeDocument/2006/relationships/image" Target="../media/image29.png"/><Relationship Id="rId10" Type="http://schemas.openxmlformats.org/officeDocument/2006/relationships/image" Target="../media/image33.svg"/><Relationship Id="rId4" Type="http://schemas.openxmlformats.org/officeDocument/2006/relationships/image" Target="../media/image9.png"/><Relationship Id="rId9" Type="http://schemas.openxmlformats.org/officeDocument/2006/relationships/image" Target="../media/image3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34.svg"/><Relationship Id="rId5" Type="http://schemas.openxmlformats.org/officeDocument/2006/relationships/image" Target="../media/image29.png"/><Relationship Id="rId10" Type="http://schemas.openxmlformats.org/officeDocument/2006/relationships/image" Target="../media/image33.svg"/><Relationship Id="rId4" Type="http://schemas.openxmlformats.org/officeDocument/2006/relationships/image" Target="../media/image9.png"/><Relationship Id="rId9" Type="http://schemas.openxmlformats.org/officeDocument/2006/relationships/image" Target="../media/image32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2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9.png"/><Relationship Id="rId9" Type="http://schemas.openxmlformats.org/officeDocument/2006/relationships/image" Target="../media/image33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2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9.png"/><Relationship Id="rId9" Type="http://schemas.openxmlformats.org/officeDocument/2006/relationships/image" Target="../media/image33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svg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svg"/><Relationship Id="rId5" Type="http://schemas.openxmlformats.org/officeDocument/2006/relationships/image" Target="../media/image43.svg"/><Relationship Id="rId4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randportal.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B49D3ED-12A5-44AC-B654-9458A5FBE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7793" y="1741491"/>
            <a:ext cx="5795963" cy="2702071"/>
          </a:xfrm>
        </p:spPr>
        <p:txBody>
          <a:bodyPr/>
          <a:lstStyle/>
          <a:p>
            <a:r>
              <a:rPr lang="en-US" sz="3200" dirty="0"/>
              <a:t>An AI Tool for STM32Cube</a:t>
            </a:r>
            <a:br>
              <a:rPr lang="en-US" sz="3200" dirty="0"/>
            </a:br>
            <a:r>
              <a:rPr lang="en-US" sz="3200" dirty="0"/>
              <a:t>Technical Support</a:t>
            </a:r>
            <a:br>
              <a:rPr lang="en-US" sz="3200" dirty="0"/>
            </a:br>
            <a:br>
              <a:rPr lang="en-US" dirty="0"/>
            </a:br>
            <a:r>
              <a:rPr lang="en-US" sz="1400" b="0" dirty="0">
                <a:solidFill>
                  <a:srgbClr val="FFD200"/>
                </a:solidFill>
              </a:rPr>
              <a:t>From raw GitHub data to precise technical answers:</a:t>
            </a:r>
            <a:br>
              <a:rPr lang="en-US" sz="1400" b="0" dirty="0">
                <a:solidFill>
                  <a:srgbClr val="FFD200"/>
                </a:solidFill>
              </a:rPr>
            </a:br>
            <a:r>
              <a:rPr lang="en-US" sz="1400" b="0" dirty="0">
                <a:solidFill>
                  <a:srgbClr val="FFD200"/>
                </a:solidFill>
              </a:rPr>
              <a:t>Understanding how it works , step by step.</a:t>
            </a:r>
            <a:br>
              <a:rPr lang="en-US" sz="1400" b="0" dirty="0">
                <a:solidFill>
                  <a:srgbClr val="FFD200"/>
                </a:solidFill>
              </a:rPr>
            </a:br>
            <a:br>
              <a:rPr lang="en-US" b="0" dirty="0"/>
            </a:br>
            <a:endParaRPr lang="en-US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12613E07-DCF2-4461-AFF5-7A705127F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443562"/>
            <a:ext cx="6614858" cy="1077764"/>
          </a:xfrm>
        </p:spPr>
        <p:txBody>
          <a:bodyPr/>
          <a:lstStyle/>
          <a:p>
            <a:r>
              <a:rPr lang="en-US" sz="1400" dirty="0"/>
              <a:t>Presented by: Abir GHARBI</a:t>
            </a:r>
          </a:p>
          <a:p>
            <a:r>
              <a:rPr lang="en-US" sz="1400" dirty="0"/>
              <a:t>Supervised by: Ali LABBENE &amp; Omar SAKET</a:t>
            </a:r>
          </a:p>
          <a:p>
            <a:r>
              <a:rPr lang="en-US" sz="1400" dirty="0"/>
              <a:t>PFE - 2026 | STMicroelectronics Tunis | </a:t>
            </a:r>
            <a:r>
              <a:rPr lang="en-US" sz="1400" dirty="0">
                <a:solidFill>
                  <a:srgbClr val="3CB4E6"/>
                </a:solidFill>
              </a:rPr>
              <a:t>Support &amp; Maintenance Team</a:t>
            </a:r>
          </a:p>
          <a:p>
            <a:endParaRPr lang="en-US" sz="16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CB9452C-A8F1-3392-EFC2-16469AF87DE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1" r="9931"/>
          <a:stretch>
            <a:fillRect/>
          </a:stretch>
        </p:blipFill>
        <p:spPr>
          <a:xfrm>
            <a:off x="1509964" y="945499"/>
            <a:ext cx="4163410" cy="5195603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FF1"/>
          </a:solidFill>
        </p:spPr>
      </p:pic>
    </p:spTree>
    <p:extLst>
      <p:ext uri="{BB962C8B-B14F-4D97-AF65-F5344CB8AC3E}">
        <p14:creationId xmlns:p14="http://schemas.microsoft.com/office/powerpoint/2010/main" val="1939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3CB200B6-E899-4954-2A0F-ED520DD6A6F6}"/>
              </a:ext>
            </a:extLst>
          </p:cNvPr>
          <p:cNvSpPr/>
          <p:nvPr/>
        </p:nvSpPr>
        <p:spPr>
          <a:xfrm>
            <a:off x="1201051" y="282016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CB7097AA-F97E-84E6-C9A4-878757911C7D}"/>
              </a:ext>
            </a:extLst>
          </p:cNvPr>
          <p:cNvSpPr/>
          <p:nvPr/>
        </p:nvSpPr>
        <p:spPr>
          <a:xfrm>
            <a:off x="1201051" y="3716273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C0053C2B-298B-93D9-97F2-9203DCE5CF0F}"/>
              </a:ext>
            </a:extLst>
          </p:cNvPr>
          <p:cNvSpPr/>
          <p:nvPr/>
        </p:nvSpPr>
        <p:spPr>
          <a:xfrm>
            <a:off x="8651216" y="22034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3B"/>
                </a:solidFill>
              </a:rPr>
              <a:t>Today’s Program</a:t>
            </a:r>
            <a:endParaRPr lang="en-US" sz="260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FA5C86C0-D4E8-DF25-8871-83A58B5D3F54}"/>
              </a:ext>
            </a:extLst>
          </p:cNvPr>
          <p:cNvSpPr/>
          <p:nvPr/>
        </p:nvSpPr>
        <p:spPr>
          <a:xfrm>
            <a:off x="8651216" y="79641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8 steps to understand the project</a:t>
            </a:r>
            <a:endParaRPr lang="en-US" sz="120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5308CD81-8CD9-4091-B6EB-D8BEBF0F41EF}"/>
              </a:ext>
            </a:extLst>
          </p:cNvPr>
          <p:cNvSpPr/>
          <p:nvPr/>
        </p:nvSpPr>
        <p:spPr>
          <a:xfrm>
            <a:off x="3660007" y="1286892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1" name="Shape 3">
            <a:extLst>
              <a:ext uri="{FF2B5EF4-FFF2-40B4-BE49-F238E27FC236}">
                <a16:creationId xmlns:a16="http://schemas.microsoft.com/office/drawing/2014/main" id="{53934799-B40F-4D42-B2C0-7094A4754C29}"/>
              </a:ext>
            </a:extLst>
          </p:cNvPr>
          <p:cNvSpPr/>
          <p:nvPr/>
        </p:nvSpPr>
        <p:spPr>
          <a:xfrm>
            <a:off x="1201051" y="192404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3" name="Text 5">
            <a:extLst>
              <a:ext uri="{FF2B5EF4-FFF2-40B4-BE49-F238E27FC236}">
                <a16:creationId xmlns:a16="http://schemas.microsoft.com/office/drawing/2014/main" id="{6CA5BEBA-A1A5-0B7A-D552-E2C13E044A80}"/>
              </a:ext>
            </a:extLst>
          </p:cNvPr>
          <p:cNvSpPr/>
          <p:nvPr/>
        </p:nvSpPr>
        <p:spPr>
          <a:xfrm>
            <a:off x="1201051" y="1924049"/>
            <a:ext cx="388440" cy="749808"/>
          </a:xfrm>
          <a:prstGeom prst="rect">
            <a:avLst/>
          </a:prstGeom>
          <a:solidFill>
            <a:srgbClr val="3CB4E6"/>
          </a:solidFill>
          <a:ln>
            <a:solidFill>
              <a:srgbClr val="3CB4E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30924A1A-7560-AA40-3D09-15658A9F5156}"/>
              </a:ext>
            </a:extLst>
          </p:cNvPr>
          <p:cNvSpPr/>
          <p:nvPr/>
        </p:nvSpPr>
        <p:spPr>
          <a:xfrm>
            <a:off x="1690255" y="289331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What this project does ?</a:t>
            </a:r>
            <a:endParaRPr lang="en-US" sz="1200" dirty="0"/>
          </a:p>
        </p:txBody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18E80990-CA75-1843-212E-AB9262C2DEDF}"/>
              </a:ext>
            </a:extLst>
          </p:cNvPr>
          <p:cNvSpPr/>
          <p:nvPr/>
        </p:nvSpPr>
        <p:spPr>
          <a:xfrm>
            <a:off x="1690255" y="3204209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The daily problem it solves</a:t>
            </a:r>
            <a:endParaRPr lang="en-US" sz="90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B0771FB9-284C-8FE1-243A-D16FE18B32CD}"/>
              </a:ext>
            </a:extLst>
          </p:cNvPr>
          <p:cNvSpPr/>
          <p:nvPr/>
        </p:nvSpPr>
        <p:spPr>
          <a:xfrm>
            <a:off x="1201051" y="2820161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AA98F3B6-0863-41FB-62FE-9582C2B7A465}"/>
              </a:ext>
            </a:extLst>
          </p:cNvPr>
          <p:cNvSpPr/>
          <p:nvPr/>
        </p:nvSpPr>
        <p:spPr>
          <a:xfrm>
            <a:off x="1201051" y="282016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6389ED17-84E7-C63D-FACE-53F8696A9581}"/>
              </a:ext>
            </a:extLst>
          </p:cNvPr>
          <p:cNvSpPr/>
          <p:nvPr/>
        </p:nvSpPr>
        <p:spPr>
          <a:xfrm>
            <a:off x="1676539" y="37846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Where AI stands in here !</a:t>
            </a:r>
            <a:endParaRPr lang="en-US" sz="1200" dirty="0"/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07A81C4F-635A-7B98-3835-6B9DD17D7C7F}"/>
              </a:ext>
            </a:extLst>
          </p:cNvPr>
          <p:cNvSpPr/>
          <p:nvPr/>
        </p:nvSpPr>
        <p:spPr>
          <a:xfrm>
            <a:off x="1676539" y="41138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Persona, Knowledge Base, Data Sources</a:t>
            </a:r>
            <a:endParaRPr lang="en-US" sz="90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92FEC86C-BB5A-1D91-6A7E-49118EA970C4}"/>
              </a:ext>
            </a:extLst>
          </p:cNvPr>
          <p:cNvSpPr/>
          <p:nvPr/>
        </p:nvSpPr>
        <p:spPr>
          <a:xfrm>
            <a:off x="1201051" y="3716273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D86D891C-C1F5-A692-9DC9-D94D77D39BB6}"/>
              </a:ext>
            </a:extLst>
          </p:cNvPr>
          <p:cNvSpPr/>
          <p:nvPr/>
        </p:nvSpPr>
        <p:spPr>
          <a:xfrm>
            <a:off x="1201051" y="3716273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BCA273A2-EEA0-311D-5453-77990BADD877}"/>
              </a:ext>
            </a:extLst>
          </p:cNvPr>
          <p:cNvSpPr/>
          <p:nvPr/>
        </p:nvSpPr>
        <p:spPr>
          <a:xfrm>
            <a:off x="1703971" y="201548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Meet the STM32Cube persona</a:t>
            </a:r>
            <a:endParaRPr lang="en-US" sz="1200" dirty="0"/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F12DB912-11D5-2F77-C6B4-5F4842A2A505}"/>
              </a:ext>
            </a:extLst>
          </p:cNvPr>
          <p:cNvSpPr/>
          <p:nvPr/>
        </p:nvSpPr>
        <p:spPr>
          <a:xfrm>
            <a:off x="1703971" y="230118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What our project is building</a:t>
            </a:r>
            <a:endParaRPr lang="en-US" sz="90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4BF11FD2-AB41-C7D0-421D-73076609D7CE}"/>
              </a:ext>
            </a:extLst>
          </p:cNvPr>
          <p:cNvSpPr/>
          <p:nvPr/>
        </p:nvSpPr>
        <p:spPr>
          <a:xfrm>
            <a:off x="1201051" y="461238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BEC9AEC7-C1BF-07CE-B9C8-93043C5AA7BD}"/>
              </a:ext>
            </a:extLst>
          </p:cNvPr>
          <p:cNvSpPr/>
          <p:nvPr/>
        </p:nvSpPr>
        <p:spPr>
          <a:xfrm>
            <a:off x="1201051" y="4612385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412D407E-3894-F323-668C-AAFE8362F062}"/>
              </a:ext>
            </a:extLst>
          </p:cNvPr>
          <p:cNvSpPr/>
          <p:nvPr/>
        </p:nvSpPr>
        <p:spPr>
          <a:xfrm>
            <a:off x="1201051" y="461238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6CD3CD78-7441-6A5A-F2C1-7A0EE7E38B72}"/>
              </a:ext>
            </a:extLst>
          </p:cNvPr>
          <p:cNvSpPr/>
          <p:nvPr/>
        </p:nvSpPr>
        <p:spPr>
          <a:xfrm>
            <a:off x="1676539" y="4685537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The preprocessing pipeline</a:t>
            </a:r>
            <a:endParaRPr lang="en-US" sz="1200" dirty="0"/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C59B4263-7F56-055A-76C2-71CECE0214D9}"/>
              </a:ext>
            </a:extLst>
          </p:cNvPr>
          <p:cNvSpPr/>
          <p:nvPr/>
        </p:nvSpPr>
        <p:spPr>
          <a:xfrm>
            <a:off x="1676539" y="501472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Ingest → Clean → Enrich → Deliver</a:t>
            </a:r>
            <a:endParaRPr lang="en-US" sz="90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6DEED9C1-E6EF-67F3-2799-203EBC915CEA}"/>
              </a:ext>
            </a:extLst>
          </p:cNvPr>
          <p:cNvSpPr/>
          <p:nvPr/>
        </p:nvSpPr>
        <p:spPr>
          <a:xfrm>
            <a:off x="6840914" y="192404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A4ECB424-14EF-5603-1CAB-D6AEFB60BF98}"/>
              </a:ext>
            </a:extLst>
          </p:cNvPr>
          <p:cNvSpPr/>
          <p:nvPr/>
        </p:nvSpPr>
        <p:spPr>
          <a:xfrm>
            <a:off x="6840914" y="1924049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457AD473-4FF8-7C87-441F-BF313FC30029}"/>
              </a:ext>
            </a:extLst>
          </p:cNvPr>
          <p:cNvSpPr/>
          <p:nvPr/>
        </p:nvSpPr>
        <p:spPr>
          <a:xfrm>
            <a:off x="6840914" y="192404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CA0625CB-51A9-BDD7-3454-C87247F5FC06}"/>
              </a:ext>
            </a:extLst>
          </p:cNvPr>
          <p:cNvSpPr/>
          <p:nvPr/>
        </p:nvSpPr>
        <p:spPr>
          <a:xfrm>
            <a:off x="7316402" y="19972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Results &amp; evaluation</a:t>
            </a:r>
            <a:endParaRPr lang="en-US" sz="1200" dirty="0"/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0F05D51A-E891-4135-9FF9-4FC027ED26C2}"/>
              </a:ext>
            </a:extLst>
          </p:cNvPr>
          <p:cNvSpPr/>
          <p:nvPr/>
        </p:nvSpPr>
        <p:spPr>
          <a:xfrm>
            <a:off x="7316402" y="232638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50Q benchmark , concrete numbers</a:t>
            </a:r>
            <a:endParaRPr lang="en-US" sz="90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DBED9F42-2E84-D4B5-0E07-B7B918E9ED73}"/>
              </a:ext>
            </a:extLst>
          </p:cNvPr>
          <p:cNvSpPr/>
          <p:nvPr/>
        </p:nvSpPr>
        <p:spPr>
          <a:xfrm>
            <a:off x="6840914" y="282016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1B45B85D-5445-6805-E625-C804E78658F2}"/>
              </a:ext>
            </a:extLst>
          </p:cNvPr>
          <p:cNvSpPr/>
          <p:nvPr/>
        </p:nvSpPr>
        <p:spPr>
          <a:xfrm>
            <a:off x="6840914" y="282016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12857F2F-D73B-1325-5B12-DD9F761B7F97}"/>
              </a:ext>
            </a:extLst>
          </p:cNvPr>
          <p:cNvSpPr/>
          <p:nvPr/>
        </p:nvSpPr>
        <p:spPr>
          <a:xfrm>
            <a:off x="6840914" y="282016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5BFD3B2A-D775-5FAD-3140-FA567962A59B}"/>
              </a:ext>
            </a:extLst>
          </p:cNvPr>
          <p:cNvSpPr/>
          <p:nvPr/>
        </p:nvSpPr>
        <p:spPr>
          <a:xfrm>
            <a:off x="7316402" y="289331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Challenges encountered</a:t>
            </a:r>
            <a:endParaRPr lang="en-US" sz="1200" dirty="0"/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D3BA0ECD-EF32-7AC6-A8F4-55CC5B328536}"/>
              </a:ext>
            </a:extLst>
          </p:cNvPr>
          <p:cNvSpPr/>
          <p:nvPr/>
        </p:nvSpPr>
        <p:spPr>
          <a:xfrm>
            <a:off x="7316402" y="322249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C</a:t>
            </a:r>
            <a:r>
              <a:rPr lang="en-US" sz="900" dirty="0" err="1">
                <a:solidFill>
                  <a:srgbClr val="64748B"/>
                </a:solidFill>
              </a:rPr>
              <a:t>oncrete</a:t>
            </a:r>
            <a:r>
              <a:rPr lang="en-US" sz="900" dirty="0">
                <a:solidFill>
                  <a:srgbClr val="64748B"/>
                </a:solidFill>
              </a:rPr>
              <a:t> technical challenges</a:t>
            </a:r>
            <a:endParaRPr lang="en-US" sz="90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ABEA4CCD-294C-5D42-1C7F-C13A3707DF42}"/>
              </a:ext>
            </a:extLst>
          </p:cNvPr>
          <p:cNvSpPr/>
          <p:nvPr/>
        </p:nvSpPr>
        <p:spPr>
          <a:xfrm>
            <a:off x="6840914" y="3716273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DAF4469C-1D88-46C2-9ABB-CE13F8065E70}"/>
              </a:ext>
            </a:extLst>
          </p:cNvPr>
          <p:cNvSpPr/>
          <p:nvPr/>
        </p:nvSpPr>
        <p:spPr>
          <a:xfrm>
            <a:off x="6840914" y="3716273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A0F470A6-D7E4-61E3-A3D7-21D6A1BB6BC9}"/>
              </a:ext>
            </a:extLst>
          </p:cNvPr>
          <p:cNvSpPr/>
          <p:nvPr/>
        </p:nvSpPr>
        <p:spPr>
          <a:xfrm>
            <a:off x="6840914" y="3716273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E9A0CB5E-5CE0-5BC3-049A-D87BFB67E2AA}"/>
              </a:ext>
            </a:extLst>
          </p:cNvPr>
          <p:cNvSpPr/>
          <p:nvPr/>
        </p:nvSpPr>
        <p:spPr>
          <a:xfrm>
            <a:off x="7316402" y="3789425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8B3F7385-CCB0-ACFA-530C-38CE6169DD63}"/>
              </a:ext>
            </a:extLst>
          </p:cNvPr>
          <p:cNvSpPr/>
          <p:nvPr/>
        </p:nvSpPr>
        <p:spPr>
          <a:xfrm>
            <a:off x="7316402" y="4118609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What remains and how to get there</a:t>
            </a:r>
            <a:endParaRPr lang="en-US" sz="90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68D0FC41-5B41-AAE6-D851-F18DC7C3091D}"/>
              </a:ext>
            </a:extLst>
          </p:cNvPr>
          <p:cNvSpPr/>
          <p:nvPr/>
        </p:nvSpPr>
        <p:spPr>
          <a:xfrm>
            <a:off x="6840914" y="461238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7720CA3F-9378-E779-087C-8CFD216E1858}"/>
              </a:ext>
            </a:extLst>
          </p:cNvPr>
          <p:cNvSpPr/>
          <p:nvPr/>
        </p:nvSpPr>
        <p:spPr>
          <a:xfrm>
            <a:off x="6840914" y="4612385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1D6E690E-946F-58E5-581A-AC65A697C4FB}"/>
              </a:ext>
            </a:extLst>
          </p:cNvPr>
          <p:cNvSpPr/>
          <p:nvPr/>
        </p:nvSpPr>
        <p:spPr>
          <a:xfrm>
            <a:off x="6840914" y="461238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713CDE8E-119E-4722-6293-44FE3115C20F}"/>
              </a:ext>
            </a:extLst>
          </p:cNvPr>
          <p:cNvSpPr/>
          <p:nvPr/>
        </p:nvSpPr>
        <p:spPr>
          <a:xfrm>
            <a:off x="7316402" y="4685537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Q&amp;A</a:t>
            </a:r>
            <a:endParaRPr lang="en-US" sz="1200" dirty="0"/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E8EE5C7E-2B02-8D36-3BD9-E6AF8DC980B9}"/>
              </a:ext>
            </a:extLst>
          </p:cNvPr>
          <p:cNvSpPr/>
          <p:nvPr/>
        </p:nvSpPr>
        <p:spPr>
          <a:xfrm>
            <a:off x="7316402" y="501472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Open discussion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5006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5">
            <a:extLst>
              <a:ext uri="{FF2B5EF4-FFF2-40B4-BE49-F238E27FC236}">
                <a16:creationId xmlns:a16="http://schemas.microsoft.com/office/drawing/2014/main" id="{513AAA9E-DB8B-6BC0-E2F8-99FB521B4AC4}"/>
              </a:ext>
            </a:extLst>
          </p:cNvPr>
          <p:cNvSpPr/>
          <p:nvPr/>
        </p:nvSpPr>
        <p:spPr>
          <a:xfrm>
            <a:off x="1640020" y="1568479"/>
            <a:ext cx="10551980" cy="3945841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8C16DE0E-4503-E3F3-F0C4-B36F653B340E}"/>
              </a:ext>
            </a:extLst>
          </p:cNvPr>
          <p:cNvSpPr/>
          <p:nvPr/>
        </p:nvSpPr>
        <p:spPr>
          <a:xfrm>
            <a:off x="2538913" y="2245136"/>
            <a:ext cx="7282161" cy="72180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5A9E8CE6-47D8-1492-6DB9-6F24AA719661}"/>
              </a:ext>
            </a:extLst>
          </p:cNvPr>
          <p:cNvSpPr/>
          <p:nvPr/>
        </p:nvSpPr>
        <p:spPr>
          <a:xfrm>
            <a:off x="2534522" y="2245136"/>
            <a:ext cx="392832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B4E6"/>
                </a:solidFill>
              </a:rPr>
              <a:t>01</a:t>
            </a:r>
            <a:endParaRPr lang="en-US" sz="1300" dirty="0">
              <a:solidFill>
                <a:srgbClr val="3CB4E6"/>
              </a:solidFill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FD2153B8-612A-18BD-6EF7-177AF25B92BD}"/>
              </a:ext>
            </a:extLst>
          </p:cNvPr>
          <p:cNvSpPr/>
          <p:nvPr/>
        </p:nvSpPr>
        <p:spPr>
          <a:xfrm>
            <a:off x="3014402" y="231828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Why this project?</a:t>
            </a:r>
            <a:endParaRPr lang="en-US" sz="12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4CB6C6C5-AD64-A445-B06D-E8086D196131}"/>
              </a:ext>
            </a:extLst>
          </p:cNvPr>
          <p:cNvSpPr/>
          <p:nvPr/>
        </p:nvSpPr>
        <p:spPr>
          <a:xfrm>
            <a:off x="3014402" y="26474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The daily problem it solves</a:t>
            </a:r>
            <a:endParaRPr lang="en-US" sz="90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C920F671-3938-19D3-89E3-ECE60601649D}"/>
              </a:ext>
            </a:extLst>
          </p:cNvPr>
          <p:cNvSpPr/>
          <p:nvPr/>
        </p:nvSpPr>
        <p:spPr>
          <a:xfrm>
            <a:off x="2534522" y="3141248"/>
            <a:ext cx="7282160" cy="72180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F6823094-BF70-880E-1DA7-9E002A7230C3}"/>
              </a:ext>
            </a:extLst>
          </p:cNvPr>
          <p:cNvSpPr/>
          <p:nvPr/>
        </p:nvSpPr>
        <p:spPr>
          <a:xfrm>
            <a:off x="2538914" y="3141248"/>
            <a:ext cx="384048" cy="749808"/>
          </a:xfrm>
          <a:prstGeom prst="rect">
            <a:avLst/>
          </a:prstGeom>
          <a:noFill/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C151FE1D-207C-78C0-5CCA-EB2AB23E04FE}"/>
              </a:ext>
            </a:extLst>
          </p:cNvPr>
          <p:cNvSpPr/>
          <p:nvPr/>
        </p:nvSpPr>
        <p:spPr>
          <a:xfrm>
            <a:off x="2538914" y="314124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B4E6"/>
                </a:solidFill>
              </a:rPr>
              <a:t>02</a:t>
            </a:r>
            <a:endParaRPr lang="en-US" sz="1300" dirty="0">
              <a:solidFill>
                <a:srgbClr val="3CB4E6"/>
              </a:solidFill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7DB5348A-F02A-7FC2-8321-7951EDBCEA3D}"/>
              </a:ext>
            </a:extLst>
          </p:cNvPr>
          <p:cNvSpPr/>
          <p:nvPr/>
        </p:nvSpPr>
        <p:spPr>
          <a:xfrm>
            <a:off x="3014402" y="32144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C'est quoi l'IA ici do?</a:t>
            </a:r>
            <a:endParaRPr lang="en-US" sz="120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DA7B21B4-5984-B95A-6E70-BDA7F5B30E17}"/>
              </a:ext>
            </a:extLst>
          </p:cNvPr>
          <p:cNvSpPr/>
          <p:nvPr/>
        </p:nvSpPr>
        <p:spPr>
          <a:xfrm>
            <a:off x="3014402" y="35435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Persona · Knowledge Base · Data Sources</a:t>
            </a:r>
            <a:endParaRPr lang="en-US" sz="90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9F3E78D2-0CD3-1745-DA6B-A5774AB4DCEC}"/>
              </a:ext>
            </a:extLst>
          </p:cNvPr>
          <p:cNvSpPr/>
          <p:nvPr/>
        </p:nvSpPr>
        <p:spPr>
          <a:xfrm>
            <a:off x="2538914" y="4037360"/>
            <a:ext cx="7282160" cy="72180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C7F08179-5F0F-D3FE-CB6A-4C1F328C0554}"/>
              </a:ext>
            </a:extLst>
          </p:cNvPr>
          <p:cNvSpPr/>
          <p:nvPr/>
        </p:nvSpPr>
        <p:spPr>
          <a:xfrm>
            <a:off x="2534522" y="4037360"/>
            <a:ext cx="388440" cy="749808"/>
          </a:xfrm>
          <a:prstGeom prst="rect">
            <a:avLst/>
          </a:prstGeom>
          <a:noFill/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1C79DE27-FA02-2FC9-DA7C-1998F59F624B}"/>
              </a:ext>
            </a:extLst>
          </p:cNvPr>
          <p:cNvSpPr/>
          <p:nvPr/>
        </p:nvSpPr>
        <p:spPr>
          <a:xfrm>
            <a:off x="2538914" y="403736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B4E6"/>
                </a:solidFill>
              </a:rPr>
              <a:t>03</a:t>
            </a:r>
            <a:endParaRPr lang="en-US" sz="1300" dirty="0">
              <a:solidFill>
                <a:srgbClr val="3CB4E6"/>
              </a:solidFill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66A6619B-8674-BA64-3CE5-896A0EFF018F}"/>
              </a:ext>
            </a:extLst>
          </p:cNvPr>
          <p:cNvSpPr/>
          <p:nvPr/>
        </p:nvSpPr>
        <p:spPr>
          <a:xfrm>
            <a:off x="3014402" y="41105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Meet the STM32Cube persona</a:t>
            </a:r>
            <a:endParaRPr lang="en-US" sz="120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4B50D910-75A8-1AED-946D-B2B206AD6D9F}"/>
              </a:ext>
            </a:extLst>
          </p:cNvPr>
          <p:cNvSpPr/>
          <p:nvPr/>
        </p:nvSpPr>
        <p:spPr>
          <a:xfrm>
            <a:off x="3014402" y="44396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What this project builds</a:t>
            </a:r>
            <a:endParaRPr lang="en-US" sz="9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09C748F6-8BE4-78A2-1C71-100DE8CA8A16}"/>
              </a:ext>
            </a:extLst>
          </p:cNvPr>
          <p:cNvSpPr/>
          <p:nvPr/>
        </p:nvSpPr>
        <p:spPr>
          <a:xfrm>
            <a:off x="2547697" y="2245136"/>
            <a:ext cx="384048" cy="749808"/>
          </a:xfrm>
          <a:prstGeom prst="rect">
            <a:avLst/>
          </a:prstGeom>
          <a:noFill/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948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The ST ChatGPT Platform,  Creating a Persona</a:t>
            </a:r>
            <a:endParaRPr lang="en-US" sz="180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242476" y="718488"/>
            <a:ext cx="11609159" cy="5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dirty="0">
                <a:solidFill>
                  <a:srgbClr val="475569"/>
                </a:solidFill>
              </a:rPr>
              <a:t>Not just a chatbot: a configurable AI assistant built on Knowledge Bases</a:t>
            </a:r>
          </a:p>
        </p:txBody>
      </p:sp>
      <p:sp>
        <p:nvSpPr>
          <p:cNvPr id="10" name="Col10"/>
          <p:cNvSpPr>
            <a:spLocks noGrp="1"/>
          </p:cNvSpPr>
          <p:nvPr/>
        </p:nvSpPr>
        <p:spPr>
          <a:xfrm>
            <a:off x="5823828" y="1861660"/>
            <a:ext cx="5824437" cy="3507685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dirty="0">
                <a:solidFill>
                  <a:srgbClr val="0D9589"/>
                </a:solidFill>
              </a:rPr>
              <a:t>What is ST ChatGPT?</a:t>
            </a:r>
          </a:p>
          <a:p>
            <a:endParaRPr lang="en-US" sz="1000" dirty="0"/>
          </a:p>
          <a:p>
            <a:r>
              <a:rPr lang="en-US" sz="1100" b="0" dirty="0">
                <a:solidFill>
                  <a:srgbClr val="334155"/>
                </a:solidFill>
              </a:rPr>
              <a:t>The ST ChatGPT platform allows teams to create specialized AI personas tailored to a specific domain or use case.</a:t>
            </a:r>
          </a:p>
          <a:p>
            <a:endParaRPr lang="en-US" sz="1000" dirty="0"/>
          </a:p>
          <a:p>
            <a:r>
              <a:rPr lang="en-US" sz="1100" b="1" dirty="0">
                <a:solidFill>
                  <a:srgbClr val="0D9589"/>
                </a:solidFill>
              </a:rPr>
              <a:t>Key concept: the Persona</a:t>
            </a:r>
          </a:p>
          <a:p>
            <a:endParaRPr lang="en-US" sz="1100" b="1" dirty="0">
              <a:solidFill>
                <a:srgbClr val="0D9589"/>
              </a:solidFill>
            </a:endParaRPr>
          </a:p>
          <a:p>
            <a:r>
              <a:rPr lang="en-US" sz="1100" b="0" dirty="0">
                <a:solidFill>
                  <a:srgbClr val="334155"/>
                </a:solidFill>
              </a:rPr>
              <a:t>A persona is a configured AI assistant , it has a name, a system prompt, one or more Knowledge Bases, and associated data sources.</a:t>
            </a:r>
          </a:p>
          <a:p>
            <a:endParaRPr lang="en-US" sz="1000" dirty="0"/>
          </a:p>
          <a:p>
            <a:r>
              <a:rPr lang="en-US" sz="1100" b="1" dirty="0">
                <a:solidFill>
                  <a:srgbClr val="0D9589"/>
                </a:solidFill>
              </a:rPr>
              <a:t>Personas already live at ST:</a:t>
            </a:r>
          </a:p>
          <a:p>
            <a:endParaRPr lang="en-US" sz="1100" b="1" dirty="0">
              <a:solidFill>
                <a:srgbClr val="0D9589"/>
              </a:solidFill>
            </a:endParaRPr>
          </a:p>
          <a:p>
            <a:r>
              <a:rPr lang="en-US" sz="1100" b="0" dirty="0">
                <a:solidFill>
                  <a:srgbClr val="334155"/>
                </a:solidFill>
              </a:rPr>
              <a:t>● Alfred does: general ST assistant</a:t>
            </a:r>
          </a:p>
          <a:p>
            <a:r>
              <a:rPr lang="en-US" sz="1100" b="0" dirty="0">
                <a:solidFill>
                  <a:srgbClr val="334155"/>
                </a:solidFill>
              </a:rPr>
              <a:t>● Others does: domain-specific across ST teams</a:t>
            </a:r>
          </a:p>
          <a:p>
            <a:endParaRPr lang="en-US" sz="1000" dirty="0"/>
          </a:p>
          <a:p>
            <a:r>
              <a:rPr lang="en-US" sz="1100" b="0" dirty="0">
                <a:solidFill>
                  <a:srgbClr val="334155"/>
                </a:solidFill>
              </a:rPr>
              <a:t>→ </a:t>
            </a:r>
            <a:r>
              <a:rPr lang="en-US" sz="1100" b="1" dirty="0">
                <a:solidFill>
                  <a:srgbClr val="334155"/>
                </a:solidFill>
              </a:rPr>
              <a:t>This project creates a NEW persona specialized in STM32Cube technical support.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33D56D8-EB1B-12A0-51AB-76C107255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7"/>
          <a:stretch>
            <a:fillRect/>
          </a:stretch>
        </p:blipFill>
        <p:spPr>
          <a:xfrm>
            <a:off x="413107" y="1706146"/>
            <a:ext cx="4917924" cy="3663199"/>
          </a:xfrm>
          <a:prstGeom prst="rect">
            <a:avLst/>
          </a:prstGeom>
        </p:spPr>
      </p:pic>
      <p:sp>
        <p:nvSpPr>
          <p:cNvPr id="3" name="Shape 6">
            <a:extLst>
              <a:ext uri="{FF2B5EF4-FFF2-40B4-BE49-F238E27FC236}">
                <a16:creationId xmlns:a16="http://schemas.microsoft.com/office/drawing/2014/main" id="{DF5870AA-C069-20D1-681B-546E1DA11FB0}"/>
              </a:ext>
            </a:extLst>
          </p:cNvPr>
          <p:cNvSpPr/>
          <p:nvPr/>
        </p:nvSpPr>
        <p:spPr>
          <a:xfrm>
            <a:off x="5816787" y="1861660"/>
            <a:ext cx="45719" cy="3507685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36C49D2-6982-5856-22BC-4C73226FED83}"/>
              </a:ext>
            </a:extLst>
          </p:cNvPr>
          <p:cNvSpPr/>
          <p:nvPr/>
        </p:nvSpPr>
        <p:spPr>
          <a:xfrm>
            <a:off x="340364" y="108430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B6D9CE3-682B-2846-ACD8-7B2048B5A5E3}"/>
              </a:ext>
            </a:extLst>
          </p:cNvPr>
          <p:cNvSpPr txBox="1"/>
          <p:nvPr/>
        </p:nvSpPr>
        <p:spPr>
          <a:xfrm>
            <a:off x="2977173" y="5911857"/>
            <a:ext cx="7943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dirty="0">
                <a:solidFill>
                  <a:srgbClr val="0D9589"/>
                </a:solidFill>
              </a:rPr>
              <a:t>Each persona = Knowledge Base + Data Sources + System prompt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59EE-04AF-02E3-73BF-9D0DB6BF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Meet the STM32Cube AI Persona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51962E-1811-D4DA-B3AD-57BB4B8BD207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The Daily Problem in Technical Support </a:t>
            </a:r>
            <a:endParaRPr lang="en-US" sz="1200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BE1E6DC5-0CC8-EA2E-99B1-16C6126DAF92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Before this project, finding technical information was time-consuming</a:t>
            </a:r>
            <a:endParaRPr lang="en-US" sz="12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BAE4DBE-2314-9AF0-2A70-5F77B01B4E1B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DDED8CA-EC39-1208-E0CD-1B7E80D72F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4" t="33814" r="20427" b="28708"/>
          <a:stretch>
            <a:fillRect/>
          </a:stretch>
        </p:blipFill>
        <p:spPr>
          <a:xfrm>
            <a:off x="7621371" y="2005622"/>
            <a:ext cx="3142708" cy="124241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791C2F5-27A7-AA64-3FB0-5CCD03F0E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36" y="2860917"/>
            <a:ext cx="4951360" cy="32408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ABFCEB4-85A2-65F2-75E2-25DB2BF779CD}"/>
              </a:ext>
            </a:extLst>
          </p:cNvPr>
          <p:cNvSpPr/>
          <p:nvPr/>
        </p:nvSpPr>
        <p:spPr>
          <a:xfrm>
            <a:off x="2487958" y="3248032"/>
            <a:ext cx="1393296" cy="67702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fr-TN" dirty="0" err="1"/>
          </a:p>
        </p:txBody>
      </p:sp>
      <p:sp>
        <p:nvSpPr>
          <p:cNvPr id="5" name="Center">
            <a:extLst>
              <a:ext uri="{FF2B5EF4-FFF2-40B4-BE49-F238E27FC236}">
                <a16:creationId xmlns:a16="http://schemas.microsoft.com/office/drawing/2014/main" id="{FAEA4C1B-C57C-78B7-187E-768FA0A0A261}"/>
              </a:ext>
            </a:extLst>
          </p:cNvPr>
          <p:cNvSpPr>
            <a:spLocks noGrp="1"/>
          </p:cNvSpPr>
          <p:nvPr/>
        </p:nvSpPr>
        <p:spPr>
          <a:xfrm>
            <a:off x="851636" y="1560814"/>
            <a:ext cx="4880240" cy="1155610"/>
          </a:xfrm>
          <a:prstGeom prst="rect">
            <a:avLst/>
          </a:prstGeom>
          <a:noFill/>
          <a:ln w="19050">
            <a:solidFill>
              <a:srgbClr val="0D9589"/>
            </a:solidFill>
          </a:ln>
        </p:spPr>
        <p:txBody>
          <a:bodyPr wrap="square" lIns="274638" tIns="274638" rIns="274638" bIns="274638"/>
          <a:lstStyle/>
          <a:p>
            <a:r>
              <a:rPr lang="en-US" sz="1400" b="1" dirty="0">
                <a:solidFill>
                  <a:srgbClr val="0D9589"/>
                </a:solidFill>
              </a:rPr>
              <a:t>The idea behind this project</a:t>
            </a:r>
          </a:p>
          <a:p>
            <a:endParaRPr lang="en-US" sz="1000" dirty="0"/>
          </a:p>
          <a:p>
            <a:r>
              <a:rPr lang="en-US" sz="1200" b="0" dirty="0"/>
              <a:t>ST already has personas: Alfred, </a:t>
            </a:r>
            <a:r>
              <a:rPr lang="en-US" sz="1200" dirty="0"/>
              <a:t>Trinity</a:t>
            </a:r>
            <a:r>
              <a:rPr lang="en-US" sz="1200" b="0" dirty="0"/>
              <a:t>, and others, each specialized for a domain.</a:t>
            </a:r>
          </a:p>
          <a:p>
            <a:endParaRPr lang="en-US" sz="1000" dirty="0"/>
          </a:p>
          <a:p>
            <a:r>
              <a:rPr lang="en-US" sz="1100" b="0" i="1" dirty="0">
                <a:solidFill>
                  <a:srgbClr val="FFD200"/>
                </a:solidFill>
              </a:rPr>
              <a:t>.</a:t>
            </a:r>
          </a:p>
        </p:txBody>
      </p:sp>
      <p:sp>
        <p:nvSpPr>
          <p:cNvPr id="8" name="Center">
            <a:extLst>
              <a:ext uri="{FF2B5EF4-FFF2-40B4-BE49-F238E27FC236}">
                <a16:creationId xmlns:a16="http://schemas.microsoft.com/office/drawing/2014/main" id="{A164DBC8-7C3A-8052-14D5-6FDE2528F6CF}"/>
              </a:ext>
            </a:extLst>
          </p:cNvPr>
          <p:cNvSpPr>
            <a:spLocks noGrp="1"/>
          </p:cNvSpPr>
          <p:nvPr/>
        </p:nvSpPr>
        <p:spPr>
          <a:xfrm>
            <a:off x="6900276" y="3586543"/>
            <a:ext cx="4768263" cy="1442658"/>
          </a:xfrm>
          <a:prstGeom prst="rect">
            <a:avLst/>
          </a:prstGeom>
          <a:noFill/>
          <a:ln w="19050">
            <a:solidFill>
              <a:srgbClr val="FFD200"/>
            </a:solidFill>
          </a:ln>
        </p:spPr>
        <p:txBody>
          <a:bodyPr wrap="square" lIns="274638" tIns="274638" rIns="274638" bIns="274638"/>
          <a:lstStyle/>
          <a:p>
            <a:r>
              <a:rPr lang="en-US" sz="1600" b="1" dirty="0">
                <a:solidFill>
                  <a:srgbClr val="FFD200"/>
                </a:solidFill>
              </a:rPr>
              <a:t>A persona that knows STM32Cube.</a:t>
            </a:r>
          </a:p>
          <a:p>
            <a:endParaRPr lang="en-US" sz="1000" dirty="0"/>
          </a:p>
          <a:p>
            <a:r>
              <a:rPr lang="en-US" sz="1200" b="0" dirty="0"/>
              <a:t>A persona that has read 300+ issues, 5,000+ technical files, and every resolved PR. That can answer in seconds what took minutes to find manually.</a:t>
            </a:r>
          </a:p>
          <a:p>
            <a:endParaRPr lang="en-US" sz="1000" dirty="0"/>
          </a:p>
        </p:txBody>
      </p:sp>
      <p:pic>
        <p:nvPicPr>
          <p:cNvPr id="9" name="Graphic 4" descr="Arrow Right with solid fill">
            <a:extLst>
              <a:ext uri="{FF2B5EF4-FFF2-40B4-BE49-F238E27FC236}">
                <a16:creationId xmlns:a16="http://schemas.microsoft.com/office/drawing/2014/main" id="{EDDC2F10-6C2D-401E-58E9-9CB267719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981090" flipV="1">
            <a:off x="5972313" y="2587116"/>
            <a:ext cx="1130324" cy="64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87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E5437-2A60-92D3-AF6E-648E9F213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108B0-6056-7A16-BB88-427E07A5C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/>
              <a:t> </a:t>
            </a:r>
            <a:r>
              <a:rPr lang="fr-FR" sz="1800" b="1" dirty="0"/>
              <a:t>ST </a:t>
            </a:r>
            <a:r>
              <a:rPr lang="fr-FR" sz="1800" b="1"/>
              <a:t>ChatGPT</a:t>
            </a:r>
            <a:endParaRPr lang="fr-FR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6EA42AF-3FDF-E06E-EEC6-894A32404A90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dirty="0">
                <a:solidFill>
                  <a:srgbClr val="425A78"/>
                </a:solidFill>
              </a:rPr>
              <a:t>Request and Access Process — Persona &amp; </a:t>
            </a:r>
            <a:r>
              <a:rPr lang="fr-FR" sz="1200" b="1">
                <a:solidFill>
                  <a:srgbClr val="425A78"/>
                </a:solidFill>
              </a:rPr>
              <a:t>API </a:t>
            </a:r>
            <a:r>
              <a:rPr lang="fr-FR" sz="1200" b="1" dirty="0">
                <a:solidFill>
                  <a:srgbClr val="425A78"/>
                </a:solidFill>
              </a:rPr>
              <a:t>ST </a:t>
            </a:r>
            <a:r>
              <a:rPr lang="fr-FR" sz="1200" b="1">
                <a:solidFill>
                  <a:srgbClr val="425A78"/>
                </a:solidFill>
              </a:rPr>
              <a:t>ChatGPT</a:t>
            </a:r>
            <a:endParaRPr lang="fr-FR" sz="1200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F8AE2511-5D50-A27E-35FC-1BA2E79EB2E7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dirty="0">
                <a:solidFill>
                  <a:srgbClr val="64748B"/>
                </a:solidFill>
              </a:rPr>
              <a:t>From business request to persona </a:t>
            </a:r>
            <a:r>
              <a:rPr lang="fr-FR" sz="1200" i="1">
                <a:solidFill>
                  <a:srgbClr val="64748B"/>
                </a:solidFill>
              </a:rPr>
              <a:t>/ </a:t>
            </a:r>
            <a:r>
              <a:rPr lang="fr-FR" sz="1200" i="1" dirty="0">
                <a:solidFill>
                  <a:srgbClr val="64748B"/>
                </a:solidFill>
              </a:rPr>
              <a:t>API access</a:t>
            </a:r>
            <a:endParaRPr lang="fr-FR" sz="12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C49672B-8664-BDE8-388E-3FA796447C69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A58A60B2-2424-555D-E7A6-E8A5FADC1B45}"/>
              </a:ext>
            </a:extLst>
          </p:cNvPr>
          <p:cNvSpPr/>
          <p:nvPr/>
        </p:nvSpPr>
        <p:spPr>
          <a:xfrm>
            <a:off x="1852294" y="1477975"/>
            <a:ext cx="1106727" cy="934159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E1CB36EE-DC08-B980-02F2-66D6537AB423}"/>
              </a:ext>
            </a:extLst>
          </p:cNvPr>
          <p:cNvSpPr/>
          <p:nvPr/>
        </p:nvSpPr>
        <p:spPr>
          <a:xfrm>
            <a:off x="1742566" y="180183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chemeClr val="bg1"/>
                </a:solidFill>
              </a:rPr>
              <a:t>Business Need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4BAE4E27-8BC7-5C02-ED2E-D186D9703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454" y="1935175"/>
            <a:ext cx="311267" cy="311267"/>
          </a:xfrm>
          <a:prstGeom prst="rect">
            <a:avLst/>
          </a:prstGeom>
        </p:spPr>
      </p:pic>
      <p:sp>
        <p:nvSpPr>
          <p:cNvPr id="7" name="Shape 8">
            <a:extLst>
              <a:ext uri="{FF2B5EF4-FFF2-40B4-BE49-F238E27FC236}">
                <a16:creationId xmlns:a16="http://schemas.microsoft.com/office/drawing/2014/main" id="{1C4B083C-9A50-2BF1-C45D-002EC4AF45F1}"/>
              </a:ext>
            </a:extLst>
          </p:cNvPr>
          <p:cNvSpPr/>
          <p:nvPr/>
        </p:nvSpPr>
        <p:spPr>
          <a:xfrm>
            <a:off x="3571366" y="1477975"/>
            <a:ext cx="1106727" cy="934159"/>
          </a:xfrm>
          <a:prstGeom prst="ellipse">
            <a:avLst/>
          </a:prstGeom>
          <a:solidFill>
            <a:srgbClr val="3CB4E6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C4BDF49E-43C9-0F50-683C-AAD10109F146}"/>
              </a:ext>
            </a:extLst>
          </p:cNvPr>
          <p:cNvSpPr/>
          <p:nvPr/>
        </p:nvSpPr>
        <p:spPr>
          <a:xfrm>
            <a:off x="3708360" y="1825703"/>
            <a:ext cx="850604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 err="1">
                <a:solidFill>
                  <a:schemeClr val="bg1"/>
                </a:solidFill>
              </a:rPr>
              <a:t>ServiceNow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0D37F65C-CD0D-7310-1532-769612693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526" y="1935175"/>
            <a:ext cx="311267" cy="311267"/>
          </a:xfrm>
          <a:prstGeom prst="rect">
            <a:avLst/>
          </a:prstGeom>
        </p:spPr>
      </p:pic>
      <p:sp>
        <p:nvSpPr>
          <p:cNvPr id="11" name="Shape 11">
            <a:extLst>
              <a:ext uri="{FF2B5EF4-FFF2-40B4-BE49-F238E27FC236}">
                <a16:creationId xmlns:a16="http://schemas.microsoft.com/office/drawing/2014/main" id="{12B1EC7B-ECDC-6728-077B-623E7C6900FC}"/>
              </a:ext>
            </a:extLst>
          </p:cNvPr>
          <p:cNvSpPr/>
          <p:nvPr/>
        </p:nvSpPr>
        <p:spPr>
          <a:xfrm>
            <a:off x="5290438" y="1477975"/>
            <a:ext cx="1106727" cy="934159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CDB2753-4EA9-7ADE-9EBF-14352FEA19AD}"/>
              </a:ext>
            </a:extLst>
          </p:cNvPr>
          <p:cNvSpPr/>
          <p:nvPr/>
        </p:nvSpPr>
        <p:spPr>
          <a:xfrm>
            <a:off x="5186682" y="1842922"/>
            <a:ext cx="1314238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B2A3B"/>
                </a:solidFill>
              </a:rPr>
              <a:t>Validation</a:t>
            </a:r>
            <a:endParaRPr lang="fr-FR" sz="1000" dirty="0"/>
          </a:p>
        </p:txBody>
      </p:sp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D9860403-7BF0-AAAE-B628-19AE70949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598" y="2061866"/>
            <a:ext cx="311267" cy="311267"/>
          </a:xfrm>
          <a:prstGeom prst="rect">
            <a:avLst/>
          </a:prstGeom>
        </p:spPr>
      </p:pic>
      <p:sp>
        <p:nvSpPr>
          <p:cNvPr id="15" name="Shape 14">
            <a:extLst>
              <a:ext uri="{FF2B5EF4-FFF2-40B4-BE49-F238E27FC236}">
                <a16:creationId xmlns:a16="http://schemas.microsoft.com/office/drawing/2014/main" id="{73BFB6B6-02F5-B91C-CD98-EB76B53A7E0B}"/>
              </a:ext>
            </a:extLst>
          </p:cNvPr>
          <p:cNvSpPr/>
          <p:nvPr/>
        </p:nvSpPr>
        <p:spPr>
          <a:xfrm>
            <a:off x="7009510" y="1477975"/>
            <a:ext cx="1106727" cy="934159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A834CBE-2B18-BEF4-888B-19BD37215040}"/>
              </a:ext>
            </a:extLst>
          </p:cNvPr>
          <p:cNvSpPr/>
          <p:nvPr/>
        </p:nvSpPr>
        <p:spPr>
          <a:xfrm>
            <a:off x="7102964" y="1825703"/>
            <a:ext cx="947675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>
                <a:solidFill>
                  <a:srgbClr val="1B2A3B"/>
                </a:solidFill>
              </a:rPr>
              <a:t>Access </a:t>
            </a:r>
            <a:r>
              <a:rPr lang="fr-FR" sz="1000" b="1" dirty="0">
                <a:solidFill>
                  <a:srgbClr val="1B2A3B"/>
                </a:solidFill>
              </a:rPr>
              <a:t>/ Configuration</a:t>
            </a:r>
            <a:endParaRPr lang="fr-FR" sz="1000" dirty="0"/>
          </a:p>
        </p:txBody>
      </p:sp>
      <p:pic>
        <p:nvPicPr>
          <p:cNvPr id="18" name="Image 7" descr="preencoded.png">
            <a:extLst>
              <a:ext uri="{FF2B5EF4-FFF2-40B4-BE49-F238E27FC236}">
                <a16:creationId xmlns:a16="http://schemas.microsoft.com/office/drawing/2014/main" id="{51B521C0-AEDA-2D06-C3E6-20554495F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318" y="1929941"/>
            <a:ext cx="311267" cy="311267"/>
          </a:xfrm>
          <a:prstGeom prst="rect">
            <a:avLst/>
          </a:prstGeom>
        </p:spPr>
      </p:pic>
      <p:sp>
        <p:nvSpPr>
          <p:cNvPr id="19" name="Shape 17">
            <a:extLst>
              <a:ext uri="{FF2B5EF4-FFF2-40B4-BE49-F238E27FC236}">
                <a16:creationId xmlns:a16="http://schemas.microsoft.com/office/drawing/2014/main" id="{5868BA7B-B6CD-366E-C5FE-3B73B84F94D8}"/>
              </a:ext>
            </a:extLst>
          </p:cNvPr>
          <p:cNvSpPr/>
          <p:nvPr/>
        </p:nvSpPr>
        <p:spPr>
          <a:xfrm>
            <a:off x="8728582" y="1477975"/>
            <a:ext cx="1106727" cy="934159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6C4DF73-64F5-E93C-6021-E450A4991D70}"/>
              </a:ext>
            </a:extLst>
          </p:cNvPr>
          <p:cNvSpPr/>
          <p:nvPr/>
        </p:nvSpPr>
        <p:spPr>
          <a:xfrm>
            <a:off x="8624827" y="1929723"/>
            <a:ext cx="1314238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B2A3B"/>
                </a:solidFill>
              </a:rPr>
              <a:t>Usage</a:t>
            </a:r>
          </a:p>
          <a:p>
            <a:pPr marL="0" indent="0" algn="ctr">
              <a:buNone/>
            </a:pPr>
            <a:endParaRPr lang="fr-FR" sz="1000" b="1" dirty="0">
              <a:solidFill>
                <a:srgbClr val="1B2A3B"/>
              </a:solidFill>
            </a:endParaRPr>
          </a:p>
        </p:txBody>
      </p:sp>
      <p:pic>
        <p:nvPicPr>
          <p:cNvPr id="22" name="Graphic 21" descr="Arrow Right with solid fill">
            <a:extLst>
              <a:ext uri="{FF2B5EF4-FFF2-40B4-BE49-F238E27FC236}">
                <a16:creationId xmlns:a16="http://schemas.microsoft.com/office/drawing/2014/main" id="{3CB45117-3E4C-60E4-8625-7B042B462B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7854" y="1829694"/>
            <a:ext cx="350483" cy="350483"/>
          </a:xfrm>
          <a:prstGeom prst="rect">
            <a:avLst/>
          </a:prstGeom>
        </p:spPr>
      </p:pic>
      <p:pic>
        <p:nvPicPr>
          <p:cNvPr id="23" name="Graphic 22" descr="Arrow Right with solid fill">
            <a:extLst>
              <a:ext uri="{FF2B5EF4-FFF2-40B4-BE49-F238E27FC236}">
                <a16:creationId xmlns:a16="http://schemas.microsoft.com/office/drawing/2014/main" id="{F35E1ACF-9E29-2F34-4D29-802C554BB4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6872" y="1850229"/>
            <a:ext cx="408047" cy="408047"/>
          </a:xfrm>
          <a:prstGeom prst="rect">
            <a:avLst/>
          </a:prstGeom>
        </p:spPr>
      </p:pic>
      <p:pic>
        <p:nvPicPr>
          <p:cNvPr id="24" name="Graphic 23" descr="Arrow Right with solid fill">
            <a:extLst>
              <a:ext uri="{FF2B5EF4-FFF2-40B4-BE49-F238E27FC236}">
                <a16:creationId xmlns:a16="http://schemas.microsoft.com/office/drawing/2014/main" id="{24892018-731F-FC88-63AD-2999733281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0116" y="1854172"/>
            <a:ext cx="394420" cy="394420"/>
          </a:xfrm>
          <a:prstGeom prst="rect">
            <a:avLst/>
          </a:prstGeom>
        </p:spPr>
      </p:pic>
      <p:pic>
        <p:nvPicPr>
          <p:cNvPr id="25" name="Graphic 24" descr="Arrow Right with solid fill">
            <a:extLst>
              <a:ext uri="{FF2B5EF4-FFF2-40B4-BE49-F238E27FC236}">
                <a16:creationId xmlns:a16="http://schemas.microsoft.com/office/drawing/2014/main" id="{3F4259A0-8EE8-2F0D-13B1-6CF26AB0F7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3576" y="1841969"/>
            <a:ext cx="394452" cy="394452"/>
          </a:xfrm>
          <a:prstGeom prst="rect">
            <a:avLst/>
          </a:prstGeom>
        </p:spPr>
      </p:pic>
      <p:sp>
        <p:nvSpPr>
          <p:cNvPr id="26" name="TextBox 2">
            <a:extLst>
              <a:ext uri="{FF2B5EF4-FFF2-40B4-BE49-F238E27FC236}">
                <a16:creationId xmlns:a16="http://schemas.microsoft.com/office/drawing/2014/main" id="{5294E190-DA49-72E6-75D7-7BEB820C7F9E}"/>
              </a:ext>
            </a:extLst>
          </p:cNvPr>
          <p:cNvSpPr txBox="1"/>
          <p:nvPr/>
        </p:nvSpPr>
        <p:spPr>
          <a:xfrm>
            <a:off x="9281946" y="3879015"/>
            <a:ext cx="256969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For existing persona updates, admin rights, system prompt updates.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Technical issues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Change requests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690731-E2B7-E5F2-E444-39FE174AC4E0}"/>
              </a:ext>
            </a:extLst>
          </p:cNvPr>
          <p:cNvSpPr/>
          <p:nvPr/>
        </p:nvSpPr>
        <p:spPr>
          <a:xfrm>
            <a:off x="4334634" y="3015976"/>
            <a:ext cx="3424843" cy="8949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600" b="1" dirty="0"/>
              <a:t>Is the request for </a:t>
            </a:r>
            <a:r>
              <a:rPr lang="en-US" sz="1600" b="1" dirty="0">
                <a:solidFill>
                  <a:schemeClr val="accent3"/>
                </a:solidFill>
              </a:rPr>
              <a:t>New</a:t>
            </a:r>
            <a:r>
              <a:rPr lang="en-US" sz="1600" b="1" dirty="0"/>
              <a:t> Persona / API?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71CBD59-00D5-8C29-2274-7EBB249A0035}"/>
              </a:ext>
            </a:extLst>
          </p:cNvPr>
          <p:cNvGrpSpPr/>
          <p:nvPr/>
        </p:nvGrpSpPr>
        <p:grpSpPr>
          <a:xfrm>
            <a:off x="1197092" y="5280745"/>
            <a:ext cx="3761738" cy="1275345"/>
            <a:chOff x="1854334" y="4313983"/>
            <a:chExt cx="3761738" cy="1275345"/>
          </a:xfrm>
        </p:grpSpPr>
        <p:sp>
          <p:nvSpPr>
            <p:cNvPr id="29" name="TextBox 21">
              <a:extLst>
                <a:ext uri="{FF2B5EF4-FFF2-40B4-BE49-F238E27FC236}">
                  <a16:creationId xmlns:a16="http://schemas.microsoft.com/office/drawing/2014/main" id="{5B88A518-4DC1-E756-D09D-66732BD45B11}"/>
                </a:ext>
              </a:extLst>
            </p:cNvPr>
            <p:cNvSpPr txBox="1"/>
            <p:nvPr/>
          </p:nvSpPr>
          <p:spPr>
            <a:xfrm>
              <a:off x="1907095" y="4795707"/>
              <a:ext cx="3708977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hlinkClick r:id="rId5"/>
                </a:rPr>
                <a:t>https://st.service-now.com/hub?id=sc_cat_item&amp;sys_id=b7e4acc9fb1d66103949f4bbaeefdc7b</a:t>
              </a:r>
              <a:endParaRPr lang="en-US" sz="1400" dirty="0"/>
            </a:p>
          </p:txBody>
        </p:sp>
        <p:sp>
          <p:nvSpPr>
            <p:cNvPr id="30" name="TextBox 9">
              <a:extLst>
                <a:ext uri="{FF2B5EF4-FFF2-40B4-BE49-F238E27FC236}">
                  <a16:creationId xmlns:a16="http://schemas.microsoft.com/office/drawing/2014/main" id="{C79AEA02-1797-B0CB-72B8-EBE98CD9FBCE}"/>
                </a:ext>
              </a:extLst>
            </p:cNvPr>
            <p:cNvSpPr txBox="1"/>
            <p:nvPr/>
          </p:nvSpPr>
          <p:spPr>
            <a:xfrm>
              <a:off x="1907095" y="4372473"/>
              <a:ext cx="16662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00" dirty="0"/>
                <a:t>Click on this link 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350BE6C-509D-66D3-509B-03416A5DB83A}"/>
                </a:ext>
              </a:extLst>
            </p:cNvPr>
            <p:cNvSpPr/>
            <p:nvPr/>
          </p:nvSpPr>
          <p:spPr>
            <a:xfrm>
              <a:off x="1854334" y="4313983"/>
              <a:ext cx="3761738" cy="1275345"/>
            </a:xfrm>
            <a:prstGeom prst="rect">
              <a:avLst/>
            </a:prstGeom>
            <a:noFill/>
            <a:ln w="19050">
              <a:solidFill>
                <a:srgbClr val="8191A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D9FEF54-EF4C-14A4-34FD-C29A7AA6DFB0}"/>
              </a:ext>
            </a:extLst>
          </p:cNvPr>
          <p:cNvGrpSpPr/>
          <p:nvPr/>
        </p:nvGrpSpPr>
        <p:grpSpPr>
          <a:xfrm>
            <a:off x="7154983" y="5296079"/>
            <a:ext cx="3761738" cy="1275345"/>
            <a:chOff x="5931304" y="4300681"/>
            <a:chExt cx="3761738" cy="1275345"/>
          </a:xfrm>
        </p:grpSpPr>
        <p:sp>
          <p:nvSpPr>
            <p:cNvPr id="33" name="TextBox 23">
              <a:extLst>
                <a:ext uri="{FF2B5EF4-FFF2-40B4-BE49-F238E27FC236}">
                  <a16:creationId xmlns:a16="http://schemas.microsoft.com/office/drawing/2014/main" id="{D48473DF-47D1-F2ED-82E7-80F389C85027}"/>
                </a:ext>
              </a:extLst>
            </p:cNvPr>
            <p:cNvSpPr txBox="1"/>
            <p:nvPr/>
          </p:nvSpPr>
          <p:spPr>
            <a:xfrm>
              <a:off x="5984065" y="4795707"/>
              <a:ext cx="3427729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hlinkClick r:id="rId6"/>
                </a:rPr>
                <a:t>https://st.service-now.com/hub?id=support_details&amp;topic=d0a6002b1b53d2d0aaf48553604bcb1b</a:t>
              </a:r>
              <a:endParaRPr lang="en-US" sz="1400" dirty="0"/>
            </a:p>
          </p:txBody>
        </p:sp>
        <p:sp>
          <p:nvSpPr>
            <p:cNvPr id="34" name="TextBox 9">
              <a:extLst>
                <a:ext uri="{FF2B5EF4-FFF2-40B4-BE49-F238E27FC236}">
                  <a16:creationId xmlns:a16="http://schemas.microsoft.com/office/drawing/2014/main" id="{E06A95E8-9FEE-C22C-0BF5-4582B29B250B}"/>
                </a:ext>
              </a:extLst>
            </p:cNvPr>
            <p:cNvSpPr txBox="1"/>
            <p:nvPr/>
          </p:nvSpPr>
          <p:spPr>
            <a:xfrm>
              <a:off x="5984065" y="4359171"/>
              <a:ext cx="16662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00" dirty="0"/>
                <a:t>Click on this link 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6C3C324-5449-3438-3476-4191AD42838F}"/>
                </a:ext>
              </a:extLst>
            </p:cNvPr>
            <p:cNvSpPr/>
            <p:nvPr/>
          </p:nvSpPr>
          <p:spPr>
            <a:xfrm>
              <a:off x="5931304" y="4300681"/>
              <a:ext cx="3761738" cy="1275345"/>
            </a:xfrm>
            <a:prstGeom prst="rect">
              <a:avLst/>
            </a:prstGeom>
            <a:noFill/>
            <a:ln w="19050">
              <a:solidFill>
                <a:srgbClr val="8191A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334666FA-EE32-D6C8-B0DA-652808712A2F}"/>
              </a:ext>
            </a:extLst>
          </p:cNvPr>
          <p:cNvCxnSpPr>
            <a:cxnSpLocks/>
            <a:stCxn id="27" idx="1"/>
            <a:endCxn id="31" idx="0"/>
          </p:cNvCxnSpPr>
          <p:nvPr/>
        </p:nvCxnSpPr>
        <p:spPr>
          <a:xfrm rot="10800000" flipV="1">
            <a:off x="3077962" y="3463433"/>
            <a:ext cx="1256673" cy="1817312"/>
          </a:xfrm>
          <a:prstGeom prst="bentConnector2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358D3748-048B-83FC-698B-44E475E8F39D}"/>
              </a:ext>
            </a:extLst>
          </p:cNvPr>
          <p:cNvSpPr/>
          <p:nvPr/>
        </p:nvSpPr>
        <p:spPr>
          <a:xfrm>
            <a:off x="2730222" y="3115693"/>
            <a:ext cx="695478" cy="69547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dirty="0"/>
              <a:t>Yes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359CFBA6-E175-6881-5AC4-77D3E7F40EB8}"/>
              </a:ext>
            </a:extLst>
          </p:cNvPr>
          <p:cNvCxnSpPr>
            <a:cxnSpLocks/>
            <a:stCxn id="27" idx="3"/>
            <a:endCxn id="35" idx="0"/>
          </p:cNvCxnSpPr>
          <p:nvPr/>
        </p:nvCxnSpPr>
        <p:spPr>
          <a:xfrm>
            <a:off x="7759477" y="3463433"/>
            <a:ext cx="1276375" cy="1832646"/>
          </a:xfrm>
          <a:prstGeom prst="bentConnector2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BF50B766-D1A9-2B81-A4DD-6313290304C6}"/>
              </a:ext>
            </a:extLst>
          </p:cNvPr>
          <p:cNvSpPr/>
          <p:nvPr/>
        </p:nvSpPr>
        <p:spPr>
          <a:xfrm>
            <a:off x="8668412" y="3115693"/>
            <a:ext cx="695478" cy="69547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816274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B7D11-091B-98B9-062A-3EDFBBA7E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9C647-0D83-60C8-D2D9-03F711E23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/>
              <a:t> </a:t>
            </a:r>
            <a:r>
              <a:rPr lang="fr-FR" sz="1800" b="1" dirty="0"/>
              <a:t>ST </a:t>
            </a:r>
            <a:r>
              <a:rPr lang="fr-FR" sz="1800" b="1"/>
              <a:t>ChatGPT</a:t>
            </a:r>
            <a:endParaRPr lang="fr-FR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F7525C7-F65E-32C7-D3F1-8EBE0F8077E8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dirty="0">
                <a:solidFill>
                  <a:srgbClr val="425A78"/>
                </a:solidFill>
              </a:rPr>
              <a:t>Request and Access Process — Persona &amp; </a:t>
            </a:r>
            <a:r>
              <a:rPr lang="fr-FR" sz="1200" b="1">
                <a:solidFill>
                  <a:srgbClr val="425A78"/>
                </a:solidFill>
              </a:rPr>
              <a:t>API </a:t>
            </a:r>
            <a:r>
              <a:rPr lang="fr-FR" sz="1200" b="1" dirty="0">
                <a:solidFill>
                  <a:srgbClr val="425A78"/>
                </a:solidFill>
              </a:rPr>
              <a:t>ST </a:t>
            </a:r>
            <a:r>
              <a:rPr lang="fr-FR" sz="1200" b="1">
                <a:solidFill>
                  <a:srgbClr val="425A78"/>
                </a:solidFill>
              </a:rPr>
              <a:t>ChatGPT</a:t>
            </a:r>
            <a:endParaRPr lang="fr-FR" sz="1200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5F4954DE-A6BB-3765-3C8E-ABEAA80EEE77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dirty="0">
                <a:solidFill>
                  <a:srgbClr val="64748B"/>
                </a:solidFill>
              </a:rPr>
              <a:t>From business request to persona </a:t>
            </a:r>
            <a:r>
              <a:rPr lang="fr-FR" sz="1200" i="1">
                <a:solidFill>
                  <a:srgbClr val="64748B"/>
                </a:solidFill>
              </a:rPr>
              <a:t>/ </a:t>
            </a:r>
            <a:r>
              <a:rPr lang="fr-FR" sz="1200" i="1" dirty="0">
                <a:solidFill>
                  <a:srgbClr val="64748B"/>
                </a:solidFill>
              </a:rPr>
              <a:t>API access</a:t>
            </a:r>
            <a:endParaRPr lang="fr-FR" sz="12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AEB5106-1D60-9411-284C-2C77394DB7CE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1A986712-54EA-854D-1627-E83C2F6DD218}"/>
              </a:ext>
            </a:extLst>
          </p:cNvPr>
          <p:cNvSpPr/>
          <p:nvPr/>
        </p:nvSpPr>
        <p:spPr>
          <a:xfrm>
            <a:off x="2226842" y="1675277"/>
            <a:ext cx="1106727" cy="934159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D2992F70-E30D-38AC-0672-D62DA21FA6DE}"/>
              </a:ext>
            </a:extLst>
          </p:cNvPr>
          <p:cNvSpPr/>
          <p:nvPr/>
        </p:nvSpPr>
        <p:spPr>
          <a:xfrm>
            <a:off x="2117114" y="199913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chemeClr val="bg1"/>
                </a:solidFill>
              </a:rPr>
              <a:t>Business Need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9F7065AD-F8F6-9437-74C4-E20D56B7D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002" y="2132477"/>
            <a:ext cx="311267" cy="311267"/>
          </a:xfrm>
          <a:prstGeom prst="rect">
            <a:avLst/>
          </a:prstGeom>
        </p:spPr>
      </p:pic>
      <p:sp>
        <p:nvSpPr>
          <p:cNvPr id="7" name="Shape 8">
            <a:extLst>
              <a:ext uri="{FF2B5EF4-FFF2-40B4-BE49-F238E27FC236}">
                <a16:creationId xmlns:a16="http://schemas.microsoft.com/office/drawing/2014/main" id="{05981594-B6F0-299E-8A18-EEC7E29CC60E}"/>
              </a:ext>
            </a:extLst>
          </p:cNvPr>
          <p:cNvSpPr/>
          <p:nvPr/>
        </p:nvSpPr>
        <p:spPr>
          <a:xfrm>
            <a:off x="3945914" y="1675277"/>
            <a:ext cx="1106727" cy="934159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6B6F58B5-DB23-B991-C0DD-45EF820C742C}"/>
              </a:ext>
            </a:extLst>
          </p:cNvPr>
          <p:cNvSpPr/>
          <p:nvPr/>
        </p:nvSpPr>
        <p:spPr>
          <a:xfrm>
            <a:off x="4082908" y="2023005"/>
            <a:ext cx="850604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B2A3B"/>
                </a:solidFill>
              </a:rPr>
              <a:t>ServiceNow </a:t>
            </a:r>
            <a:r>
              <a:rPr lang="fr-FR" sz="1000" b="1">
                <a:solidFill>
                  <a:srgbClr val="1B2A3B"/>
                </a:solidFill>
              </a:rPr>
              <a:t>ServiceNow</a:t>
            </a:r>
            <a:endParaRPr lang="fr-FR" sz="1000" dirty="0">
              <a:solidFill>
                <a:srgbClr val="1B2A3B"/>
              </a:solidFill>
            </a:endParaRPr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82DC3A83-6F16-9A1D-B730-D0E7BD43C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074" y="2132477"/>
            <a:ext cx="311267" cy="311267"/>
          </a:xfrm>
          <a:prstGeom prst="rect">
            <a:avLst/>
          </a:prstGeom>
        </p:spPr>
      </p:pic>
      <p:sp>
        <p:nvSpPr>
          <p:cNvPr id="11" name="Shape 11">
            <a:extLst>
              <a:ext uri="{FF2B5EF4-FFF2-40B4-BE49-F238E27FC236}">
                <a16:creationId xmlns:a16="http://schemas.microsoft.com/office/drawing/2014/main" id="{872D7B54-02DF-C0DB-3A51-66E9BEA9192E}"/>
              </a:ext>
            </a:extLst>
          </p:cNvPr>
          <p:cNvSpPr/>
          <p:nvPr/>
        </p:nvSpPr>
        <p:spPr>
          <a:xfrm>
            <a:off x="5664986" y="1675277"/>
            <a:ext cx="1106727" cy="934159"/>
          </a:xfrm>
          <a:prstGeom prst="ellipse">
            <a:avLst/>
          </a:prstGeom>
          <a:solidFill>
            <a:srgbClr val="3CB4E6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9483D589-CD73-D144-78EE-78E9DE8642FE}"/>
              </a:ext>
            </a:extLst>
          </p:cNvPr>
          <p:cNvSpPr/>
          <p:nvPr/>
        </p:nvSpPr>
        <p:spPr>
          <a:xfrm>
            <a:off x="5561230" y="2040224"/>
            <a:ext cx="1314238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chemeClr val="bg1"/>
                </a:solidFill>
              </a:rPr>
              <a:t>Validation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07069B6A-B18E-2059-B3E7-A563CB093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146" y="2259168"/>
            <a:ext cx="311267" cy="311267"/>
          </a:xfrm>
          <a:prstGeom prst="rect">
            <a:avLst/>
          </a:prstGeom>
        </p:spPr>
      </p:pic>
      <p:sp>
        <p:nvSpPr>
          <p:cNvPr id="15" name="Shape 14">
            <a:extLst>
              <a:ext uri="{FF2B5EF4-FFF2-40B4-BE49-F238E27FC236}">
                <a16:creationId xmlns:a16="http://schemas.microsoft.com/office/drawing/2014/main" id="{8B8F8995-C3F3-B25B-5577-8CD54C8583FD}"/>
              </a:ext>
            </a:extLst>
          </p:cNvPr>
          <p:cNvSpPr/>
          <p:nvPr/>
        </p:nvSpPr>
        <p:spPr>
          <a:xfrm>
            <a:off x="7384058" y="1675277"/>
            <a:ext cx="1106727" cy="934159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0B7A807-C029-7E24-649C-1CD53CCFFAA2}"/>
              </a:ext>
            </a:extLst>
          </p:cNvPr>
          <p:cNvSpPr/>
          <p:nvPr/>
        </p:nvSpPr>
        <p:spPr>
          <a:xfrm>
            <a:off x="7477512" y="2023005"/>
            <a:ext cx="947675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>
                <a:solidFill>
                  <a:srgbClr val="1B2A3B"/>
                </a:solidFill>
              </a:rPr>
              <a:t>Access </a:t>
            </a:r>
            <a:r>
              <a:rPr lang="fr-FR" sz="1000" b="1" dirty="0">
                <a:solidFill>
                  <a:srgbClr val="1B2A3B"/>
                </a:solidFill>
              </a:rPr>
              <a:t>/ Configuration</a:t>
            </a:r>
            <a:endParaRPr lang="fr-FR" sz="1000" dirty="0"/>
          </a:p>
        </p:txBody>
      </p:sp>
      <p:pic>
        <p:nvPicPr>
          <p:cNvPr id="18" name="Image 7" descr="preencoded.png">
            <a:extLst>
              <a:ext uri="{FF2B5EF4-FFF2-40B4-BE49-F238E27FC236}">
                <a16:creationId xmlns:a16="http://schemas.microsoft.com/office/drawing/2014/main" id="{188DAB67-83C7-8073-FC9A-90BE21A62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866" y="2127243"/>
            <a:ext cx="311267" cy="311267"/>
          </a:xfrm>
          <a:prstGeom prst="rect">
            <a:avLst/>
          </a:prstGeom>
        </p:spPr>
      </p:pic>
      <p:sp>
        <p:nvSpPr>
          <p:cNvPr id="19" name="Shape 17">
            <a:extLst>
              <a:ext uri="{FF2B5EF4-FFF2-40B4-BE49-F238E27FC236}">
                <a16:creationId xmlns:a16="http://schemas.microsoft.com/office/drawing/2014/main" id="{FFCACCC6-E533-4E01-AD7F-5C72537584AA}"/>
              </a:ext>
            </a:extLst>
          </p:cNvPr>
          <p:cNvSpPr/>
          <p:nvPr/>
        </p:nvSpPr>
        <p:spPr>
          <a:xfrm>
            <a:off x="9103130" y="1675277"/>
            <a:ext cx="1106727" cy="934159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EB87576-0F8A-AF3A-D615-55D6DC422A5A}"/>
              </a:ext>
            </a:extLst>
          </p:cNvPr>
          <p:cNvSpPr/>
          <p:nvPr/>
        </p:nvSpPr>
        <p:spPr>
          <a:xfrm>
            <a:off x="8999375" y="2127025"/>
            <a:ext cx="1314238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B2A3B"/>
                </a:solidFill>
              </a:rPr>
              <a:t>Usage</a:t>
            </a:r>
          </a:p>
          <a:p>
            <a:pPr marL="0" indent="0" algn="ctr">
              <a:buNone/>
            </a:pPr>
            <a:endParaRPr lang="fr-FR" sz="1000" b="1" dirty="0">
              <a:solidFill>
                <a:srgbClr val="1B2A3B"/>
              </a:solidFill>
            </a:endParaRPr>
          </a:p>
        </p:txBody>
      </p:sp>
      <p:pic>
        <p:nvPicPr>
          <p:cNvPr id="22" name="Graphic 21" descr="Arrow Right with solid fill">
            <a:extLst>
              <a:ext uri="{FF2B5EF4-FFF2-40B4-BE49-F238E27FC236}">
                <a16:creationId xmlns:a16="http://schemas.microsoft.com/office/drawing/2014/main" id="{B37B1D71-4FAB-9AAC-F323-E2C6204A06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2402" y="2026996"/>
            <a:ext cx="350483" cy="350483"/>
          </a:xfrm>
          <a:prstGeom prst="rect">
            <a:avLst/>
          </a:prstGeom>
        </p:spPr>
      </p:pic>
      <p:pic>
        <p:nvPicPr>
          <p:cNvPr id="23" name="Graphic 22" descr="Arrow Right with solid fill">
            <a:extLst>
              <a:ext uri="{FF2B5EF4-FFF2-40B4-BE49-F238E27FC236}">
                <a16:creationId xmlns:a16="http://schemas.microsoft.com/office/drawing/2014/main" id="{FDEB5BE9-6D63-3521-B9EA-E04A6BFC12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1420" y="2047531"/>
            <a:ext cx="408047" cy="408047"/>
          </a:xfrm>
          <a:prstGeom prst="rect">
            <a:avLst/>
          </a:prstGeom>
        </p:spPr>
      </p:pic>
      <p:pic>
        <p:nvPicPr>
          <p:cNvPr id="24" name="Graphic 23" descr="Arrow Right with solid fill">
            <a:extLst>
              <a:ext uri="{FF2B5EF4-FFF2-40B4-BE49-F238E27FC236}">
                <a16:creationId xmlns:a16="http://schemas.microsoft.com/office/drawing/2014/main" id="{714A8A86-E296-586C-7866-120AF24759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4664" y="2051474"/>
            <a:ext cx="394420" cy="394420"/>
          </a:xfrm>
          <a:prstGeom prst="rect">
            <a:avLst/>
          </a:prstGeom>
        </p:spPr>
      </p:pic>
      <p:pic>
        <p:nvPicPr>
          <p:cNvPr id="25" name="Graphic 24" descr="Arrow Right with solid fill">
            <a:extLst>
              <a:ext uri="{FF2B5EF4-FFF2-40B4-BE49-F238E27FC236}">
                <a16:creationId xmlns:a16="http://schemas.microsoft.com/office/drawing/2014/main" id="{9258D2FA-ED8E-CCE5-9BD2-B250C5A88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8124" y="2039271"/>
            <a:ext cx="394452" cy="39445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A3F14D-0B9E-7B6B-FC83-C6066CFD7467}"/>
              </a:ext>
            </a:extLst>
          </p:cNvPr>
          <p:cNvSpPr/>
          <p:nvPr/>
        </p:nvSpPr>
        <p:spPr>
          <a:xfrm>
            <a:off x="622206" y="3830563"/>
            <a:ext cx="5726213" cy="1931144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For each new persona / API: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1</a:t>
            </a:r>
            <a:r>
              <a:rPr lang="en-US" sz="1200" baseline="30000" dirty="0">
                <a:solidFill>
                  <a:schemeClr val="tx1"/>
                </a:solidFill>
              </a:rPr>
              <a:t>st</a:t>
            </a:r>
            <a:r>
              <a:rPr lang="en-US" sz="1200" dirty="0">
                <a:solidFill>
                  <a:schemeClr val="tx1"/>
                </a:solidFill>
              </a:rPr>
              <a:t> level review and approval by Business Enterprise Architect ( BEA) as per above slide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2</a:t>
            </a:r>
            <a:r>
              <a:rPr lang="en-US" sz="1200" baseline="30000" dirty="0">
                <a:solidFill>
                  <a:schemeClr val="tx1"/>
                </a:solidFill>
              </a:rPr>
              <a:t>nd</a:t>
            </a:r>
            <a:r>
              <a:rPr lang="en-US" sz="1200" dirty="0">
                <a:solidFill>
                  <a:schemeClr val="tx1"/>
                </a:solidFill>
              </a:rPr>
              <a:t> level approval by Global co-Ordinator (Loic ECHENE / Salvo CICIA)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806895-8751-EA14-BDEA-B3CAC9024E1D}"/>
              </a:ext>
            </a:extLst>
          </p:cNvPr>
          <p:cNvSpPr/>
          <p:nvPr/>
        </p:nvSpPr>
        <p:spPr>
          <a:xfrm>
            <a:off x="6918028" y="3841993"/>
            <a:ext cx="4556760" cy="1908284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For support of existing persona  review/approval is not applicable</a:t>
            </a:r>
          </a:p>
        </p:txBody>
      </p:sp>
      <p:pic>
        <p:nvPicPr>
          <p:cNvPr id="12" name="Graphic 11" descr="Back outline">
            <a:extLst>
              <a:ext uri="{FF2B5EF4-FFF2-40B4-BE49-F238E27FC236}">
                <a16:creationId xmlns:a16="http://schemas.microsoft.com/office/drawing/2014/main" id="{81323BAD-812E-7F9F-20B8-E6B02EE354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 flipV="1">
            <a:off x="4455164" y="2681683"/>
            <a:ext cx="1004387" cy="1004387"/>
          </a:xfrm>
          <a:prstGeom prst="rect">
            <a:avLst/>
          </a:prstGeom>
        </p:spPr>
      </p:pic>
      <p:pic>
        <p:nvPicPr>
          <p:cNvPr id="16" name="Graphic 15" descr="Back outline">
            <a:extLst>
              <a:ext uri="{FF2B5EF4-FFF2-40B4-BE49-F238E27FC236}">
                <a16:creationId xmlns:a16="http://schemas.microsoft.com/office/drawing/2014/main" id="{0596F46E-2A0D-80E5-737C-4A0EE10CCB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 flipH="1" flipV="1">
            <a:off x="7057653" y="2677194"/>
            <a:ext cx="1004387" cy="100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127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E5D5E-D3A1-B250-4B3A-2F549F4F2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99946-C5C4-ACB7-8F36-69F1516CA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/>
              <a:t> </a:t>
            </a:r>
            <a:r>
              <a:rPr lang="fr-FR" sz="1800" b="1" dirty="0"/>
              <a:t>ST </a:t>
            </a:r>
            <a:r>
              <a:rPr lang="fr-FR" sz="1800" b="1"/>
              <a:t>ChatGPT</a:t>
            </a:r>
            <a:endParaRPr lang="fr-FR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42ED76-97D0-47D7-BAFF-FD83A367CF04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dirty="0">
                <a:solidFill>
                  <a:srgbClr val="425A78"/>
                </a:solidFill>
              </a:rPr>
              <a:t>Request and Access Process — Persona &amp; </a:t>
            </a:r>
            <a:r>
              <a:rPr lang="fr-FR" sz="1200" b="1">
                <a:solidFill>
                  <a:srgbClr val="425A78"/>
                </a:solidFill>
              </a:rPr>
              <a:t>API </a:t>
            </a:r>
            <a:r>
              <a:rPr lang="fr-FR" sz="1200" b="1" dirty="0">
                <a:solidFill>
                  <a:srgbClr val="425A78"/>
                </a:solidFill>
              </a:rPr>
              <a:t>ST </a:t>
            </a:r>
            <a:r>
              <a:rPr lang="fr-FR" sz="1200" b="1">
                <a:solidFill>
                  <a:srgbClr val="425A78"/>
                </a:solidFill>
              </a:rPr>
              <a:t>ChatGPT</a:t>
            </a:r>
            <a:endParaRPr lang="fr-FR" sz="1200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74918E13-CA91-7EBD-1BFD-3003A31A7D25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dirty="0">
                <a:solidFill>
                  <a:srgbClr val="64748B"/>
                </a:solidFill>
              </a:rPr>
              <a:t>From business request to persona </a:t>
            </a:r>
            <a:r>
              <a:rPr lang="fr-FR" sz="1200" i="1">
                <a:solidFill>
                  <a:srgbClr val="64748B"/>
                </a:solidFill>
              </a:rPr>
              <a:t>/ </a:t>
            </a:r>
            <a:r>
              <a:rPr lang="fr-FR" sz="1200" i="1" dirty="0">
                <a:solidFill>
                  <a:srgbClr val="64748B"/>
                </a:solidFill>
              </a:rPr>
              <a:t>API access</a:t>
            </a:r>
            <a:endParaRPr lang="fr-FR" sz="12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C38C4963-00F7-F27B-5C5A-2565F5199721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108A45B4-7EFB-2042-F006-90D735F2E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97" y="2008279"/>
            <a:ext cx="5613082" cy="4608512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Go to </a:t>
            </a:r>
            <a:r>
              <a:rPr lang="en-US" sz="1800" dirty="0">
                <a:hlinkClick r:id="rId3"/>
              </a:rPr>
              <a:t>https://st.service-now.com/hub</a:t>
            </a:r>
            <a:endParaRPr lang="en-US" sz="18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Click </a:t>
            </a:r>
            <a:r>
              <a:rPr lang="en-US" sz="1800" b="1" i="1" dirty="0"/>
              <a:t>Service Requests &amp; Apps </a:t>
            </a:r>
            <a:r>
              <a:rPr lang="en-US" sz="1800" dirty="0"/>
              <a:t>from in the left side menu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Click </a:t>
            </a:r>
            <a:r>
              <a:rPr lang="en-US" sz="1800" b="1" i="1" dirty="0"/>
              <a:t>Information Tech. </a:t>
            </a:r>
            <a:r>
              <a:rPr lang="en-US" sz="1800" dirty="0"/>
              <a:t>under categories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Click </a:t>
            </a:r>
            <a:r>
              <a:rPr lang="en-US" sz="1800" b="1" i="1" dirty="0"/>
              <a:t>Service Requests </a:t>
            </a:r>
            <a:r>
              <a:rPr lang="en-US" sz="1800" dirty="0"/>
              <a:t>tab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Find and click the card </a:t>
            </a:r>
            <a:r>
              <a:rPr lang="en-US" sz="1800" b="1" i="1" dirty="0" err="1"/>
              <a:t>STChatGP</a:t>
            </a:r>
            <a:r>
              <a:rPr lang="en-US" sz="1800" b="1" i="1" dirty="0"/>
              <a:t> (New Persona/API)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966F07DC-1B02-3C73-C4E0-8BB38C1FD1F1}"/>
              </a:ext>
            </a:extLst>
          </p:cNvPr>
          <p:cNvSpPr txBox="1">
            <a:spLocks/>
          </p:cNvSpPr>
          <p:nvPr/>
        </p:nvSpPr>
        <p:spPr>
          <a:xfrm>
            <a:off x="335284" y="385354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1DC14D-B1A7-E671-9B1A-3F852BAB6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154" y="1570980"/>
            <a:ext cx="2486153" cy="1971777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66E928A-7829-4C15-078A-2CD216C89F22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5831988" y="2556869"/>
            <a:ext cx="582166" cy="239128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3F3845E7-AB2F-3717-95F2-E9D221CF2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3180" y="1822359"/>
            <a:ext cx="1716492" cy="1971778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6D10219-E67E-1B67-498B-675E1D997CCF}"/>
              </a:ext>
            </a:extLst>
          </p:cNvPr>
          <p:cNvCxnSpPr>
            <a:cxnSpLocks/>
          </p:cNvCxnSpPr>
          <p:nvPr/>
        </p:nvCxnSpPr>
        <p:spPr>
          <a:xfrm flipV="1">
            <a:off x="5185954" y="3504208"/>
            <a:ext cx="5085493" cy="381992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46B0B9A3-ED74-8902-41D3-647F4007FF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9464" y="3989492"/>
            <a:ext cx="4260059" cy="1731806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9E1D17E-9918-9B4D-BDA0-C0A111FD17BC}"/>
              </a:ext>
            </a:extLst>
          </p:cNvPr>
          <p:cNvCxnSpPr>
            <a:cxnSpLocks/>
          </p:cNvCxnSpPr>
          <p:nvPr/>
        </p:nvCxnSpPr>
        <p:spPr>
          <a:xfrm>
            <a:off x="3559629" y="4415246"/>
            <a:ext cx="6955658" cy="349172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9093A704-DDD4-DDF9-7F0D-D695295914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4897428"/>
            <a:ext cx="2946207" cy="1889084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9F1FF56-2945-49A3-44B5-BF6EA7237DA4}"/>
              </a:ext>
            </a:extLst>
          </p:cNvPr>
          <p:cNvCxnSpPr>
            <a:cxnSpLocks/>
          </p:cNvCxnSpPr>
          <p:nvPr/>
        </p:nvCxnSpPr>
        <p:spPr>
          <a:xfrm>
            <a:off x="4402183" y="5205549"/>
            <a:ext cx="1084217" cy="72731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394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94C59-FDC3-2BDE-07C0-186D21C05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09B95-50B2-CC68-F4B7-BD8EDFF93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Why this project?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7BBE91-8617-EC87-BD5D-ADD085E93B2C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The Daily Support Problem </a:t>
            </a:r>
            <a:endParaRPr lang="en-US" sz="1200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20385A16-4C7C-9261-2A6E-E28EE8E690B3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Technical info exists , but it's scattered</a:t>
            </a:r>
            <a:endParaRPr lang="en-US" sz="12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ED1D3D2-0B48-9B6D-F306-C26EA525AA1B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Shape 5">
            <a:extLst>
              <a:ext uri="{FF2B5EF4-FFF2-40B4-BE49-F238E27FC236}">
                <a16:creationId xmlns:a16="http://schemas.microsoft.com/office/drawing/2014/main" id="{CC8BF856-E425-AAB5-B960-9D7C35BBA628}"/>
              </a:ext>
            </a:extLst>
          </p:cNvPr>
          <p:cNvSpPr/>
          <p:nvPr/>
        </p:nvSpPr>
        <p:spPr>
          <a:xfrm>
            <a:off x="1381838" y="2154230"/>
            <a:ext cx="4114800" cy="34279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0" name="Shape 6">
            <a:extLst>
              <a:ext uri="{FF2B5EF4-FFF2-40B4-BE49-F238E27FC236}">
                <a16:creationId xmlns:a16="http://schemas.microsoft.com/office/drawing/2014/main" id="{7A792D4E-7BBB-C454-AD92-E2524A075434}"/>
              </a:ext>
            </a:extLst>
          </p:cNvPr>
          <p:cNvSpPr/>
          <p:nvPr/>
        </p:nvSpPr>
        <p:spPr>
          <a:xfrm>
            <a:off x="1381838" y="2154230"/>
            <a:ext cx="411480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6A33DDAA-5371-B5E9-3F64-8350A3F57311}"/>
              </a:ext>
            </a:extLst>
          </p:cNvPr>
          <p:cNvSpPr/>
          <p:nvPr/>
        </p:nvSpPr>
        <p:spPr>
          <a:xfrm>
            <a:off x="1473278" y="215423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 Before this project</a:t>
            </a:r>
            <a:endParaRPr lang="en-US" sz="1300" dirty="0"/>
          </a:p>
        </p:txBody>
      </p:sp>
      <p:sp>
        <p:nvSpPr>
          <p:cNvPr id="63" name="Text 8">
            <a:extLst>
              <a:ext uri="{FF2B5EF4-FFF2-40B4-BE49-F238E27FC236}">
                <a16:creationId xmlns:a16="http://schemas.microsoft.com/office/drawing/2014/main" id="{C5407319-1C8B-617B-1045-487E70DA683F}"/>
              </a:ext>
            </a:extLst>
          </p:cNvPr>
          <p:cNvSpPr/>
          <p:nvPr/>
        </p:nvSpPr>
        <p:spPr>
          <a:xfrm>
            <a:off x="1857326" y="278819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</a:rPr>
              <a:t>Support engineers already had reference sources and search habits</a:t>
            </a:r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73754468-1022-388F-891F-29832C39CB11}"/>
              </a:ext>
            </a:extLst>
          </p:cNvPr>
          <p:cNvSpPr/>
          <p:nvPr/>
        </p:nvSpPr>
        <p:spPr>
          <a:xfrm>
            <a:off x="1857326" y="314938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</a:rPr>
              <a:t>For standard issues, the information was often available</a:t>
            </a:r>
            <a:endParaRPr lang="en-US" sz="1100" dirty="0"/>
          </a:p>
        </p:txBody>
      </p:sp>
      <p:sp>
        <p:nvSpPr>
          <p:cNvPr id="67" name="Text 10">
            <a:extLst>
              <a:ext uri="{FF2B5EF4-FFF2-40B4-BE49-F238E27FC236}">
                <a16:creationId xmlns:a16="http://schemas.microsoft.com/office/drawing/2014/main" id="{008F96C0-3375-1367-469D-7C2E816D3077}"/>
              </a:ext>
            </a:extLst>
          </p:cNvPr>
          <p:cNvSpPr/>
          <p:nvPr/>
        </p:nvSpPr>
        <p:spPr>
          <a:xfrm>
            <a:off x="1857326" y="357915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</a:rPr>
              <a:t>For new or less obvious bugs, useful clues could be spread across multiple sources</a:t>
            </a:r>
            <a:endParaRPr lang="en-US" sz="1100" dirty="0"/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EF1FCC1A-2C83-1784-6824-7BF90230E806}"/>
              </a:ext>
            </a:extLst>
          </p:cNvPr>
          <p:cNvSpPr/>
          <p:nvPr/>
        </p:nvSpPr>
        <p:spPr>
          <a:xfrm>
            <a:off x="1877189" y="416983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</a:rPr>
              <a:t>Investigation often required manual cross-checking between issues, documentation, and other technical references</a:t>
            </a:r>
            <a:endParaRPr lang="en-US" sz="1100" dirty="0"/>
          </a:p>
        </p:txBody>
      </p:sp>
      <p:sp>
        <p:nvSpPr>
          <p:cNvPr id="73" name="Text 13">
            <a:extLst>
              <a:ext uri="{FF2B5EF4-FFF2-40B4-BE49-F238E27FC236}">
                <a16:creationId xmlns:a16="http://schemas.microsoft.com/office/drawing/2014/main" id="{1F3D3CD5-33E3-D1DE-78E1-A006CB619C59}"/>
              </a:ext>
            </a:extLst>
          </p:cNvPr>
          <p:cNvSpPr/>
          <p:nvPr/>
        </p:nvSpPr>
        <p:spPr>
          <a:xfrm>
            <a:off x="1661276" y="4814486"/>
            <a:ext cx="37250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D9488"/>
                </a:solidFill>
              </a:rPr>
              <a:t>The issue was not missing information, but the time needed to connect the right pieces</a:t>
            </a:r>
            <a:endParaRPr lang="en-US" sz="1100" i="1" dirty="0"/>
          </a:p>
        </p:txBody>
      </p:sp>
      <p:sp>
        <p:nvSpPr>
          <p:cNvPr id="74" name="Shape 14">
            <a:extLst>
              <a:ext uri="{FF2B5EF4-FFF2-40B4-BE49-F238E27FC236}">
                <a16:creationId xmlns:a16="http://schemas.microsoft.com/office/drawing/2014/main" id="{8DA141FB-8120-7F25-BD18-253CA596022E}"/>
              </a:ext>
            </a:extLst>
          </p:cNvPr>
          <p:cNvSpPr/>
          <p:nvPr/>
        </p:nvSpPr>
        <p:spPr>
          <a:xfrm>
            <a:off x="6624863" y="2154230"/>
            <a:ext cx="4114800" cy="34279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5" name="Shape 15">
            <a:extLst>
              <a:ext uri="{FF2B5EF4-FFF2-40B4-BE49-F238E27FC236}">
                <a16:creationId xmlns:a16="http://schemas.microsoft.com/office/drawing/2014/main" id="{9BD8F2EB-26A2-4A34-A83E-E250AEB39E72}"/>
              </a:ext>
            </a:extLst>
          </p:cNvPr>
          <p:cNvSpPr/>
          <p:nvPr/>
        </p:nvSpPr>
        <p:spPr>
          <a:xfrm>
            <a:off x="6624863" y="2154230"/>
            <a:ext cx="411480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F65B7521-650D-0678-E5E2-823A1703058A}"/>
              </a:ext>
            </a:extLst>
          </p:cNvPr>
          <p:cNvSpPr/>
          <p:nvPr/>
        </p:nvSpPr>
        <p:spPr>
          <a:xfrm>
            <a:off x="6716303" y="215423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This project's objective</a:t>
            </a:r>
            <a:endParaRPr lang="en-US" sz="1300" dirty="0"/>
          </a:p>
        </p:txBody>
      </p:sp>
      <p:pic>
        <p:nvPicPr>
          <p:cNvPr id="77" name="Image 6" descr="preencoded.png">
            <a:extLst>
              <a:ext uri="{FF2B5EF4-FFF2-40B4-BE49-F238E27FC236}">
                <a16:creationId xmlns:a16="http://schemas.microsoft.com/office/drawing/2014/main" id="{3E53CE7E-2AD6-852F-797A-9309E7800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312" y="2831697"/>
            <a:ext cx="188100" cy="188100"/>
          </a:xfrm>
          <a:prstGeom prst="rect">
            <a:avLst/>
          </a:prstGeom>
        </p:spPr>
      </p:pic>
      <p:sp>
        <p:nvSpPr>
          <p:cNvPr id="78" name="Text 17">
            <a:extLst>
              <a:ext uri="{FF2B5EF4-FFF2-40B4-BE49-F238E27FC236}">
                <a16:creationId xmlns:a16="http://schemas.microsoft.com/office/drawing/2014/main" id="{FFEE26DC-8480-4FFB-5B96-9AAB73D82750}"/>
              </a:ext>
            </a:extLst>
          </p:cNvPr>
          <p:cNvSpPr/>
          <p:nvPr/>
        </p:nvSpPr>
        <p:spPr>
          <a:xfrm>
            <a:off x="7133125" y="275251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D9488"/>
                </a:solidFill>
              </a:rPr>
              <a:t>Centralize : </a:t>
            </a:r>
            <a:r>
              <a:rPr lang="en-US" sz="1100" dirty="0">
                <a:solidFill>
                  <a:srgbClr val="1B2A3B"/>
                </a:solidFill>
              </a:rPr>
              <a:t>all STM32Cube knowledge in one placet</a:t>
            </a:r>
            <a:endParaRPr lang="en-US" sz="1100" dirty="0"/>
          </a:p>
        </p:txBody>
      </p:sp>
      <p:sp>
        <p:nvSpPr>
          <p:cNvPr id="80" name="Text 18">
            <a:extLst>
              <a:ext uri="{FF2B5EF4-FFF2-40B4-BE49-F238E27FC236}">
                <a16:creationId xmlns:a16="http://schemas.microsoft.com/office/drawing/2014/main" id="{032524E0-41DD-C300-E2F6-9FF5CCF430C9}"/>
              </a:ext>
            </a:extLst>
          </p:cNvPr>
          <p:cNvSpPr/>
          <p:nvPr/>
        </p:nvSpPr>
        <p:spPr>
          <a:xfrm>
            <a:off x="7133125" y="327372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Structure : </a:t>
            </a:r>
            <a:r>
              <a:rPr lang="en-US" sz="1100" dirty="0">
                <a:solidFill>
                  <a:srgbClr val="1B2A3B"/>
                </a:solidFill>
              </a:rPr>
              <a:t>data normalized, enriched, ready for retrieval</a:t>
            </a:r>
            <a:endParaRPr lang="en-US" sz="1100" dirty="0"/>
          </a:p>
        </p:txBody>
      </p:sp>
      <p:sp>
        <p:nvSpPr>
          <p:cNvPr id="82" name="Text 19">
            <a:extLst>
              <a:ext uri="{FF2B5EF4-FFF2-40B4-BE49-F238E27FC236}">
                <a16:creationId xmlns:a16="http://schemas.microsoft.com/office/drawing/2014/main" id="{75884DD8-FD91-F6B7-2FDD-4F09DFF3D555}"/>
              </a:ext>
            </a:extLst>
          </p:cNvPr>
          <p:cNvSpPr/>
          <p:nvPr/>
        </p:nvSpPr>
        <p:spPr>
          <a:xfrm>
            <a:off x="7133125" y="379493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Answer : </a:t>
            </a:r>
            <a:r>
              <a:rPr lang="en-US" sz="1100" dirty="0">
                <a:solidFill>
                  <a:srgbClr val="1B2A3B"/>
                </a:solidFill>
              </a:rPr>
              <a:t>technical questions in seconds with sources </a:t>
            </a:r>
            <a:endParaRPr lang="en-US" sz="1100" dirty="0"/>
          </a:p>
        </p:txBody>
      </p:sp>
      <p:sp>
        <p:nvSpPr>
          <p:cNvPr id="84" name="Text 20">
            <a:extLst>
              <a:ext uri="{FF2B5EF4-FFF2-40B4-BE49-F238E27FC236}">
                <a16:creationId xmlns:a16="http://schemas.microsoft.com/office/drawing/2014/main" id="{03A7B315-36B1-B042-184F-858A1D963B9A}"/>
              </a:ext>
            </a:extLst>
          </p:cNvPr>
          <p:cNvSpPr/>
          <p:nvPr/>
        </p:nvSpPr>
        <p:spPr>
          <a:xfrm>
            <a:off x="7133125" y="431613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Trace : </a:t>
            </a:r>
            <a:r>
              <a:rPr lang="en-US" sz="1100" dirty="0">
                <a:solidFill>
                  <a:srgbClr val="1B2A3B"/>
                </a:solidFill>
              </a:rPr>
              <a:t>every answer back to issue, PR, commit, or doc</a:t>
            </a:r>
            <a:endParaRPr lang="en-US" sz="1100" dirty="0"/>
          </a:p>
        </p:txBody>
      </p:sp>
      <p:sp>
        <p:nvSpPr>
          <p:cNvPr id="86" name="Text 21">
            <a:extLst>
              <a:ext uri="{FF2B5EF4-FFF2-40B4-BE49-F238E27FC236}">
                <a16:creationId xmlns:a16="http://schemas.microsoft.com/office/drawing/2014/main" id="{8AD70C8B-903F-E4C8-0ED6-C348AA40B989}"/>
              </a:ext>
            </a:extLst>
          </p:cNvPr>
          <p:cNvSpPr/>
          <p:nvPr/>
        </p:nvSpPr>
        <p:spPr>
          <a:xfrm>
            <a:off x="7133125" y="483734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Learn: </a:t>
            </a:r>
            <a:r>
              <a:rPr lang="en-US" sz="1100" dirty="0">
                <a:solidFill>
                  <a:srgbClr val="1B2A3B"/>
                </a:solidFill>
              </a:rPr>
              <a:t>from every resolved bug for the next ones</a:t>
            </a:r>
            <a:endParaRPr lang="en-US" sz="1100" dirty="0"/>
          </a:p>
        </p:txBody>
      </p:sp>
      <p:pic>
        <p:nvPicPr>
          <p:cNvPr id="92" name="Image 6" descr="preencoded.png">
            <a:extLst>
              <a:ext uri="{FF2B5EF4-FFF2-40B4-BE49-F238E27FC236}">
                <a16:creationId xmlns:a16="http://schemas.microsoft.com/office/drawing/2014/main" id="{F48C18E9-291C-DD28-010F-1E862C81D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312" y="3295934"/>
            <a:ext cx="188100" cy="188100"/>
          </a:xfrm>
          <a:prstGeom prst="rect">
            <a:avLst/>
          </a:prstGeom>
        </p:spPr>
      </p:pic>
      <p:pic>
        <p:nvPicPr>
          <p:cNvPr id="93" name="Image 6" descr="preencoded.png">
            <a:extLst>
              <a:ext uri="{FF2B5EF4-FFF2-40B4-BE49-F238E27FC236}">
                <a16:creationId xmlns:a16="http://schemas.microsoft.com/office/drawing/2014/main" id="{4A1CFD88-1CFA-A2C4-E14A-413DCF90C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312" y="3875651"/>
            <a:ext cx="188100" cy="188100"/>
          </a:xfrm>
          <a:prstGeom prst="rect">
            <a:avLst/>
          </a:prstGeom>
        </p:spPr>
      </p:pic>
      <p:pic>
        <p:nvPicPr>
          <p:cNvPr id="94" name="Image 6" descr="preencoded.png">
            <a:extLst>
              <a:ext uri="{FF2B5EF4-FFF2-40B4-BE49-F238E27FC236}">
                <a16:creationId xmlns:a16="http://schemas.microsoft.com/office/drawing/2014/main" id="{1D88C528-EF2F-1BFE-9E22-74BA0B54B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312" y="4395824"/>
            <a:ext cx="188100" cy="188100"/>
          </a:xfrm>
          <a:prstGeom prst="rect">
            <a:avLst/>
          </a:prstGeom>
        </p:spPr>
      </p:pic>
      <p:pic>
        <p:nvPicPr>
          <p:cNvPr id="95" name="Image 6" descr="preencoded.png">
            <a:extLst>
              <a:ext uri="{FF2B5EF4-FFF2-40B4-BE49-F238E27FC236}">
                <a16:creationId xmlns:a16="http://schemas.microsoft.com/office/drawing/2014/main" id="{CC0FA10E-BB9D-9FEB-BF42-A1F323459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312" y="4930324"/>
            <a:ext cx="188100" cy="188100"/>
          </a:xfrm>
          <a:prstGeom prst="rect">
            <a:avLst/>
          </a:prstGeom>
        </p:spPr>
      </p:pic>
      <p:pic>
        <p:nvPicPr>
          <p:cNvPr id="8" name="Graphic 7" descr="Caret Right with solid fill">
            <a:extLst>
              <a:ext uri="{FF2B5EF4-FFF2-40B4-BE49-F238E27FC236}">
                <a16:creationId xmlns:a16="http://schemas.microsoft.com/office/drawing/2014/main" id="{A0635F41-F08F-15C2-3C4F-80C8D7BC14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9994" y="2752514"/>
            <a:ext cx="217158" cy="217158"/>
          </a:xfrm>
          <a:prstGeom prst="rect">
            <a:avLst/>
          </a:prstGeom>
        </p:spPr>
      </p:pic>
      <p:pic>
        <p:nvPicPr>
          <p:cNvPr id="9" name="Graphic 8" descr="Caret Right with solid fill">
            <a:extLst>
              <a:ext uri="{FF2B5EF4-FFF2-40B4-BE49-F238E27FC236}">
                <a16:creationId xmlns:a16="http://schemas.microsoft.com/office/drawing/2014/main" id="{E5B0F13D-F554-A92D-75EB-67D8AA3012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0981" y="3188137"/>
            <a:ext cx="217158" cy="217158"/>
          </a:xfrm>
          <a:prstGeom prst="rect">
            <a:avLst/>
          </a:prstGeom>
        </p:spPr>
      </p:pic>
      <p:pic>
        <p:nvPicPr>
          <p:cNvPr id="10" name="Graphic 9" descr="Caret Right with solid fill">
            <a:extLst>
              <a:ext uri="{FF2B5EF4-FFF2-40B4-BE49-F238E27FC236}">
                <a16:creationId xmlns:a16="http://schemas.microsoft.com/office/drawing/2014/main" id="{6CCC089A-74F1-FF2E-97AB-73A426B7D8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9994" y="3549789"/>
            <a:ext cx="217158" cy="217158"/>
          </a:xfrm>
          <a:prstGeom prst="rect">
            <a:avLst/>
          </a:prstGeom>
        </p:spPr>
      </p:pic>
      <p:pic>
        <p:nvPicPr>
          <p:cNvPr id="11" name="Graphic 10" descr="Caret Right with solid fill">
            <a:extLst>
              <a:ext uri="{FF2B5EF4-FFF2-40B4-BE49-F238E27FC236}">
                <a16:creationId xmlns:a16="http://schemas.microsoft.com/office/drawing/2014/main" id="{F5289844-B6F8-7168-437D-943604B27D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0844" y="4047128"/>
            <a:ext cx="217158" cy="21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477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FB7E538-A456-35E0-F4D9-6FE9229F0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E993-A2E8-1465-209B-79CDBA610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Where AI stands in here !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5D0934-FC75-C263-F19E-E9546DA8293B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No magic — organized retrieval from structured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C6C9AB0E-5BC5-29EC-6D9A-B00461F6249E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</a:rPr>
              <a:t>Understanding what the STM32Cube persona actually does</a:t>
            </a:r>
            <a:endParaRPr lang="en-US" sz="12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B829B853-4C45-6953-1216-C7DF112C8840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AD1D205-2676-8D4F-3EF7-AA1D88C3FF16}"/>
              </a:ext>
            </a:extLst>
          </p:cNvPr>
          <p:cNvSpPr/>
          <p:nvPr/>
        </p:nvSpPr>
        <p:spPr>
          <a:xfrm>
            <a:off x="1322971" y="1665975"/>
            <a:ext cx="9546057" cy="987552"/>
          </a:xfrm>
          <a:prstGeom prst="rect">
            <a:avLst/>
          </a:prstGeom>
          <a:solidFill>
            <a:srgbClr val="F0FDFA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218FC2E3-1F4F-64D5-FAEA-E6D31D39F812}"/>
              </a:ext>
            </a:extLst>
          </p:cNvPr>
          <p:cNvSpPr/>
          <p:nvPr/>
        </p:nvSpPr>
        <p:spPr>
          <a:xfrm>
            <a:off x="1322971" y="1665975"/>
            <a:ext cx="72633" cy="987552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CE865E9A-9BF3-4BF6-95ED-59F0EABD5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073" y="1715318"/>
            <a:ext cx="352789" cy="310896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5B252642-AC16-CA5C-A22D-04631076DE09}"/>
              </a:ext>
            </a:extLst>
          </p:cNvPr>
          <p:cNvSpPr/>
          <p:nvPr/>
        </p:nvSpPr>
        <p:spPr>
          <a:xfrm>
            <a:off x="1917332" y="1702551"/>
            <a:ext cx="20752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Analogy</a:t>
            </a:r>
            <a:endParaRPr lang="en-US" sz="10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A463B47C-07B2-84D3-CA88-B6835A24BC01}"/>
              </a:ext>
            </a:extLst>
          </p:cNvPr>
          <p:cNvSpPr/>
          <p:nvPr/>
        </p:nvSpPr>
        <p:spPr>
          <a:xfrm>
            <a:off x="1623486" y="2014935"/>
            <a:ext cx="87159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</a:rPr>
              <a:t>Imagine a senior engineer with 10 years of STM32 experience. They have read every issue, every file, every </a:t>
            </a:r>
            <a:r>
              <a:rPr lang="en-US" sz="1100" dirty="0" err="1">
                <a:solidFill>
                  <a:srgbClr val="1B2A3B"/>
                </a:solidFill>
              </a:rPr>
              <a:t>PRs</a:t>
            </a:r>
            <a:r>
              <a:rPr lang="en-US" sz="1100" dirty="0">
                <a:solidFill>
                  <a:srgbClr val="1B2A3B"/>
                </a:solidFill>
              </a:rPr>
              <a:t>. When you ask a question, they search their memory and give you the answer with sources. The tool does exactly that — automatically.</a:t>
            </a:r>
            <a:endParaRPr lang="en-US" sz="11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4C28755-DB4F-27BD-5A17-CC1BB896987B}"/>
              </a:ext>
            </a:extLst>
          </p:cNvPr>
          <p:cNvSpPr/>
          <p:nvPr/>
        </p:nvSpPr>
        <p:spPr>
          <a:xfrm>
            <a:off x="1678959" y="3013165"/>
            <a:ext cx="2697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2356146-53B7-73A4-C188-48A7922356BE}"/>
              </a:ext>
            </a:extLst>
          </p:cNvPr>
          <p:cNvSpPr/>
          <p:nvPr/>
        </p:nvSpPr>
        <p:spPr>
          <a:xfrm>
            <a:off x="1678959" y="3013164"/>
            <a:ext cx="2697480" cy="402337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FA58D1A5-84E6-2A9A-5A9A-E60361601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063" y="3105381"/>
            <a:ext cx="237744" cy="237744"/>
          </a:xfrm>
          <a:prstGeom prst="rect">
            <a:avLst/>
          </a:prstGeom>
        </p:spPr>
      </p:pic>
      <p:sp>
        <p:nvSpPr>
          <p:cNvPr id="12" name="Text 11">
            <a:extLst>
              <a:ext uri="{FF2B5EF4-FFF2-40B4-BE49-F238E27FC236}">
                <a16:creationId xmlns:a16="http://schemas.microsoft.com/office/drawing/2014/main" id="{745D125A-304A-F722-8E10-0C28EFDA21F1}"/>
              </a:ext>
            </a:extLst>
          </p:cNvPr>
          <p:cNvSpPr/>
          <p:nvPr/>
        </p:nvSpPr>
        <p:spPr>
          <a:xfrm>
            <a:off x="2127015" y="3049741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5A78"/>
                </a:solidFill>
              </a:rPr>
              <a:t>The AI (LLM)</a:t>
            </a:r>
            <a:endParaRPr lang="en-US" sz="1200" dirty="0">
              <a:solidFill>
                <a:srgbClr val="425A78"/>
              </a:solidFill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1431F647-8786-A6B7-09F9-72C2BD644C84}"/>
              </a:ext>
            </a:extLst>
          </p:cNvPr>
          <p:cNvSpPr/>
          <p:nvPr/>
        </p:nvSpPr>
        <p:spPr>
          <a:xfrm>
            <a:off x="2107703" y="3250909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25A78"/>
                </a:solidFill>
              </a:rPr>
              <a:t>Large </a:t>
            </a:r>
            <a:r>
              <a:rPr lang="en-US" sz="750" i="1" dirty="0" err="1">
                <a:solidFill>
                  <a:srgbClr val="425A78"/>
                </a:solidFill>
              </a:rPr>
              <a:t>Language</a:t>
            </a:r>
            <a:r>
              <a:rPr lang="en-US" sz="750" i="1" dirty="0">
                <a:solidFill>
                  <a:srgbClr val="425A78"/>
                </a:solidFill>
              </a:rPr>
              <a:t> Model</a:t>
            </a:r>
            <a:endParaRPr lang="en-US" sz="750" dirty="0">
              <a:solidFill>
                <a:srgbClr val="425A78"/>
              </a:solidFill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D5864171-1F54-1688-BC2A-73043BA04CA1}"/>
              </a:ext>
            </a:extLst>
          </p:cNvPr>
          <p:cNvSpPr/>
          <p:nvPr/>
        </p:nvSpPr>
        <p:spPr>
          <a:xfrm>
            <a:off x="1788687" y="3415501"/>
            <a:ext cx="2487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</a:rPr>
              <a:t>A program trained on billions of texts. It understands natural language and generates coherent responses. </a:t>
            </a:r>
          </a:p>
          <a:p>
            <a:pPr marL="0" indent="0">
              <a:buNone/>
            </a:pPr>
            <a:endParaRPr lang="en-US" sz="950" dirty="0">
              <a:solidFill>
                <a:srgbClr val="1B2A3B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</a:rPr>
              <a:t>This is the engine behind ST </a:t>
            </a:r>
            <a:r>
              <a:rPr lang="en-US" sz="950" dirty="0" err="1">
                <a:solidFill>
                  <a:srgbClr val="1B2A3B"/>
                </a:solidFill>
              </a:rPr>
              <a:t>ChatGPT</a:t>
            </a:r>
            <a:r>
              <a:rPr lang="en-US" sz="950" dirty="0">
                <a:solidFill>
                  <a:srgbClr val="1B2A3B"/>
                </a:solidFill>
              </a:rPr>
              <a:t>.</a:t>
            </a:r>
            <a:endParaRPr lang="en-US" sz="95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9C0A64A0-5D01-652C-2536-82E2BF93C173}"/>
              </a:ext>
            </a:extLst>
          </p:cNvPr>
          <p:cNvSpPr/>
          <p:nvPr/>
        </p:nvSpPr>
        <p:spPr>
          <a:xfrm>
            <a:off x="1752111" y="5134573"/>
            <a:ext cx="2560320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DD082E55-DDCE-6C89-3AA4-77D224E5903E}"/>
              </a:ext>
            </a:extLst>
          </p:cNvPr>
          <p:cNvSpPr/>
          <p:nvPr/>
        </p:nvSpPr>
        <p:spPr>
          <a:xfrm>
            <a:off x="1770399" y="5143717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Like a brain that understands questions</a:t>
            </a:r>
            <a:endParaRPr lang="en-US" sz="90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8B5F5369-73EF-CCF0-81AD-DA1F8DC6777D}"/>
              </a:ext>
            </a:extLst>
          </p:cNvPr>
          <p:cNvSpPr/>
          <p:nvPr/>
        </p:nvSpPr>
        <p:spPr>
          <a:xfrm>
            <a:off x="4787919" y="3016593"/>
            <a:ext cx="2697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E3031BB8-2A09-320F-D2E7-95FC1A35ED63}"/>
              </a:ext>
            </a:extLst>
          </p:cNvPr>
          <p:cNvSpPr/>
          <p:nvPr/>
        </p:nvSpPr>
        <p:spPr>
          <a:xfrm>
            <a:off x="4787919" y="3016593"/>
            <a:ext cx="2697480" cy="402336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95C22DF-1B16-48FB-038A-F1B733E24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7647" y="3080601"/>
            <a:ext cx="237744" cy="237744"/>
          </a:xfrm>
          <a:prstGeom prst="rect">
            <a:avLst/>
          </a:prstGeom>
        </p:spPr>
      </p:pic>
      <p:sp>
        <p:nvSpPr>
          <p:cNvPr id="20" name="Text 18">
            <a:extLst>
              <a:ext uri="{FF2B5EF4-FFF2-40B4-BE49-F238E27FC236}">
                <a16:creationId xmlns:a16="http://schemas.microsoft.com/office/drawing/2014/main" id="{A4CA894F-F916-6500-87F8-F55CD454FF72}"/>
              </a:ext>
            </a:extLst>
          </p:cNvPr>
          <p:cNvSpPr/>
          <p:nvPr/>
        </p:nvSpPr>
        <p:spPr>
          <a:xfrm>
            <a:off x="5199399" y="3053169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5A78"/>
                </a:solidFill>
              </a:rPr>
              <a:t>The KB (Knowledge Base)</a:t>
            </a:r>
            <a:endParaRPr lang="en-US" sz="1200" dirty="0">
              <a:solidFill>
                <a:srgbClr val="425A78"/>
              </a:solidFill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B867D7C-D7F3-73DB-A2FC-A2AA47A0A74B}"/>
              </a:ext>
            </a:extLst>
          </p:cNvPr>
          <p:cNvSpPr/>
          <p:nvPr/>
        </p:nvSpPr>
        <p:spPr>
          <a:xfrm>
            <a:off x="5199399" y="3254337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25A78"/>
                </a:solidFill>
              </a:rPr>
              <a:t>Knowledge Base</a:t>
            </a:r>
            <a:endParaRPr lang="en-US" sz="750" dirty="0">
              <a:solidFill>
                <a:srgbClr val="425A78"/>
              </a:solidFill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DB93881-BA31-EE40-7510-28A866E170B6}"/>
              </a:ext>
            </a:extLst>
          </p:cNvPr>
          <p:cNvSpPr/>
          <p:nvPr/>
        </p:nvSpPr>
        <p:spPr>
          <a:xfrm>
            <a:off x="4897647" y="3418929"/>
            <a:ext cx="2487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</a:rPr>
              <a:t>This is the tool's library. All STM32 information is stored as small indexed text chunks. </a:t>
            </a:r>
          </a:p>
          <a:p>
            <a:pPr marL="0" indent="0">
              <a:buNone/>
            </a:pPr>
            <a:endParaRPr lang="en-US" sz="950" dirty="0">
              <a:solidFill>
                <a:srgbClr val="1B2A3B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</a:rPr>
              <a:t>The tool searches here before answering.</a:t>
            </a:r>
            <a:endParaRPr lang="en-US" sz="9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2BCE532-EF36-B10D-8032-308321F8E998}"/>
              </a:ext>
            </a:extLst>
          </p:cNvPr>
          <p:cNvSpPr/>
          <p:nvPr/>
        </p:nvSpPr>
        <p:spPr>
          <a:xfrm>
            <a:off x="4861071" y="5138001"/>
            <a:ext cx="2560320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7535604-EA9E-62B2-F5FA-1828CD2FF5ED}"/>
              </a:ext>
            </a:extLst>
          </p:cNvPr>
          <p:cNvSpPr/>
          <p:nvPr/>
        </p:nvSpPr>
        <p:spPr>
          <a:xfrm>
            <a:off x="4879359" y="5147145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 Like an ultra-organized, searchable library</a:t>
            </a:r>
            <a:endParaRPr lang="en-US" sz="9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2152664-7152-9295-DF54-7951146ACF9D}"/>
              </a:ext>
            </a:extLst>
          </p:cNvPr>
          <p:cNvSpPr/>
          <p:nvPr/>
        </p:nvSpPr>
        <p:spPr>
          <a:xfrm>
            <a:off x="7896879" y="3011812"/>
            <a:ext cx="2697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80DBFFD-5F44-C334-CB34-81269815BCF2}"/>
              </a:ext>
            </a:extLst>
          </p:cNvPr>
          <p:cNvSpPr/>
          <p:nvPr/>
        </p:nvSpPr>
        <p:spPr>
          <a:xfrm>
            <a:off x="7896879" y="3011812"/>
            <a:ext cx="2697480" cy="402336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66567D39-F4EE-25E3-C811-97BE213446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6607" y="3075820"/>
            <a:ext cx="237744" cy="237744"/>
          </a:xfrm>
          <a:prstGeom prst="rect">
            <a:avLst/>
          </a:prstGeom>
        </p:spPr>
      </p:pic>
      <p:sp>
        <p:nvSpPr>
          <p:cNvPr id="28" name="Text 25">
            <a:extLst>
              <a:ext uri="{FF2B5EF4-FFF2-40B4-BE49-F238E27FC236}">
                <a16:creationId xmlns:a16="http://schemas.microsoft.com/office/drawing/2014/main" id="{5E5F1B35-0E0C-0A22-E680-A2714E9F8522}"/>
              </a:ext>
            </a:extLst>
          </p:cNvPr>
          <p:cNvSpPr/>
          <p:nvPr/>
        </p:nvSpPr>
        <p:spPr>
          <a:xfrm>
            <a:off x="8308359" y="304838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5A78"/>
                </a:solidFill>
              </a:rPr>
              <a:t>RAG</a:t>
            </a:r>
            <a:endParaRPr lang="en-US" sz="1200" dirty="0">
              <a:solidFill>
                <a:srgbClr val="425A78"/>
              </a:solidFill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77B3D871-62F6-AE9B-9A8C-D7E8ED57B70A}"/>
              </a:ext>
            </a:extLst>
          </p:cNvPr>
          <p:cNvSpPr/>
          <p:nvPr/>
        </p:nvSpPr>
        <p:spPr>
          <a:xfrm>
            <a:off x="8308359" y="324955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 err="1">
                <a:solidFill>
                  <a:srgbClr val="425A78"/>
                </a:solidFill>
              </a:rPr>
              <a:t>Retrieval-Augmented</a:t>
            </a:r>
            <a:r>
              <a:rPr lang="en-US" sz="750" i="1" dirty="0">
                <a:solidFill>
                  <a:srgbClr val="425A78"/>
                </a:solidFill>
              </a:rPr>
              <a:t> </a:t>
            </a:r>
            <a:r>
              <a:rPr lang="en-US" sz="750" i="1" dirty="0" err="1">
                <a:solidFill>
                  <a:srgbClr val="425A78"/>
                </a:solidFill>
              </a:rPr>
              <a:t>Generation</a:t>
            </a:r>
            <a:endParaRPr lang="en-US" sz="750" dirty="0">
              <a:solidFill>
                <a:srgbClr val="425A78"/>
              </a:solidFill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6378D2B7-DC0F-71C8-F21E-D6B69D0EF13A}"/>
              </a:ext>
            </a:extLst>
          </p:cNvPr>
          <p:cNvSpPr/>
          <p:nvPr/>
        </p:nvSpPr>
        <p:spPr>
          <a:xfrm>
            <a:off x="8006607" y="3414148"/>
            <a:ext cx="2487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</a:rPr>
              <a:t>This technique combines KB + LLM. When a question arrives: </a:t>
            </a:r>
          </a:p>
          <a:p>
            <a:pPr marL="0" indent="0">
              <a:buNone/>
            </a:pPr>
            <a:endParaRPr lang="en-US" sz="950" dirty="0">
              <a:solidFill>
                <a:srgbClr val="1B2A3B"/>
              </a:solidFill>
            </a:endParaRPr>
          </a:p>
          <a:p>
            <a:pPr marL="228600" indent="-228600">
              <a:buAutoNum type="arabicParenR"/>
            </a:pPr>
            <a:r>
              <a:rPr lang="en-US" sz="950" dirty="0">
                <a:solidFill>
                  <a:srgbClr val="1B2A3B"/>
                </a:solidFill>
              </a:rPr>
              <a:t>Search the KB for relevant passages</a:t>
            </a:r>
          </a:p>
          <a:p>
            <a:pPr marL="228600" indent="-228600">
              <a:buAutoNum type="arabicParenR"/>
            </a:pPr>
            <a:r>
              <a:rPr lang="en-US" sz="950" dirty="0">
                <a:solidFill>
                  <a:srgbClr val="1B2A3B"/>
                </a:solidFill>
              </a:rPr>
              <a:t>Feed them to the LLM to formulate the answer.</a:t>
            </a:r>
            <a:endParaRPr lang="en-US" sz="95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382E257-A46C-28CA-9E1B-67ADD9BB63FD}"/>
              </a:ext>
            </a:extLst>
          </p:cNvPr>
          <p:cNvSpPr/>
          <p:nvPr/>
        </p:nvSpPr>
        <p:spPr>
          <a:xfrm>
            <a:off x="7970031" y="5133220"/>
            <a:ext cx="2560320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27E182EE-D3EE-33E2-A71E-E2D57FB491E1}"/>
              </a:ext>
            </a:extLst>
          </p:cNvPr>
          <p:cNvSpPr/>
          <p:nvPr/>
        </p:nvSpPr>
        <p:spPr>
          <a:xfrm>
            <a:off x="7988319" y="514236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 Retrieve first — answer second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90486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BD7BC-EC0A-64DA-79D4-B9877B41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4517-20FA-C7CC-64FC-EC052A3AF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Project Overview ! 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D784CDA1-D8BA-25E5-15DB-A8684A6311B9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A6BEFF48-9FE2-4A38-5881-ED5E0FCAF007}"/>
              </a:ext>
            </a:extLst>
          </p:cNvPr>
          <p:cNvSpPr/>
          <p:nvPr/>
        </p:nvSpPr>
        <p:spPr>
          <a:xfrm>
            <a:off x="340364" y="104172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8075838-BF3B-A458-1866-0CE5470D03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" r="1"/>
          <a:stretch>
            <a:fillRect/>
          </a:stretch>
        </p:blipFill>
        <p:spPr>
          <a:xfrm>
            <a:off x="20940" y="1374205"/>
            <a:ext cx="12150120" cy="410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66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FB645-E870-A9ED-CE70-88F648BD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2BBAB-9699-D0C7-28BC-1F0CEB27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 The ST ChatGPT </a:t>
            </a:r>
            <a:r>
              <a:rPr lang="en-US" sz="1800" b="1" dirty="0" err="1"/>
              <a:t>Platform</a:t>
            </a:r>
            <a:endParaRPr lang="en-US" sz="1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982F0C-A12C-915A-D0ED-FC61F14C39F8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32EE9F63-FEE1-5B84-D3EC-AD04C353B880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</a:rPr>
              <a:t>Full chain: from question to sourced, traceable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1795EE5-DF70-D42A-1E36-DF72192E0517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01F71E1C-F78E-6EAF-833B-C34D0D0D83D7}"/>
              </a:ext>
            </a:extLst>
          </p:cNvPr>
          <p:cNvSpPr/>
          <p:nvPr/>
        </p:nvSpPr>
        <p:spPr>
          <a:xfrm>
            <a:off x="1891063" y="21597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1CF819DA-01B6-56A2-777B-AACE2D2E3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535" y="24569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936C4325-AD2B-9814-8A73-2F835203DD59}"/>
              </a:ext>
            </a:extLst>
          </p:cNvPr>
          <p:cNvSpPr/>
          <p:nvPr/>
        </p:nvSpPr>
        <p:spPr>
          <a:xfrm>
            <a:off x="1781335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User Prompt</a:t>
            </a:r>
            <a:endParaRPr lang="en-US" sz="100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68FC6BD5-FCDE-B024-BAC9-35D7FAB0883A}"/>
              </a:ext>
            </a:extLst>
          </p:cNvPr>
          <p:cNvSpPr/>
          <p:nvPr/>
        </p:nvSpPr>
        <p:spPr>
          <a:xfrm>
            <a:off x="1763047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Asks a technical question</a:t>
            </a:r>
            <a:endParaRPr lang="en-US" sz="85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6E7FAFB5-53C5-01E1-8162-7E0C38AF5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223" y="26169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2F1CB542-2A72-D4AA-B76C-FC1AAB3566A6}"/>
              </a:ext>
            </a:extLst>
          </p:cNvPr>
          <p:cNvSpPr/>
          <p:nvPr/>
        </p:nvSpPr>
        <p:spPr>
          <a:xfrm>
            <a:off x="3610135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DD724B51-12E0-0D44-3931-FBED0C2F1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7607" y="25320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D124B230-A157-9B1E-7E09-3D761AA0ADE9}"/>
              </a:ext>
            </a:extLst>
          </p:cNvPr>
          <p:cNvSpPr/>
          <p:nvPr/>
        </p:nvSpPr>
        <p:spPr>
          <a:xfrm>
            <a:off x="3500407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Search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239C5B1F-2064-D1B1-9A51-131102510CA9}"/>
              </a:ext>
            </a:extLst>
          </p:cNvPr>
          <p:cNvSpPr/>
          <p:nvPr/>
        </p:nvSpPr>
        <p:spPr>
          <a:xfrm>
            <a:off x="3482119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Searches KB for closest passages</a:t>
            </a:r>
            <a:endParaRPr lang="en-US" sz="850" dirty="0"/>
          </a:p>
        </p:txBody>
      </p:sp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9B11BBDB-F3F1-5D30-7D90-11AC12BB8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295" y="2616951"/>
            <a:ext cx="329184" cy="329184"/>
          </a:xfrm>
          <a:prstGeom prst="rect">
            <a:avLst/>
          </a:prstGeom>
        </p:spPr>
      </p:pic>
      <p:sp>
        <p:nvSpPr>
          <p:cNvPr id="73" name="Shape 11">
            <a:extLst>
              <a:ext uri="{FF2B5EF4-FFF2-40B4-BE49-F238E27FC236}">
                <a16:creationId xmlns:a16="http://schemas.microsoft.com/office/drawing/2014/main" id="{318E120B-BD81-780F-5920-77BE1C67D411}"/>
              </a:ext>
            </a:extLst>
          </p:cNvPr>
          <p:cNvSpPr/>
          <p:nvPr/>
        </p:nvSpPr>
        <p:spPr>
          <a:xfrm>
            <a:off x="5329207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6C7AD692-4B95-3507-CA1E-C4877DC492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535" y="2504983"/>
            <a:ext cx="475488" cy="47548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52340E1D-CD82-4691-9203-A607082964ED}"/>
              </a:ext>
            </a:extLst>
          </p:cNvPr>
          <p:cNvSpPr/>
          <p:nvPr/>
        </p:nvSpPr>
        <p:spPr>
          <a:xfrm>
            <a:off x="5219479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Knowledge Base</a:t>
            </a:r>
            <a:endParaRPr lang="en-US" sz="1000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FDB630E7-F076-96CB-5F62-A6B1F3F7AD8F}"/>
              </a:ext>
            </a:extLst>
          </p:cNvPr>
          <p:cNvSpPr/>
          <p:nvPr/>
        </p:nvSpPr>
        <p:spPr>
          <a:xfrm>
            <a:off x="5201191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Returns the </a:t>
            </a:r>
            <a:r>
              <a:rPr lang="en-US" sz="850" dirty="0" err="1">
                <a:solidFill>
                  <a:srgbClr val="64748B"/>
                </a:solidFill>
              </a:rPr>
              <a:t>chunks</a:t>
            </a:r>
            <a:r>
              <a:rPr lang="en-US" sz="850" dirty="0">
                <a:solidFill>
                  <a:srgbClr val="64748B"/>
                </a:solidFill>
              </a:rPr>
              <a:t> (relevant segments)</a:t>
            </a:r>
            <a:endParaRPr lang="en-US" sz="850" dirty="0"/>
          </a:p>
        </p:txBody>
      </p:sp>
      <p:pic>
        <p:nvPicPr>
          <p:cNvPr id="77" name="Image 5" descr="preencoded.png">
            <a:extLst>
              <a:ext uri="{FF2B5EF4-FFF2-40B4-BE49-F238E27FC236}">
                <a16:creationId xmlns:a16="http://schemas.microsoft.com/office/drawing/2014/main" id="{C16BB8BF-4E52-D866-B745-1703FC9BA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367" y="2743642"/>
            <a:ext cx="329184" cy="329184"/>
          </a:xfrm>
          <a:prstGeom prst="rect">
            <a:avLst/>
          </a:prstGeom>
        </p:spPr>
      </p:pic>
      <p:sp>
        <p:nvSpPr>
          <p:cNvPr id="78" name="Shape 14">
            <a:extLst>
              <a:ext uri="{FF2B5EF4-FFF2-40B4-BE49-F238E27FC236}">
                <a16:creationId xmlns:a16="http://schemas.microsoft.com/office/drawing/2014/main" id="{6F5CBF2F-EC37-E4D1-09AF-457892F4864C}"/>
              </a:ext>
            </a:extLst>
          </p:cNvPr>
          <p:cNvSpPr/>
          <p:nvPr/>
        </p:nvSpPr>
        <p:spPr>
          <a:xfrm>
            <a:off x="7048279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AFB0EB77-F699-FF35-0634-0A42D3D1BA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127" y="2497892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DFEC622B-A731-A2D0-CDA1-700079D645A0}"/>
              </a:ext>
            </a:extLst>
          </p:cNvPr>
          <p:cNvSpPr/>
          <p:nvPr/>
        </p:nvSpPr>
        <p:spPr>
          <a:xfrm>
            <a:off x="6938551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LLM (AI)</a:t>
            </a:r>
            <a:endParaRPr lang="en-US" sz="100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D2B433B7-7870-A4C4-5D2C-E8E905355F57}"/>
              </a:ext>
            </a:extLst>
          </p:cNvPr>
          <p:cNvSpPr/>
          <p:nvPr/>
        </p:nvSpPr>
        <p:spPr>
          <a:xfrm>
            <a:off x="6920263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Formulates the response from the </a:t>
            </a:r>
            <a:r>
              <a:rPr lang="en-US" sz="850" dirty="0" err="1">
                <a:solidFill>
                  <a:srgbClr val="64748B"/>
                </a:solidFill>
              </a:rPr>
              <a:t>chunks</a:t>
            </a:r>
            <a:r>
              <a:rPr lang="en-US" sz="850" dirty="0">
                <a:solidFill>
                  <a:srgbClr val="64748B"/>
                </a:solidFill>
              </a:rPr>
              <a:t> retrieved</a:t>
            </a:r>
            <a:endParaRPr lang="en-US" sz="85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84A4209F-ABD1-5B70-A44A-11F08F971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087" y="2611717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504023C6-077F-3C1B-0334-3FCBAA8162F7}"/>
              </a:ext>
            </a:extLst>
          </p:cNvPr>
          <p:cNvSpPr/>
          <p:nvPr/>
        </p:nvSpPr>
        <p:spPr>
          <a:xfrm>
            <a:off x="8767351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57A45F68-29E0-0445-E625-116FC0DF4F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4823" y="2520277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A25853B7-05E5-92B7-97F4-E6F43F810DA8}"/>
              </a:ext>
            </a:extLst>
          </p:cNvPr>
          <p:cNvSpPr/>
          <p:nvPr/>
        </p:nvSpPr>
        <p:spPr>
          <a:xfrm>
            <a:off x="8657623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Answer</a:t>
            </a:r>
            <a:endParaRPr lang="en-US" sz="100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018B1A51-54FA-49F0-9F46-2FB75E5BFDA4}"/>
              </a:ext>
            </a:extLst>
          </p:cNvPr>
          <p:cNvSpPr/>
          <p:nvPr/>
        </p:nvSpPr>
        <p:spPr>
          <a:xfrm>
            <a:off x="8639335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Answer + sources</a:t>
            </a:r>
            <a:endParaRPr lang="en-US" sz="850" dirty="0"/>
          </a:p>
        </p:txBody>
      </p:sp>
      <p:sp>
        <p:nvSpPr>
          <p:cNvPr id="87" name="Shape 20">
            <a:extLst>
              <a:ext uri="{FF2B5EF4-FFF2-40B4-BE49-F238E27FC236}">
                <a16:creationId xmlns:a16="http://schemas.microsoft.com/office/drawing/2014/main" id="{4B84709A-2FCA-92CB-AD8D-84D98B661D8D}"/>
              </a:ext>
            </a:extLst>
          </p:cNvPr>
          <p:cNvSpPr/>
          <p:nvPr/>
        </p:nvSpPr>
        <p:spPr>
          <a:xfrm>
            <a:off x="1964215" y="4381743"/>
            <a:ext cx="8412480" cy="1353312"/>
          </a:xfrm>
          <a:prstGeom prst="rect">
            <a:avLst/>
          </a:prstGeom>
          <a:solidFill>
            <a:srgbClr val="F0FDFA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8" name="Shape 21">
            <a:extLst>
              <a:ext uri="{FF2B5EF4-FFF2-40B4-BE49-F238E27FC236}">
                <a16:creationId xmlns:a16="http://schemas.microsoft.com/office/drawing/2014/main" id="{C2D31CA8-C600-4482-5053-958C61305F6E}"/>
              </a:ext>
            </a:extLst>
          </p:cNvPr>
          <p:cNvSpPr/>
          <p:nvPr/>
        </p:nvSpPr>
        <p:spPr>
          <a:xfrm>
            <a:off x="1964215" y="4381743"/>
            <a:ext cx="64008" cy="13533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9" name="Text 22">
            <a:extLst>
              <a:ext uri="{FF2B5EF4-FFF2-40B4-BE49-F238E27FC236}">
                <a16:creationId xmlns:a16="http://schemas.microsoft.com/office/drawing/2014/main" id="{CAAEEA6D-9AD9-5009-5D28-72AABC91E671}"/>
              </a:ext>
            </a:extLst>
          </p:cNvPr>
          <p:cNvSpPr/>
          <p:nvPr/>
        </p:nvSpPr>
        <p:spPr>
          <a:xfrm>
            <a:off x="2165383" y="4454895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My role in this project:</a:t>
            </a:r>
            <a:endParaRPr lang="en-US" sz="1100" dirty="0"/>
          </a:p>
        </p:txBody>
      </p:sp>
      <p:sp>
        <p:nvSpPr>
          <p:cNvPr id="90" name="Text 23">
            <a:extLst>
              <a:ext uri="{FF2B5EF4-FFF2-40B4-BE49-F238E27FC236}">
                <a16:creationId xmlns:a16="http://schemas.microsoft.com/office/drawing/2014/main" id="{D9D7649B-5E54-4C44-8A5D-49736D437AD9}"/>
              </a:ext>
            </a:extLst>
          </p:cNvPr>
          <p:cNvSpPr/>
          <p:nvPr/>
        </p:nvSpPr>
        <p:spPr>
          <a:xfrm>
            <a:off x="2165383" y="4710927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</a:rPr>
              <a:t>My role </a:t>
            </a:r>
            <a:r>
              <a:rPr lang="en-US" sz="1100" dirty="0">
                <a:solidFill>
                  <a:srgbClr val="1B2A3B"/>
                </a:solidFill>
              </a:rPr>
              <a:t>= prepare the data that feeds the Knowledge Base. </a:t>
            </a:r>
          </a:p>
          <a:p>
            <a:pPr marL="0" indent="0">
              <a:buNone/>
            </a:pPr>
            <a:endParaRPr lang="en-US" sz="110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</a:rPr>
              <a:t>If the data is bad → the answers are bad </a:t>
            </a:r>
            <a:r>
              <a:rPr lang="en-US" sz="1100" b="1" dirty="0">
                <a:solidFill>
                  <a:srgbClr val="1B2A3B"/>
                </a:solidFill>
              </a:rPr>
              <a:t>,</a:t>
            </a:r>
            <a:r>
              <a:rPr lang="en-US" sz="1100" dirty="0">
                <a:solidFill>
                  <a:srgbClr val="1B2A3B"/>
                </a:solidFill>
              </a:rPr>
              <a:t> If the data is good → the answers are good.</a:t>
            </a:r>
            <a:endParaRPr lang="en-US" sz="110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0BE773ED-3950-D9A4-0464-8A031FA5AB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56623" y="25114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F5638596-C122-9F55-D264-4088BE65B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55641" y="2532005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2B698DB1-7338-3C6D-58C0-8D7F523EA3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8884" y="2535947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95E8CF2C-3F57-CC60-4162-70BADE22FB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62344" y="2523744"/>
            <a:ext cx="417157" cy="41715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D033DC7-71B5-563E-2187-950B93145BD0}"/>
              </a:ext>
            </a:extLst>
          </p:cNvPr>
          <p:cNvSpPr txBox="1"/>
          <p:nvPr/>
        </p:nvSpPr>
        <p:spPr>
          <a:xfrm>
            <a:off x="2961290" y="1528165"/>
            <a:ext cx="6269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2C55E"/>
                </a:solidFill>
              </a:rPr>
              <a:t>Status: Knowledge Base currently under construction</a:t>
            </a:r>
          </a:p>
        </p:txBody>
      </p:sp>
    </p:spTree>
    <p:extLst>
      <p:ext uri="{BB962C8B-B14F-4D97-AF65-F5344CB8AC3E}">
        <p14:creationId xmlns:p14="http://schemas.microsoft.com/office/powerpoint/2010/main" val="1542597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D9EB3-6346-C060-BA60-3E87FC8C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ACCD4-A597-7012-D3D7-6B74109F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 The ST ChatGPT </a:t>
            </a:r>
            <a:r>
              <a:rPr lang="en-US" sz="1800" b="1" dirty="0" err="1"/>
              <a:t>Platform</a:t>
            </a:r>
            <a:endParaRPr lang="en-US" sz="1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AD64F1-8233-71F1-1A66-C403606727FB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4CBC27D3-B56C-04D7-2347-DC1208AE8129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</a:rPr>
              <a:t>Full chain: from question to sourced, traceable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D1E40C5A-89C0-5416-0C43-D57172B2B4FF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9ACB6311-80A2-BFA7-6161-E1F557CE6E86}"/>
              </a:ext>
            </a:extLst>
          </p:cNvPr>
          <p:cNvSpPr/>
          <p:nvPr/>
        </p:nvSpPr>
        <p:spPr>
          <a:xfrm>
            <a:off x="1891063" y="21597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F374A291-18C3-E4D2-7CC7-83A39E535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535" y="24569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443DA998-047D-CAE6-C70E-1C6D5670A9A0}"/>
              </a:ext>
            </a:extLst>
          </p:cNvPr>
          <p:cNvSpPr/>
          <p:nvPr/>
        </p:nvSpPr>
        <p:spPr>
          <a:xfrm>
            <a:off x="1781335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User Prompt</a:t>
            </a:r>
            <a:endParaRPr lang="en-US" sz="100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98C2B48-EEDD-B6C3-D13B-1B583D6D595B}"/>
              </a:ext>
            </a:extLst>
          </p:cNvPr>
          <p:cNvSpPr/>
          <p:nvPr/>
        </p:nvSpPr>
        <p:spPr>
          <a:xfrm>
            <a:off x="1763047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Asks a technical question</a:t>
            </a:r>
            <a:endParaRPr lang="en-US" sz="85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257FDA79-8D01-D6D4-0A85-BC2D7B53F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223" y="26169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14C765FC-109E-69AA-4279-25F578EC5ED9}"/>
              </a:ext>
            </a:extLst>
          </p:cNvPr>
          <p:cNvSpPr/>
          <p:nvPr/>
        </p:nvSpPr>
        <p:spPr>
          <a:xfrm>
            <a:off x="3610135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0C85453C-3CA7-4983-DB72-DA067C854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7607" y="25320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B7DE301D-8B30-8666-96D6-C5F98A47713E}"/>
              </a:ext>
            </a:extLst>
          </p:cNvPr>
          <p:cNvSpPr/>
          <p:nvPr/>
        </p:nvSpPr>
        <p:spPr>
          <a:xfrm>
            <a:off x="3500407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Search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05987185-7356-1741-15FE-C9AF09285406}"/>
              </a:ext>
            </a:extLst>
          </p:cNvPr>
          <p:cNvSpPr/>
          <p:nvPr/>
        </p:nvSpPr>
        <p:spPr>
          <a:xfrm>
            <a:off x="3482119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Searches KB for closest passages</a:t>
            </a:r>
            <a:endParaRPr lang="en-US" sz="850" dirty="0"/>
          </a:p>
        </p:txBody>
      </p:sp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8918E269-E95D-F821-E16C-8F0E181A5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295" y="2616951"/>
            <a:ext cx="329184" cy="329184"/>
          </a:xfrm>
          <a:prstGeom prst="rect">
            <a:avLst/>
          </a:prstGeom>
        </p:spPr>
      </p:pic>
      <p:sp>
        <p:nvSpPr>
          <p:cNvPr id="73" name="Shape 11">
            <a:extLst>
              <a:ext uri="{FF2B5EF4-FFF2-40B4-BE49-F238E27FC236}">
                <a16:creationId xmlns:a16="http://schemas.microsoft.com/office/drawing/2014/main" id="{C021FEF5-277A-1A46-655B-CDB7B6EF0312}"/>
              </a:ext>
            </a:extLst>
          </p:cNvPr>
          <p:cNvSpPr/>
          <p:nvPr/>
        </p:nvSpPr>
        <p:spPr>
          <a:xfrm>
            <a:off x="5329207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F7B2EE91-0100-83D8-64A2-90997C53D8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535" y="2504983"/>
            <a:ext cx="475488" cy="47548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52F267FE-5FCD-55C3-E122-0D00DFCFC5B7}"/>
              </a:ext>
            </a:extLst>
          </p:cNvPr>
          <p:cNvSpPr/>
          <p:nvPr/>
        </p:nvSpPr>
        <p:spPr>
          <a:xfrm>
            <a:off x="5219479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Knowledge Base</a:t>
            </a:r>
            <a:endParaRPr lang="en-US" sz="1000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F4F73A8E-4265-B697-057E-FA560BB98FE4}"/>
              </a:ext>
            </a:extLst>
          </p:cNvPr>
          <p:cNvSpPr/>
          <p:nvPr/>
        </p:nvSpPr>
        <p:spPr>
          <a:xfrm>
            <a:off x="5201191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Returns the </a:t>
            </a:r>
            <a:r>
              <a:rPr lang="en-US" sz="850" dirty="0" err="1">
                <a:solidFill>
                  <a:srgbClr val="64748B"/>
                </a:solidFill>
              </a:rPr>
              <a:t>chunks</a:t>
            </a:r>
            <a:r>
              <a:rPr lang="en-US" sz="850" dirty="0">
                <a:solidFill>
                  <a:srgbClr val="64748B"/>
                </a:solidFill>
              </a:rPr>
              <a:t> (relevant segments)</a:t>
            </a:r>
            <a:endParaRPr lang="en-US" sz="850" dirty="0"/>
          </a:p>
        </p:txBody>
      </p:sp>
      <p:pic>
        <p:nvPicPr>
          <p:cNvPr id="77" name="Image 5" descr="preencoded.png">
            <a:extLst>
              <a:ext uri="{FF2B5EF4-FFF2-40B4-BE49-F238E27FC236}">
                <a16:creationId xmlns:a16="http://schemas.microsoft.com/office/drawing/2014/main" id="{10B3579F-4CD8-1914-80C1-3D3C1F45C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367" y="2743642"/>
            <a:ext cx="329184" cy="329184"/>
          </a:xfrm>
          <a:prstGeom prst="rect">
            <a:avLst/>
          </a:prstGeom>
        </p:spPr>
      </p:pic>
      <p:sp>
        <p:nvSpPr>
          <p:cNvPr id="78" name="Shape 14">
            <a:extLst>
              <a:ext uri="{FF2B5EF4-FFF2-40B4-BE49-F238E27FC236}">
                <a16:creationId xmlns:a16="http://schemas.microsoft.com/office/drawing/2014/main" id="{7413AB44-7CAE-6613-ABAC-25CCEB4A8100}"/>
              </a:ext>
            </a:extLst>
          </p:cNvPr>
          <p:cNvSpPr/>
          <p:nvPr/>
        </p:nvSpPr>
        <p:spPr>
          <a:xfrm>
            <a:off x="7048279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89A4023C-2F56-79F3-33E3-F09BC30D58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127" y="2497892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CC299AE1-C47B-1538-5EF1-D2C675497AB2}"/>
              </a:ext>
            </a:extLst>
          </p:cNvPr>
          <p:cNvSpPr/>
          <p:nvPr/>
        </p:nvSpPr>
        <p:spPr>
          <a:xfrm>
            <a:off x="6938551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LLM (AI)</a:t>
            </a:r>
            <a:endParaRPr lang="en-US" sz="100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211DC969-3244-EA71-5720-BA2C1AAF022E}"/>
              </a:ext>
            </a:extLst>
          </p:cNvPr>
          <p:cNvSpPr/>
          <p:nvPr/>
        </p:nvSpPr>
        <p:spPr>
          <a:xfrm>
            <a:off x="6920263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Formulates the response from the </a:t>
            </a:r>
            <a:r>
              <a:rPr lang="en-US" sz="850" dirty="0" err="1">
                <a:solidFill>
                  <a:srgbClr val="64748B"/>
                </a:solidFill>
              </a:rPr>
              <a:t>chunks</a:t>
            </a:r>
            <a:r>
              <a:rPr lang="en-US" sz="850" dirty="0">
                <a:solidFill>
                  <a:srgbClr val="64748B"/>
                </a:solidFill>
              </a:rPr>
              <a:t> retrieved</a:t>
            </a:r>
            <a:endParaRPr lang="en-US" sz="85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4EE1F258-DB54-3BAE-EB90-2AC875F9C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087" y="2611717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B2A6D0FE-F5FB-D0D6-6079-14B7DEC248CE}"/>
              </a:ext>
            </a:extLst>
          </p:cNvPr>
          <p:cNvSpPr/>
          <p:nvPr/>
        </p:nvSpPr>
        <p:spPr>
          <a:xfrm>
            <a:off x="8767351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297088A8-1EA8-EC8D-A6B9-5779509AE2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4823" y="2520277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9C3F010B-3856-5F04-8E3C-868D37C4C0AA}"/>
              </a:ext>
            </a:extLst>
          </p:cNvPr>
          <p:cNvSpPr/>
          <p:nvPr/>
        </p:nvSpPr>
        <p:spPr>
          <a:xfrm>
            <a:off x="8657623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Answer</a:t>
            </a:r>
            <a:endParaRPr lang="en-US" sz="100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A44B9DE0-EEFD-7CD7-2676-E17F5D469D24}"/>
              </a:ext>
            </a:extLst>
          </p:cNvPr>
          <p:cNvSpPr/>
          <p:nvPr/>
        </p:nvSpPr>
        <p:spPr>
          <a:xfrm>
            <a:off x="8639335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Answer + sources</a:t>
            </a:r>
            <a:endParaRPr lang="en-US" sz="85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19727760-8705-1AA9-09D0-915AFA8C1E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56623" y="25114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87B52E17-AF15-1556-1EA3-118C275E69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55641" y="2532005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42AA5D48-3934-4437-D743-AABAD70EFD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8884" y="2535947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658EB652-276D-F09A-D7B5-23A3FAB842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62344" y="2523744"/>
            <a:ext cx="417157" cy="41715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E40791C-F5A3-0FAB-1661-7DEDCDFA592C}"/>
              </a:ext>
            </a:extLst>
          </p:cNvPr>
          <p:cNvSpPr txBox="1"/>
          <p:nvPr/>
        </p:nvSpPr>
        <p:spPr>
          <a:xfrm>
            <a:off x="2961290" y="1528165"/>
            <a:ext cx="6269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2C55E"/>
                </a:solidFill>
              </a:rPr>
              <a:t>Status: Knowledge Base currently under construction</a:t>
            </a:r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8E88CDB7-7798-ED3E-B15C-4E22992561FD}"/>
              </a:ext>
            </a:extLst>
          </p:cNvPr>
          <p:cNvSpPr/>
          <p:nvPr/>
        </p:nvSpPr>
        <p:spPr>
          <a:xfrm>
            <a:off x="3299240" y="2099998"/>
            <a:ext cx="5233032" cy="3002493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algn="ctr"/>
            <a:r>
              <a:rPr lang="en-US" b="1" dirty="0"/>
              <a:t>RAG Workflow</a:t>
            </a:r>
          </a:p>
        </p:txBody>
      </p:sp>
    </p:spTree>
    <p:extLst>
      <p:ext uri="{BB962C8B-B14F-4D97-AF65-F5344CB8AC3E}">
        <p14:creationId xmlns:p14="http://schemas.microsoft.com/office/powerpoint/2010/main" val="1456590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F7539-90F3-E479-7D9C-2CFB3904D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C72BD-9BA3-B1CE-9F42-09C22D9D1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 The ST ChatGPT </a:t>
            </a:r>
            <a:r>
              <a:rPr lang="en-US" sz="1800" b="1" dirty="0" err="1"/>
              <a:t>Platform</a:t>
            </a:r>
            <a:endParaRPr lang="en-US" sz="1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D4278D-F3EF-8F81-FD7B-07AB95DE5C50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F4BE13C4-BAF5-4C70-4738-27C165E73B35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</a:rPr>
              <a:t>Full chain: from question to sourced, traceable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9E01A47-D337-1FBB-1B45-27FA6F8115D7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D0179269-9950-2DAF-A57A-E00EE9A3B770}"/>
              </a:ext>
            </a:extLst>
          </p:cNvPr>
          <p:cNvSpPr/>
          <p:nvPr/>
        </p:nvSpPr>
        <p:spPr>
          <a:xfrm>
            <a:off x="1891063" y="21597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D85069C7-739B-E097-449D-D75119A8B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535" y="24569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113AB8CA-38E5-8ED4-8015-01C77E6F4764}"/>
              </a:ext>
            </a:extLst>
          </p:cNvPr>
          <p:cNvSpPr/>
          <p:nvPr/>
        </p:nvSpPr>
        <p:spPr>
          <a:xfrm>
            <a:off x="1781335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User Prompt</a:t>
            </a:r>
            <a:endParaRPr lang="en-US" sz="100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12DC548-1A27-E1D0-021C-ECA625789C58}"/>
              </a:ext>
            </a:extLst>
          </p:cNvPr>
          <p:cNvSpPr/>
          <p:nvPr/>
        </p:nvSpPr>
        <p:spPr>
          <a:xfrm>
            <a:off x="1763047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Asks a technical question</a:t>
            </a:r>
            <a:endParaRPr lang="en-US" sz="85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6F8D77CA-D915-F0B2-E4A3-CBC3EBB5E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223" y="26169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08587989-A379-6714-DA65-52CCF53CA632}"/>
              </a:ext>
            </a:extLst>
          </p:cNvPr>
          <p:cNvSpPr/>
          <p:nvPr/>
        </p:nvSpPr>
        <p:spPr>
          <a:xfrm>
            <a:off x="3610135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661420E0-A206-28D9-1CD5-4AC0762FD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7607" y="25320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86CFA791-05A1-5D1E-BCF7-1C97EB4D3D2D}"/>
              </a:ext>
            </a:extLst>
          </p:cNvPr>
          <p:cNvSpPr/>
          <p:nvPr/>
        </p:nvSpPr>
        <p:spPr>
          <a:xfrm>
            <a:off x="3500407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Search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D5670362-65BB-3F2B-81CB-8EDD1BFE8895}"/>
              </a:ext>
            </a:extLst>
          </p:cNvPr>
          <p:cNvSpPr/>
          <p:nvPr/>
        </p:nvSpPr>
        <p:spPr>
          <a:xfrm>
            <a:off x="3482119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Searches KB for closest passages</a:t>
            </a:r>
            <a:endParaRPr lang="en-US" sz="850" dirty="0"/>
          </a:p>
        </p:txBody>
      </p:sp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8E90111B-7E05-2F59-59CF-E5DB3F400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295" y="2616951"/>
            <a:ext cx="329184" cy="329184"/>
          </a:xfrm>
          <a:prstGeom prst="rect">
            <a:avLst/>
          </a:prstGeom>
        </p:spPr>
      </p:pic>
      <p:sp>
        <p:nvSpPr>
          <p:cNvPr id="73" name="Shape 11">
            <a:extLst>
              <a:ext uri="{FF2B5EF4-FFF2-40B4-BE49-F238E27FC236}">
                <a16:creationId xmlns:a16="http://schemas.microsoft.com/office/drawing/2014/main" id="{B2858894-B3FC-06A7-DD95-A06E72745A40}"/>
              </a:ext>
            </a:extLst>
          </p:cNvPr>
          <p:cNvSpPr/>
          <p:nvPr/>
        </p:nvSpPr>
        <p:spPr>
          <a:xfrm>
            <a:off x="5329207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3C9C5CC6-BFC7-BC9C-6894-90BBC0A82C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535" y="2504983"/>
            <a:ext cx="475488" cy="47548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C00F1869-BB68-ADF4-1E20-736F98DE1B2C}"/>
              </a:ext>
            </a:extLst>
          </p:cNvPr>
          <p:cNvSpPr/>
          <p:nvPr/>
        </p:nvSpPr>
        <p:spPr>
          <a:xfrm>
            <a:off x="5219479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Knowledge Base</a:t>
            </a:r>
            <a:endParaRPr lang="en-US" sz="1000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3DDB45D4-9CD1-218E-A908-BF2920D2724B}"/>
              </a:ext>
            </a:extLst>
          </p:cNvPr>
          <p:cNvSpPr/>
          <p:nvPr/>
        </p:nvSpPr>
        <p:spPr>
          <a:xfrm>
            <a:off x="5201191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Returns the </a:t>
            </a:r>
            <a:r>
              <a:rPr lang="en-US" sz="850" dirty="0" err="1">
                <a:solidFill>
                  <a:srgbClr val="64748B"/>
                </a:solidFill>
              </a:rPr>
              <a:t>chunks</a:t>
            </a:r>
            <a:r>
              <a:rPr lang="en-US" sz="850" dirty="0">
                <a:solidFill>
                  <a:srgbClr val="64748B"/>
                </a:solidFill>
              </a:rPr>
              <a:t> (relevant segments)</a:t>
            </a:r>
            <a:endParaRPr lang="en-US" sz="850" dirty="0"/>
          </a:p>
        </p:txBody>
      </p:sp>
      <p:pic>
        <p:nvPicPr>
          <p:cNvPr id="77" name="Image 5" descr="preencoded.png">
            <a:extLst>
              <a:ext uri="{FF2B5EF4-FFF2-40B4-BE49-F238E27FC236}">
                <a16:creationId xmlns:a16="http://schemas.microsoft.com/office/drawing/2014/main" id="{15CD750E-D114-068E-95BC-3573E7EBE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367" y="2743642"/>
            <a:ext cx="329184" cy="329184"/>
          </a:xfrm>
          <a:prstGeom prst="rect">
            <a:avLst/>
          </a:prstGeom>
        </p:spPr>
      </p:pic>
      <p:sp>
        <p:nvSpPr>
          <p:cNvPr id="78" name="Shape 14">
            <a:extLst>
              <a:ext uri="{FF2B5EF4-FFF2-40B4-BE49-F238E27FC236}">
                <a16:creationId xmlns:a16="http://schemas.microsoft.com/office/drawing/2014/main" id="{49882998-76CB-C38A-663D-DC89BA0C5B9C}"/>
              </a:ext>
            </a:extLst>
          </p:cNvPr>
          <p:cNvSpPr/>
          <p:nvPr/>
        </p:nvSpPr>
        <p:spPr>
          <a:xfrm>
            <a:off x="7048279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A5CF5775-CB21-0DF1-17CC-3E240D166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127" y="2497892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B115D7F5-0C9D-1741-FC67-E39F8B560C51}"/>
              </a:ext>
            </a:extLst>
          </p:cNvPr>
          <p:cNvSpPr/>
          <p:nvPr/>
        </p:nvSpPr>
        <p:spPr>
          <a:xfrm>
            <a:off x="6938551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LLM (AI)</a:t>
            </a:r>
            <a:endParaRPr lang="en-US" sz="100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3C237537-9DA5-0467-261C-4428C57643C7}"/>
              </a:ext>
            </a:extLst>
          </p:cNvPr>
          <p:cNvSpPr/>
          <p:nvPr/>
        </p:nvSpPr>
        <p:spPr>
          <a:xfrm>
            <a:off x="6920263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Formulates the response from the </a:t>
            </a:r>
            <a:r>
              <a:rPr lang="en-US" sz="850" dirty="0" err="1">
                <a:solidFill>
                  <a:srgbClr val="64748B"/>
                </a:solidFill>
              </a:rPr>
              <a:t>chunks</a:t>
            </a:r>
            <a:r>
              <a:rPr lang="en-US" sz="850" dirty="0">
                <a:solidFill>
                  <a:srgbClr val="64748B"/>
                </a:solidFill>
              </a:rPr>
              <a:t> retrieved</a:t>
            </a:r>
            <a:endParaRPr lang="en-US" sz="85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121D63FE-6680-D8F8-1604-28EC6A5D4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087" y="2611717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CC00B7E1-F720-810D-BE2B-1204E4AA56EE}"/>
              </a:ext>
            </a:extLst>
          </p:cNvPr>
          <p:cNvSpPr/>
          <p:nvPr/>
        </p:nvSpPr>
        <p:spPr>
          <a:xfrm>
            <a:off x="8767351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9D5F8787-97A7-0F3F-F94F-F71F706C51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4823" y="2520277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B25B997D-2EA4-6C4F-3BD9-5B3AAE24B0F2}"/>
              </a:ext>
            </a:extLst>
          </p:cNvPr>
          <p:cNvSpPr/>
          <p:nvPr/>
        </p:nvSpPr>
        <p:spPr>
          <a:xfrm>
            <a:off x="8657623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Answer</a:t>
            </a:r>
            <a:endParaRPr lang="en-US" sz="100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EEE57109-E756-D807-385F-E1936BB57D17}"/>
              </a:ext>
            </a:extLst>
          </p:cNvPr>
          <p:cNvSpPr/>
          <p:nvPr/>
        </p:nvSpPr>
        <p:spPr>
          <a:xfrm>
            <a:off x="8639335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Answer + sources</a:t>
            </a:r>
            <a:endParaRPr lang="en-US" sz="85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AB2B0BCB-852C-5F47-1F17-CC3491D8A0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56623" y="25114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EA63D720-FC23-0494-101C-C54DA89A3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55641" y="2532005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B7131365-352B-AAA1-CB59-7AFE59BE73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8884" y="2535947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71687970-C2CB-9B72-02CA-74ED36203F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62344" y="2523744"/>
            <a:ext cx="417157" cy="41715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12C00110-C8C3-CF19-9458-8EE336012E59}"/>
              </a:ext>
            </a:extLst>
          </p:cNvPr>
          <p:cNvSpPr txBox="1"/>
          <p:nvPr/>
        </p:nvSpPr>
        <p:spPr>
          <a:xfrm>
            <a:off x="2961290" y="1528165"/>
            <a:ext cx="6269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2C55E"/>
                </a:solidFill>
              </a:rPr>
              <a:t>Status: Knowledge Base currently under construction</a:t>
            </a:r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BFD726D6-6F5B-6B3D-042B-6958C34D2C23}"/>
              </a:ext>
            </a:extLst>
          </p:cNvPr>
          <p:cNvSpPr/>
          <p:nvPr/>
        </p:nvSpPr>
        <p:spPr>
          <a:xfrm>
            <a:off x="3248432" y="2099997"/>
            <a:ext cx="3436751" cy="3332221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algn="ctr"/>
            <a:endParaRPr lang="en-US" sz="1600" b="1" dirty="0">
              <a:solidFill>
                <a:srgbClr val="0D9589"/>
              </a:solidFill>
            </a:endParaRPr>
          </a:p>
          <a:p>
            <a:pPr algn="ctr"/>
            <a:r>
              <a:rPr lang="en-US" sz="1600" b="1" dirty="0">
                <a:solidFill>
                  <a:srgbClr val="0D9589"/>
                </a:solidFill>
              </a:rPr>
              <a:t>Retrieval</a:t>
            </a:r>
          </a:p>
        </p:txBody>
      </p:sp>
      <p:sp>
        <p:nvSpPr>
          <p:cNvPr id="12" name="Shape 24">
            <a:extLst>
              <a:ext uri="{FF2B5EF4-FFF2-40B4-BE49-F238E27FC236}">
                <a16:creationId xmlns:a16="http://schemas.microsoft.com/office/drawing/2014/main" id="{8B2289A7-FC1B-79DE-318B-17A3CD7028D5}"/>
              </a:ext>
            </a:extLst>
          </p:cNvPr>
          <p:cNvSpPr/>
          <p:nvPr/>
        </p:nvSpPr>
        <p:spPr>
          <a:xfrm>
            <a:off x="6825419" y="2099997"/>
            <a:ext cx="1813915" cy="333222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algn="ctr"/>
            <a:r>
              <a:rPr lang="en-US" sz="1600" b="1" dirty="0">
                <a:solidFill>
                  <a:srgbClr val="0D9589"/>
                </a:solidFill>
              </a:rPr>
              <a:t>Generation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63D33-888C-21D7-440A-64615C6B4E8F}"/>
              </a:ext>
            </a:extLst>
          </p:cNvPr>
          <p:cNvSpPr txBox="1"/>
          <p:nvPr/>
        </p:nvSpPr>
        <p:spPr>
          <a:xfrm>
            <a:off x="8954288" y="4604493"/>
            <a:ext cx="30363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dirty="0">
                <a:solidFill>
                  <a:srgbClr val="000000"/>
                </a:solidFill>
                <a:effectLst/>
                <a:latin typeface="Open_Sans"/>
              </a:rPr>
              <a:t>RAG = retrieval of relevant chunks from the knowledge base + answer generation by the LLM using those retrieved chunks</a:t>
            </a:r>
            <a:endParaRPr lang="en-US" sz="1200" i="1" dirty="0"/>
          </a:p>
        </p:txBody>
      </p:sp>
      <p:pic>
        <p:nvPicPr>
          <p:cNvPr id="7" name="Graphic 6" descr="Back outline">
            <a:extLst>
              <a:ext uri="{FF2B5EF4-FFF2-40B4-BE49-F238E27FC236}">
                <a16:creationId xmlns:a16="http://schemas.microsoft.com/office/drawing/2014/main" id="{EF40AF60-B0FF-66C2-6CFC-B29E8EA842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034598" flipV="1">
            <a:off x="6216325" y="5224413"/>
            <a:ext cx="1004387" cy="1004387"/>
          </a:xfrm>
          <a:prstGeom prst="rect">
            <a:avLst/>
          </a:prstGeom>
        </p:spPr>
      </p:pic>
      <p:sp>
        <p:nvSpPr>
          <p:cNvPr id="8" name="Shape 24">
            <a:extLst>
              <a:ext uri="{FF2B5EF4-FFF2-40B4-BE49-F238E27FC236}">
                <a16:creationId xmlns:a16="http://schemas.microsoft.com/office/drawing/2014/main" id="{769EE8BD-DC14-C420-5C23-A8FD03442F96}"/>
              </a:ext>
            </a:extLst>
          </p:cNvPr>
          <p:cNvSpPr/>
          <p:nvPr/>
        </p:nvSpPr>
        <p:spPr>
          <a:xfrm>
            <a:off x="4978964" y="5881157"/>
            <a:ext cx="3755141" cy="83367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0D9589"/>
                </a:solidFill>
              </a:rPr>
              <a:t>Augmented</a:t>
            </a:r>
            <a:r>
              <a:rPr lang="en-US" dirty="0"/>
              <a:t> </a:t>
            </a:r>
            <a:endParaRPr lang="en-US" sz="1600" b="1" dirty="0">
              <a:solidFill>
                <a:srgbClr val="0D9589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215C06-E534-6FFE-E9E3-BDDD4DB0A1C1}"/>
              </a:ext>
            </a:extLst>
          </p:cNvPr>
          <p:cNvSpPr txBox="1"/>
          <p:nvPr/>
        </p:nvSpPr>
        <p:spPr>
          <a:xfrm>
            <a:off x="3194851" y="5066998"/>
            <a:ext cx="43434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rgbClr val="000000"/>
                </a:solidFill>
                <a:effectLst/>
              </a:rPr>
              <a:t> Find the most relevant passages in the knowledge base</a:t>
            </a:r>
            <a:endParaRPr lang="en-US" sz="10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A6677C-48C7-4E45-75D2-CEA01447AB8B}"/>
              </a:ext>
            </a:extLst>
          </p:cNvPr>
          <p:cNvSpPr txBox="1"/>
          <p:nvPr/>
        </p:nvSpPr>
        <p:spPr>
          <a:xfrm>
            <a:off x="5287176" y="6302740"/>
            <a:ext cx="3591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rgbClr val="000000"/>
                </a:solidFill>
                <a:effectLst/>
                <a:latin typeface="Open_Sans"/>
              </a:rPr>
              <a:t> Inject those retrieved passages into the model input</a:t>
            </a:r>
            <a:endParaRPr lang="en-US" sz="10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8BB2F7-B318-D5DD-EF02-6B8BBF9B56D5}"/>
              </a:ext>
            </a:extLst>
          </p:cNvPr>
          <p:cNvSpPr txBox="1"/>
          <p:nvPr/>
        </p:nvSpPr>
        <p:spPr>
          <a:xfrm>
            <a:off x="6841322" y="4873584"/>
            <a:ext cx="16561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000000"/>
                </a:solidFill>
                <a:effectLst/>
              </a:rPr>
              <a:t>generate the answer using that augmented context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64189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516D3-CCBF-38B1-53F3-0687DA8F2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EBE0-126C-1CBA-56FA-CD7B1A8C8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 The ST ChatGPT </a:t>
            </a:r>
            <a:r>
              <a:rPr lang="en-US" sz="1800" b="1" dirty="0" err="1"/>
              <a:t>Platform</a:t>
            </a:r>
            <a:endParaRPr lang="en-US" sz="1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5B500F-F3E9-AF5F-2A10-1AF2F968030C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D85645FE-4855-DDDE-ECBD-B0D7ABE0B5AF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</a:rPr>
              <a:t>Full chain: from question to sourced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477C8A6-C1DC-BDAC-C17F-E142693DBE9B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E973CB62-249E-9AE8-0A56-A2A6EC0C046A}"/>
              </a:ext>
            </a:extLst>
          </p:cNvPr>
          <p:cNvSpPr/>
          <p:nvPr/>
        </p:nvSpPr>
        <p:spPr>
          <a:xfrm>
            <a:off x="980352" y="21597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3234C0C4-1E53-2CB1-65D9-DC5DB7078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824" y="24569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112A8385-ED45-11C2-0283-53E3C5905DEB}"/>
              </a:ext>
            </a:extLst>
          </p:cNvPr>
          <p:cNvSpPr/>
          <p:nvPr/>
        </p:nvSpPr>
        <p:spPr>
          <a:xfrm>
            <a:off x="870624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User Prompt</a:t>
            </a:r>
            <a:endParaRPr lang="en-US" sz="100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AB2B0FF-6CD1-51A8-478C-7AA85F187496}"/>
              </a:ext>
            </a:extLst>
          </p:cNvPr>
          <p:cNvSpPr/>
          <p:nvPr/>
        </p:nvSpPr>
        <p:spPr>
          <a:xfrm>
            <a:off x="852336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Asks a technical question</a:t>
            </a:r>
            <a:endParaRPr lang="en-US" sz="85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AF114404-8EF4-C421-6A6F-7702E9499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512" y="26169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635BDB13-25D2-13A0-FAFE-A775663941CF}"/>
              </a:ext>
            </a:extLst>
          </p:cNvPr>
          <p:cNvSpPr/>
          <p:nvPr/>
        </p:nvSpPr>
        <p:spPr>
          <a:xfrm>
            <a:off x="2699424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BF85215D-AEBE-14D5-9E41-1CAA58657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6896" y="25320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0B0BB1D6-D911-19AB-070C-8B8ADBBC6FAD}"/>
              </a:ext>
            </a:extLst>
          </p:cNvPr>
          <p:cNvSpPr/>
          <p:nvPr/>
        </p:nvSpPr>
        <p:spPr>
          <a:xfrm>
            <a:off x="2589696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Search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CF8C61C5-65CD-F42D-188C-4BA1622BC6A9}"/>
              </a:ext>
            </a:extLst>
          </p:cNvPr>
          <p:cNvSpPr/>
          <p:nvPr/>
        </p:nvSpPr>
        <p:spPr>
          <a:xfrm>
            <a:off x="2571408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Searches KB for closest passages</a:t>
            </a:r>
            <a:endParaRPr lang="en-US" sz="850" dirty="0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286EB5D5-912A-C530-1290-29E7DE36622A}"/>
              </a:ext>
            </a:extLst>
          </p:cNvPr>
          <p:cNvSpPr/>
          <p:nvPr/>
        </p:nvSpPr>
        <p:spPr>
          <a:xfrm>
            <a:off x="5211751" y="1862236"/>
            <a:ext cx="1602951" cy="1592247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4DA8C1C0-EC66-C157-0939-128A1FA8D0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9128" y="2376415"/>
            <a:ext cx="631078" cy="63107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42314E98-4191-EB94-EA3C-1C00E43DFFE7}"/>
              </a:ext>
            </a:extLst>
          </p:cNvPr>
          <p:cNvSpPr/>
          <p:nvPr/>
        </p:nvSpPr>
        <p:spPr>
          <a:xfrm>
            <a:off x="5352617" y="359628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0000"/>
                </a:solidFill>
              </a:rPr>
              <a:t>Knowledge Base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F9F42FC3-F2EE-CC7F-26AB-D67A9D87ABED}"/>
              </a:ext>
            </a:extLst>
          </p:cNvPr>
          <p:cNvSpPr/>
          <p:nvPr/>
        </p:nvSpPr>
        <p:spPr>
          <a:xfrm>
            <a:off x="8194128" y="21721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22626C0A-D1D9-BBCF-1658-8DF6F7A4D6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5976" y="2510329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E876A4D8-1799-E6F5-FF75-5D529FF705C9}"/>
              </a:ext>
            </a:extLst>
          </p:cNvPr>
          <p:cNvSpPr/>
          <p:nvPr/>
        </p:nvSpPr>
        <p:spPr>
          <a:xfrm>
            <a:off x="8084400" y="34249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LLM (AI)</a:t>
            </a:r>
            <a:endParaRPr lang="en-US" sz="100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7B7AD945-19F6-3A97-69FB-DCC434D3502E}"/>
              </a:ext>
            </a:extLst>
          </p:cNvPr>
          <p:cNvSpPr/>
          <p:nvPr/>
        </p:nvSpPr>
        <p:spPr>
          <a:xfrm>
            <a:off x="8066112" y="36992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Formulates the response from the </a:t>
            </a:r>
            <a:r>
              <a:rPr lang="en-US" sz="850" dirty="0" err="1">
                <a:solidFill>
                  <a:srgbClr val="64748B"/>
                </a:solidFill>
              </a:rPr>
              <a:t>chunks</a:t>
            </a:r>
            <a:r>
              <a:rPr lang="en-US" sz="850" dirty="0">
                <a:solidFill>
                  <a:srgbClr val="64748B"/>
                </a:solidFill>
              </a:rPr>
              <a:t> retrieved</a:t>
            </a:r>
            <a:endParaRPr lang="en-US" sz="85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1CCD4A03-9A87-392C-7133-9D059293A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8936" y="2624154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0CB74876-A2D5-7E42-A392-C8C041EA8A21}"/>
              </a:ext>
            </a:extLst>
          </p:cNvPr>
          <p:cNvSpPr/>
          <p:nvPr/>
        </p:nvSpPr>
        <p:spPr>
          <a:xfrm>
            <a:off x="9913200" y="21721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D53C1194-7F34-1D33-979F-D179340CB3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0672" y="2532714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722954A6-D1C8-C8EC-D965-FA6F7412ABB9}"/>
              </a:ext>
            </a:extLst>
          </p:cNvPr>
          <p:cNvSpPr/>
          <p:nvPr/>
        </p:nvSpPr>
        <p:spPr>
          <a:xfrm>
            <a:off x="9803472" y="34249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Answer</a:t>
            </a:r>
            <a:endParaRPr lang="en-US" sz="100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E0D719CB-4547-95DF-B0C4-9018352E11BB}"/>
              </a:ext>
            </a:extLst>
          </p:cNvPr>
          <p:cNvSpPr/>
          <p:nvPr/>
        </p:nvSpPr>
        <p:spPr>
          <a:xfrm>
            <a:off x="9785184" y="36992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Answer + sources</a:t>
            </a:r>
            <a:endParaRPr lang="en-US" sz="85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157C76BA-4267-6AFC-EF01-4AE4023592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45912" y="25114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A1C21865-B72D-085A-E41F-214E517C16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71237" y="2548932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ADFAC7A5-4053-7C73-E0E4-4749C1B77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4733" y="2548384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FC5B523C-7E00-8A41-5CF7-8B60A4C728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04874" y="2556122"/>
            <a:ext cx="417157" cy="417157"/>
          </a:xfrm>
          <a:prstGeom prst="rect">
            <a:avLst/>
          </a:prstGeom>
        </p:spPr>
      </p:pic>
      <p:pic>
        <p:nvPicPr>
          <p:cNvPr id="3" name="Graphic 2" descr="Back outline">
            <a:extLst>
              <a:ext uri="{FF2B5EF4-FFF2-40B4-BE49-F238E27FC236}">
                <a16:creationId xmlns:a16="http://schemas.microsoft.com/office/drawing/2014/main" id="{A1ECE936-3598-9636-A572-AB63043C68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 flipV="1">
            <a:off x="4276496" y="3913770"/>
            <a:ext cx="1004387" cy="1004387"/>
          </a:xfrm>
          <a:prstGeom prst="rect">
            <a:avLst/>
          </a:prstGeom>
        </p:spPr>
      </p:pic>
      <p:pic>
        <p:nvPicPr>
          <p:cNvPr id="4" name="Graphic 3" descr="Back outline">
            <a:extLst>
              <a:ext uri="{FF2B5EF4-FFF2-40B4-BE49-F238E27FC236}">
                <a16:creationId xmlns:a16="http://schemas.microsoft.com/office/drawing/2014/main" id="{1D639DE2-782C-9AE5-33EB-D76C3AB4B4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 flipH="1" flipV="1">
            <a:off x="6730821" y="3920501"/>
            <a:ext cx="1004387" cy="1004387"/>
          </a:xfrm>
          <a:prstGeom prst="rect">
            <a:avLst/>
          </a:prstGeom>
        </p:spPr>
      </p:pic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B729FD1F-434A-4989-796E-22A3D4977A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5718354" y="4144284"/>
            <a:ext cx="589739" cy="33690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775B9C40-85C9-2C33-0C43-80F792BE97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8400" y="4931495"/>
            <a:ext cx="407891" cy="407891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1F1BD914-3546-B9FD-9542-83297947AC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9277" y="4940435"/>
            <a:ext cx="407891" cy="407891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C2814380-0532-1C70-FBD2-6A67472834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0154" y="4940435"/>
            <a:ext cx="407891" cy="407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010F35-8BC4-470C-20B6-CE2C0C185686}"/>
              </a:ext>
            </a:extLst>
          </p:cNvPr>
          <p:cNvSpPr txBox="1"/>
          <p:nvPr/>
        </p:nvSpPr>
        <p:spPr>
          <a:xfrm>
            <a:off x="1547423" y="5401997"/>
            <a:ext cx="62716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Data Source</a:t>
            </a: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53ED0E-415F-F792-A36C-5DA595029DEA}"/>
              </a:ext>
            </a:extLst>
          </p:cNvPr>
          <p:cNvSpPr txBox="1"/>
          <p:nvPr/>
        </p:nvSpPr>
        <p:spPr>
          <a:xfrm>
            <a:off x="2908834" y="5430625"/>
            <a:ext cx="6271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0635AC-61EC-65D2-92AC-72C4822D3112}"/>
              </a:ext>
            </a:extLst>
          </p:cNvPr>
          <p:cNvSpPr txBox="1"/>
          <p:nvPr/>
        </p:nvSpPr>
        <p:spPr>
          <a:xfrm>
            <a:off x="4226750" y="5445283"/>
            <a:ext cx="62716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Data Source</a:t>
            </a:r>
          </a:p>
        </p:txBody>
      </p:sp>
    </p:spTree>
    <p:extLst>
      <p:ext uri="{BB962C8B-B14F-4D97-AF65-F5344CB8AC3E}">
        <p14:creationId xmlns:p14="http://schemas.microsoft.com/office/powerpoint/2010/main" val="1110088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25EA8-89C0-AEDF-50D5-946605FBA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C31FF-A544-E13E-08A1-A1DDDDAF7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 The ST ChatGPT </a:t>
            </a:r>
            <a:r>
              <a:rPr lang="en-US" sz="1800" b="1" dirty="0" err="1"/>
              <a:t>Platform</a:t>
            </a:r>
            <a:endParaRPr lang="en-US" sz="1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A93FCA-6720-C11A-90ED-F2FD08199F0B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9629FAA2-D9AB-DB3B-B2BC-90757FA73519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</a:rPr>
              <a:t>Full chain: from question to sourced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BA36BCF7-3284-EF46-C6F8-5CE8A1E17172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C9DDCB1B-85E0-B8CC-3F34-A0B2165F0E99}"/>
              </a:ext>
            </a:extLst>
          </p:cNvPr>
          <p:cNvSpPr/>
          <p:nvPr/>
        </p:nvSpPr>
        <p:spPr>
          <a:xfrm>
            <a:off x="1024340" y="19311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78E06A0B-147A-84D2-F99E-7521FA75C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812" y="22283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1B83DB45-D7CC-DEF2-701F-60046AFE37E2}"/>
              </a:ext>
            </a:extLst>
          </p:cNvPr>
          <p:cNvSpPr/>
          <p:nvPr/>
        </p:nvSpPr>
        <p:spPr>
          <a:xfrm>
            <a:off x="914612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User Prompt</a:t>
            </a:r>
            <a:endParaRPr lang="en-US" sz="100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00FA1D1-3097-3BA2-4C2E-532118C1D4E6}"/>
              </a:ext>
            </a:extLst>
          </p:cNvPr>
          <p:cNvSpPr/>
          <p:nvPr/>
        </p:nvSpPr>
        <p:spPr>
          <a:xfrm>
            <a:off x="896324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Asks a technical question</a:t>
            </a:r>
            <a:endParaRPr lang="en-US" sz="85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F31EB45F-F0FF-BC47-BF7D-74BB16A14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500" y="23883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0153DABC-6D99-D8C1-40A7-19F2370CA3B2}"/>
              </a:ext>
            </a:extLst>
          </p:cNvPr>
          <p:cNvSpPr/>
          <p:nvPr/>
        </p:nvSpPr>
        <p:spPr>
          <a:xfrm>
            <a:off x="2743412" y="19311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AB666079-4E86-F8E2-CA5B-5D1D561CBB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884" y="23034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1954190D-72F1-489B-F6F1-CF5F0987CCC8}"/>
              </a:ext>
            </a:extLst>
          </p:cNvPr>
          <p:cNvSpPr/>
          <p:nvPr/>
        </p:nvSpPr>
        <p:spPr>
          <a:xfrm>
            <a:off x="2633684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Search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E14C71FF-2EC4-EEF0-D854-74C0D9028F4E}"/>
              </a:ext>
            </a:extLst>
          </p:cNvPr>
          <p:cNvSpPr/>
          <p:nvPr/>
        </p:nvSpPr>
        <p:spPr>
          <a:xfrm>
            <a:off x="2615396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Searches KB for closest passages</a:t>
            </a:r>
            <a:endParaRPr lang="en-US" sz="850" dirty="0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51ECB7D0-0C5B-A182-61FB-2712EB5646F2}"/>
              </a:ext>
            </a:extLst>
          </p:cNvPr>
          <p:cNvSpPr/>
          <p:nvPr/>
        </p:nvSpPr>
        <p:spPr>
          <a:xfrm>
            <a:off x="5255739" y="1633636"/>
            <a:ext cx="1602951" cy="1592247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5FC73932-A96B-DA3A-917B-3B42785855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3116" y="2147815"/>
            <a:ext cx="631078" cy="63107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57889A76-66F9-7551-CC2D-E557A649DD04}"/>
              </a:ext>
            </a:extLst>
          </p:cNvPr>
          <p:cNvSpPr/>
          <p:nvPr/>
        </p:nvSpPr>
        <p:spPr>
          <a:xfrm>
            <a:off x="5396605" y="336768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0000"/>
                </a:solidFill>
              </a:rPr>
              <a:t>Knowledge Base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16FA73E7-E519-5592-2E11-1949700FC3A2}"/>
              </a:ext>
            </a:extLst>
          </p:cNvPr>
          <p:cNvSpPr/>
          <p:nvPr/>
        </p:nvSpPr>
        <p:spPr>
          <a:xfrm>
            <a:off x="8238116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6AC3C325-D26F-4406-8878-9EB0692191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9964" y="2281729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958F7C8D-0935-8493-EDF9-8429357D9DC7}"/>
              </a:ext>
            </a:extLst>
          </p:cNvPr>
          <p:cNvSpPr/>
          <p:nvPr/>
        </p:nvSpPr>
        <p:spPr>
          <a:xfrm>
            <a:off x="8128388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LLM (AI)</a:t>
            </a:r>
            <a:endParaRPr lang="en-US" sz="100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AC7B9D4C-3E69-F278-F5B3-E45B33C90213}"/>
              </a:ext>
            </a:extLst>
          </p:cNvPr>
          <p:cNvSpPr/>
          <p:nvPr/>
        </p:nvSpPr>
        <p:spPr>
          <a:xfrm>
            <a:off x="8110100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Formulates the response from the </a:t>
            </a:r>
            <a:r>
              <a:rPr lang="en-US" sz="850" dirty="0" err="1">
                <a:solidFill>
                  <a:srgbClr val="64748B"/>
                </a:solidFill>
              </a:rPr>
              <a:t>chunks</a:t>
            </a:r>
            <a:r>
              <a:rPr lang="en-US" sz="850" dirty="0">
                <a:solidFill>
                  <a:srgbClr val="64748B"/>
                </a:solidFill>
              </a:rPr>
              <a:t> retrieved</a:t>
            </a:r>
            <a:endParaRPr lang="en-US" sz="85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653912DE-1B3B-464C-7170-ECCA34FBA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924" y="2395554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A7B298F1-0A01-56FC-75A9-9743DC2F1569}"/>
              </a:ext>
            </a:extLst>
          </p:cNvPr>
          <p:cNvSpPr/>
          <p:nvPr/>
        </p:nvSpPr>
        <p:spPr>
          <a:xfrm>
            <a:off x="9957188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AD82401C-F340-1104-1EA5-874284AC2D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4660" y="2304114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A397A2CF-6A55-826B-F71C-B5E6BCD909FB}"/>
              </a:ext>
            </a:extLst>
          </p:cNvPr>
          <p:cNvSpPr/>
          <p:nvPr/>
        </p:nvSpPr>
        <p:spPr>
          <a:xfrm>
            <a:off x="9847460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Answer</a:t>
            </a:r>
            <a:endParaRPr lang="en-US" sz="100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A61310CC-7339-34E2-207A-2FE112D81B7B}"/>
              </a:ext>
            </a:extLst>
          </p:cNvPr>
          <p:cNvSpPr/>
          <p:nvPr/>
        </p:nvSpPr>
        <p:spPr>
          <a:xfrm>
            <a:off x="9829172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Answer + sources</a:t>
            </a:r>
            <a:endParaRPr lang="en-US" sz="85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6688DB70-6315-1738-54F7-56459612A8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89900" y="22828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00726431-E27C-2D4E-FDB4-9DF93F1D70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15225" y="2320332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C28B2E3D-5D16-C708-FC45-BBE9BF5D7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78721" y="2319784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52893BF4-0754-27CD-043B-4AA6FF7B21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48862" y="2327522"/>
            <a:ext cx="417157" cy="417157"/>
          </a:xfrm>
          <a:prstGeom prst="rect">
            <a:avLst/>
          </a:prstGeom>
        </p:spPr>
      </p:pic>
      <p:pic>
        <p:nvPicPr>
          <p:cNvPr id="3" name="Graphic 2" descr="Back outline">
            <a:extLst>
              <a:ext uri="{FF2B5EF4-FFF2-40B4-BE49-F238E27FC236}">
                <a16:creationId xmlns:a16="http://schemas.microsoft.com/office/drawing/2014/main" id="{15BA171C-9520-CCFB-057D-E1ECFC48A3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 flipV="1">
            <a:off x="4325957" y="3621012"/>
            <a:ext cx="1004387" cy="1004387"/>
          </a:xfrm>
          <a:prstGeom prst="rect">
            <a:avLst/>
          </a:prstGeom>
        </p:spPr>
      </p:pic>
      <p:pic>
        <p:nvPicPr>
          <p:cNvPr id="4" name="Graphic 3" descr="Back outline">
            <a:extLst>
              <a:ext uri="{FF2B5EF4-FFF2-40B4-BE49-F238E27FC236}">
                <a16:creationId xmlns:a16="http://schemas.microsoft.com/office/drawing/2014/main" id="{34CBCBC1-4FAA-2593-4F60-7D97FBACE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 flipH="1" flipV="1">
            <a:off x="6771243" y="3645961"/>
            <a:ext cx="1004387" cy="1004387"/>
          </a:xfrm>
          <a:prstGeom prst="rect">
            <a:avLst/>
          </a:prstGeom>
        </p:spPr>
      </p:pic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8F359C9A-8E23-4A7B-7EC3-66A90496A1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5762342" y="3915684"/>
            <a:ext cx="589739" cy="33690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C2DFB4DA-094F-6912-E607-527A8D3C98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710" y="4726648"/>
            <a:ext cx="407891" cy="407891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944E92C4-BBF8-F06D-199D-10BB41AE06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8587" y="4735588"/>
            <a:ext cx="407891" cy="407891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FB4D387A-B30A-76FD-9FF0-6964B95745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78" y="4751997"/>
            <a:ext cx="407891" cy="407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52D358-11CB-B6C5-4E94-3C3579A1E1CC}"/>
              </a:ext>
            </a:extLst>
          </p:cNvPr>
          <p:cNvSpPr txBox="1"/>
          <p:nvPr/>
        </p:nvSpPr>
        <p:spPr>
          <a:xfrm>
            <a:off x="1591411" y="5173397"/>
            <a:ext cx="62716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B2A3B"/>
                </a:solidFill>
              </a:rPr>
              <a:t>Data Source</a:t>
            </a: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3784DF-CE05-3CE4-F433-2DCDA04E1F5E}"/>
              </a:ext>
            </a:extLst>
          </p:cNvPr>
          <p:cNvSpPr txBox="1"/>
          <p:nvPr/>
        </p:nvSpPr>
        <p:spPr>
          <a:xfrm>
            <a:off x="2952822" y="5202025"/>
            <a:ext cx="6271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CCA3CC-D953-D763-CC8F-2270938A36F7}"/>
              </a:ext>
            </a:extLst>
          </p:cNvPr>
          <p:cNvSpPr txBox="1"/>
          <p:nvPr/>
        </p:nvSpPr>
        <p:spPr>
          <a:xfrm>
            <a:off x="4137604" y="5192769"/>
            <a:ext cx="62716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CB61EF-CDEB-497D-84E8-201B455BED8C}"/>
              </a:ext>
            </a:extLst>
          </p:cNvPr>
          <p:cNvSpPr/>
          <p:nvPr/>
        </p:nvSpPr>
        <p:spPr>
          <a:xfrm>
            <a:off x="4085054" y="4612976"/>
            <a:ext cx="3821217" cy="1042379"/>
          </a:xfrm>
          <a:prstGeom prst="rect">
            <a:avLst/>
          </a:prstGeom>
          <a:noFill/>
          <a:ln>
            <a:solidFill>
              <a:srgbClr val="0D9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19D273DD-891B-54DA-6272-03CFF514C596}"/>
              </a:ext>
            </a:extLst>
          </p:cNvPr>
          <p:cNvSpPr/>
          <p:nvPr/>
        </p:nvSpPr>
        <p:spPr>
          <a:xfrm rot="5400000">
            <a:off x="5932515" y="5351241"/>
            <a:ext cx="249389" cy="1004388"/>
          </a:xfrm>
          <a:prstGeom prst="leftBrac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2DEA4D4A-027D-4616-5115-C83CE45E9884}"/>
              </a:ext>
            </a:extLst>
          </p:cNvPr>
          <p:cNvSpPr/>
          <p:nvPr/>
        </p:nvSpPr>
        <p:spPr>
          <a:xfrm>
            <a:off x="4787932" y="6088400"/>
            <a:ext cx="2704111" cy="619377"/>
          </a:xfrm>
          <a:prstGeom prst="roundRect">
            <a:avLst>
              <a:gd name="adj" fmla="val 5882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E36E1A88-BCA3-BB70-1232-EAF84E858953}"/>
              </a:ext>
            </a:extLst>
          </p:cNvPr>
          <p:cNvSpPr/>
          <p:nvPr/>
        </p:nvSpPr>
        <p:spPr>
          <a:xfrm>
            <a:off x="4906151" y="6399741"/>
            <a:ext cx="25557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fichiers, </a:t>
            </a:r>
            <a:r>
              <a:rPr lang="en-US" sz="90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</a:t>
            </a: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cases </a:t>
            </a:r>
            <a:endParaRPr 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A364CF-D2F5-687C-94A7-D72B24CB026B}"/>
              </a:ext>
            </a:extLst>
          </p:cNvPr>
          <p:cNvSpPr txBox="1"/>
          <p:nvPr/>
        </p:nvSpPr>
        <p:spPr>
          <a:xfrm>
            <a:off x="4257166" y="5388224"/>
            <a:ext cx="1278417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05B00D-D308-7854-ABF8-E79A826E8400}"/>
              </a:ext>
            </a:extLst>
          </p:cNvPr>
          <p:cNvSpPr txBox="1"/>
          <p:nvPr/>
        </p:nvSpPr>
        <p:spPr>
          <a:xfrm>
            <a:off x="5586253" y="5397483"/>
            <a:ext cx="1195562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732793-75D4-449B-BD08-EB26B9A950B8}"/>
              </a:ext>
            </a:extLst>
          </p:cNvPr>
          <p:cNvSpPr txBox="1"/>
          <p:nvPr/>
        </p:nvSpPr>
        <p:spPr>
          <a:xfrm>
            <a:off x="6810096" y="5397483"/>
            <a:ext cx="1048303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C8B573-2663-8B56-85C6-97D136EC42A9}"/>
              </a:ext>
            </a:extLst>
          </p:cNvPr>
          <p:cNvSpPr txBox="1"/>
          <p:nvPr/>
        </p:nvSpPr>
        <p:spPr>
          <a:xfrm>
            <a:off x="2951052" y="6127333"/>
            <a:ext cx="6273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Files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82702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D68EA-D995-174E-E93F-D774631C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1AF99-3107-EE01-17A8-FC208FEA5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 The ST ChatGPT </a:t>
            </a:r>
            <a:r>
              <a:rPr lang="en-US" sz="1800" b="1" dirty="0" err="1"/>
              <a:t>Platform</a:t>
            </a:r>
            <a:endParaRPr lang="en-US" sz="1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35889F-17B9-2B99-3D55-9CBCFBCFAB79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5DF38217-E603-2AD6-D773-33A7A4732483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</a:rPr>
              <a:t>Full chain: from question to sourced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46057FC4-FCB4-85B8-B99A-E44E1858FE6D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C8B778E2-5319-F560-BE73-5CD2737FFF72}"/>
              </a:ext>
            </a:extLst>
          </p:cNvPr>
          <p:cNvSpPr/>
          <p:nvPr/>
        </p:nvSpPr>
        <p:spPr>
          <a:xfrm>
            <a:off x="1024340" y="19311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B440416D-2EC3-8B58-1AED-7F8C59A2C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812" y="22283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CC61C8DD-6561-145F-9CFD-F4E21894D20A}"/>
              </a:ext>
            </a:extLst>
          </p:cNvPr>
          <p:cNvSpPr/>
          <p:nvPr/>
        </p:nvSpPr>
        <p:spPr>
          <a:xfrm>
            <a:off x="914612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User Prompt</a:t>
            </a:r>
            <a:endParaRPr lang="en-US" sz="100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49680F9C-4E7B-8BD8-4F28-BFBEB2D12725}"/>
              </a:ext>
            </a:extLst>
          </p:cNvPr>
          <p:cNvSpPr/>
          <p:nvPr/>
        </p:nvSpPr>
        <p:spPr>
          <a:xfrm>
            <a:off x="896324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Asks a technical question</a:t>
            </a:r>
            <a:endParaRPr lang="en-US" sz="85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409BCBBF-5731-34BA-F12E-C52B2A9ED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500" y="23883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CA8509C1-302F-9FD7-59BC-A94C08BF92ED}"/>
              </a:ext>
            </a:extLst>
          </p:cNvPr>
          <p:cNvSpPr/>
          <p:nvPr/>
        </p:nvSpPr>
        <p:spPr>
          <a:xfrm>
            <a:off x="2743412" y="19311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BECED980-445A-E068-B020-9D6C60F3A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884" y="23034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8392F7C4-EE6D-10A9-CBE4-2A81A793D58D}"/>
              </a:ext>
            </a:extLst>
          </p:cNvPr>
          <p:cNvSpPr/>
          <p:nvPr/>
        </p:nvSpPr>
        <p:spPr>
          <a:xfrm>
            <a:off x="2633684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Search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8EF1592F-8B71-A846-AD18-3E39D5A93748}"/>
              </a:ext>
            </a:extLst>
          </p:cNvPr>
          <p:cNvSpPr/>
          <p:nvPr/>
        </p:nvSpPr>
        <p:spPr>
          <a:xfrm>
            <a:off x="2615396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Searches KB for closest passages</a:t>
            </a:r>
            <a:endParaRPr lang="en-US" sz="850" dirty="0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9EA43E94-496C-74BC-2928-568F4E08B1FE}"/>
              </a:ext>
            </a:extLst>
          </p:cNvPr>
          <p:cNvSpPr/>
          <p:nvPr/>
        </p:nvSpPr>
        <p:spPr>
          <a:xfrm>
            <a:off x="5255739" y="1633636"/>
            <a:ext cx="1602951" cy="1592247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0C1C69AC-D617-7DE9-6713-8528674B3C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3116" y="2147815"/>
            <a:ext cx="631078" cy="63107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439D1F67-D200-98D4-4EFB-8F81C5CC4CD0}"/>
              </a:ext>
            </a:extLst>
          </p:cNvPr>
          <p:cNvSpPr/>
          <p:nvPr/>
        </p:nvSpPr>
        <p:spPr>
          <a:xfrm>
            <a:off x="5396605" y="336768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0000"/>
                </a:solidFill>
              </a:rPr>
              <a:t>Knowledge Base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4A050824-F4E5-F29D-8916-504002A0A8D0}"/>
              </a:ext>
            </a:extLst>
          </p:cNvPr>
          <p:cNvSpPr/>
          <p:nvPr/>
        </p:nvSpPr>
        <p:spPr>
          <a:xfrm>
            <a:off x="8238116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6654539F-7F8A-4E04-3562-10F57E3C61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9964" y="2281729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160CD224-3876-D624-B757-27F59B64DC50}"/>
              </a:ext>
            </a:extLst>
          </p:cNvPr>
          <p:cNvSpPr/>
          <p:nvPr/>
        </p:nvSpPr>
        <p:spPr>
          <a:xfrm>
            <a:off x="8128388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LLM (AI)</a:t>
            </a:r>
            <a:endParaRPr lang="en-US" sz="100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58A8EA28-D41A-EFD9-1BF6-E9C9D5A6F6C8}"/>
              </a:ext>
            </a:extLst>
          </p:cNvPr>
          <p:cNvSpPr/>
          <p:nvPr/>
        </p:nvSpPr>
        <p:spPr>
          <a:xfrm>
            <a:off x="8110100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Formulates the response from the </a:t>
            </a:r>
            <a:r>
              <a:rPr lang="en-US" sz="850" dirty="0" err="1">
                <a:solidFill>
                  <a:srgbClr val="64748B"/>
                </a:solidFill>
              </a:rPr>
              <a:t>chunks</a:t>
            </a:r>
            <a:r>
              <a:rPr lang="en-US" sz="850" dirty="0">
                <a:solidFill>
                  <a:srgbClr val="64748B"/>
                </a:solidFill>
              </a:rPr>
              <a:t> retrieved</a:t>
            </a:r>
            <a:endParaRPr lang="en-US" sz="85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C335893A-FA3F-D82F-ED4A-3AA5809BF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924" y="2395554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C3507DDA-7962-F3EC-41B2-AA2449C4EED6}"/>
              </a:ext>
            </a:extLst>
          </p:cNvPr>
          <p:cNvSpPr/>
          <p:nvPr/>
        </p:nvSpPr>
        <p:spPr>
          <a:xfrm>
            <a:off x="9957188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ACF696B6-E0F5-179C-F541-78B865D070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4660" y="2304114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E8EBF1A2-52D3-C64A-CDE5-EDBA57AA5E0D}"/>
              </a:ext>
            </a:extLst>
          </p:cNvPr>
          <p:cNvSpPr/>
          <p:nvPr/>
        </p:nvSpPr>
        <p:spPr>
          <a:xfrm>
            <a:off x="9847460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Answer</a:t>
            </a:r>
            <a:endParaRPr lang="en-US" sz="100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4137C6B6-4B21-E095-9176-247B627620E0}"/>
              </a:ext>
            </a:extLst>
          </p:cNvPr>
          <p:cNvSpPr/>
          <p:nvPr/>
        </p:nvSpPr>
        <p:spPr>
          <a:xfrm>
            <a:off x="9829172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Answer + sources</a:t>
            </a:r>
            <a:endParaRPr lang="en-US" sz="85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51A0D5DA-9989-DC83-6F53-F28592A1E2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89900" y="22828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5DF4138B-20C8-28AE-237F-E32ADCF00D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15225" y="2320332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B1E76444-86F2-F779-A750-1C60A0BCA1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78721" y="2319784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816732BC-DFBB-5018-3FE8-24432E7164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48862" y="2327522"/>
            <a:ext cx="417157" cy="417157"/>
          </a:xfrm>
          <a:prstGeom prst="rect">
            <a:avLst/>
          </a:prstGeom>
        </p:spPr>
      </p:pic>
      <p:pic>
        <p:nvPicPr>
          <p:cNvPr id="3" name="Graphic 2" descr="Back outline">
            <a:extLst>
              <a:ext uri="{FF2B5EF4-FFF2-40B4-BE49-F238E27FC236}">
                <a16:creationId xmlns:a16="http://schemas.microsoft.com/office/drawing/2014/main" id="{BE8392F9-4E07-9295-0A65-28E723108C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 flipV="1">
            <a:off x="4325957" y="3621012"/>
            <a:ext cx="1004387" cy="1004387"/>
          </a:xfrm>
          <a:prstGeom prst="rect">
            <a:avLst/>
          </a:prstGeom>
        </p:spPr>
      </p:pic>
      <p:pic>
        <p:nvPicPr>
          <p:cNvPr id="4" name="Graphic 3" descr="Back outline">
            <a:extLst>
              <a:ext uri="{FF2B5EF4-FFF2-40B4-BE49-F238E27FC236}">
                <a16:creationId xmlns:a16="http://schemas.microsoft.com/office/drawing/2014/main" id="{A55CE50E-0A75-B9C0-5D21-4B33A61C7A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 flipH="1" flipV="1">
            <a:off x="6771243" y="3645961"/>
            <a:ext cx="1004387" cy="1004387"/>
          </a:xfrm>
          <a:prstGeom prst="rect">
            <a:avLst/>
          </a:prstGeom>
        </p:spPr>
      </p:pic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36F51641-33ED-E09F-6402-D14DF64154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5762342" y="3915684"/>
            <a:ext cx="589739" cy="33690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102FB492-73F5-43F7-7F58-E1F6A3189E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710" y="4726648"/>
            <a:ext cx="407891" cy="407891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F0211807-CFD8-DFEA-B7FD-92C9FF4DB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8587" y="4735588"/>
            <a:ext cx="407891" cy="407891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5D4F46B3-8B8A-7330-CA8C-E440335A3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78" y="4751997"/>
            <a:ext cx="407891" cy="407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8F1DE8-C9E1-6005-7F8C-E1E9ED3A3BE5}"/>
              </a:ext>
            </a:extLst>
          </p:cNvPr>
          <p:cNvSpPr txBox="1"/>
          <p:nvPr/>
        </p:nvSpPr>
        <p:spPr>
          <a:xfrm>
            <a:off x="1591411" y="5173397"/>
            <a:ext cx="62716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B2A3B"/>
                </a:solidFill>
              </a:rPr>
              <a:t>Data Source</a:t>
            </a: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C8CA6F-7C51-9B13-656D-B88167247029}"/>
              </a:ext>
            </a:extLst>
          </p:cNvPr>
          <p:cNvSpPr txBox="1"/>
          <p:nvPr/>
        </p:nvSpPr>
        <p:spPr>
          <a:xfrm>
            <a:off x="2952822" y="5202025"/>
            <a:ext cx="6271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9B8680-FCB6-57CD-C4A9-5808D2901DC2}"/>
              </a:ext>
            </a:extLst>
          </p:cNvPr>
          <p:cNvSpPr txBox="1"/>
          <p:nvPr/>
        </p:nvSpPr>
        <p:spPr>
          <a:xfrm>
            <a:off x="4137604" y="5192769"/>
            <a:ext cx="62716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B2A3B"/>
                </a:solidFill>
              </a:rPr>
              <a:t>Data Source</a:t>
            </a:r>
            <a:endParaRPr lang="en-US" sz="1050" b="1" dirty="0">
              <a:solidFill>
                <a:srgbClr val="1B2A3B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55FA72-C5C9-1BDA-2548-877EAE2AD51F}"/>
              </a:ext>
            </a:extLst>
          </p:cNvPr>
          <p:cNvSpPr/>
          <p:nvPr/>
        </p:nvSpPr>
        <p:spPr>
          <a:xfrm>
            <a:off x="4085054" y="4612976"/>
            <a:ext cx="3821217" cy="1042379"/>
          </a:xfrm>
          <a:prstGeom prst="rect">
            <a:avLst/>
          </a:prstGeom>
          <a:noFill/>
          <a:ln>
            <a:solidFill>
              <a:srgbClr val="0D9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90A362B6-48EA-7FD6-E54F-19AC9CBD9EBA}"/>
              </a:ext>
            </a:extLst>
          </p:cNvPr>
          <p:cNvSpPr/>
          <p:nvPr/>
        </p:nvSpPr>
        <p:spPr>
          <a:xfrm rot="5400000">
            <a:off x="5932515" y="5351241"/>
            <a:ext cx="249389" cy="1004388"/>
          </a:xfrm>
          <a:prstGeom prst="leftBrac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347990E2-79CE-CD1E-3A7B-5F7282654101}"/>
              </a:ext>
            </a:extLst>
          </p:cNvPr>
          <p:cNvSpPr/>
          <p:nvPr/>
        </p:nvSpPr>
        <p:spPr>
          <a:xfrm>
            <a:off x="4787932" y="6088401"/>
            <a:ext cx="2704111" cy="682442"/>
          </a:xfrm>
          <a:prstGeom prst="roundRect">
            <a:avLst>
              <a:gd name="adj" fmla="val 5882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4EBB02AC-F664-6ABF-FB4F-BFB19F5162BC}"/>
              </a:ext>
            </a:extLst>
          </p:cNvPr>
          <p:cNvSpPr/>
          <p:nvPr/>
        </p:nvSpPr>
        <p:spPr>
          <a:xfrm>
            <a:off x="4906151" y="6415871"/>
            <a:ext cx="25557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files, PRs, Commits, PDFs, resolver cases, Diagnostic cards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endParaRPr 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79080E-D27D-5C29-E13F-72A74936733B}"/>
              </a:ext>
            </a:extLst>
          </p:cNvPr>
          <p:cNvSpPr txBox="1"/>
          <p:nvPr/>
        </p:nvSpPr>
        <p:spPr>
          <a:xfrm>
            <a:off x="4257166" y="5388224"/>
            <a:ext cx="1278417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CD6689-BEBD-2F13-1A1B-374E4CB2B55B}"/>
              </a:ext>
            </a:extLst>
          </p:cNvPr>
          <p:cNvSpPr txBox="1"/>
          <p:nvPr/>
        </p:nvSpPr>
        <p:spPr>
          <a:xfrm>
            <a:off x="5586253" y="5397483"/>
            <a:ext cx="1195562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661474-68BA-4C26-A447-6F7775CA190D}"/>
              </a:ext>
            </a:extLst>
          </p:cNvPr>
          <p:cNvSpPr txBox="1"/>
          <p:nvPr/>
        </p:nvSpPr>
        <p:spPr>
          <a:xfrm>
            <a:off x="6810096" y="5397483"/>
            <a:ext cx="1048303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40F46C-201E-577B-0BCC-6E736F50F622}"/>
              </a:ext>
            </a:extLst>
          </p:cNvPr>
          <p:cNvSpPr txBox="1"/>
          <p:nvPr/>
        </p:nvSpPr>
        <p:spPr>
          <a:xfrm>
            <a:off x="5523733" y="6113228"/>
            <a:ext cx="1186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Files</a:t>
            </a:r>
            <a:endParaRPr lang="en-US" sz="1400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941DDFF-55A3-5A4C-4DC5-A456D6CCE61D}"/>
              </a:ext>
            </a:extLst>
          </p:cNvPr>
          <p:cNvSpPr/>
          <p:nvPr/>
        </p:nvSpPr>
        <p:spPr>
          <a:xfrm>
            <a:off x="7637801" y="5995463"/>
            <a:ext cx="249389" cy="775379"/>
          </a:xfrm>
          <a:prstGeom prst="leftBrac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F6C642AA-7E81-7077-F21B-6792A0BE72A3}"/>
              </a:ext>
            </a:extLst>
          </p:cNvPr>
          <p:cNvSpPr/>
          <p:nvPr/>
        </p:nvSpPr>
        <p:spPr>
          <a:xfrm>
            <a:off x="8032948" y="6056760"/>
            <a:ext cx="989486" cy="652783"/>
          </a:xfrm>
          <a:prstGeom prst="roundRect">
            <a:avLst>
              <a:gd name="adj" fmla="val 5882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EA9289-AA1C-EBDF-3BAF-F7EA05934E86}"/>
              </a:ext>
            </a:extLst>
          </p:cNvPr>
          <p:cNvSpPr txBox="1"/>
          <p:nvPr/>
        </p:nvSpPr>
        <p:spPr>
          <a:xfrm>
            <a:off x="8236871" y="6244651"/>
            <a:ext cx="635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Docs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04893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CB338-5D31-4F29-CA31-B3A5993D3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292D6-28C4-52B0-DDE8-31DCF172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Data Sources Used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611BE2-F6D1-2BF0-092B-48F3FFFB4846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Where does the information come from?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959B1C83-B658-ED13-81E0-3C8910854AB1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</a:rPr>
              <a:t>Everything extracted from GitHub STM32Cube public repos — nothing fabricated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01571FE-576E-718C-8187-72D40F877950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25D1DEA3-8A83-683F-8382-A643A093A221}"/>
              </a:ext>
            </a:extLst>
          </p:cNvPr>
          <p:cNvSpPr/>
          <p:nvPr/>
        </p:nvSpPr>
        <p:spPr>
          <a:xfrm>
            <a:off x="1636341" y="1560814"/>
            <a:ext cx="4114800" cy="197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AB8741F6-241A-06A4-F1BE-E7248E7574B7}"/>
              </a:ext>
            </a:extLst>
          </p:cNvPr>
          <p:cNvSpPr/>
          <p:nvPr/>
        </p:nvSpPr>
        <p:spPr>
          <a:xfrm>
            <a:off x="1636341" y="1560815"/>
            <a:ext cx="4114800" cy="36576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65E0D42-7FF0-C3DB-4ED6-5C98C3307881}"/>
              </a:ext>
            </a:extLst>
          </p:cNvPr>
          <p:cNvSpPr/>
          <p:nvPr/>
        </p:nvSpPr>
        <p:spPr>
          <a:xfrm>
            <a:off x="2075253" y="1624823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589"/>
                </a:solidFill>
              </a:rPr>
              <a:t>GitHub Issues</a:t>
            </a:r>
            <a:endParaRPr lang="en-US" sz="1200" dirty="0">
              <a:solidFill>
                <a:srgbClr val="0D9589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5885C3D9-4F7D-7FD6-0BB8-63C7E59E294B}"/>
              </a:ext>
            </a:extLst>
          </p:cNvPr>
          <p:cNvSpPr/>
          <p:nvPr/>
        </p:nvSpPr>
        <p:spPr>
          <a:xfrm>
            <a:off x="4855029" y="1597391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300+ issues</a:t>
            </a:r>
            <a:endParaRPr lang="en-US" sz="110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14791E5D-5024-74F6-9172-94098D4FC0ED}"/>
              </a:ext>
            </a:extLst>
          </p:cNvPr>
          <p:cNvSpPr/>
          <p:nvPr/>
        </p:nvSpPr>
        <p:spPr>
          <a:xfrm>
            <a:off x="1764357" y="2306328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User-reported bugs: title, body, comments, labels, state (open/resolved), github_url, timestamps </a:t>
            </a:r>
            <a:endParaRPr lang="en-US" sz="105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3E7F083B-D680-7824-E6B7-A1BD8EF0200C}"/>
              </a:ext>
            </a:extLst>
          </p:cNvPr>
          <p:cNvSpPr/>
          <p:nvPr/>
        </p:nvSpPr>
        <p:spPr>
          <a:xfrm>
            <a:off x="1746069" y="3229871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64748B"/>
                </a:solidFill>
              </a:rPr>
              <a:t>Source: STM32CubeH7, H5, and extensible to other series</a:t>
            </a:r>
            <a:endParaRPr lang="en-US" sz="85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D1BCCED1-BCAE-3E3C-829B-812F7076EF5B}"/>
              </a:ext>
            </a:extLst>
          </p:cNvPr>
          <p:cNvSpPr/>
          <p:nvPr/>
        </p:nvSpPr>
        <p:spPr>
          <a:xfrm>
            <a:off x="6263205" y="1577984"/>
            <a:ext cx="4114800" cy="197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4F102B04-0932-D20C-180D-FD8717B721C8}"/>
              </a:ext>
            </a:extLst>
          </p:cNvPr>
          <p:cNvSpPr/>
          <p:nvPr/>
        </p:nvSpPr>
        <p:spPr>
          <a:xfrm>
            <a:off x="6263205" y="1577985"/>
            <a:ext cx="4114800" cy="36576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68DB4CA-A17C-60E2-FECA-07E1B54F9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933" y="1641993"/>
            <a:ext cx="256032" cy="256032"/>
          </a:xfrm>
          <a:prstGeom prst="rect">
            <a:avLst/>
          </a:prstGeom>
        </p:spPr>
      </p:pic>
      <p:sp>
        <p:nvSpPr>
          <p:cNvPr id="14" name="Text 14">
            <a:extLst>
              <a:ext uri="{FF2B5EF4-FFF2-40B4-BE49-F238E27FC236}">
                <a16:creationId xmlns:a16="http://schemas.microsoft.com/office/drawing/2014/main" id="{3F5A0BE5-8D55-A257-0F78-3B44C3A789EA}"/>
              </a:ext>
            </a:extLst>
          </p:cNvPr>
          <p:cNvSpPr/>
          <p:nvPr/>
        </p:nvSpPr>
        <p:spPr>
          <a:xfrm>
            <a:off x="6702117" y="1641993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Technical Files</a:t>
            </a:r>
            <a:endParaRPr lang="en-US" sz="1200" dirty="0">
              <a:solidFill>
                <a:srgbClr val="0D9488"/>
              </a:solidFill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C496D5A4-12B4-174C-1483-EDEA8A0A8E41}"/>
              </a:ext>
            </a:extLst>
          </p:cNvPr>
          <p:cNvSpPr/>
          <p:nvPr/>
        </p:nvSpPr>
        <p:spPr>
          <a:xfrm>
            <a:off x="9481893" y="1614561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5,000+ files</a:t>
            </a:r>
            <a:endParaRPr lang="en-US" sz="11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B6ADB5E2-5692-9B2C-F2D3-A73AC645981C}"/>
              </a:ext>
            </a:extLst>
          </p:cNvPr>
          <p:cNvSpPr/>
          <p:nvPr/>
        </p:nvSpPr>
        <p:spPr>
          <a:xfrm>
            <a:off x="6368873" y="2211904"/>
            <a:ext cx="41147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B2A3B"/>
                </a:solidFill>
              </a:rPr>
              <a:t>Des sources techniques</a:t>
            </a:r>
            <a:r>
              <a:rPr lang="en-US" sz="1050" dirty="0">
                <a:solidFill>
                  <a:srgbClr val="1B2A3B"/>
                </a:solidFill>
              </a:rPr>
              <a:t>: drivers, middlewares, utilities, components, src/</a:t>
            </a:r>
            <a:r>
              <a:rPr lang="en-US" sz="1050" dirty="0" err="1">
                <a:solidFill>
                  <a:srgbClr val="1B2A3B"/>
                </a:solidFill>
              </a:rPr>
              <a:t>inc</a:t>
            </a:r>
            <a:r>
              <a:rPr lang="en-US" sz="1050" dirty="0">
                <a:solidFill>
                  <a:srgbClr val="1B2A3B"/>
                </a:solidFill>
              </a:rPr>
              <a:t>, </a:t>
            </a:r>
            <a:r>
              <a:rPr lang="en-US" sz="1050" dirty="0" err="1">
                <a:solidFill>
                  <a:srgbClr val="1B2A3B"/>
                </a:solidFill>
              </a:rPr>
              <a:t>include</a:t>
            </a:r>
            <a:r>
              <a:rPr lang="en-US" sz="1050" dirty="0">
                <a:solidFill>
                  <a:srgbClr val="1B2A3B"/>
                </a:solidFill>
              </a:rPr>
              <a:t>/source, BSP </a:t>
            </a:r>
            <a:r>
              <a:rPr lang="en-US" sz="1050" dirty="0" err="1">
                <a:solidFill>
                  <a:srgbClr val="1B2A3B"/>
                </a:solidFill>
              </a:rPr>
              <a:t>board</a:t>
            </a:r>
            <a:r>
              <a:rPr lang="en-US" sz="1050" dirty="0">
                <a:solidFill>
                  <a:srgbClr val="1B2A3B"/>
                </a:solidFill>
              </a:rPr>
              <a:t> files.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B2A3B"/>
                </a:solidFill>
              </a:rPr>
              <a:t>Des docs techniques</a:t>
            </a:r>
            <a:r>
              <a:rPr lang="en-US" sz="1050" dirty="0">
                <a:solidFill>
                  <a:srgbClr val="1B2A3B"/>
                </a:solidFill>
              </a:rPr>
              <a:t>: release notes, </a:t>
            </a:r>
            <a:r>
              <a:rPr lang="en-US" sz="1050" dirty="0" err="1">
                <a:solidFill>
                  <a:srgbClr val="1B2A3B"/>
                </a:solidFill>
              </a:rPr>
              <a:t>readme</a:t>
            </a:r>
            <a:r>
              <a:rPr lang="en-US" sz="1050" dirty="0">
                <a:solidFill>
                  <a:srgbClr val="1B2A3B"/>
                </a:solidFill>
              </a:rPr>
              <a:t> project, PDF documentation.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B2A3B"/>
                </a:solidFill>
              </a:rPr>
              <a:t>Des fichiers of configuration/</a:t>
            </a:r>
            <a:r>
              <a:rPr lang="en-US" sz="1050" b="1" dirty="0" err="1">
                <a:solidFill>
                  <a:srgbClr val="1B2A3B"/>
                </a:solidFill>
              </a:rPr>
              <a:t>metadata</a:t>
            </a:r>
            <a:r>
              <a:rPr lang="en-US" sz="1050" b="1" dirty="0">
                <a:solidFill>
                  <a:srgbClr val="1B2A3B"/>
                </a:solidFill>
              </a:rPr>
              <a:t> useful for context</a:t>
            </a:r>
            <a:r>
              <a:rPr lang="en-US" sz="1050" dirty="0">
                <a:solidFill>
                  <a:srgbClr val="1B2A3B"/>
                </a:solidFill>
              </a:rPr>
              <a:t>: package.xml, </a:t>
            </a:r>
            <a:r>
              <a:rPr lang="en-US" sz="1050" dirty="0" err="1">
                <a:solidFill>
                  <a:srgbClr val="1B2A3B"/>
                </a:solidFill>
              </a:rPr>
              <a:t>sbom</a:t>
            </a:r>
            <a:r>
              <a:rPr lang="en-US" sz="1050" dirty="0">
                <a:solidFill>
                  <a:srgbClr val="1B2A3B"/>
                </a:solidFill>
              </a:rPr>
              <a:t>, </a:t>
            </a:r>
            <a:r>
              <a:rPr lang="en-US" sz="1050" dirty="0" err="1">
                <a:solidFill>
                  <a:srgbClr val="1B2A3B"/>
                </a:solidFill>
              </a:rPr>
              <a:t>security</a:t>
            </a:r>
            <a:r>
              <a:rPr lang="en-US" sz="1050" dirty="0">
                <a:solidFill>
                  <a:srgbClr val="1B2A3B"/>
                </a:solidFill>
              </a:rPr>
              <a:t>, etc.</a:t>
            </a:r>
            <a:endParaRPr lang="en-US" sz="105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8662DE01-52E9-7247-C0BC-841225D311B9}"/>
              </a:ext>
            </a:extLst>
          </p:cNvPr>
          <p:cNvSpPr/>
          <p:nvPr/>
        </p:nvSpPr>
        <p:spPr>
          <a:xfrm>
            <a:off x="6370451" y="3229871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64748B"/>
                </a:solidFill>
              </a:rPr>
              <a:t>Source: STM32CubeH7, H5, and extensible to other series</a:t>
            </a:r>
            <a:endParaRPr lang="en-US" sz="850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81F4761B-5A42-DC88-A38F-EFB062F8FB88}"/>
              </a:ext>
            </a:extLst>
          </p:cNvPr>
          <p:cNvSpPr/>
          <p:nvPr/>
        </p:nvSpPr>
        <p:spPr>
          <a:xfrm>
            <a:off x="1636341" y="3802217"/>
            <a:ext cx="41148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D9AFA03F-DAB3-6123-2A5F-A2E85664E38A}"/>
              </a:ext>
            </a:extLst>
          </p:cNvPr>
          <p:cNvSpPr/>
          <p:nvPr/>
        </p:nvSpPr>
        <p:spPr>
          <a:xfrm>
            <a:off x="1636341" y="3802217"/>
            <a:ext cx="411480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2630C6B3-609C-7335-C7B0-10AECFE1C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069" y="3866225"/>
            <a:ext cx="210312" cy="210312"/>
          </a:xfrm>
          <a:prstGeom prst="rect">
            <a:avLst/>
          </a:prstGeom>
        </p:spPr>
      </p:pic>
      <p:sp>
        <p:nvSpPr>
          <p:cNvPr id="22" name="Text 21">
            <a:extLst>
              <a:ext uri="{FF2B5EF4-FFF2-40B4-BE49-F238E27FC236}">
                <a16:creationId xmlns:a16="http://schemas.microsoft.com/office/drawing/2014/main" id="{CCACA7AD-5D05-D758-DA94-0D2E5C749A25}"/>
              </a:ext>
            </a:extLst>
          </p:cNvPr>
          <p:cNvSpPr/>
          <p:nvPr/>
        </p:nvSpPr>
        <p:spPr>
          <a:xfrm>
            <a:off x="2075253" y="3866225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9488"/>
                </a:solidFill>
              </a:rPr>
              <a:t>PRs</a:t>
            </a:r>
            <a:r>
              <a:rPr lang="en-US" sz="1200" b="1" dirty="0">
                <a:solidFill>
                  <a:srgbClr val="0D9488"/>
                </a:solidFill>
              </a:rPr>
              <a:t> &amp; </a:t>
            </a:r>
            <a:r>
              <a:rPr lang="en-US" sz="1200" b="1" dirty="0" err="1">
                <a:solidFill>
                  <a:srgbClr val="0D9488"/>
                </a:solidFill>
              </a:rPr>
              <a:t>Commits</a:t>
            </a:r>
            <a:endParaRPr lang="en-US" sz="1200" dirty="0">
              <a:solidFill>
                <a:srgbClr val="0D9488"/>
              </a:solidFill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7C12B8DD-ECBC-1949-698B-21896818061D}"/>
              </a:ext>
            </a:extLst>
          </p:cNvPr>
          <p:cNvSpPr/>
          <p:nvPr/>
        </p:nvSpPr>
        <p:spPr>
          <a:xfrm>
            <a:off x="4374533" y="3902279"/>
            <a:ext cx="13803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chemeClr val="bg1"/>
                </a:solidFill>
              </a:rPr>
              <a:t>Resolver</a:t>
            </a:r>
            <a:r>
              <a:rPr lang="en-US" sz="1100" b="1" dirty="0">
                <a:solidFill>
                  <a:schemeClr val="bg1"/>
                </a:solidFill>
              </a:rPr>
              <a:t> Cases</a:t>
            </a:r>
          </a:p>
          <a:p>
            <a:pPr marL="0" indent="0" algn="ctr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B622E726-7D2F-5CE7-9471-71373EFD6860}"/>
              </a:ext>
            </a:extLst>
          </p:cNvPr>
          <p:cNvSpPr/>
          <p:nvPr/>
        </p:nvSpPr>
        <p:spPr>
          <a:xfrm>
            <a:off x="1764357" y="4241129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When a bug is resolved, we trace the PR and commit that provide the confirmed fix</a:t>
            </a:r>
            <a:endParaRPr lang="en-US" sz="105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9481BABC-BF29-6AD6-F059-0945D3788C32}"/>
              </a:ext>
            </a:extLst>
          </p:cNvPr>
          <p:cNvSpPr/>
          <p:nvPr/>
        </p:nvSpPr>
        <p:spPr>
          <a:xfrm>
            <a:off x="1764357" y="5155529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64748B"/>
                </a:solidFill>
              </a:rPr>
              <a:t>Source: STM32CubeH7, H5, and extensible to other series</a:t>
            </a:r>
            <a:endParaRPr lang="en-US" sz="85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D81FCE9E-069A-7940-1AC5-EAB2941BBF9A}"/>
              </a:ext>
            </a:extLst>
          </p:cNvPr>
          <p:cNvSpPr/>
          <p:nvPr/>
        </p:nvSpPr>
        <p:spPr>
          <a:xfrm>
            <a:off x="7001256" y="3966809"/>
            <a:ext cx="41148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A1D4D34E-39BE-6E1D-6C92-74F0C85CC082}"/>
              </a:ext>
            </a:extLst>
          </p:cNvPr>
          <p:cNvSpPr/>
          <p:nvPr/>
        </p:nvSpPr>
        <p:spPr>
          <a:xfrm>
            <a:off x="7001256" y="3966809"/>
            <a:ext cx="411480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C58D82D7-EACE-E29B-0B45-98F946588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984" y="4030817"/>
            <a:ext cx="237744" cy="237744"/>
          </a:xfrm>
          <a:prstGeom prst="rect">
            <a:avLst/>
          </a:prstGeom>
        </p:spPr>
      </p:pic>
      <p:sp>
        <p:nvSpPr>
          <p:cNvPr id="30" name="Text 28">
            <a:extLst>
              <a:ext uri="{FF2B5EF4-FFF2-40B4-BE49-F238E27FC236}">
                <a16:creationId xmlns:a16="http://schemas.microsoft.com/office/drawing/2014/main" id="{36E51ACE-B701-E7CA-72E6-F1300BCBDBF4}"/>
              </a:ext>
            </a:extLst>
          </p:cNvPr>
          <p:cNvSpPr/>
          <p:nvPr/>
        </p:nvSpPr>
        <p:spPr>
          <a:xfrm>
            <a:off x="7440168" y="4030817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589"/>
                </a:solidFill>
              </a:rPr>
              <a:t>D</a:t>
            </a:r>
            <a:r>
              <a:rPr lang="en-US" sz="1200" b="1" dirty="0" err="1">
                <a:solidFill>
                  <a:srgbClr val="0D9589"/>
                </a:solidFill>
              </a:rPr>
              <a:t>iagnostic</a:t>
            </a:r>
            <a:r>
              <a:rPr lang="en-US" sz="1200" b="1" dirty="0">
                <a:solidFill>
                  <a:srgbClr val="0D9589"/>
                </a:solidFill>
              </a:rPr>
              <a:t> </a:t>
            </a:r>
            <a:r>
              <a:rPr lang="en-US" sz="1200" b="1" dirty="0" err="1">
                <a:solidFill>
                  <a:srgbClr val="0D9589"/>
                </a:solidFill>
              </a:rPr>
              <a:t>cards</a:t>
            </a:r>
            <a:endParaRPr lang="en-US" sz="1200" dirty="0">
              <a:solidFill>
                <a:srgbClr val="0D9589"/>
              </a:solidFill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AFAE803-629D-2B00-9018-2EC5D484BBAA}"/>
              </a:ext>
            </a:extLst>
          </p:cNvPr>
          <p:cNvSpPr/>
          <p:nvPr/>
        </p:nvSpPr>
        <p:spPr>
          <a:xfrm>
            <a:off x="9124840" y="3994241"/>
            <a:ext cx="19838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Intelligent synthesis layer </a:t>
            </a:r>
            <a:endParaRPr lang="en-US" sz="11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F8161AF-6C39-BBD8-46FF-47022F5025DD}"/>
              </a:ext>
            </a:extLst>
          </p:cNvPr>
          <p:cNvSpPr/>
          <p:nvPr/>
        </p:nvSpPr>
        <p:spPr>
          <a:xfrm>
            <a:off x="7129272" y="4405721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Structured cards: Problem → Evidence → Solution. Built automatically from resolved issues</a:t>
            </a:r>
            <a:endParaRPr lang="en-US" sz="10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DF49356-2B38-18EE-D423-E83010E7DF04}"/>
              </a:ext>
            </a:extLst>
          </p:cNvPr>
          <p:cNvSpPr/>
          <p:nvPr/>
        </p:nvSpPr>
        <p:spPr>
          <a:xfrm>
            <a:off x="7129272" y="5320121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Source: Generated by pipeline</a:t>
            </a:r>
            <a:endParaRPr lang="en-US" sz="850" dirty="0"/>
          </a:p>
        </p:txBody>
      </p:sp>
      <p:pic>
        <p:nvPicPr>
          <p:cNvPr id="36" name="Graphic 35" descr="Exclamation mark with solid fill">
            <a:extLst>
              <a:ext uri="{FF2B5EF4-FFF2-40B4-BE49-F238E27FC236}">
                <a16:creationId xmlns:a16="http://schemas.microsoft.com/office/drawing/2014/main" id="{FAD1758D-232D-57CA-E224-0CFDE09CE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57191" y="1617667"/>
            <a:ext cx="219456" cy="219456"/>
          </a:xfrm>
          <a:prstGeom prst="rect">
            <a:avLst/>
          </a:prstGeom>
        </p:spPr>
      </p:pic>
      <p:sp>
        <p:nvSpPr>
          <p:cNvPr id="5" name="Plus Sign 4">
            <a:extLst>
              <a:ext uri="{FF2B5EF4-FFF2-40B4-BE49-F238E27FC236}">
                <a16:creationId xmlns:a16="http://schemas.microsoft.com/office/drawing/2014/main" id="{A3C03228-7527-80F9-72DF-A79AB1936DDB}"/>
              </a:ext>
            </a:extLst>
          </p:cNvPr>
          <p:cNvSpPr/>
          <p:nvPr/>
        </p:nvSpPr>
        <p:spPr>
          <a:xfrm>
            <a:off x="6456676" y="4556771"/>
            <a:ext cx="416564" cy="408518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9628CE-B624-73A0-5FF4-8D4AF3CD9ADA}"/>
              </a:ext>
            </a:extLst>
          </p:cNvPr>
          <p:cNvSpPr txBox="1"/>
          <p:nvPr/>
        </p:nvSpPr>
        <p:spPr>
          <a:xfrm>
            <a:off x="1261717" y="5866682"/>
            <a:ext cx="114790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u="sng" dirty="0">
                <a:effectLst/>
              </a:rPr>
              <a:t>Pour chaque série STM32Cube</a:t>
            </a:r>
            <a:r>
              <a:rPr lang="en-US" sz="1200" b="1" i="1" u="sng" dirty="0"/>
              <a:t> </a:t>
            </a:r>
            <a:r>
              <a:rPr lang="en-US" sz="1200" dirty="0"/>
              <a:t>: </a:t>
            </a:r>
            <a:r>
              <a:rPr lang="en-US" sz="1200" b="0" i="0" dirty="0">
                <a:effectLst/>
              </a:rPr>
              <a:t>we unify </a:t>
            </a:r>
            <a:r>
              <a:rPr lang="en-US" sz="1200" b="1" i="0" dirty="0">
                <a:solidFill>
                  <a:srgbClr val="0D9589"/>
                </a:solidFill>
                <a:effectLst/>
              </a:rPr>
              <a:t>issues</a:t>
            </a:r>
            <a:r>
              <a:rPr lang="en-US" sz="1200" b="1" i="0" dirty="0">
                <a:effectLst/>
              </a:rPr>
              <a:t>, </a:t>
            </a:r>
            <a:r>
              <a:rPr lang="en-US" sz="1200" b="1" i="0" dirty="0" err="1">
                <a:solidFill>
                  <a:srgbClr val="0D9589"/>
                </a:solidFill>
                <a:effectLst/>
              </a:rPr>
              <a:t>PRs</a:t>
            </a:r>
            <a:r>
              <a:rPr lang="en-US" sz="1200" b="1" i="0" dirty="0">
                <a:solidFill>
                  <a:srgbClr val="0D9589"/>
                </a:solidFill>
                <a:effectLst/>
              </a:rPr>
              <a:t> and </a:t>
            </a:r>
            <a:r>
              <a:rPr lang="en-US" sz="1200" b="1" i="0" dirty="0" err="1">
                <a:solidFill>
                  <a:srgbClr val="0D9589"/>
                </a:solidFill>
                <a:effectLst/>
              </a:rPr>
              <a:t>commits</a:t>
            </a:r>
            <a:r>
              <a:rPr lang="en-US" sz="1200" b="1" i="0" dirty="0">
                <a:solidFill>
                  <a:srgbClr val="0D9589"/>
                </a:solidFill>
                <a:effectLst/>
              </a:rPr>
              <a:t> </a:t>
            </a:r>
            <a:r>
              <a:rPr lang="en-US" sz="1200" b="0" i="0" dirty="0">
                <a:effectLst/>
              </a:rPr>
              <a:t>afin of produire des </a:t>
            </a:r>
            <a:r>
              <a:rPr lang="en-US" sz="1200" b="1" dirty="0">
                <a:solidFill>
                  <a:srgbClr val="0D9589"/>
                </a:solidFill>
              </a:rPr>
              <a:t>d</a:t>
            </a:r>
            <a:r>
              <a:rPr lang="en-US" sz="1200" b="1" i="0" dirty="0">
                <a:solidFill>
                  <a:srgbClr val="0D9589"/>
                </a:solidFill>
                <a:effectLst/>
              </a:rPr>
              <a:t>iagnostic </a:t>
            </a:r>
            <a:r>
              <a:rPr lang="en-US" sz="1200" b="1" i="0" dirty="0" err="1">
                <a:solidFill>
                  <a:srgbClr val="0D9589"/>
                </a:solidFill>
                <a:effectLst/>
              </a:rPr>
              <a:t>cards</a:t>
            </a:r>
            <a:r>
              <a:rPr lang="en-US" sz="1200" b="1" dirty="0">
                <a:solidFill>
                  <a:srgbClr val="0D9589"/>
                </a:solidFill>
              </a:rPr>
              <a:t> </a:t>
            </a:r>
            <a:r>
              <a:rPr lang="en-US" sz="1200" b="0" i="0" dirty="0">
                <a:effectLst/>
              </a:rPr>
              <a:t>traçables and actionnables.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97563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Getting Better Answers — How to Query the Persona</a:t>
            </a:r>
            <a:endParaRPr lang="en-US" sz="180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291420" y="693607"/>
            <a:ext cx="11609159" cy="5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i="1" dirty="0">
                <a:solidFill>
                  <a:srgbClr val="475569"/>
                </a:solidFill>
              </a:rPr>
              <a:t>Context-rich questions produce context-rich answers</a:t>
            </a:r>
          </a:p>
        </p:txBody>
      </p:sp>
      <p:sp>
        <p:nvSpPr>
          <p:cNvPr id="10" name="Col10"/>
          <p:cNvSpPr>
            <a:spLocks noGrp="1"/>
          </p:cNvSpPr>
          <p:nvPr/>
        </p:nvSpPr>
        <p:spPr>
          <a:xfrm>
            <a:off x="347261" y="2136859"/>
            <a:ext cx="5400000" cy="291503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pPr algn="ctr"/>
            <a:r>
              <a:rPr lang="en-US" sz="1300" b="1" dirty="0">
                <a:solidFill>
                  <a:srgbClr val="03217B"/>
                </a:solidFill>
              </a:rPr>
              <a:t>What to specify when asking</a:t>
            </a:r>
          </a:p>
          <a:p>
            <a:endParaRPr lang="en-US" sz="1000" dirty="0"/>
          </a:p>
          <a:p>
            <a:r>
              <a:rPr lang="en-US" sz="1100" b="0" dirty="0">
                <a:solidFill>
                  <a:srgbClr val="334155"/>
                </a:solidFill>
              </a:rPr>
              <a:t>For best results, always specify:</a:t>
            </a:r>
          </a:p>
          <a:p>
            <a:endParaRPr lang="en-US" sz="1000" dirty="0"/>
          </a:p>
          <a:p>
            <a:pPr>
              <a:lnSpc>
                <a:spcPct val="150000"/>
              </a:lnSpc>
            </a:pPr>
            <a:r>
              <a:rPr lang="en-US" sz="1100" b="0" dirty="0">
                <a:solidFill>
                  <a:srgbClr val="334155"/>
                </a:solidFill>
              </a:rPr>
              <a:t>● The STM32 series (H7, H5, L4, G0…)</a:t>
            </a:r>
          </a:p>
          <a:p>
            <a:pPr>
              <a:lnSpc>
                <a:spcPct val="150000"/>
              </a:lnSpc>
            </a:pPr>
            <a:r>
              <a:rPr lang="en-US" sz="1100" b="0" dirty="0">
                <a:solidFill>
                  <a:srgbClr val="334155"/>
                </a:solidFill>
              </a:rPr>
              <a:t>● The exact MCU or board if known</a:t>
            </a:r>
          </a:p>
          <a:p>
            <a:pPr>
              <a:lnSpc>
                <a:spcPct val="150000"/>
              </a:lnSpc>
            </a:pPr>
            <a:r>
              <a:rPr lang="en-US" sz="1100" b="0" dirty="0">
                <a:solidFill>
                  <a:srgbClr val="334155"/>
                </a:solidFill>
              </a:rPr>
              <a:t>● The peripheral involved (DMA, UART, I2C, USB…)</a:t>
            </a:r>
          </a:p>
          <a:p>
            <a:pPr>
              <a:lnSpc>
                <a:spcPct val="150000"/>
              </a:lnSpc>
            </a:pPr>
            <a:r>
              <a:rPr lang="en-US" sz="1100" b="0" dirty="0">
                <a:solidFill>
                  <a:srgbClr val="334155"/>
                </a:solidFill>
              </a:rPr>
              <a:t>● The HAL API or function name if applicable</a:t>
            </a:r>
          </a:p>
          <a:p>
            <a:pPr>
              <a:lnSpc>
                <a:spcPct val="150000"/>
              </a:lnSpc>
            </a:pPr>
            <a:r>
              <a:rPr lang="en-US" sz="1100" b="0" dirty="0">
                <a:solidFill>
                  <a:srgbClr val="334155"/>
                </a:solidFill>
              </a:rPr>
              <a:t>● The observed symptom or error</a:t>
            </a:r>
          </a:p>
          <a:p>
            <a:pPr>
              <a:lnSpc>
                <a:spcPct val="150000"/>
              </a:lnSpc>
            </a:pPr>
            <a:r>
              <a:rPr lang="en-US" sz="1100" b="0" dirty="0">
                <a:solidFill>
                  <a:srgbClr val="334155"/>
                </a:solidFill>
              </a:rPr>
              <a:t>● The context: bug, config issue, regression, compilation error…</a:t>
            </a:r>
          </a:p>
        </p:txBody>
      </p:sp>
      <p:sp>
        <p:nvSpPr>
          <p:cNvPr id="11" name="Col11"/>
          <p:cNvSpPr>
            <a:spLocks noGrp="1"/>
          </p:cNvSpPr>
          <p:nvPr/>
        </p:nvSpPr>
        <p:spPr>
          <a:xfrm>
            <a:off x="6056420" y="2130986"/>
            <a:ext cx="5900000" cy="2915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pPr algn="ctr"/>
            <a:r>
              <a:rPr lang="en-US" sz="1300" b="1" dirty="0">
                <a:solidFill>
                  <a:srgbClr val="0D9589"/>
                </a:solidFill>
              </a:rPr>
              <a:t>Vague vs Precise — Example</a:t>
            </a:r>
          </a:p>
          <a:p>
            <a:pPr algn="ctr"/>
            <a:endParaRPr lang="en-US" sz="1300" b="1" dirty="0">
              <a:solidFill>
                <a:srgbClr val="16A34A"/>
              </a:solidFill>
            </a:endParaRPr>
          </a:p>
          <a:p>
            <a:endParaRPr lang="en-US" sz="1000" dirty="0"/>
          </a:p>
          <a:p>
            <a:pPr algn="ctr"/>
            <a:r>
              <a:rPr lang="en-US" sz="1100" b="1" dirty="0">
                <a:solidFill>
                  <a:srgbClr val="03217B"/>
                </a:solidFill>
              </a:rPr>
              <a:t> Vague question:</a:t>
            </a:r>
          </a:p>
          <a:p>
            <a:r>
              <a:rPr lang="en-US" sz="1100" b="0" dirty="0">
                <a:solidFill>
                  <a:srgbClr val="334155"/>
                </a:solidFill>
              </a:rPr>
              <a:t>"DMA does not work"</a:t>
            </a:r>
          </a:p>
          <a:p>
            <a:endParaRPr lang="en-US" sz="1000" dirty="0"/>
          </a:p>
          <a:p>
            <a:r>
              <a:rPr lang="en-US" sz="1100" b="1" dirty="0">
                <a:solidFill>
                  <a:srgbClr val="334155"/>
                </a:solidFill>
              </a:rPr>
              <a:t>Result</a:t>
            </a:r>
            <a:r>
              <a:rPr lang="en-US" sz="1100" b="0" dirty="0">
                <a:solidFill>
                  <a:srgbClr val="334155"/>
                </a:solidFill>
              </a:rPr>
              <a:t>: generic answer, low relevance, no specific source</a:t>
            </a:r>
          </a:p>
          <a:p>
            <a:endParaRPr lang="en-US" sz="1000" dirty="0"/>
          </a:p>
          <a:p>
            <a:pPr algn="ctr"/>
            <a:r>
              <a:rPr lang="en-US" sz="1100" b="1" dirty="0">
                <a:solidFill>
                  <a:srgbClr val="03217B"/>
                </a:solidFill>
              </a:rPr>
              <a:t> Precise question:</a:t>
            </a:r>
          </a:p>
          <a:p>
            <a:pPr algn="ctr"/>
            <a:endParaRPr lang="en-US" sz="1100" b="1" dirty="0">
              <a:solidFill>
                <a:srgbClr val="03217B"/>
              </a:solidFill>
            </a:endParaRPr>
          </a:p>
          <a:p>
            <a:r>
              <a:rPr lang="en-US" sz="1100" b="0" dirty="0">
                <a:solidFill>
                  <a:srgbClr val="334155"/>
                </a:solidFill>
              </a:rPr>
              <a:t>"On STM32H743, ADC DMA circular mode gives inconsistent values after enabling </a:t>
            </a:r>
          </a:p>
          <a:p>
            <a:r>
              <a:rPr lang="en-US" sz="1100" b="0" dirty="0">
                <a:solidFill>
                  <a:srgbClr val="334155"/>
                </a:solidFill>
              </a:rPr>
              <a:t>D-Cache. What should I check?"</a:t>
            </a:r>
          </a:p>
          <a:p>
            <a:endParaRPr lang="en-US" sz="1000" dirty="0"/>
          </a:p>
          <a:p>
            <a:r>
              <a:rPr lang="en-US" sz="1100" b="0" dirty="0">
                <a:solidFill>
                  <a:srgbClr val="334155"/>
                </a:solidFill>
              </a:rPr>
              <a:t>Result: specific issue retrieved, with relevant HAL context, PR/commit link if available, and concrete debug steps</a:t>
            </a:r>
          </a:p>
          <a:p>
            <a:endParaRPr lang="en-US" sz="1000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5D42BD5C-02C7-6395-1E5D-061CE9DE2252}"/>
              </a:ext>
            </a:extLst>
          </p:cNvPr>
          <p:cNvSpPr/>
          <p:nvPr/>
        </p:nvSpPr>
        <p:spPr>
          <a:xfrm>
            <a:off x="242477" y="115949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442D1-067B-C7EE-7AE5-AC3E07F94D6F}"/>
              </a:ext>
            </a:extLst>
          </p:cNvPr>
          <p:cNvSpPr txBox="1"/>
          <p:nvPr/>
        </p:nvSpPr>
        <p:spPr>
          <a:xfrm>
            <a:off x="2301706" y="5675620"/>
            <a:ext cx="104487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dirty="0">
                <a:solidFill>
                  <a:srgbClr val="334155"/>
                </a:solidFill>
              </a:rPr>
              <a:t>The more context you give, the more the persona can retrieve and the better the answer.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BE8EC-6725-B812-07CA-DA7870818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5">
            <a:extLst>
              <a:ext uri="{FF2B5EF4-FFF2-40B4-BE49-F238E27FC236}">
                <a16:creationId xmlns:a16="http://schemas.microsoft.com/office/drawing/2014/main" id="{DF4F4E0C-444F-4A83-209A-FCE792445C4A}"/>
              </a:ext>
            </a:extLst>
          </p:cNvPr>
          <p:cNvSpPr/>
          <p:nvPr/>
        </p:nvSpPr>
        <p:spPr>
          <a:xfrm>
            <a:off x="1640020" y="1568479"/>
            <a:ext cx="10551980" cy="3945841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925E9D87-3D04-3DC6-B788-E1F18ECCA0E6}"/>
              </a:ext>
            </a:extLst>
          </p:cNvPr>
          <p:cNvSpPr/>
          <p:nvPr/>
        </p:nvSpPr>
        <p:spPr>
          <a:xfrm>
            <a:off x="6272348" y="332194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Demo 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042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C6E2BB4-3A74-734F-992B-A45CEAF38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5">
            <a:extLst>
              <a:ext uri="{FF2B5EF4-FFF2-40B4-BE49-F238E27FC236}">
                <a16:creationId xmlns:a16="http://schemas.microsoft.com/office/drawing/2014/main" id="{944E1B14-2F43-7013-FC9B-E15CBEC07036}"/>
              </a:ext>
            </a:extLst>
          </p:cNvPr>
          <p:cNvSpPr/>
          <p:nvPr/>
        </p:nvSpPr>
        <p:spPr>
          <a:xfrm>
            <a:off x="1640020" y="1456079"/>
            <a:ext cx="10551980" cy="3945841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992DBF96-3CFC-7100-0F1C-137E9CC06227}"/>
              </a:ext>
            </a:extLst>
          </p:cNvPr>
          <p:cNvSpPr/>
          <p:nvPr/>
        </p:nvSpPr>
        <p:spPr>
          <a:xfrm>
            <a:off x="2443517" y="2308935"/>
            <a:ext cx="6749343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329EBE51-9B74-1781-F663-0BBADBE07A54}"/>
              </a:ext>
            </a:extLst>
          </p:cNvPr>
          <p:cNvSpPr/>
          <p:nvPr/>
        </p:nvSpPr>
        <p:spPr>
          <a:xfrm>
            <a:off x="2443518" y="2308935"/>
            <a:ext cx="384048" cy="749808"/>
          </a:xfrm>
          <a:prstGeom prst="rect">
            <a:avLst/>
          </a:prstGeom>
          <a:noFill/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3EF90521-22A7-55C9-BCAB-F79D7DA20D83}"/>
              </a:ext>
            </a:extLst>
          </p:cNvPr>
          <p:cNvSpPr/>
          <p:nvPr/>
        </p:nvSpPr>
        <p:spPr>
          <a:xfrm>
            <a:off x="2443518" y="230893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200"/>
                </a:solidFill>
              </a:rPr>
              <a:t>04</a:t>
            </a:r>
            <a:endParaRPr lang="en-US" sz="1300" dirty="0">
              <a:solidFill>
                <a:srgbClr val="FFD200"/>
              </a:solidFill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6778DFA1-FB36-0E13-94AC-1E1BC946F67D}"/>
              </a:ext>
            </a:extLst>
          </p:cNvPr>
          <p:cNvSpPr/>
          <p:nvPr/>
        </p:nvSpPr>
        <p:spPr>
          <a:xfrm>
            <a:off x="2919006" y="2382087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The preprocessing pipeline</a:t>
            </a:r>
            <a:endParaRPr lang="en-US" sz="12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9E308305-95F7-67D0-243A-2CFF4903414F}"/>
              </a:ext>
            </a:extLst>
          </p:cNvPr>
          <p:cNvSpPr/>
          <p:nvPr/>
        </p:nvSpPr>
        <p:spPr>
          <a:xfrm>
            <a:off x="2919006" y="271127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Ingest → Clean → Enrich → Deliver</a:t>
            </a:r>
            <a:endParaRPr lang="en-US" sz="900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426AD415-0EC3-10B8-A1FA-AA83D7169841}"/>
              </a:ext>
            </a:extLst>
          </p:cNvPr>
          <p:cNvSpPr/>
          <p:nvPr/>
        </p:nvSpPr>
        <p:spPr>
          <a:xfrm>
            <a:off x="2443518" y="3229338"/>
            <a:ext cx="674934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592A4B02-FA61-C7E0-EE14-D1EDC2F4C9A8}"/>
              </a:ext>
            </a:extLst>
          </p:cNvPr>
          <p:cNvSpPr/>
          <p:nvPr/>
        </p:nvSpPr>
        <p:spPr>
          <a:xfrm>
            <a:off x="2443518" y="3229338"/>
            <a:ext cx="384048" cy="749808"/>
          </a:xfrm>
          <a:prstGeom prst="rect">
            <a:avLst/>
          </a:prstGeom>
          <a:noFill/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57BB5506-B2D6-9DF4-E2D2-3EAB588A1119}"/>
              </a:ext>
            </a:extLst>
          </p:cNvPr>
          <p:cNvSpPr/>
          <p:nvPr/>
        </p:nvSpPr>
        <p:spPr>
          <a:xfrm>
            <a:off x="2443518" y="322933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200"/>
                </a:solidFill>
              </a:rPr>
              <a:t>05</a:t>
            </a:r>
            <a:endParaRPr lang="en-US" sz="1300" dirty="0">
              <a:solidFill>
                <a:srgbClr val="FFD200"/>
              </a:solidFill>
            </a:endParaRPr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0DD4B799-71DD-5B6B-2A43-7D4DC945280A}"/>
              </a:ext>
            </a:extLst>
          </p:cNvPr>
          <p:cNvSpPr/>
          <p:nvPr/>
        </p:nvSpPr>
        <p:spPr>
          <a:xfrm>
            <a:off x="2919006" y="330249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Results &amp; evaluation</a:t>
            </a:r>
            <a:endParaRPr lang="en-US" sz="1200" dirty="0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46ECAD78-AEE5-B7FD-97A5-C86E78186D07}"/>
              </a:ext>
            </a:extLst>
          </p:cNvPr>
          <p:cNvSpPr/>
          <p:nvPr/>
        </p:nvSpPr>
        <p:spPr>
          <a:xfrm>
            <a:off x="2919006" y="363167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50Q benchmark — concrete numbers</a:t>
            </a:r>
            <a:endParaRPr lang="en-US" sz="900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09A16864-CB5F-4087-13A5-A1CC5AE2D882}"/>
              </a:ext>
            </a:extLst>
          </p:cNvPr>
          <p:cNvSpPr/>
          <p:nvPr/>
        </p:nvSpPr>
        <p:spPr>
          <a:xfrm>
            <a:off x="2443518" y="4125450"/>
            <a:ext cx="674934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B88C35B5-DAE4-2B6A-0896-1CFA8CEBCEDD}"/>
              </a:ext>
            </a:extLst>
          </p:cNvPr>
          <p:cNvSpPr/>
          <p:nvPr/>
        </p:nvSpPr>
        <p:spPr>
          <a:xfrm>
            <a:off x="2443518" y="4125450"/>
            <a:ext cx="384048" cy="749808"/>
          </a:xfrm>
          <a:prstGeom prst="rect">
            <a:avLst/>
          </a:prstGeom>
          <a:noFill/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4B1F353A-C478-0FE7-9B1F-99C86E5739EB}"/>
              </a:ext>
            </a:extLst>
          </p:cNvPr>
          <p:cNvSpPr/>
          <p:nvPr/>
        </p:nvSpPr>
        <p:spPr>
          <a:xfrm>
            <a:off x="2443518" y="412545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200"/>
                </a:solidFill>
              </a:rPr>
              <a:t>06</a:t>
            </a:r>
            <a:endParaRPr lang="en-US" sz="1300" dirty="0">
              <a:solidFill>
                <a:srgbClr val="FFD200"/>
              </a:solidFill>
            </a:endParaRPr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551E78B5-5D49-E36C-355E-192CF0A9BE72}"/>
              </a:ext>
            </a:extLst>
          </p:cNvPr>
          <p:cNvSpPr/>
          <p:nvPr/>
        </p:nvSpPr>
        <p:spPr>
          <a:xfrm>
            <a:off x="2919006" y="419860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Challenges &amp; Next Steps</a:t>
            </a:r>
            <a:endParaRPr lang="en-US" sz="1200" dirty="0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BD05D817-BCC5-0E32-C3E2-1B0FCA4785FD}"/>
              </a:ext>
            </a:extLst>
          </p:cNvPr>
          <p:cNvSpPr/>
          <p:nvPr/>
        </p:nvSpPr>
        <p:spPr>
          <a:xfrm>
            <a:off x="2919006" y="452778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What works, what needs fixing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09050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BA4F7-282C-D8B1-176D-B5B76710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4C027-7C89-EB0C-ADBB-22840CE61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The Preprocessing </a:t>
            </a:r>
            <a:r>
              <a:rPr lang="en-US" sz="1800" b="1" dirty="0" err="1"/>
              <a:t>Pipeline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082AA2-1B5E-CEC2-F623-9205CD4F88B3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4F95609-DDA8-99E6-8E13-B834A9821CB8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07BD6489-902C-6299-BD43-0E6BF1EC1928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0C7C5F01-A9D8-A3E5-B8F6-B2646561AC30}"/>
              </a:ext>
            </a:extLst>
          </p:cNvPr>
          <p:cNvSpPr/>
          <p:nvPr/>
        </p:nvSpPr>
        <p:spPr>
          <a:xfrm>
            <a:off x="477788" y="2724216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B22E9BFE-B252-E683-496C-D031961B9A2B}"/>
              </a:ext>
            </a:extLst>
          </p:cNvPr>
          <p:cNvSpPr/>
          <p:nvPr/>
        </p:nvSpPr>
        <p:spPr>
          <a:xfrm>
            <a:off x="477787" y="2724216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70071B4B-6180-80C3-5B86-1E17784FCD32}"/>
              </a:ext>
            </a:extLst>
          </p:cNvPr>
          <p:cNvSpPr/>
          <p:nvPr/>
        </p:nvSpPr>
        <p:spPr>
          <a:xfrm>
            <a:off x="477788" y="272421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1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1E9CFF07-E568-D922-A8F7-E28728EB8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00" y="2792559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8BE547BF-64B4-244E-82A0-15612166EC2F}"/>
              </a:ext>
            </a:extLst>
          </p:cNvPr>
          <p:cNvSpPr/>
          <p:nvPr/>
        </p:nvSpPr>
        <p:spPr>
          <a:xfrm>
            <a:off x="683528" y="324075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Ingestion</a:t>
            </a:r>
            <a:endParaRPr lang="en-US" sz="10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36B83818-7A4F-2973-683B-71D12FC91262}"/>
              </a:ext>
            </a:extLst>
          </p:cNvPr>
          <p:cNvSpPr/>
          <p:nvPr/>
        </p:nvSpPr>
        <p:spPr>
          <a:xfrm>
            <a:off x="676936" y="357421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Download raw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from GitHub</a:t>
            </a:r>
            <a:endParaRPr lang="en-US" sz="10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DEADBA9F-A310-6A3A-396D-2ACA95A0E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5690" y="3764490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48823561-F228-1E40-2C04-18716BA5331E}"/>
              </a:ext>
            </a:extLst>
          </p:cNvPr>
          <p:cNvSpPr/>
          <p:nvPr/>
        </p:nvSpPr>
        <p:spPr>
          <a:xfrm>
            <a:off x="2096274" y="2731218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FF74D7B7-CCCA-7B97-AC77-2699A436DA94}"/>
              </a:ext>
            </a:extLst>
          </p:cNvPr>
          <p:cNvSpPr/>
          <p:nvPr/>
        </p:nvSpPr>
        <p:spPr>
          <a:xfrm>
            <a:off x="2096274" y="2731218"/>
            <a:ext cx="141274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FBA18520-AA1A-88C3-0497-F8D2DF2A6036}"/>
              </a:ext>
            </a:extLst>
          </p:cNvPr>
          <p:cNvSpPr/>
          <p:nvPr/>
        </p:nvSpPr>
        <p:spPr>
          <a:xfrm>
            <a:off x="2096274" y="273121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2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6E77FFD-EC9B-7EE8-579C-9BA68EDB2447}"/>
              </a:ext>
            </a:extLst>
          </p:cNvPr>
          <p:cNvSpPr/>
          <p:nvPr/>
        </p:nvSpPr>
        <p:spPr>
          <a:xfrm>
            <a:off x="2302351" y="321328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Cleaning</a:t>
            </a: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B0502CE-20E8-7D67-8465-175E5AB2675E}"/>
              </a:ext>
            </a:extLst>
          </p:cNvPr>
          <p:cNvSpPr/>
          <p:nvPr/>
        </p:nvSpPr>
        <p:spPr>
          <a:xfrm>
            <a:off x="2198561" y="3549042"/>
            <a:ext cx="12476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remove HTML,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normalize</a:t>
            </a:r>
            <a:endParaRPr lang="en-US" sz="100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EA53CDF0-4ACF-1786-1A11-17422B5A9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388" y="3752916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61708673-D949-49D3-A6B1-C8B017E26032}"/>
              </a:ext>
            </a:extLst>
          </p:cNvPr>
          <p:cNvSpPr/>
          <p:nvPr/>
        </p:nvSpPr>
        <p:spPr>
          <a:xfrm>
            <a:off x="3723972" y="2719643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222413C-721C-A876-15D1-03B3F87E1785}"/>
              </a:ext>
            </a:extLst>
          </p:cNvPr>
          <p:cNvSpPr/>
          <p:nvPr/>
        </p:nvSpPr>
        <p:spPr>
          <a:xfrm>
            <a:off x="3723972" y="2719644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F76B106-5511-819A-518A-9A8DE451DCBF}"/>
              </a:ext>
            </a:extLst>
          </p:cNvPr>
          <p:cNvSpPr/>
          <p:nvPr/>
        </p:nvSpPr>
        <p:spPr>
          <a:xfrm>
            <a:off x="3723972" y="2719644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3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931C9DA7-315D-7E7D-82B0-DB8C2044B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8894" y="2796878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F6523C8A-5108-4D85-2B92-E945805DF986}"/>
              </a:ext>
            </a:extLst>
          </p:cNvPr>
          <p:cNvSpPr/>
          <p:nvPr/>
        </p:nvSpPr>
        <p:spPr>
          <a:xfrm>
            <a:off x="3805512" y="3367314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Enrichment</a:t>
            </a:r>
            <a:endParaRPr lang="en-US" sz="1050" b="1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(</a:t>
            </a:r>
            <a:r>
              <a:rPr lang="en-US" sz="900" b="1" dirty="0" err="1">
                <a:solidFill>
                  <a:srgbClr val="0D9488"/>
                </a:solidFill>
              </a:rPr>
              <a:t>Feature</a:t>
            </a:r>
            <a:endParaRPr lang="en-US" sz="900" b="1" dirty="0">
              <a:solidFill>
                <a:srgbClr val="0D9488"/>
              </a:solidFill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DE9B7B91-77E1-A9B8-73CF-80EB675DAF84}"/>
              </a:ext>
            </a:extLst>
          </p:cNvPr>
          <p:cNvSpPr/>
          <p:nvPr/>
        </p:nvSpPr>
        <p:spPr>
          <a:xfrm>
            <a:off x="3899419" y="3774087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Add board, component, layer, severity, issue_kind, is_valid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E5469931-A96D-790C-B181-5D501ED55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826" y="3752915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59F1E768-F407-9419-858E-59AC61B68A03}"/>
              </a:ext>
            </a:extLst>
          </p:cNvPr>
          <p:cNvSpPr/>
          <p:nvPr/>
        </p:nvSpPr>
        <p:spPr>
          <a:xfrm>
            <a:off x="5275410" y="271964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E869BAAB-FEBD-28C5-ABFE-EFF7A1664B71}"/>
              </a:ext>
            </a:extLst>
          </p:cNvPr>
          <p:cNvSpPr/>
          <p:nvPr/>
        </p:nvSpPr>
        <p:spPr>
          <a:xfrm>
            <a:off x="5275410" y="2719643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55FFCD7D-BD90-D5D0-522F-94D87DB20857}"/>
              </a:ext>
            </a:extLst>
          </p:cNvPr>
          <p:cNvSpPr/>
          <p:nvPr/>
        </p:nvSpPr>
        <p:spPr>
          <a:xfrm>
            <a:off x="5275410" y="271964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4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03382320-D0C5-A3EE-9F9C-D22EE6B46BE9}"/>
              </a:ext>
            </a:extLst>
          </p:cNvPr>
          <p:cNvSpPr/>
          <p:nvPr/>
        </p:nvSpPr>
        <p:spPr>
          <a:xfrm>
            <a:off x="5461728" y="324316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Similarity</a:t>
            </a:r>
            <a:endParaRPr lang="en-US" sz="105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3509286A-FBA6-FE9C-2E3E-393666DB99D7}"/>
              </a:ext>
            </a:extLst>
          </p:cNvPr>
          <p:cNvSpPr/>
          <p:nvPr/>
        </p:nvSpPr>
        <p:spPr>
          <a:xfrm>
            <a:off x="5477836" y="351760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Link related issues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describing the same bug</a:t>
            </a:r>
            <a:endParaRPr lang="en-US" sz="100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C401AD32-7BBB-8507-4C2F-2DABC776C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229" y="3747854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23275CAD-A655-703D-D565-23BEDAF14822}"/>
              </a:ext>
            </a:extLst>
          </p:cNvPr>
          <p:cNvSpPr/>
          <p:nvPr/>
        </p:nvSpPr>
        <p:spPr>
          <a:xfrm>
            <a:off x="6830813" y="2714582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091FD4BB-CE7E-DC12-FC85-60A4A3CF2165}"/>
              </a:ext>
            </a:extLst>
          </p:cNvPr>
          <p:cNvSpPr/>
          <p:nvPr/>
        </p:nvSpPr>
        <p:spPr>
          <a:xfrm>
            <a:off x="6830813" y="2714582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29BFA05D-CE13-8B2B-3ECF-D4C08D273F4A}"/>
              </a:ext>
            </a:extLst>
          </p:cNvPr>
          <p:cNvSpPr/>
          <p:nvPr/>
        </p:nvSpPr>
        <p:spPr>
          <a:xfrm>
            <a:off x="6830813" y="271458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5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3738A1AC-2ED5-30D6-C54E-8E25EEC08B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3759" y="2811083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5BAA8C84-25B4-7432-E6B3-CFF7E3BCBBD4}"/>
              </a:ext>
            </a:extLst>
          </p:cNvPr>
          <p:cNvSpPr/>
          <p:nvPr/>
        </p:nvSpPr>
        <p:spPr>
          <a:xfrm>
            <a:off x="7024868" y="324546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Chunking</a:t>
            </a:r>
            <a:endParaRPr lang="en-US" sz="105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0F62333C-1099-874C-63C6-3891F7C5D964}"/>
              </a:ext>
            </a:extLst>
          </p:cNvPr>
          <p:cNvSpPr/>
          <p:nvPr/>
        </p:nvSpPr>
        <p:spPr>
          <a:xfrm>
            <a:off x="7013693" y="357065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Split into chunks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 the KB</a:t>
            </a:r>
            <a:endParaRPr lang="en-US" sz="100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4FB185A-2B35-592D-D91F-0FA613BE7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691" y="3747854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CF82D4C1-92B0-0959-363E-8696EA6B0032}"/>
              </a:ext>
            </a:extLst>
          </p:cNvPr>
          <p:cNvSpPr/>
          <p:nvPr/>
        </p:nvSpPr>
        <p:spPr>
          <a:xfrm>
            <a:off x="8420275" y="2714581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E0AAF881-E75C-17C5-E3EA-1A99822D25AB}"/>
              </a:ext>
            </a:extLst>
          </p:cNvPr>
          <p:cNvSpPr/>
          <p:nvPr/>
        </p:nvSpPr>
        <p:spPr>
          <a:xfrm>
            <a:off x="8420275" y="2714582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0C17A3F0-90BA-7969-5BF6-3963B2DA11E2}"/>
              </a:ext>
            </a:extLst>
          </p:cNvPr>
          <p:cNvSpPr/>
          <p:nvPr/>
        </p:nvSpPr>
        <p:spPr>
          <a:xfrm>
            <a:off x="8420275" y="271458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6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852182AE-399F-190F-293E-C3D5FE8465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3433" y="2807569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7EB5A70E-678B-2A0F-5898-9AB27B5D906D}"/>
              </a:ext>
            </a:extLst>
          </p:cNvPr>
          <p:cNvSpPr/>
          <p:nvPr/>
        </p:nvSpPr>
        <p:spPr>
          <a:xfrm>
            <a:off x="8616074" y="32927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dirty="0">
                <a:solidFill>
                  <a:srgbClr val="1B2A3B"/>
                </a:solidFill>
              </a:rPr>
              <a:t>(</a:t>
            </a:r>
            <a:r>
              <a:rPr lang="en-US" sz="900" b="1" dirty="0">
                <a:solidFill>
                  <a:srgbClr val="0D9488"/>
                </a:solidFill>
              </a:rPr>
              <a:t>Benchmark</a:t>
            </a:r>
            <a:r>
              <a:rPr lang="en-US" sz="900" b="1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02D2474B-F742-D0A8-378D-A89F0E845046}"/>
              </a:ext>
            </a:extLst>
          </p:cNvPr>
          <p:cNvSpPr/>
          <p:nvPr/>
        </p:nvSpPr>
        <p:spPr>
          <a:xfrm>
            <a:off x="8633908" y="373704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Test with 50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questions of </a:t>
            </a:r>
            <a:r>
              <a:rPr lang="en-US" sz="1000" dirty="0" err="1">
                <a:solidFill>
                  <a:srgbClr val="64748B"/>
                </a:solidFill>
              </a:rPr>
              <a:t>reference</a:t>
            </a:r>
            <a:endParaRPr lang="en-US" sz="1000" dirty="0">
              <a:solidFill>
                <a:srgbClr val="64748B"/>
              </a:solidFill>
            </a:endParaRPr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C243BCEC-50AE-78A4-4484-96F152D35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275" y="3747854"/>
            <a:ext cx="237744" cy="237744"/>
          </a:xfrm>
          <a:prstGeom prst="rect">
            <a:avLst/>
          </a:prstGeom>
        </p:spPr>
      </p:pic>
      <p:sp>
        <p:nvSpPr>
          <p:cNvPr id="46" name="Shape 35">
            <a:extLst>
              <a:ext uri="{FF2B5EF4-FFF2-40B4-BE49-F238E27FC236}">
                <a16:creationId xmlns:a16="http://schemas.microsoft.com/office/drawing/2014/main" id="{B6AB5052-B88F-6A7E-9EDE-A18F3CC93CD3}"/>
              </a:ext>
            </a:extLst>
          </p:cNvPr>
          <p:cNvSpPr/>
          <p:nvPr/>
        </p:nvSpPr>
        <p:spPr>
          <a:xfrm>
            <a:off x="9967204" y="2710009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49FD1DD7-BAD8-1725-973E-486ADE073B90}"/>
              </a:ext>
            </a:extLst>
          </p:cNvPr>
          <p:cNvSpPr/>
          <p:nvPr/>
        </p:nvSpPr>
        <p:spPr>
          <a:xfrm>
            <a:off x="9967205" y="2710010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F9FE8D32-4685-8014-E6A0-95CE381CECFD}"/>
              </a:ext>
            </a:extLst>
          </p:cNvPr>
          <p:cNvSpPr/>
          <p:nvPr/>
        </p:nvSpPr>
        <p:spPr>
          <a:xfrm>
            <a:off x="9967205" y="271001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7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84230D54-4CF8-9829-27AD-A4CCE37B68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9572" y="2795079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FD2C8677-F933-3733-D15A-437F70DC2B25}"/>
              </a:ext>
            </a:extLst>
          </p:cNvPr>
          <p:cNvSpPr/>
          <p:nvPr/>
        </p:nvSpPr>
        <p:spPr>
          <a:xfrm>
            <a:off x="10038761" y="3438089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B2A3B"/>
                </a:solidFill>
              </a:rPr>
              <a:t>(</a:t>
            </a:r>
            <a:r>
              <a:rPr lang="en-US" sz="800" b="1" dirty="0" err="1">
                <a:solidFill>
                  <a:srgbClr val="0D9488"/>
                </a:solidFill>
              </a:rPr>
              <a:t>resolver</a:t>
            </a:r>
            <a:r>
              <a:rPr lang="en-US" sz="800" b="1" dirty="0">
                <a:solidFill>
                  <a:srgbClr val="0D9488"/>
                </a:solidFill>
              </a:rPr>
              <a:t> cases, diagnostic </a:t>
            </a:r>
            <a:r>
              <a:rPr lang="en-US" sz="800" b="1" dirty="0" err="1">
                <a:solidFill>
                  <a:srgbClr val="0D9488"/>
                </a:solidFill>
              </a:rPr>
              <a:t>cards</a:t>
            </a:r>
            <a:r>
              <a:rPr lang="en-US" sz="800" b="1" dirty="0">
                <a:solidFill>
                  <a:srgbClr val="0D9488"/>
                </a:solidFill>
              </a:rPr>
              <a:t>, exports ST-</a:t>
            </a:r>
            <a:r>
              <a:rPr lang="en-US" sz="800" b="1" dirty="0" err="1">
                <a:solidFill>
                  <a:srgbClr val="0D9488"/>
                </a:solidFill>
              </a:rPr>
              <a:t>ready</a:t>
            </a:r>
            <a:r>
              <a:rPr lang="en-US" sz="800" b="1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b="1" dirty="0">
              <a:solidFill>
                <a:srgbClr val="1B2A3B"/>
              </a:solidFill>
            </a:endParaRPr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D91C2862-01D2-E1E0-D940-AD652B5D9895}"/>
              </a:ext>
            </a:extLst>
          </p:cNvPr>
          <p:cNvSpPr/>
          <p:nvPr/>
        </p:nvSpPr>
        <p:spPr>
          <a:xfrm>
            <a:off x="10156251" y="365992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Deliver JSON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format ST-</a:t>
            </a:r>
            <a:r>
              <a:rPr lang="en-US" sz="1000" dirty="0" err="1">
                <a:solidFill>
                  <a:srgbClr val="64748B"/>
                </a:solidFill>
              </a:rPr>
              <a:t>ready</a:t>
            </a:r>
            <a:endParaRPr lang="en-US" sz="100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4C7A22A4-C5AD-2BD0-9018-0C2C099DCD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67591" y="2747074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46FAB824-1AD7-60D2-F487-F6F48C9D5F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40408" y="2796878"/>
            <a:ext cx="329184" cy="32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874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5E12A-F9BA-61FF-CB19-8D8A9AAC9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A2358-D0C5-CC57-F9C7-15B597527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The Preprocessing </a:t>
            </a:r>
            <a:r>
              <a:rPr lang="en-US" sz="1800" b="1" dirty="0" err="1"/>
              <a:t>Pipeline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4CE485-3056-6351-797C-66B4B9BAA0A3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2B0E75EC-8636-A912-D959-21AFBF598515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A528C98-1DAE-264E-C33D-883A92F47E32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713B2B27-8E99-D178-F191-1B5541ECEA24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CF37452E-B5FA-C5B3-3763-B5FEC666E205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2A63A435-10FE-AF43-100A-423695C3CD1A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1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ACEE8C52-C2BB-68FA-3186-08F1645EF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227B0CD6-5ED6-7B1F-620B-8F3EA09D39EB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Ingestion</a:t>
            </a:r>
            <a:endParaRPr lang="en-US" sz="10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F5A7DFE-FBBA-1572-DD81-928B78DF9BE8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Download raw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from GitHub</a:t>
            </a:r>
            <a:endParaRPr lang="en-US" sz="10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B954908D-3197-34BA-4C01-9ECEF46DF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18DCCA09-B7EF-63D5-D379-ADCC1A20EC52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0EEFE3A9-2895-72E9-BE68-76393E0A1F7B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F72BD14-2867-13A5-1563-E93364A204BC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2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75F4E4C-9A57-7FFE-7B7E-F75AAC300ECB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Cleaning</a:t>
            </a: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B0AF6DF-BDE6-F2E8-BFA3-F2D383F8441E}"/>
              </a:ext>
            </a:extLst>
          </p:cNvPr>
          <p:cNvSpPr/>
          <p:nvPr/>
        </p:nvSpPr>
        <p:spPr>
          <a:xfrm>
            <a:off x="2323688" y="2753574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remove HTML,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normalize</a:t>
            </a:r>
            <a:endParaRPr lang="en-US" sz="100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F0E23D79-1CD9-58C8-77F7-60137D5F1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4EE0673A-C9BC-5BBE-43BD-21B737EC46C0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39818C1D-C140-F6E7-1508-953CD4A82157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AFC64DE-6D17-083C-B881-C9B718EF7B2E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3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D0F2AF5C-E8FE-8050-3BE1-70E54265D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5973E71D-03B7-32DA-B500-9FF5984D6F88}"/>
              </a:ext>
            </a:extLst>
          </p:cNvPr>
          <p:cNvSpPr/>
          <p:nvPr/>
        </p:nvSpPr>
        <p:spPr>
          <a:xfrm>
            <a:off x="4040706" y="24981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 err="1">
                <a:solidFill>
                  <a:srgbClr val="1B2A3B"/>
                </a:solidFill>
              </a:rPr>
              <a:t>Enrichment</a:t>
            </a:r>
            <a:endParaRPr lang="en-US" sz="1050" b="1" dirty="0">
              <a:solidFill>
                <a:srgbClr val="1B2A3B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(</a:t>
            </a:r>
            <a:r>
              <a:rPr lang="en-US" sz="900" b="1" dirty="0" err="1">
                <a:solidFill>
                  <a:srgbClr val="0D9488"/>
                </a:solidFill>
              </a:rPr>
              <a:t>Feature</a:t>
            </a:r>
            <a:endParaRPr lang="en-US" sz="900" b="1" dirty="0">
              <a:solidFill>
                <a:srgbClr val="0D9488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Engineering)</a:t>
            </a:r>
            <a:endParaRPr lang="en-US" sz="1050" b="1" dirty="0">
              <a:solidFill>
                <a:srgbClr val="0D9488"/>
              </a:solidFill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4569C26E-609A-B354-3D91-0D976C588046}"/>
              </a:ext>
            </a:extLst>
          </p:cNvPr>
          <p:cNvSpPr/>
          <p:nvPr/>
        </p:nvSpPr>
        <p:spPr>
          <a:xfrm>
            <a:off x="3917025" y="2908611"/>
            <a:ext cx="1224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Add board, component, layer, severity, issue_kind, is_valid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0B5D4CD5-6248-D857-867E-560711852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E87B638F-1C64-F11A-B483-347EF5EFB84F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9162F2A6-5D12-E1BF-356C-FE36542590C3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4674820A-3D6E-60D4-354F-43894413029F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4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7E626801-33AA-8753-2981-71F6AEC0A992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Similarity</a:t>
            </a:r>
            <a:endParaRPr lang="en-US" sz="105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22A63B98-28C1-19A9-12F6-4B96BE79A1D9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Link related issues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describing the same bug</a:t>
            </a:r>
            <a:endParaRPr lang="en-US" sz="100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5094F9A5-C76C-EE94-4D62-D9802C009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121CDD38-440E-8701-66EA-1FFADCE494E3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14D125D7-9EC0-6542-EAA7-25DB5774E239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AD03A822-7443-9ECC-3BAD-37A9AB641B99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5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1FD6FE0F-B751-92A1-52D8-7FEC67FAA1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9B42713E-BF4D-1A62-76EB-C86ACE68BCE0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Chunking</a:t>
            </a:r>
            <a:endParaRPr lang="en-US" sz="105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AFC5E348-A457-0F4B-F19B-DF1E7255740C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Split into chunks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 the KB</a:t>
            </a:r>
            <a:endParaRPr lang="en-US" sz="100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6FFF114-9A68-72FD-1974-F1D4A4A32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EFA3E3D2-AB25-EF10-01D9-267B00762536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28207811-0B16-770C-AE90-787E3D763F76}"/>
              </a:ext>
            </a:extLst>
          </p:cNvPr>
          <p:cNvSpPr/>
          <p:nvPr/>
        </p:nvSpPr>
        <p:spPr>
          <a:xfrm>
            <a:off x="8483097" y="1875339"/>
            <a:ext cx="1380744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05549798-0E0C-3C6C-A868-EB5528E4AA09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6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0047C635-110A-9F1C-0FD5-C91026D2A8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6D2DA3A5-D047-37BB-59C6-71FA567DA714}"/>
              </a:ext>
            </a:extLst>
          </p:cNvPr>
          <p:cNvSpPr/>
          <p:nvPr/>
        </p:nvSpPr>
        <p:spPr>
          <a:xfrm>
            <a:off x="8693671" y="24296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dirty="0">
                <a:solidFill>
                  <a:srgbClr val="1B2A3B"/>
                </a:solidFill>
              </a:rPr>
              <a:t>(</a:t>
            </a:r>
            <a:r>
              <a:rPr lang="en-US" sz="900" b="1" dirty="0">
                <a:solidFill>
                  <a:srgbClr val="0D9488"/>
                </a:solidFill>
              </a:rPr>
              <a:t>Benchmark</a:t>
            </a:r>
            <a:r>
              <a:rPr lang="en-US" sz="900" b="1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C886831E-607E-198C-5C99-29B393996022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Test with 50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reference questions</a:t>
            </a:r>
            <a:endParaRPr lang="en-US" sz="100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B9547A3C-C43A-4166-F5EB-6A1BD50FD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47DC8D14-3191-5673-8F21-DBCCD1DD6E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424CF2F6-CEFF-0876-E0CE-AEA55E96BA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sp>
        <p:nvSpPr>
          <p:cNvPr id="3" name="Shape 40">
            <a:extLst>
              <a:ext uri="{FF2B5EF4-FFF2-40B4-BE49-F238E27FC236}">
                <a16:creationId xmlns:a16="http://schemas.microsoft.com/office/drawing/2014/main" id="{FF9BDF20-0565-BAC5-3586-0A267DC7B08F}"/>
              </a:ext>
            </a:extLst>
          </p:cNvPr>
          <p:cNvSpPr/>
          <p:nvPr/>
        </p:nvSpPr>
        <p:spPr>
          <a:xfrm>
            <a:off x="4735651" y="4273638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039511B3-BBF5-AC21-F3F0-87156AFC17BE}"/>
              </a:ext>
            </a:extLst>
          </p:cNvPr>
          <p:cNvSpPr/>
          <p:nvPr/>
        </p:nvSpPr>
        <p:spPr>
          <a:xfrm>
            <a:off x="4735651" y="4273638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AE3B3593-11FB-AC5B-B31A-99A54CA80621}"/>
              </a:ext>
            </a:extLst>
          </p:cNvPr>
          <p:cNvSpPr/>
          <p:nvPr/>
        </p:nvSpPr>
        <p:spPr>
          <a:xfrm>
            <a:off x="4936819" y="436507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❓ What does </a:t>
            </a:r>
            <a:r>
              <a:rPr lang="en-US" sz="1050" b="1" dirty="0" err="1">
                <a:solidFill>
                  <a:srgbClr val="0D9488"/>
                </a:solidFill>
              </a:rPr>
              <a:t>Cleaning</a:t>
            </a:r>
            <a:r>
              <a:rPr lang="en-US" sz="1050" b="1" dirty="0">
                <a:solidFill>
                  <a:srgbClr val="0D9488"/>
                </a:solidFill>
              </a:rPr>
              <a:t> do?</a:t>
            </a:r>
            <a:endParaRPr lang="en-US" sz="105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60212E92-6ABB-DF91-B6C5-D555A1E72908}"/>
              </a:ext>
            </a:extLst>
          </p:cNvPr>
          <p:cNvSpPr/>
          <p:nvPr/>
        </p:nvSpPr>
        <p:spPr>
          <a:xfrm>
            <a:off x="4936819" y="4657686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</a:rPr>
              <a:t>Raw data contains broken HTML, unreadable illisibles, des blocs of code non structurés. Le </a:t>
            </a:r>
            <a:r>
              <a:rPr lang="en-US" sz="1000" dirty="0" err="1">
                <a:solidFill>
                  <a:srgbClr val="1B2A3B"/>
                </a:solidFill>
              </a:rPr>
              <a:t>cleaning</a:t>
            </a:r>
            <a:r>
              <a:rPr lang="en-US" sz="1000" dirty="0">
                <a:solidFill>
                  <a:srgbClr val="1B2A3B"/>
                </a:solidFill>
              </a:rPr>
              <a:t> transforms them into clean, usable te and exploitable.</a:t>
            </a:r>
            <a:endParaRPr lang="en-US" sz="1000" dirty="0"/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1C05DBA0-45BA-2EE0-05EA-3D2009C53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V="1">
            <a:off x="2865469" y="4254656"/>
            <a:ext cx="1481109" cy="1481109"/>
          </a:xfrm>
          <a:prstGeom prst="rect">
            <a:avLst/>
          </a:prstGeom>
        </p:spPr>
      </p:pic>
      <p:sp>
        <p:nvSpPr>
          <p:cNvPr id="64" name="Shape 35">
            <a:extLst>
              <a:ext uri="{FF2B5EF4-FFF2-40B4-BE49-F238E27FC236}">
                <a16:creationId xmlns:a16="http://schemas.microsoft.com/office/drawing/2014/main" id="{8F73E210-07CA-B2ED-BA57-3DC127D58E21}"/>
              </a:ext>
            </a:extLst>
          </p:cNvPr>
          <p:cNvSpPr/>
          <p:nvPr/>
        </p:nvSpPr>
        <p:spPr>
          <a:xfrm>
            <a:off x="10025245" y="1857251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5" name="Shape 36">
            <a:extLst>
              <a:ext uri="{FF2B5EF4-FFF2-40B4-BE49-F238E27FC236}">
                <a16:creationId xmlns:a16="http://schemas.microsoft.com/office/drawing/2014/main" id="{897CB8B8-BFBE-49A1-FCB4-EDE183B975F1}"/>
              </a:ext>
            </a:extLst>
          </p:cNvPr>
          <p:cNvSpPr/>
          <p:nvPr/>
        </p:nvSpPr>
        <p:spPr>
          <a:xfrm>
            <a:off x="10025246" y="1857252"/>
            <a:ext cx="136788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6" name="Text 37">
            <a:extLst>
              <a:ext uri="{FF2B5EF4-FFF2-40B4-BE49-F238E27FC236}">
                <a16:creationId xmlns:a16="http://schemas.microsoft.com/office/drawing/2014/main" id="{5879B2A2-161F-F015-1979-3119CCEC67A7}"/>
              </a:ext>
            </a:extLst>
          </p:cNvPr>
          <p:cNvSpPr/>
          <p:nvPr/>
        </p:nvSpPr>
        <p:spPr>
          <a:xfrm>
            <a:off x="10025246" y="185725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7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67" name="Image 12" descr="preencoded.png">
            <a:extLst>
              <a:ext uri="{FF2B5EF4-FFF2-40B4-BE49-F238E27FC236}">
                <a16:creationId xmlns:a16="http://schemas.microsoft.com/office/drawing/2014/main" id="{CE8E4C87-D47B-77CE-EC2F-0083E9F2EC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07613" y="1942321"/>
            <a:ext cx="288037" cy="288037"/>
          </a:xfrm>
          <a:prstGeom prst="rect">
            <a:avLst/>
          </a:prstGeom>
        </p:spPr>
      </p:pic>
      <p:sp>
        <p:nvSpPr>
          <p:cNvPr id="68" name="Text 38">
            <a:extLst>
              <a:ext uri="{FF2B5EF4-FFF2-40B4-BE49-F238E27FC236}">
                <a16:creationId xmlns:a16="http://schemas.microsoft.com/office/drawing/2014/main" id="{B359A444-A36E-CE3C-3425-4F7675F2320B}"/>
              </a:ext>
            </a:extLst>
          </p:cNvPr>
          <p:cNvSpPr/>
          <p:nvPr/>
        </p:nvSpPr>
        <p:spPr>
          <a:xfrm>
            <a:off x="10073625" y="2573299"/>
            <a:ext cx="12711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B2A3B"/>
                </a:solidFill>
              </a:rPr>
              <a:t>(</a:t>
            </a:r>
            <a:r>
              <a:rPr lang="en-US" sz="800" b="1" dirty="0" err="1">
                <a:solidFill>
                  <a:srgbClr val="0D9488"/>
                </a:solidFill>
              </a:rPr>
              <a:t>resolver</a:t>
            </a:r>
            <a:r>
              <a:rPr lang="en-US" sz="800" b="1" dirty="0">
                <a:solidFill>
                  <a:srgbClr val="0D9488"/>
                </a:solidFill>
              </a:rPr>
              <a:t> cases, diagnostic </a:t>
            </a:r>
            <a:r>
              <a:rPr lang="en-US" sz="800" b="1" dirty="0" err="1">
                <a:solidFill>
                  <a:srgbClr val="0D9488"/>
                </a:solidFill>
              </a:rPr>
              <a:t>cards</a:t>
            </a:r>
            <a:r>
              <a:rPr lang="en-US" sz="800" b="1" dirty="0">
                <a:solidFill>
                  <a:srgbClr val="0D9488"/>
                </a:solidFill>
              </a:rPr>
              <a:t>, exports ST-</a:t>
            </a:r>
            <a:r>
              <a:rPr lang="en-US" sz="800" b="1" dirty="0" err="1">
                <a:solidFill>
                  <a:srgbClr val="0D9488"/>
                </a:solidFill>
              </a:rPr>
              <a:t>ready</a:t>
            </a:r>
            <a:r>
              <a:rPr lang="en-US" sz="800" b="1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b="1" dirty="0">
              <a:solidFill>
                <a:srgbClr val="1B2A3B"/>
              </a:solidFill>
            </a:endParaRPr>
          </a:p>
        </p:txBody>
      </p:sp>
      <p:sp>
        <p:nvSpPr>
          <p:cNvPr id="69" name="Text 39">
            <a:extLst>
              <a:ext uri="{FF2B5EF4-FFF2-40B4-BE49-F238E27FC236}">
                <a16:creationId xmlns:a16="http://schemas.microsoft.com/office/drawing/2014/main" id="{D085E894-F08C-D38E-7BE2-205084FDCD2D}"/>
              </a:ext>
            </a:extLst>
          </p:cNvPr>
          <p:cNvSpPr/>
          <p:nvPr/>
        </p:nvSpPr>
        <p:spPr>
          <a:xfrm>
            <a:off x="10214292" y="280716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Deliver JSON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format ST-</a:t>
            </a:r>
            <a:r>
              <a:rPr lang="en-US" sz="1000" dirty="0" err="1">
                <a:solidFill>
                  <a:srgbClr val="64748B"/>
                </a:solidFill>
              </a:rPr>
              <a:t>ready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97854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73D9-3C18-18B8-2EB8-3F9DD593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EC259-CEA9-2423-B09B-09BFC81EC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Pipeline: </a:t>
            </a:r>
            <a:r>
              <a:rPr lang="en-US" sz="1800" b="1" dirty="0" err="1"/>
              <a:t>cleaning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C9B399-CB9E-BF7E-0B6D-29A1AAC82D23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425A78"/>
                </a:solidFill>
              </a:rPr>
              <a:t>Cleaning</a:t>
            </a:r>
            <a:r>
              <a:rPr lang="en-US" sz="1200" b="1" dirty="0">
                <a:solidFill>
                  <a:srgbClr val="425A78"/>
                </a:solidFill>
              </a:rPr>
              <a:t> — Why clean the data?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BEB036A-AC8E-99B5-C4A6-29BAA92F591D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Raw data = imprecise answers </a:t>
            </a:r>
            <a:r>
              <a:rPr lang="en-US" sz="1200" b="1" i="1" dirty="0">
                <a:solidFill>
                  <a:srgbClr val="64748B"/>
                </a:solidFill>
              </a:rPr>
              <a:t>=&gt;</a:t>
            </a:r>
            <a:r>
              <a:rPr lang="en-US" sz="1200" i="1" dirty="0">
                <a:solidFill>
                  <a:srgbClr val="64748B"/>
                </a:solidFill>
              </a:rPr>
              <a:t> Clean data = useful answers.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58A49ACB-73BF-7CAD-497C-40E2DD4690F4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06DA3E94-243D-FFCC-BDE9-17C3C363409E}"/>
              </a:ext>
            </a:extLst>
          </p:cNvPr>
          <p:cNvSpPr/>
          <p:nvPr/>
        </p:nvSpPr>
        <p:spPr>
          <a:xfrm>
            <a:off x="1161498" y="2065566"/>
            <a:ext cx="4069080" cy="36576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35711FE0-F871-D801-9659-54A9D2F5EAA1}"/>
              </a:ext>
            </a:extLst>
          </p:cNvPr>
          <p:cNvSpPr/>
          <p:nvPr/>
        </p:nvSpPr>
        <p:spPr>
          <a:xfrm>
            <a:off x="1161498" y="206556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Raw data (before)</a:t>
            </a:r>
            <a:endParaRPr lang="en-US" sz="120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9A632077-D24D-13F3-C4C6-B2506DD34511}"/>
              </a:ext>
            </a:extLst>
          </p:cNvPr>
          <p:cNvSpPr/>
          <p:nvPr/>
        </p:nvSpPr>
        <p:spPr>
          <a:xfrm>
            <a:off x="1161498" y="2431326"/>
            <a:ext cx="4069080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9172198A-E8D9-F851-4D58-CE508E50C694}"/>
              </a:ext>
            </a:extLst>
          </p:cNvPr>
          <p:cNvSpPr/>
          <p:nvPr/>
        </p:nvSpPr>
        <p:spPr>
          <a:xfrm>
            <a:off x="1298658" y="2504478"/>
            <a:ext cx="3794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class="issue"&gt;The &lt;b&gt;</a:t>
            </a:r>
            <a:r>
              <a:rPr lang="en-US" sz="9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HAL_DMA_Init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&lt;/b&gt; crashes </a:t>
            </a:r>
            <a:r>
              <a:rPr lang="en-US" sz="9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...&lt;</a:t>
            </a:r>
            <a:r>
              <a:rPr lang="en-US" sz="9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src="/assets/diag.png"/&gt;&lt;</a:t>
            </a:r>
            <a:r>
              <a:rPr lang="en-US" sz="9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/&gt;&amp;</a:t>
            </a:r>
            <a:r>
              <a:rPr lang="en-US" sz="9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nbsp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;&amp;</a:t>
            </a:r>
            <a:r>
              <a:rPr lang="en-US" sz="9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nbsp;See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&lt;a href="..."&gt;PR#142&lt;/a&gt; and commit &lt;code&gt;3f2a1b&lt;/code&gt;&lt;/p&gt;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[IMAGE: configuration </a:t>
            </a:r>
            <a:r>
              <a:rPr lang="en-US" sz="9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diagram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auto-</a:t>
            </a:r>
            <a:r>
              <a:rPr lang="en-US" sz="9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comment --&gt;</a:t>
            </a:r>
            <a:endParaRPr lang="en-US" sz="900" dirty="0"/>
          </a:p>
        </p:txBody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5D96967A-3E8F-CEAF-32D2-791DDC167239}"/>
              </a:ext>
            </a:extLst>
          </p:cNvPr>
          <p:cNvSpPr/>
          <p:nvPr/>
        </p:nvSpPr>
        <p:spPr>
          <a:xfrm>
            <a:off x="1161498" y="4077246"/>
            <a:ext cx="40690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E432E17C-1FC0-83BE-6A2E-135A5726DD39}"/>
              </a:ext>
            </a:extLst>
          </p:cNvPr>
          <p:cNvSpPr/>
          <p:nvPr/>
        </p:nvSpPr>
        <p:spPr>
          <a:xfrm>
            <a:off x="1298658" y="413211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Issues:</a:t>
            </a:r>
            <a:endParaRPr lang="en-US" sz="1000" dirty="0"/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B023467C-5A4E-E65E-EEA0-A35E92B36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58" y="4424718"/>
            <a:ext cx="219456" cy="219456"/>
          </a:xfrm>
          <a:prstGeom prst="rect">
            <a:avLst/>
          </a:prstGeom>
        </p:spPr>
      </p:pic>
      <p:sp>
        <p:nvSpPr>
          <p:cNvPr id="60" name="Text 11">
            <a:extLst>
              <a:ext uri="{FF2B5EF4-FFF2-40B4-BE49-F238E27FC236}">
                <a16:creationId xmlns:a16="http://schemas.microsoft.com/office/drawing/2014/main" id="{FD1A298A-2AFC-FED5-8BB2-FE29C150AE8B}"/>
              </a:ext>
            </a:extLst>
          </p:cNvPr>
          <p:cNvSpPr/>
          <p:nvPr/>
        </p:nvSpPr>
        <p:spPr>
          <a:xfrm>
            <a:off x="1582122" y="4443006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HTML tags unreadable by AI</a:t>
            </a:r>
            <a:endParaRPr lang="en-US" sz="1050" dirty="0"/>
          </a:p>
        </p:txBody>
      </p:sp>
      <p:pic>
        <p:nvPicPr>
          <p:cNvPr id="65" name="Image 1" descr="preencoded.png">
            <a:extLst>
              <a:ext uri="{FF2B5EF4-FFF2-40B4-BE49-F238E27FC236}">
                <a16:creationId xmlns:a16="http://schemas.microsoft.com/office/drawing/2014/main" id="{B92B7FDC-2C3D-9FC9-4AB1-88588F5A0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58" y="4772190"/>
            <a:ext cx="219456" cy="219456"/>
          </a:xfrm>
          <a:prstGeom prst="rect">
            <a:avLst/>
          </a:prstGeom>
        </p:spPr>
      </p:pic>
      <p:sp>
        <p:nvSpPr>
          <p:cNvPr id="66" name="Text 12">
            <a:extLst>
              <a:ext uri="{FF2B5EF4-FFF2-40B4-BE49-F238E27FC236}">
                <a16:creationId xmlns:a16="http://schemas.microsoft.com/office/drawing/2014/main" id="{23658F16-94A8-6A41-473F-7628B787D9CB}"/>
              </a:ext>
            </a:extLst>
          </p:cNvPr>
          <p:cNvSpPr/>
          <p:nvPr/>
        </p:nvSpPr>
        <p:spPr>
          <a:xfrm>
            <a:off x="1582122" y="4790478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Image content lost (no text)</a:t>
            </a:r>
            <a:endParaRPr lang="en-US" sz="1050" dirty="0"/>
          </a:p>
        </p:txBody>
      </p:sp>
      <p:pic>
        <p:nvPicPr>
          <p:cNvPr id="67" name="Image 2" descr="preencoded.png">
            <a:extLst>
              <a:ext uri="{FF2B5EF4-FFF2-40B4-BE49-F238E27FC236}">
                <a16:creationId xmlns:a16="http://schemas.microsoft.com/office/drawing/2014/main" id="{7CD80763-80D1-7FA3-F62D-D53699744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58" y="5119662"/>
            <a:ext cx="219456" cy="219456"/>
          </a:xfrm>
          <a:prstGeom prst="rect">
            <a:avLst/>
          </a:prstGeom>
        </p:spPr>
      </p:pic>
      <p:sp>
        <p:nvSpPr>
          <p:cNvPr id="68" name="Text 13">
            <a:extLst>
              <a:ext uri="{FF2B5EF4-FFF2-40B4-BE49-F238E27FC236}">
                <a16:creationId xmlns:a16="http://schemas.microsoft.com/office/drawing/2014/main" id="{4E5E3D8B-3FF1-E9BE-1FD8-395A181D13FD}"/>
              </a:ext>
            </a:extLst>
          </p:cNvPr>
          <p:cNvSpPr/>
          <p:nvPr/>
        </p:nvSpPr>
        <p:spPr>
          <a:xfrm>
            <a:off x="1582122" y="513795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Noise from auto-generated comments</a:t>
            </a:r>
            <a:endParaRPr lang="en-US" sz="1050" dirty="0"/>
          </a:p>
        </p:txBody>
      </p:sp>
      <p:sp>
        <p:nvSpPr>
          <p:cNvPr id="70" name="Shape 14">
            <a:extLst>
              <a:ext uri="{FF2B5EF4-FFF2-40B4-BE49-F238E27FC236}">
                <a16:creationId xmlns:a16="http://schemas.microsoft.com/office/drawing/2014/main" id="{826EA3AD-FC96-8FA4-5F02-78511B5EEFB3}"/>
              </a:ext>
            </a:extLst>
          </p:cNvPr>
          <p:cNvSpPr/>
          <p:nvPr/>
        </p:nvSpPr>
        <p:spPr>
          <a:xfrm>
            <a:off x="6768603" y="2065566"/>
            <a:ext cx="3703320" cy="365760"/>
          </a:xfrm>
          <a:prstGeom prst="rect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6A5E1406-6721-4E0D-F694-614B13AB596A}"/>
              </a:ext>
            </a:extLst>
          </p:cNvPr>
          <p:cNvSpPr/>
          <p:nvPr/>
        </p:nvSpPr>
        <p:spPr>
          <a:xfrm>
            <a:off x="6768603" y="206556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Cleaned data (after)</a:t>
            </a:r>
            <a:endParaRPr lang="en-US" sz="1200" dirty="0"/>
          </a:p>
        </p:txBody>
      </p:sp>
      <p:sp>
        <p:nvSpPr>
          <p:cNvPr id="72" name="Shape 16">
            <a:extLst>
              <a:ext uri="{FF2B5EF4-FFF2-40B4-BE49-F238E27FC236}">
                <a16:creationId xmlns:a16="http://schemas.microsoft.com/office/drawing/2014/main" id="{D66CF4E2-4FFE-5B01-B5C1-EE09D29AB826}"/>
              </a:ext>
            </a:extLst>
          </p:cNvPr>
          <p:cNvSpPr/>
          <p:nvPr/>
        </p:nvSpPr>
        <p:spPr>
          <a:xfrm>
            <a:off x="6768603" y="2431326"/>
            <a:ext cx="3703320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31D5AB1B-74B0-5C6A-F308-5F21DF534C4F}"/>
              </a:ext>
            </a:extLst>
          </p:cNvPr>
          <p:cNvSpPr/>
          <p:nvPr/>
        </p:nvSpPr>
        <p:spPr>
          <a:xfrm>
            <a:off x="6905763" y="2504478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B2A3B"/>
                </a:solidFill>
              </a:rPr>
              <a:t>HAL_DMA_Init</a:t>
            </a:r>
            <a:r>
              <a:rPr lang="en-US" sz="950" dirty="0">
                <a:solidFill>
                  <a:srgbClr val="1B2A3B"/>
                </a:solidFill>
              </a:rPr>
              <a:t> crashes </a:t>
            </a:r>
            <a:r>
              <a:rPr lang="en-US" sz="950" dirty="0" err="1">
                <a:solidFill>
                  <a:srgbClr val="1B2A3B"/>
                </a:solidFill>
              </a:rPr>
              <a:t>when</a:t>
            </a:r>
            <a:r>
              <a:rPr lang="en-US" sz="950" dirty="0">
                <a:solidFill>
                  <a:srgbClr val="1B2A3B"/>
                </a:solidFill>
              </a:rPr>
              <a:t> </a:t>
            </a:r>
            <a:r>
              <a:rPr lang="en-US" sz="950" dirty="0" err="1">
                <a:solidFill>
                  <a:srgbClr val="1B2A3B"/>
                </a:solidFill>
              </a:rPr>
              <a:t>circular</a:t>
            </a:r>
            <a:r>
              <a:rPr lang="en-US" sz="950" dirty="0">
                <a:solidFill>
                  <a:srgbClr val="1B2A3B"/>
                </a:solidFill>
              </a:rPr>
              <a:t> mode </a:t>
            </a:r>
            <a:r>
              <a:rPr lang="en-US" sz="950" dirty="0" err="1">
                <a:solidFill>
                  <a:srgbClr val="1B2A3B"/>
                </a:solidFill>
              </a:rPr>
              <a:t>is</a:t>
            </a:r>
            <a:r>
              <a:rPr lang="en-US" sz="950" dirty="0">
                <a:solidFill>
                  <a:srgbClr val="1B2A3B"/>
                </a:solidFill>
              </a:rPr>
              <a:t> active. Image: [IMAGE: configuration </a:t>
            </a:r>
            <a:r>
              <a:rPr lang="en-US" sz="950" dirty="0" err="1">
                <a:solidFill>
                  <a:srgbClr val="1B2A3B"/>
                </a:solidFill>
              </a:rPr>
              <a:t>diagram</a:t>
            </a:r>
            <a:r>
              <a:rPr lang="en-US" sz="950" dirty="0">
                <a:solidFill>
                  <a:srgbClr val="1B2A3B"/>
                </a:solidFill>
              </a:rPr>
              <a:t> </a:t>
            </a:r>
            <a:r>
              <a:rPr lang="en-US" sz="950" dirty="0" err="1">
                <a:solidFill>
                  <a:srgbClr val="1B2A3B"/>
                </a:solidFill>
              </a:rPr>
              <a:t>showing</a:t>
            </a:r>
            <a:r>
              <a:rPr lang="en-US" sz="950" dirty="0">
                <a:solidFill>
                  <a:srgbClr val="1B2A3B"/>
                </a:solidFill>
              </a:rPr>
              <a:t> DMA channels]. </a:t>
            </a:r>
            <a:r>
              <a:rPr lang="en-US" sz="950" dirty="0" err="1">
                <a:solidFill>
                  <a:srgbClr val="1B2A3B"/>
                </a:solidFill>
              </a:rPr>
              <a:t>See</a:t>
            </a:r>
            <a:r>
              <a:rPr lang="en-US" sz="950" dirty="0">
                <a:solidFill>
                  <a:srgbClr val="1B2A3B"/>
                </a:solidFill>
              </a:rPr>
              <a:t> PR#142 and commit 3f2a1b for fix.</a:t>
            </a:r>
            <a:endParaRPr lang="en-US" sz="950" dirty="0"/>
          </a:p>
        </p:txBody>
      </p:sp>
      <p:sp>
        <p:nvSpPr>
          <p:cNvPr id="74" name="Shape 18">
            <a:extLst>
              <a:ext uri="{FF2B5EF4-FFF2-40B4-BE49-F238E27FC236}">
                <a16:creationId xmlns:a16="http://schemas.microsoft.com/office/drawing/2014/main" id="{BAF4297E-CDCD-F4FA-47B8-1F36B190838D}"/>
              </a:ext>
            </a:extLst>
          </p:cNvPr>
          <p:cNvSpPr/>
          <p:nvPr/>
        </p:nvSpPr>
        <p:spPr>
          <a:xfrm>
            <a:off x="6768603" y="4077246"/>
            <a:ext cx="370332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0AC05493-42CE-6F91-D2AF-A21373A9626D}"/>
              </a:ext>
            </a:extLst>
          </p:cNvPr>
          <p:cNvSpPr/>
          <p:nvPr/>
        </p:nvSpPr>
        <p:spPr>
          <a:xfrm>
            <a:off x="6905763" y="413211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Improvements:</a:t>
            </a:r>
            <a:endParaRPr lang="en-US" sz="1000" dirty="0">
              <a:solidFill>
                <a:srgbClr val="0D9488"/>
              </a:solidFill>
            </a:endParaRPr>
          </a:p>
        </p:txBody>
      </p:sp>
      <p:pic>
        <p:nvPicPr>
          <p:cNvPr id="76" name="Image 4" descr="preencoded.png">
            <a:extLst>
              <a:ext uri="{FF2B5EF4-FFF2-40B4-BE49-F238E27FC236}">
                <a16:creationId xmlns:a16="http://schemas.microsoft.com/office/drawing/2014/main" id="{26724DFE-ACA2-3D30-E6E2-53D7BCDA8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763" y="4424718"/>
            <a:ext cx="219456" cy="219456"/>
          </a:xfrm>
          <a:prstGeom prst="rect">
            <a:avLst/>
          </a:prstGeom>
        </p:spPr>
      </p:pic>
      <p:sp>
        <p:nvSpPr>
          <p:cNvPr id="77" name="Text 20">
            <a:extLst>
              <a:ext uri="{FF2B5EF4-FFF2-40B4-BE49-F238E27FC236}">
                <a16:creationId xmlns:a16="http://schemas.microsoft.com/office/drawing/2014/main" id="{EA1990E2-9FE0-0B18-50CF-F70EC4430448}"/>
              </a:ext>
            </a:extLst>
          </p:cNvPr>
          <p:cNvSpPr/>
          <p:nvPr/>
        </p:nvSpPr>
        <p:spPr>
          <a:xfrm>
            <a:off x="7198371" y="444300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HTML stripped, pure text</a:t>
            </a:r>
            <a:endParaRPr lang="en-US" sz="1050" dirty="0"/>
          </a:p>
        </p:txBody>
      </p:sp>
      <p:pic>
        <p:nvPicPr>
          <p:cNvPr id="78" name="Image 5" descr="preencoded.png">
            <a:extLst>
              <a:ext uri="{FF2B5EF4-FFF2-40B4-BE49-F238E27FC236}">
                <a16:creationId xmlns:a16="http://schemas.microsoft.com/office/drawing/2014/main" id="{7C439CA3-1EBF-3DD2-41B2-4DA144B09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763" y="4772190"/>
            <a:ext cx="219456" cy="219456"/>
          </a:xfrm>
          <a:prstGeom prst="rect">
            <a:avLst/>
          </a:prstGeom>
        </p:spPr>
      </p:pic>
      <p:sp>
        <p:nvSpPr>
          <p:cNvPr id="79" name="Text 21">
            <a:extLst>
              <a:ext uri="{FF2B5EF4-FFF2-40B4-BE49-F238E27FC236}">
                <a16:creationId xmlns:a16="http://schemas.microsoft.com/office/drawing/2014/main" id="{871F7A66-5589-1E1B-C52B-A8A2E6062ED5}"/>
              </a:ext>
            </a:extLst>
          </p:cNvPr>
          <p:cNvSpPr/>
          <p:nvPr/>
        </p:nvSpPr>
        <p:spPr>
          <a:xfrm>
            <a:off x="7198371" y="479047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Images replaced by [IMAGE] tag + description</a:t>
            </a:r>
            <a:endParaRPr lang="en-US" sz="1050" dirty="0"/>
          </a:p>
        </p:txBody>
      </p:sp>
      <p:pic>
        <p:nvPicPr>
          <p:cNvPr id="80" name="Image 6" descr="preencoded.png">
            <a:extLst>
              <a:ext uri="{FF2B5EF4-FFF2-40B4-BE49-F238E27FC236}">
                <a16:creationId xmlns:a16="http://schemas.microsoft.com/office/drawing/2014/main" id="{1EBC6D3D-B1E3-AAF3-458D-A6258062B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763" y="5119662"/>
            <a:ext cx="219456" cy="219456"/>
          </a:xfrm>
          <a:prstGeom prst="rect">
            <a:avLst/>
          </a:prstGeom>
        </p:spPr>
      </p:pic>
      <p:sp>
        <p:nvSpPr>
          <p:cNvPr id="82" name="Text 22">
            <a:extLst>
              <a:ext uri="{FF2B5EF4-FFF2-40B4-BE49-F238E27FC236}">
                <a16:creationId xmlns:a16="http://schemas.microsoft.com/office/drawing/2014/main" id="{B9DA06CD-FB39-0204-2820-EB0AED95C2C9}"/>
              </a:ext>
            </a:extLst>
          </p:cNvPr>
          <p:cNvSpPr/>
          <p:nvPr/>
        </p:nvSpPr>
        <p:spPr>
          <a:xfrm>
            <a:off x="7198371" y="513795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Body + useful comments concatenated</a:t>
            </a:r>
            <a:endParaRPr lang="en-US" sz="1050" dirty="0"/>
          </a:p>
        </p:txBody>
      </p:sp>
      <p:pic>
        <p:nvPicPr>
          <p:cNvPr id="83" name="Graphic 82" descr="Arrow Right with solid fill">
            <a:extLst>
              <a:ext uri="{FF2B5EF4-FFF2-40B4-BE49-F238E27FC236}">
                <a16:creationId xmlns:a16="http://schemas.microsoft.com/office/drawing/2014/main" id="{0CC837DD-068F-414D-A890-5E7F08ED87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83823" y="3861478"/>
            <a:ext cx="431535" cy="43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26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EF44C-70F5-24C2-6A6D-376E5BF2A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E932-744D-9B78-2888-A0C8508D9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The Preprocessing </a:t>
            </a:r>
            <a:r>
              <a:rPr lang="en-US" sz="1800" b="1" dirty="0" err="1"/>
              <a:t>Pipeline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B2DB14-9C85-A8F9-8A61-F34254B26DD7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ADE89724-5BA8-720C-CE72-5C919BCF41AF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96E2ADA-249F-3220-3194-1E69A65678F9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854D701E-99E0-74E2-8284-9CC86E07C435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8C276C68-4633-FA87-49DB-E36978E2638E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0A4572F9-108B-AFBA-723C-A360C56B91A2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1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A6C63D7C-1D46-5DA1-38D4-5C301C2DA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ABD08F93-64B8-33D7-3663-534FB2B666AB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Ingestion</a:t>
            </a:r>
            <a:endParaRPr lang="en-US" sz="10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D9096D3C-CC29-21B3-8320-F7381595C302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Download raw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from GitHub</a:t>
            </a:r>
            <a:endParaRPr lang="en-US" sz="10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AA9E8408-209B-AD2E-2426-25A38EC30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BC803253-0556-6D57-D95B-58EE18CAB82B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FCAD6107-1B5A-1E9D-8D25-D64C1EE3B0AB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1CEB0C0-3D4F-3594-49C4-88BBD272F7AE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2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E7042C5-6073-E657-5FDB-49FEE7D88A92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Cleaning</a:t>
            </a: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56E4D6A-45E9-1A34-DB9E-94723B4CFED2}"/>
              </a:ext>
            </a:extLst>
          </p:cNvPr>
          <p:cNvSpPr/>
          <p:nvPr/>
        </p:nvSpPr>
        <p:spPr>
          <a:xfrm>
            <a:off x="2323688" y="2753574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remove HTML,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normalize</a:t>
            </a:r>
            <a:endParaRPr lang="en-US" sz="100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743DD4E5-97E8-DA5F-8BAC-216B07EED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759ED26F-6D31-4944-712C-B483BE172003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9D1DD5B-6143-553E-C987-5F09057F6A95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38F821A3-1A08-04D3-A5DE-CDC3760400B8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3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CB41D47B-65A4-C1C8-2397-BFEBEBAA46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CA918641-3B46-511A-EBBD-D5D5596D4D9C}"/>
              </a:ext>
            </a:extLst>
          </p:cNvPr>
          <p:cNvSpPr/>
          <p:nvPr/>
        </p:nvSpPr>
        <p:spPr>
          <a:xfrm>
            <a:off x="4040706" y="24981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 err="1">
                <a:solidFill>
                  <a:srgbClr val="1B2A3B"/>
                </a:solidFill>
              </a:rPr>
              <a:t>Enrichment</a:t>
            </a:r>
            <a:endParaRPr lang="en-US" sz="1050" b="1" dirty="0">
              <a:solidFill>
                <a:srgbClr val="1B2A3B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(</a:t>
            </a:r>
            <a:r>
              <a:rPr lang="en-US" sz="900" b="1" dirty="0" err="1">
                <a:solidFill>
                  <a:srgbClr val="0D9488"/>
                </a:solidFill>
              </a:rPr>
              <a:t>Feature</a:t>
            </a:r>
            <a:endParaRPr lang="en-US" sz="900" b="1" dirty="0">
              <a:solidFill>
                <a:srgbClr val="0D9488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Engineering)</a:t>
            </a:r>
            <a:endParaRPr lang="en-US" sz="1050" b="1" dirty="0">
              <a:solidFill>
                <a:srgbClr val="0D9488"/>
              </a:solidFill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E36E88BB-FFF7-21E8-82AD-B691E9F0A646}"/>
              </a:ext>
            </a:extLst>
          </p:cNvPr>
          <p:cNvSpPr/>
          <p:nvPr/>
        </p:nvSpPr>
        <p:spPr>
          <a:xfrm>
            <a:off x="3917025" y="2908611"/>
            <a:ext cx="1224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Add board, component, layer, severity, issue_kind, is_valid</a:t>
            </a:r>
            <a:endParaRPr lang="en-US" sz="1000" dirty="0"/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15D6DEB0-0023-0395-29AA-DD55412F6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4E623718-FCAC-1387-6D08-15B7D7BAF780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67003EA3-EA55-E5AF-C4C0-FCAD7CF55110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EFC5E5DF-2780-2B45-16EF-D4DD8DFEAE35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4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8E868F04-00DB-5C57-D4ED-247E316DF04B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Similarity</a:t>
            </a:r>
            <a:endParaRPr lang="en-US" sz="105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462EDB22-BA6F-6436-EE98-B07E105B5A3F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Link related issues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describing the same bug</a:t>
            </a:r>
            <a:endParaRPr lang="en-US" sz="100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A132CB6E-124D-7D7F-89EA-97A586C00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6D6DB03D-6ABF-2CE2-FE5D-5587A36A1C91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DC8273D7-27BA-127F-B68D-79DD7132BFC3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5066CADF-734A-A3DD-9D5A-3A6A315F245C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5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F8554500-9DC9-B5D5-4849-54E083F84F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5A9F138C-4392-5F8E-535A-16B38A01D382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Chunking</a:t>
            </a:r>
            <a:endParaRPr lang="en-US" sz="105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F7A22BB8-319E-0379-61FB-7AE6791FD05E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Split into chunks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 the KB</a:t>
            </a:r>
            <a:endParaRPr lang="en-US" sz="100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07D88FB1-A7D1-FDA2-48B1-133F378B4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646FD1D8-B5BF-6F4A-5B06-9D6521200802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049B2C76-4CBE-03A6-B8E8-F19342A451C8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B04E3E61-17F5-FE09-416C-D1CB2ED85EBF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6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D2890009-29E9-3858-B749-74E0FC4DF9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7D0581F0-44E0-9D54-A9DC-11C4A98DF0CD}"/>
              </a:ext>
            </a:extLst>
          </p:cNvPr>
          <p:cNvSpPr/>
          <p:nvPr/>
        </p:nvSpPr>
        <p:spPr>
          <a:xfrm>
            <a:off x="8693671" y="24296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dirty="0">
                <a:solidFill>
                  <a:srgbClr val="1B2A3B"/>
                </a:solidFill>
              </a:rPr>
              <a:t>(</a:t>
            </a:r>
            <a:r>
              <a:rPr lang="en-US" sz="900" b="1" dirty="0">
                <a:solidFill>
                  <a:srgbClr val="0D9488"/>
                </a:solidFill>
              </a:rPr>
              <a:t>Benchmark</a:t>
            </a:r>
            <a:r>
              <a:rPr lang="en-US" sz="900" b="1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0F6D2EE7-B42E-B823-25C2-97C032B956F9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Test with 50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reference questions</a:t>
            </a:r>
            <a:endParaRPr lang="en-US" sz="100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806FE150-6E00-C6EA-C281-39ED72531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sp>
        <p:nvSpPr>
          <p:cNvPr id="46" name="Shape 35">
            <a:extLst>
              <a:ext uri="{FF2B5EF4-FFF2-40B4-BE49-F238E27FC236}">
                <a16:creationId xmlns:a16="http://schemas.microsoft.com/office/drawing/2014/main" id="{2EF7FCA4-6985-DD46-00DC-17C4FE4C0693}"/>
              </a:ext>
            </a:extLst>
          </p:cNvPr>
          <p:cNvSpPr/>
          <p:nvPr/>
        </p:nvSpPr>
        <p:spPr>
          <a:xfrm>
            <a:off x="10030026" y="1870766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59D5862B-4B4F-76DF-1F86-540E4396B3C0}"/>
              </a:ext>
            </a:extLst>
          </p:cNvPr>
          <p:cNvSpPr/>
          <p:nvPr/>
        </p:nvSpPr>
        <p:spPr>
          <a:xfrm>
            <a:off x="10030027" y="1870767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5074C0BD-23B4-6F87-E7EF-A205388D72E2}"/>
              </a:ext>
            </a:extLst>
          </p:cNvPr>
          <p:cNvSpPr/>
          <p:nvPr/>
        </p:nvSpPr>
        <p:spPr>
          <a:xfrm>
            <a:off x="10030027" y="187076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7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496ECF99-66E1-3BB0-F015-436460F597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2394" y="1955836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DF9D4797-0BAD-B0DD-036E-A6A48E2253D9}"/>
              </a:ext>
            </a:extLst>
          </p:cNvPr>
          <p:cNvSpPr/>
          <p:nvPr/>
        </p:nvSpPr>
        <p:spPr>
          <a:xfrm>
            <a:off x="10091617" y="2557387"/>
            <a:ext cx="1244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B2A3B"/>
                </a:solidFill>
              </a:rPr>
              <a:t>(</a:t>
            </a:r>
            <a:r>
              <a:rPr lang="en-US" sz="800" b="1" dirty="0" err="1">
                <a:solidFill>
                  <a:srgbClr val="0D9488"/>
                </a:solidFill>
              </a:rPr>
              <a:t>resolver</a:t>
            </a:r>
            <a:r>
              <a:rPr lang="en-US" sz="800" b="1" dirty="0">
                <a:solidFill>
                  <a:srgbClr val="0D9488"/>
                </a:solidFill>
              </a:rPr>
              <a:t> cases, diagnostic </a:t>
            </a:r>
            <a:r>
              <a:rPr lang="en-US" sz="800" b="1" dirty="0" err="1">
                <a:solidFill>
                  <a:srgbClr val="0D9488"/>
                </a:solidFill>
              </a:rPr>
              <a:t>cards</a:t>
            </a:r>
            <a:r>
              <a:rPr lang="en-US" sz="800" b="1" dirty="0">
                <a:solidFill>
                  <a:srgbClr val="0D9488"/>
                </a:solidFill>
              </a:rPr>
              <a:t>, exports ST-</a:t>
            </a:r>
            <a:r>
              <a:rPr lang="en-US" sz="800" b="1" dirty="0" err="1">
                <a:solidFill>
                  <a:srgbClr val="0D9488"/>
                </a:solidFill>
              </a:rPr>
              <a:t>ready</a:t>
            </a:r>
            <a:r>
              <a:rPr lang="en-US" sz="800" b="1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975A7ED2-55E2-9356-59CF-93828C316084}"/>
              </a:ext>
            </a:extLst>
          </p:cNvPr>
          <p:cNvSpPr/>
          <p:nvPr/>
        </p:nvSpPr>
        <p:spPr>
          <a:xfrm>
            <a:off x="10219073" y="279723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Deliver JSON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format ST-</a:t>
            </a:r>
            <a:r>
              <a:rPr lang="en-US" sz="1000" dirty="0" err="1">
                <a:solidFill>
                  <a:srgbClr val="64748B"/>
                </a:solidFill>
              </a:rPr>
              <a:t>ready</a:t>
            </a:r>
            <a:endParaRPr lang="en-US" sz="100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FFA1646E-C450-9961-C8BB-43A39D80BE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44C545BA-A021-1063-C662-47EDAC3822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sp>
        <p:nvSpPr>
          <p:cNvPr id="3" name="Shape 40">
            <a:extLst>
              <a:ext uri="{FF2B5EF4-FFF2-40B4-BE49-F238E27FC236}">
                <a16:creationId xmlns:a16="http://schemas.microsoft.com/office/drawing/2014/main" id="{35F5997F-6FD6-658B-5488-14A447F88D23}"/>
              </a:ext>
            </a:extLst>
          </p:cNvPr>
          <p:cNvSpPr/>
          <p:nvPr/>
        </p:nvSpPr>
        <p:spPr>
          <a:xfrm>
            <a:off x="5983807" y="4213776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23BC43BA-2719-28DD-A6C9-8A3585BFF637}"/>
              </a:ext>
            </a:extLst>
          </p:cNvPr>
          <p:cNvSpPr/>
          <p:nvPr/>
        </p:nvSpPr>
        <p:spPr>
          <a:xfrm>
            <a:off x="5983807" y="4213776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4DEC55BC-E438-C1C5-8A6C-889B45A8BAEF}"/>
              </a:ext>
            </a:extLst>
          </p:cNvPr>
          <p:cNvSpPr/>
          <p:nvPr/>
        </p:nvSpPr>
        <p:spPr>
          <a:xfrm>
            <a:off x="6184975" y="43052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❓ What l’</a:t>
            </a:r>
            <a:r>
              <a:rPr lang="en-US" sz="1050" b="1" dirty="0" err="1">
                <a:solidFill>
                  <a:srgbClr val="0D9488"/>
                </a:solidFill>
              </a:rPr>
              <a:t>Enrichment</a:t>
            </a:r>
            <a:endParaRPr lang="en-US" sz="105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650D1A0C-CD6B-84DF-7F68-FBEC5A40E23D}"/>
              </a:ext>
            </a:extLst>
          </p:cNvPr>
          <p:cNvSpPr/>
          <p:nvPr/>
        </p:nvSpPr>
        <p:spPr>
          <a:xfrm>
            <a:off x="6184975" y="4597824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B2A3B"/>
                </a:solidFill>
              </a:rPr>
              <a:t>Adds technical metadata: </a:t>
            </a:r>
            <a:r>
              <a:rPr lang="en-US" sz="1000" dirty="0">
                <a:solidFill>
                  <a:srgbClr val="1B2A3B"/>
                </a:solidFill>
              </a:rPr>
              <a:t>layer, </a:t>
            </a:r>
            <a:r>
              <a:rPr lang="en-US" sz="1000" dirty="0" err="1">
                <a:solidFill>
                  <a:srgbClr val="1B2A3B"/>
                </a:solidFill>
              </a:rPr>
              <a:t>severity</a:t>
            </a:r>
            <a:r>
              <a:rPr lang="en-US" sz="1000" dirty="0">
                <a:solidFill>
                  <a:srgbClr val="1B2A3B"/>
                </a:solidFill>
              </a:rPr>
              <a:t>, </a:t>
            </a:r>
            <a:r>
              <a:rPr lang="en-US" sz="1000" dirty="0" err="1">
                <a:solidFill>
                  <a:srgbClr val="1B2A3B"/>
                </a:solidFill>
              </a:rPr>
              <a:t>issue_kind</a:t>
            </a:r>
            <a:r>
              <a:rPr lang="en-US" sz="1000" dirty="0">
                <a:solidFill>
                  <a:srgbClr val="1B2A3B"/>
                </a:solidFill>
              </a:rPr>
              <a:t>, </a:t>
            </a:r>
            <a:r>
              <a:rPr lang="en-US" sz="1000" dirty="0" err="1">
                <a:solidFill>
                  <a:srgbClr val="1B2A3B"/>
                </a:solidFill>
              </a:rPr>
              <a:t>board</a:t>
            </a:r>
            <a:r>
              <a:rPr lang="en-US" sz="1000" dirty="0">
                <a:solidFill>
                  <a:srgbClr val="1B2A3B"/>
                </a:solidFill>
              </a:rPr>
              <a:t>, component, </a:t>
            </a:r>
            <a:r>
              <a:rPr lang="en-US" sz="1000" dirty="0" err="1">
                <a:solidFill>
                  <a:srgbClr val="1B2A3B"/>
                </a:solidFill>
              </a:rPr>
              <a:t>file_type</a:t>
            </a:r>
            <a:r>
              <a:rPr lang="en-US" sz="1000" dirty="0">
                <a:solidFill>
                  <a:srgbClr val="1B2A3B"/>
                </a:solidFill>
              </a:rPr>
              <a:t>, </a:t>
            </a:r>
            <a:r>
              <a:rPr lang="en-US" sz="1000" dirty="0" err="1">
                <a:solidFill>
                  <a:srgbClr val="1B2A3B"/>
                </a:solidFill>
              </a:rPr>
              <a:t>is_valid</a:t>
            </a:r>
            <a:r>
              <a:rPr lang="en-US" sz="1000" dirty="0">
                <a:solidFill>
                  <a:srgbClr val="1B2A3B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B2A3B"/>
                </a:solidFill>
              </a:rPr>
              <a:t>Converts clean content into </a:t>
            </a:r>
            <a:r>
              <a:rPr lang="en-US" sz="1000" b="1" dirty="0">
                <a:solidFill>
                  <a:srgbClr val="1B2A3B"/>
                </a:solidFill>
              </a:rPr>
              <a:t>structured V2 documents </a:t>
            </a:r>
            <a:r>
              <a:rPr lang="en-US" sz="1000" dirty="0">
                <a:solidFill>
                  <a:srgbClr val="1B2A3B"/>
                </a:solidFill>
              </a:rPr>
              <a:t>(issues and files).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B2A3B"/>
                </a:solidFill>
              </a:rPr>
              <a:t>Creates </a:t>
            </a:r>
            <a:r>
              <a:rPr lang="en-US" sz="1000" dirty="0" err="1">
                <a:solidFill>
                  <a:srgbClr val="1B2A3B"/>
                </a:solidFill>
              </a:rPr>
              <a:t>features</a:t>
            </a:r>
            <a:r>
              <a:rPr lang="en-US" sz="1000" dirty="0">
                <a:solidFill>
                  <a:srgbClr val="1B2A3B"/>
                </a:solidFill>
              </a:rPr>
              <a:t> of </a:t>
            </a:r>
            <a:r>
              <a:rPr lang="en-US" sz="1000" b="1" dirty="0">
                <a:solidFill>
                  <a:srgbClr val="1B2A3B"/>
                </a:solidFill>
              </a:rPr>
              <a:t>filtrage</a:t>
            </a:r>
            <a:r>
              <a:rPr lang="en-US" sz="1000" dirty="0">
                <a:solidFill>
                  <a:srgbClr val="1B2A3B"/>
                </a:solidFill>
              </a:rPr>
              <a:t> and </a:t>
            </a:r>
            <a:r>
              <a:rPr lang="en-US" sz="1000" b="1" dirty="0" err="1">
                <a:solidFill>
                  <a:srgbClr val="1B2A3B"/>
                </a:solidFill>
              </a:rPr>
              <a:t>ranking</a:t>
            </a:r>
            <a:r>
              <a:rPr lang="en-US" sz="1000" dirty="0">
                <a:solidFill>
                  <a:srgbClr val="1B2A3B"/>
                </a:solidFill>
              </a:rPr>
              <a:t> pour la récupération d’information.</a:t>
            </a:r>
            <a:endParaRPr lang="en-US" sz="1000" dirty="0"/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0463B9D2-46A9-732E-AE55-237C9C495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V="1">
            <a:off x="4305991" y="4284541"/>
            <a:ext cx="1481109" cy="148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1793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7FC46-D9CC-D20F-804A-BEC29797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18221-309C-692E-E1A6-039545325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Pipeline: </a:t>
            </a:r>
            <a:r>
              <a:rPr lang="en-US" sz="1800" b="1" dirty="0" err="1"/>
              <a:t>Enrichment</a:t>
            </a:r>
            <a:r>
              <a:rPr lang="en-US" sz="1800" b="1" dirty="0"/>
              <a:t> (</a:t>
            </a:r>
            <a:r>
              <a:rPr lang="en-US" sz="1800" b="1" dirty="0" err="1"/>
              <a:t>Feature</a:t>
            </a:r>
            <a:r>
              <a:rPr lang="en-US" sz="1800" b="1" dirty="0"/>
              <a:t> Engineering)    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8104D5-9D86-EC5B-5C1A-B5A742015800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425A78"/>
                </a:solidFill>
              </a:rPr>
              <a:t>Enrichment</a:t>
            </a:r>
            <a:r>
              <a:rPr lang="en-US" sz="1200" b="1" dirty="0">
                <a:solidFill>
                  <a:srgbClr val="425A78"/>
                </a:solidFill>
              </a:rPr>
              <a:t> — Why enrich the data?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1335B015-A15B-A1C0-19EE-C215083C130A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Plain text = generic answers </a:t>
            </a:r>
            <a:r>
              <a:rPr lang="en-US" sz="1200" b="1" i="1" dirty="0">
                <a:solidFill>
                  <a:srgbClr val="64748B"/>
                </a:solidFill>
              </a:rPr>
              <a:t>=&gt;</a:t>
            </a:r>
            <a:r>
              <a:rPr lang="en-US" sz="1200" i="1" dirty="0">
                <a:solidFill>
                  <a:srgbClr val="64748B"/>
                </a:solidFill>
              </a:rPr>
              <a:t> Enriched data = targeted, actionable answers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A7EA0A3-B518-4771-66D9-E998D828F42C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389DE23-3161-2037-BAB0-1227FAF7D63B}"/>
              </a:ext>
            </a:extLst>
          </p:cNvPr>
          <p:cNvSpPr/>
          <p:nvPr/>
        </p:nvSpPr>
        <p:spPr>
          <a:xfrm>
            <a:off x="1260558" y="2271306"/>
            <a:ext cx="4069080" cy="365760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E86576-6BB4-391A-2E89-1777D1760971}"/>
              </a:ext>
            </a:extLst>
          </p:cNvPr>
          <p:cNvSpPr/>
          <p:nvPr/>
        </p:nvSpPr>
        <p:spPr>
          <a:xfrm>
            <a:off x="1260558" y="227130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0000"/>
                </a:solidFill>
              </a:rPr>
              <a:t>Sans </a:t>
            </a:r>
            <a:r>
              <a:rPr lang="en-US" sz="1200" b="1" dirty="0" err="1">
                <a:solidFill>
                  <a:srgbClr val="C00000"/>
                </a:solidFill>
              </a:rPr>
              <a:t>enrichment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9F08841-13C1-AF8D-22F1-D302DB8EF213}"/>
              </a:ext>
            </a:extLst>
          </p:cNvPr>
          <p:cNvSpPr/>
          <p:nvPr/>
        </p:nvSpPr>
        <p:spPr>
          <a:xfrm>
            <a:off x="1260558" y="2710218"/>
            <a:ext cx="4069080" cy="30505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200" dirty="0"/>
          </a:p>
          <a:p>
            <a:r>
              <a:rPr lang="en-US" sz="1100" dirty="0">
                <a:solidFill>
                  <a:srgbClr val="1B2A3B"/>
                </a:solidFill>
              </a:rPr>
              <a:t>The engine finds documents where 'UART' appears, but cannot distinguish bug type, component, or MCU series.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3B75D9F-E455-3D58-1F27-951A07B533B6}"/>
              </a:ext>
            </a:extLst>
          </p:cNvPr>
          <p:cNvSpPr/>
          <p:nvPr/>
        </p:nvSpPr>
        <p:spPr>
          <a:xfrm>
            <a:off x="1397718" y="2710218"/>
            <a:ext cx="3794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AB4A890-2F11-2E4A-C9B0-7BACBB31BE4E}"/>
              </a:ext>
            </a:extLst>
          </p:cNvPr>
          <p:cNvSpPr/>
          <p:nvPr/>
        </p:nvSpPr>
        <p:spPr>
          <a:xfrm>
            <a:off x="1260558" y="3773208"/>
            <a:ext cx="40690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8CDD74B-86E2-1974-4085-95B4614E511A}"/>
              </a:ext>
            </a:extLst>
          </p:cNvPr>
          <p:cNvSpPr/>
          <p:nvPr/>
        </p:nvSpPr>
        <p:spPr>
          <a:xfrm>
            <a:off x="1397718" y="39057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</a:rPr>
              <a:t>Typical answer: 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418656A4-45F1-E93B-B322-B7156A58AA24}"/>
              </a:ext>
            </a:extLst>
          </p:cNvPr>
          <p:cNvSpPr/>
          <p:nvPr/>
        </p:nvSpPr>
        <p:spPr>
          <a:xfrm>
            <a:off x="1397718" y="420069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Check </a:t>
            </a:r>
            <a:r>
              <a:rPr lang="en-US" sz="1050" dirty="0" err="1">
                <a:solidFill>
                  <a:srgbClr val="1B2A3B"/>
                </a:solidFill>
              </a:rPr>
              <a:t>your</a:t>
            </a:r>
            <a:r>
              <a:rPr lang="en-US" sz="1050" dirty="0">
                <a:solidFill>
                  <a:srgbClr val="1B2A3B"/>
                </a:solidFill>
              </a:rPr>
              <a:t> UART settings and HAL configuration.</a:t>
            </a:r>
            <a:endParaRPr lang="en-US" sz="105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0C035E1F-8309-1C1F-789E-E688E2B130DA}"/>
              </a:ext>
            </a:extLst>
          </p:cNvPr>
          <p:cNvSpPr/>
          <p:nvPr/>
        </p:nvSpPr>
        <p:spPr>
          <a:xfrm>
            <a:off x="1681182" y="534369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C3B409E3-7407-A474-4538-6FE261B7BCB2}"/>
              </a:ext>
            </a:extLst>
          </p:cNvPr>
          <p:cNvSpPr/>
          <p:nvPr/>
        </p:nvSpPr>
        <p:spPr>
          <a:xfrm>
            <a:off x="6867663" y="2271306"/>
            <a:ext cx="3703320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522CFD65-83CA-23A7-5A9C-0DEA439C6217}"/>
              </a:ext>
            </a:extLst>
          </p:cNvPr>
          <p:cNvSpPr/>
          <p:nvPr/>
        </p:nvSpPr>
        <p:spPr>
          <a:xfrm>
            <a:off x="6867663" y="227130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589"/>
                </a:solidFill>
              </a:rPr>
              <a:t>Avec </a:t>
            </a:r>
            <a:r>
              <a:rPr lang="en-US" sz="1200" b="1" dirty="0" err="1">
                <a:solidFill>
                  <a:srgbClr val="0D9589"/>
                </a:solidFill>
              </a:rPr>
              <a:t>enrichment</a:t>
            </a:r>
            <a:endParaRPr lang="en-US" sz="1200" dirty="0">
              <a:solidFill>
                <a:srgbClr val="0D9589"/>
              </a:solidFill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4A228722-E5D4-2058-60C6-8C0F39138DC0}"/>
              </a:ext>
            </a:extLst>
          </p:cNvPr>
          <p:cNvSpPr/>
          <p:nvPr/>
        </p:nvSpPr>
        <p:spPr>
          <a:xfrm>
            <a:off x="6867663" y="2746794"/>
            <a:ext cx="3703320" cy="301392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8725EE2C-9C3D-A34F-93D8-B068343AA927}"/>
              </a:ext>
            </a:extLst>
          </p:cNvPr>
          <p:cNvSpPr/>
          <p:nvPr/>
        </p:nvSpPr>
        <p:spPr>
          <a:xfrm>
            <a:off x="7004823" y="2710218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9034A495-1F3D-6667-4E14-7584FFE1A45C}"/>
              </a:ext>
            </a:extLst>
          </p:cNvPr>
          <p:cNvSpPr/>
          <p:nvPr/>
        </p:nvSpPr>
        <p:spPr>
          <a:xfrm>
            <a:off x="6862364" y="3800424"/>
            <a:ext cx="370332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35E69CDE-AB46-97C2-8BFA-F17D6C7F0EA8}"/>
              </a:ext>
            </a:extLst>
          </p:cNvPr>
          <p:cNvSpPr/>
          <p:nvPr/>
        </p:nvSpPr>
        <p:spPr>
          <a:xfrm>
            <a:off x="7004823" y="391679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Typical answer:</a:t>
            </a:r>
            <a:endParaRPr lang="en-US" sz="1000" dirty="0">
              <a:solidFill>
                <a:srgbClr val="0D9488"/>
              </a:solidFill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C010B458-9B3E-2EEB-005A-B151D9D3AD2A}"/>
              </a:ext>
            </a:extLst>
          </p:cNvPr>
          <p:cNvSpPr/>
          <p:nvPr/>
        </p:nvSpPr>
        <p:spPr>
          <a:xfrm>
            <a:off x="7006340" y="447464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The </a:t>
            </a:r>
            <a:r>
              <a:rPr lang="en-US" sz="1050" dirty="0" err="1">
                <a:solidFill>
                  <a:srgbClr val="1B2A3B"/>
                </a:solidFill>
              </a:rPr>
              <a:t>failure</a:t>
            </a:r>
            <a:r>
              <a:rPr lang="en-US" sz="1050" dirty="0">
                <a:solidFill>
                  <a:srgbClr val="1B2A3B"/>
                </a:solidFill>
              </a:rPr>
              <a:t> </a:t>
            </a:r>
            <a:r>
              <a:rPr lang="en-US" sz="1050" dirty="0" err="1">
                <a:solidFill>
                  <a:srgbClr val="1B2A3B"/>
                </a:solidFill>
              </a:rPr>
              <a:t>comes</a:t>
            </a:r>
            <a:r>
              <a:rPr lang="en-US" sz="1050" dirty="0">
                <a:solidFill>
                  <a:srgbClr val="1B2A3B"/>
                </a:solidFill>
              </a:rPr>
              <a:t> </a:t>
            </a:r>
            <a:r>
              <a:rPr lang="en-US" sz="1050" dirty="0" err="1">
                <a:solidFill>
                  <a:srgbClr val="1B2A3B"/>
                </a:solidFill>
              </a:rPr>
              <a:t>from</a:t>
            </a:r>
            <a:r>
              <a:rPr lang="en-US" sz="1050" dirty="0">
                <a:solidFill>
                  <a:srgbClr val="1B2A3B"/>
                </a:solidFill>
              </a:rPr>
              <a:t> USART </a:t>
            </a:r>
            <a:r>
              <a:rPr lang="en-US" sz="1050" dirty="0" err="1">
                <a:solidFill>
                  <a:srgbClr val="1B2A3B"/>
                </a:solidFill>
              </a:rPr>
              <a:t>dependency</a:t>
            </a:r>
            <a:r>
              <a:rPr lang="en-US" sz="1050" dirty="0">
                <a:solidFill>
                  <a:srgbClr val="1B2A3B"/>
                </a:solidFill>
              </a:rPr>
              <a:t> on UART module </a:t>
            </a:r>
            <a:r>
              <a:rPr lang="en-US" sz="1050" dirty="0" err="1">
                <a:solidFill>
                  <a:srgbClr val="1B2A3B"/>
                </a:solidFill>
              </a:rPr>
              <a:t>guards</a:t>
            </a:r>
            <a:r>
              <a:rPr lang="en-US" sz="1050" dirty="0">
                <a:solidFill>
                  <a:srgbClr val="1B2A3B"/>
                </a:solidFill>
              </a:rPr>
              <a:t> in HAL config.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Enable the </a:t>
            </a:r>
            <a:r>
              <a:rPr lang="en-US" sz="1050" dirty="0" err="1">
                <a:solidFill>
                  <a:srgbClr val="1B2A3B"/>
                </a:solidFill>
              </a:rPr>
              <a:t>required</a:t>
            </a:r>
            <a:r>
              <a:rPr lang="en-US" sz="1050" dirty="0">
                <a:solidFill>
                  <a:srgbClr val="1B2A3B"/>
                </a:solidFill>
              </a:rPr>
              <a:t> UART macro or patch the </a:t>
            </a:r>
            <a:r>
              <a:rPr lang="en-US" sz="1050" dirty="0" err="1">
                <a:solidFill>
                  <a:srgbClr val="1B2A3B"/>
                </a:solidFill>
              </a:rPr>
              <a:t>conditional</a:t>
            </a:r>
            <a:r>
              <a:rPr lang="en-US" sz="1050" dirty="0">
                <a:solidFill>
                  <a:srgbClr val="1B2A3B"/>
                </a:solidFill>
              </a:rPr>
              <a:t> compilation section in the USART driver for </a:t>
            </a:r>
            <a:r>
              <a:rPr lang="en-US" sz="1050" dirty="0" err="1">
                <a:solidFill>
                  <a:srgbClr val="1B2A3B"/>
                </a:solidFill>
              </a:rPr>
              <a:t>your</a:t>
            </a:r>
            <a:r>
              <a:rPr lang="en-US" sz="1050" dirty="0">
                <a:solidFill>
                  <a:srgbClr val="1B2A3B"/>
                </a:solidFill>
              </a:rPr>
              <a:t> STM32CubeH7 version.</a:t>
            </a:r>
            <a:endParaRPr lang="en-US" sz="1050" dirty="0"/>
          </a:p>
        </p:txBody>
      </p:sp>
      <p:pic>
        <p:nvPicPr>
          <p:cNvPr id="33" name="Graphic 32" descr="Arrow Right with solid fill">
            <a:extLst>
              <a:ext uri="{FF2B5EF4-FFF2-40B4-BE49-F238E27FC236}">
                <a16:creationId xmlns:a16="http://schemas.microsoft.com/office/drawing/2014/main" id="{B6E1EE74-B9EA-9BE1-1F24-CBE8A35CBA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7584" y="3580300"/>
            <a:ext cx="431535" cy="43153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B5F3687-7459-7D04-1061-FF7FC12B24BA}"/>
              </a:ext>
            </a:extLst>
          </p:cNvPr>
          <p:cNvSpPr txBox="1"/>
          <p:nvPr/>
        </p:nvSpPr>
        <p:spPr>
          <a:xfrm>
            <a:off x="340364" y="1580934"/>
            <a:ext cx="102697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D9488"/>
                </a:solidFill>
              </a:rPr>
              <a:t>User question:  </a:t>
            </a:r>
            <a:r>
              <a:rPr lang="en-US" sz="1200" dirty="0" err="1">
                <a:solidFill>
                  <a:srgbClr val="1B2A3B"/>
                </a:solidFill>
              </a:rPr>
              <a:t>Why</a:t>
            </a:r>
            <a:r>
              <a:rPr lang="en-US" sz="1200" dirty="0">
                <a:solidFill>
                  <a:srgbClr val="1B2A3B"/>
                </a:solidFill>
              </a:rPr>
              <a:t> </a:t>
            </a:r>
            <a:r>
              <a:rPr lang="en-US" sz="1200" dirty="0" err="1">
                <a:solidFill>
                  <a:srgbClr val="1B2A3B"/>
                </a:solidFill>
              </a:rPr>
              <a:t>does</a:t>
            </a:r>
            <a:r>
              <a:rPr lang="en-US" sz="1200" dirty="0">
                <a:solidFill>
                  <a:srgbClr val="1B2A3B"/>
                </a:solidFill>
              </a:rPr>
              <a:t> USART fail to compile </a:t>
            </a:r>
            <a:r>
              <a:rPr lang="en-US" sz="1200" dirty="0" err="1">
                <a:solidFill>
                  <a:srgbClr val="1B2A3B"/>
                </a:solidFill>
              </a:rPr>
              <a:t>when</a:t>
            </a:r>
            <a:r>
              <a:rPr lang="en-US" sz="1200" dirty="0">
                <a:solidFill>
                  <a:srgbClr val="1B2A3B"/>
                </a:solidFill>
              </a:rPr>
              <a:t> UART </a:t>
            </a:r>
            <a:r>
              <a:rPr lang="en-US" sz="1200" dirty="0" err="1">
                <a:solidFill>
                  <a:srgbClr val="1B2A3B"/>
                </a:solidFill>
              </a:rPr>
              <a:t>is</a:t>
            </a:r>
            <a:r>
              <a:rPr lang="en-US" sz="1200" dirty="0">
                <a:solidFill>
                  <a:srgbClr val="1B2A3B"/>
                </a:solidFill>
              </a:rPr>
              <a:t> not </a:t>
            </a:r>
            <a:r>
              <a:rPr lang="en-US" sz="1200" dirty="0" err="1">
                <a:solidFill>
                  <a:srgbClr val="1B2A3B"/>
                </a:solidFill>
              </a:rPr>
              <a:t>enabled</a:t>
            </a:r>
            <a:r>
              <a:rPr lang="en-US" sz="1200" dirty="0">
                <a:solidFill>
                  <a:srgbClr val="1B2A3B"/>
                </a:solidFill>
              </a:rPr>
              <a:t>?</a:t>
            </a: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F66DDB59-46E5-F3F0-D494-AABADC618E03}"/>
              </a:ext>
            </a:extLst>
          </p:cNvPr>
          <p:cNvSpPr/>
          <p:nvPr/>
        </p:nvSpPr>
        <p:spPr>
          <a:xfrm>
            <a:off x="1397718" y="45920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</a:rPr>
              <a:t>Problem: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4B81CE1D-165B-25AA-EBAA-CC603CACFA67}"/>
              </a:ext>
            </a:extLst>
          </p:cNvPr>
          <p:cNvSpPr/>
          <p:nvPr/>
        </p:nvSpPr>
        <p:spPr>
          <a:xfrm>
            <a:off x="1397718" y="4886914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Vague answer, no root cause, no prioritization.</a:t>
            </a:r>
            <a:endParaRPr lang="en-US" sz="105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188464-9188-B6DD-A207-BD180BB1AC04}"/>
              </a:ext>
            </a:extLst>
          </p:cNvPr>
          <p:cNvSpPr txBox="1"/>
          <p:nvPr/>
        </p:nvSpPr>
        <p:spPr>
          <a:xfrm>
            <a:off x="6862364" y="2918663"/>
            <a:ext cx="37033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1B2A3B"/>
                </a:solidFill>
              </a:rPr>
              <a:t>The document is enriched with:</a:t>
            </a:r>
          </a:p>
          <a:p>
            <a:r>
              <a:rPr lang="en-US" sz="1100" dirty="0">
                <a:solidFill>
                  <a:srgbClr val="1B2A3B"/>
                </a:solidFill>
              </a:rPr>
              <a:t>component=UART, </a:t>
            </a:r>
            <a:r>
              <a:rPr lang="en-US" sz="1100" dirty="0" err="1">
                <a:solidFill>
                  <a:srgbClr val="1B2A3B"/>
                </a:solidFill>
              </a:rPr>
              <a:t>issue_kind</a:t>
            </a:r>
            <a:r>
              <a:rPr lang="en-US" sz="1100" dirty="0">
                <a:solidFill>
                  <a:srgbClr val="1B2A3B"/>
                </a:solidFill>
              </a:rPr>
              <a:t>=</a:t>
            </a:r>
            <a:r>
              <a:rPr lang="en-US" sz="1100" dirty="0" err="1">
                <a:solidFill>
                  <a:srgbClr val="1B2A3B"/>
                </a:solidFill>
              </a:rPr>
              <a:t>bug_report</a:t>
            </a:r>
            <a:r>
              <a:rPr lang="en-US" sz="1100" dirty="0">
                <a:solidFill>
                  <a:srgbClr val="1B2A3B"/>
                </a:solidFill>
              </a:rPr>
              <a:t>, layer=HAL/Driver, </a:t>
            </a:r>
            <a:r>
              <a:rPr lang="en-US" sz="1100" dirty="0" err="1">
                <a:solidFill>
                  <a:srgbClr val="1B2A3B"/>
                </a:solidFill>
              </a:rPr>
              <a:t>severity</a:t>
            </a:r>
            <a:r>
              <a:rPr lang="en-US" sz="1100" dirty="0">
                <a:solidFill>
                  <a:srgbClr val="1B2A3B"/>
                </a:solidFill>
              </a:rPr>
              <a:t>=high, repo=STM32CubeH7, </a:t>
            </a:r>
            <a:r>
              <a:rPr lang="en-US" sz="1100" dirty="0" err="1">
                <a:solidFill>
                  <a:srgbClr val="1B2A3B"/>
                </a:solidFill>
              </a:rPr>
              <a:t>is_valid</a:t>
            </a:r>
            <a:r>
              <a:rPr lang="en-US" sz="1100" dirty="0">
                <a:solidFill>
                  <a:srgbClr val="1B2A3B"/>
                </a:solidFill>
              </a:rPr>
              <a:t>=</a:t>
            </a:r>
            <a:r>
              <a:rPr lang="en-US" sz="1100" dirty="0" err="1">
                <a:solidFill>
                  <a:srgbClr val="1B2A3B"/>
                </a:solidFill>
              </a:rPr>
              <a:t>true</a:t>
            </a:r>
            <a:endParaRPr lang="en-US" sz="1100" dirty="0">
              <a:solidFill>
                <a:srgbClr val="1B2A3B"/>
              </a:solidFill>
            </a:endParaRPr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BD3496B6-6EE4-55BB-FFE5-E9675880B1EC}"/>
              </a:ext>
            </a:extLst>
          </p:cNvPr>
          <p:cNvSpPr/>
          <p:nvPr/>
        </p:nvSpPr>
        <p:spPr>
          <a:xfrm>
            <a:off x="7004823" y="502103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Impact:</a:t>
            </a:r>
            <a:endParaRPr lang="en-US" sz="1000" dirty="0">
              <a:solidFill>
                <a:srgbClr val="0D9488"/>
              </a:solidFill>
            </a:endParaRPr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6E46A348-210D-9EA7-658E-8745DB842945}"/>
              </a:ext>
            </a:extLst>
          </p:cNvPr>
          <p:cNvSpPr/>
          <p:nvPr/>
        </p:nvSpPr>
        <p:spPr>
          <a:xfrm>
            <a:off x="7004823" y="531364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Technical, root-cause-oriented, actionable answer.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932498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CF1B2-D961-B460-336C-D50A6496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EDCDD-D1BA-9045-745C-05D0491A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The Preprocessing </a:t>
            </a:r>
            <a:r>
              <a:rPr lang="en-US" sz="1800" b="1" dirty="0" err="1"/>
              <a:t>Pipeline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83B4C7-E971-98D0-E903-EDF1D2D05A6E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2AD30420-F83E-22FF-29D2-196AD62920B1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B69B6EC-366B-149C-5D70-9374FB58E1E1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D8C8AB0-336C-1213-6B88-2C4CE460DA3B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2CC559F5-3439-F9B7-FD15-4ECA6F478F27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0490AC2-A534-E0B9-3585-2FAF20031E58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1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C6FF422D-47AE-B4A9-4528-C02946004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31D5F5A0-78F5-80C9-B4D5-5246C5FEEC6E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Ingestion</a:t>
            </a:r>
            <a:endParaRPr lang="en-US" sz="10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87F66B4E-C36C-F589-F177-F791CB927A87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Download raw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from GitHub</a:t>
            </a:r>
            <a:endParaRPr lang="en-US" sz="10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CCA12414-D9F4-43A4-6707-93906883C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9E050E28-2D49-BF91-A4A9-B75DF92F8981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41563207-E0C5-A8D4-5E31-C5A35EFBDA94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3423B03-E6E3-4AC2-93A5-0A9714D7FAAB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2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7CEABBD-AC58-9A80-FB0C-D230D64CA842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Cleaning</a:t>
            </a: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CA56E35-EA59-13A5-BE62-83892D7FAB9F}"/>
              </a:ext>
            </a:extLst>
          </p:cNvPr>
          <p:cNvSpPr/>
          <p:nvPr/>
        </p:nvSpPr>
        <p:spPr>
          <a:xfrm>
            <a:off x="2323688" y="2753574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remove HTML,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normalize</a:t>
            </a:r>
            <a:endParaRPr lang="en-US" sz="100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8BAC6772-EDFE-686C-23B2-BF17A6B53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8D6B35D3-8198-C63D-18AB-117F2DA92091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530FB36-A20C-D01F-932A-A14D38969442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BDECCA7-947A-ABD2-99F4-A4BF149216A0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3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BB01F942-330A-3A5E-A78B-603FA4C2E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F269255A-B515-08AD-18D3-B874575D124B}"/>
              </a:ext>
            </a:extLst>
          </p:cNvPr>
          <p:cNvSpPr/>
          <p:nvPr/>
        </p:nvSpPr>
        <p:spPr>
          <a:xfrm>
            <a:off x="4040706" y="24981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 err="1">
                <a:solidFill>
                  <a:srgbClr val="1B2A3B"/>
                </a:solidFill>
              </a:rPr>
              <a:t>Enrichment</a:t>
            </a:r>
            <a:endParaRPr lang="en-US" sz="1050" b="1" dirty="0">
              <a:solidFill>
                <a:srgbClr val="1B2A3B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(</a:t>
            </a:r>
            <a:r>
              <a:rPr lang="en-US" sz="900" b="1" dirty="0" err="1">
                <a:solidFill>
                  <a:srgbClr val="0D9488"/>
                </a:solidFill>
              </a:rPr>
              <a:t>Feature</a:t>
            </a:r>
            <a:endParaRPr lang="en-US" sz="900" b="1" dirty="0">
              <a:solidFill>
                <a:srgbClr val="0D9488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Engineering)</a:t>
            </a:r>
            <a:endParaRPr lang="en-US" sz="1050" b="1" dirty="0">
              <a:solidFill>
                <a:srgbClr val="0D9488"/>
              </a:solidFill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8A961CEC-5117-8593-E224-102941CDDAA3}"/>
              </a:ext>
            </a:extLst>
          </p:cNvPr>
          <p:cNvSpPr/>
          <p:nvPr/>
        </p:nvSpPr>
        <p:spPr>
          <a:xfrm>
            <a:off x="3917025" y="2908611"/>
            <a:ext cx="1224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Add board, component, layer, severity, issue_kind, is_valid</a:t>
            </a:r>
            <a:endParaRPr lang="en-US" sz="1000" dirty="0"/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C9E75BB3-EE17-1016-54CE-B0474FE0F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0FF7FA8D-F8D4-73D4-11ED-4638D1615101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605A14E3-A60A-6EA7-56EC-703EEFF3295B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CFC9E600-EC6E-B478-B452-F52F5166C211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4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C5ED3EC9-AD24-3430-C99B-094B75DC7EEB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Similarity</a:t>
            </a:r>
            <a:endParaRPr lang="en-US" sz="105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02BA3053-0F09-8CF1-7BCA-F371BC605E73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Link related issues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describing the same bug</a:t>
            </a:r>
            <a:endParaRPr lang="en-US" sz="100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073E58A1-35DD-4307-9415-71107E357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B3A24B50-E874-0A5C-4295-33440102606D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5596EABC-2CD4-ED8B-0FCE-7B1F6E4FCDFA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6545F877-555D-F5A7-BB0F-F7D366751213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5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4C842954-2D51-4A45-A4A5-4B8B1BB6FE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7C5C4491-523B-B8B6-40AE-D1DFC1254394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Chunking</a:t>
            </a:r>
            <a:endParaRPr lang="en-US" sz="105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D215A6D1-5C42-59BC-9FBE-2EBA5CFDF915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Split into chunks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 the KB</a:t>
            </a:r>
            <a:endParaRPr lang="en-US" sz="100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A3092D6E-D7DE-F2B9-4F4A-A1764DDB4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CB0D30D9-A030-473C-1B80-503E3D72AE56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BCA7D31C-9C33-9481-D882-9AAC90BE4040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AF0F60B4-F4BE-EBDD-2E1D-2365837772FA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6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3C7AA553-6AB9-FD9B-E95E-CB2C351FE2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288A97AC-89DA-45C2-51C1-062E8023F528}"/>
              </a:ext>
            </a:extLst>
          </p:cNvPr>
          <p:cNvSpPr/>
          <p:nvPr/>
        </p:nvSpPr>
        <p:spPr>
          <a:xfrm>
            <a:off x="8693671" y="24296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dirty="0">
                <a:solidFill>
                  <a:srgbClr val="1B2A3B"/>
                </a:solidFill>
              </a:rPr>
              <a:t>(</a:t>
            </a:r>
            <a:r>
              <a:rPr lang="en-US" sz="900" b="1" dirty="0">
                <a:solidFill>
                  <a:srgbClr val="0D9488"/>
                </a:solidFill>
              </a:rPr>
              <a:t>Benchmark</a:t>
            </a:r>
            <a:r>
              <a:rPr lang="en-US" sz="900" b="1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3F47B868-2B51-2317-3E49-D7A46381EF16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Test with 50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reference questions</a:t>
            </a:r>
            <a:endParaRPr lang="en-US" sz="100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C80FCD2F-351E-FC09-06E6-D690A4AD6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sp>
        <p:nvSpPr>
          <p:cNvPr id="46" name="Shape 35">
            <a:extLst>
              <a:ext uri="{FF2B5EF4-FFF2-40B4-BE49-F238E27FC236}">
                <a16:creationId xmlns:a16="http://schemas.microsoft.com/office/drawing/2014/main" id="{8A816666-5AD1-7411-7DB5-FEC7F5A4B6DD}"/>
              </a:ext>
            </a:extLst>
          </p:cNvPr>
          <p:cNvSpPr/>
          <p:nvPr/>
        </p:nvSpPr>
        <p:spPr>
          <a:xfrm>
            <a:off x="10030026" y="1870766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81989238-39BB-E05F-D861-09AC6D66F315}"/>
              </a:ext>
            </a:extLst>
          </p:cNvPr>
          <p:cNvSpPr/>
          <p:nvPr/>
        </p:nvSpPr>
        <p:spPr>
          <a:xfrm>
            <a:off x="10030027" y="1870767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882E5B04-7565-7B4E-217E-897C5E2077BC}"/>
              </a:ext>
            </a:extLst>
          </p:cNvPr>
          <p:cNvSpPr/>
          <p:nvPr/>
        </p:nvSpPr>
        <p:spPr>
          <a:xfrm>
            <a:off x="10030027" y="187076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7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0B7220A8-723C-8BC3-0BF1-0F1A71D303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2394" y="1955836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2C456407-434F-E67B-12D9-4477FBF239C1}"/>
              </a:ext>
            </a:extLst>
          </p:cNvPr>
          <p:cNvSpPr/>
          <p:nvPr/>
        </p:nvSpPr>
        <p:spPr>
          <a:xfrm>
            <a:off x="10091617" y="2557387"/>
            <a:ext cx="1244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B2A3B"/>
                </a:solidFill>
              </a:rPr>
              <a:t>(</a:t>
            </a:r>
            <a:r>
              <a:rPr lang="en-US" sz="800" b="1" dirty="0" err="1">
                <a:solidFill>
                  <a:srgbClr val="0D9488"/>
                </a:solidFill>
              </a:rPr>
              <a:t>resolver</a:t>
            </a:r>
            <a:r>
              <a:rPr lang="en-US" sz="800" b="1" dirty="0">
                <a:solidFill>
                  <a:srgbClr val="0D9488"/>
                </a:solidFill>
              </a:rPr>
              <a:t> cases, diagnostic </a:t>
            </a:r>
            <a:r>
              <a:rPr lang="en-US" sz="800" b="1" dirty="0" err="1">
                <a:solidFill>
                  <a:srgbClr val="0D9488"/>
                </a:solidFill>
              </a:rPr>
              <a:t>cards</a:t>
            </a:r>
            <a:r>
              <a:rPr lang="en-US" sz="800" b="1" dirty="0">
                <a:solidFill>
                  <a:srgbClr val="0D9488"/>
                </a:solidFill>
              </a:rPr>
              <a:t>, exports ST-</a:t>
            </a:r>
            <a:r>
              <a:rPr lang="en-US" sz="800" b="1" dirty="0" err="1">
                <a:solidFill>
                  <a:srgbClr val="0D9488"/>
                </a:solidFill>
              </a:rPr>
              <a:t>ready</a:t>
            </a:r>
            <a:r>
              <a:rPr lang="en-US" sz="800" b="1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AC62A34E-1FF6-05A3-BB10-CCC2093EBE49}"/>
              </a:ext>
            </a:extLst>
          </p:cNvPr>
          <p:cNvSpPr/>
          <p:nvPr/>
        </p:nvSpPr>
        <p:spPr>
          <a:xfrm>
            <a:off x="10219073" y="279723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Deliver JSON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format ST-</a:t>
            </a:r>
            <a:r>
              <a:rPr lang="en-US" sz="1000" dirty="0" err="1">
                <a:solidFill>
                  <a:srgbClr val="64748B"/>
                </a:solidFill>
              </a:rPr>
              <a:t>ready</a:t>
            </a:r>
            <a:endParaRPr lang="en-US" sz="100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CF0AB3E6-4782-9AE3-E304-3C07064F1D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05655F29-15EF-8517-EB92-C48186A09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sp>
        <p:nvSpPr>
          <p:cNvPr id="3" name="Shape 40">
            <a:extLst>
              <a:ext uri="{FF2B5EF4-FFF2-40B4-BE49-F238E27FC236}">
                <a16:creationId xmlns:a16="http://schemas.microsoft.com/office/drawing/2014/main" id="{806BA0C8-D4A8-1A32-2BF9-D09F508B6C38}"/>
              </a:ext>
            </a:extLst>
          </p:cNvPr>
          <p:cNvSpPr/>
          <p:nvPr/>
        </p:nvSpPr>
        <p:spPr>
          <a:xfrm>
            <a:off x="7697987" y="4406153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3A81787A-EB7A-B43B-22DE-9E6900BD394B}"/>
              </a:ext>
            </a:extLst>
          </p:cNvPr>
          <p:cNvSpPr/>
          <p:nvPr/>
        </p:nvSpPr>
        <p:spPr>
          <a:xfrm>
            <a:off x="7722613" y="4406153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C9D29390-1FFC-A54F-0559-4142D80DA460}"/>
              </a:ext>
            </a:extLst>
          </p:cNvPr>
          <p:cNvSpPr/>
          <p:nvPr/>
        </p:nvSpPr>
        <p:spPr>
          <a:xfrm>
            <a:off x="7923781" y="4497593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❓ Objective: </a:t>
            </a:r>
            <a:r>
              <a:rPr lang="en-US" sz="1050" b="1" dirty="0" err="1">
                <a:solidFill>
                  <a:srgbClr val="0D9488"/>
                </a:solidFill>
              </a:rPr>
              <a:t>Similarity</a:t>
            </a:r>
            <a:endParaRPr lang="en-US" sz="105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133C22C1-E21C-65FE-7F51-0BD7779DBE38}"/>
              </a:ext>
            </a:extLst>
          </p:cNvPr>
          <p:cNvSpPr/>
          <p:nvPr/>
        </p:nvSpPr>
        <p:spPr>
          <a:xfrm>
            <a:off x="7923781" y="4799345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B2A3B"/>
                </a:solidFill>
              </a:rPr>
              <a:t>Identify issues describing the same symptom/technical problem.</a:t>
            </a:r>
          </a:p>
          <a:p>
            <a:endParaRPr lang="en-US" sz="1000" dirty="0">
              <a:solidFill>
                <a:srgbClr val="1B2A3B"/>
              </a:solidFill>
            </a:endParaRPr>
          </a:p>
          <a:p>
            <a:r>
              <a:rPr lang="en-US" sz="1000" b="1" u="sng" dirty="0"/>
              <a:t>What </a:t>
            </a:r>
            <a:r>
              <a:rPr lang="en-US" sz="1000" b="1" u="sng" dirty="0" err="1"/>
              <a:t>Similarity</a:t>
            </a:r>
            <a:r>
              <a:rPr lang="en-US" sz="1000" b="1" u="sng" dirty="0"/>
              <a:t> does: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compare les textes d’issues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calculates semantic proximue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adds </a:t>
            </a:r>
            <a:r>
              <a:rPr lang="en-US" sz="1000" dirty="0" err="1"/>
              <a:t>related_issue_ids</a:t>
            </a:r>
            <a:r>
              <a:rPr lang="en-US" sz="1000" dirty="0"/>
              <a:t> for each issue</a:t>
            </a:r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33E06516-ADA3-B832-BE7B-E7000957A1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V="1">
            <a:off x="5985472" y="4406153"/>
            <a:ext cx="1481109" cy="148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11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F3A44-09E8-4BE2-A5DD-95AF2243E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6EF98-076C-577D-CFB7-742E3E7EF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Pipeline: Similarity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068A76-DC29-134C-DF84-9529E016E0F3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Why link issues together?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31DA1FC3-79AA-3AC6-6ADE-712FBA16A92F}"/>
              </a:ext>
            </a:extLst>
          </p:cNvPr>
          <p:cNvSpPr/>
          <p:nvPr/>
        </p:nvSpPr>
        <p:spPr>
          <a:xfrm>
            <a:off x="340364" y="107572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5AE9E53-78FF-3AA4-D22A-4BD9F7950E7F}"/>
              </a:ext>
            </a:extLst>
          </p:cNvPr>
          <p:cNvSpPr/>
          <p:nvPr/>
        </p:nvSpPr>
        <p:spPr>
          <a:xfrm>
            <a:off x="606552" y="1828800"/>
            <a:ext cx="4133088" cy="395347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A20E4B04-906B-AFC8-17D6-A636C7FD936F}"/>
              </a:ext>
            </a:extLst>
          </p:cNvPr>
          <p:cNvSpPr/>
          <p:nvPr/>
        </p:nvSpPr>
        <p:spPr>
          <a:xfrm>
            <a:off x="606552" y="1828800"/>
            <a:ext cx="413308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D232D321-EDFC-9608-1FEF-93315EA6613F}"/>
              </a:ext>
            </a:extLst>
          </p:cNvPr>
          <p:cNvSpPr/>
          <p:nvPr/>
        </p:nvSpPr>
        <p:spPr>
          <a:xfrm>
            <a:off x="734568" y="2093976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Why this step?</a:t>
            </a:r>
            <a:endParaRPr lang="en-US" sz="10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7D757114-F05E-4F02-AEDA-1092DDAC0815}"/>
              </a:ext>
            </a:extLst>
          </p:cNvPr>
          <p:cNvSpPr/>
          <p:nvPr/>
        </p:nvSpPr>
        <p:spPr>
          <a:xfrm>
            <a:off x="734568" y="2401607"/>
            <a:ext cx="40570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Two different issues can describe the same bug with different words. Computing similarity enriches each issue with useful cross-references.</a:t>
            </a:r>
            <a:endParaRPr lang="en-US" sz="95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DFE8A12-EE7E-8AF3-700E-B8067937C749}"/>
              </a:ext>
            </a:extLst>
          </p:cNvPr>
          <p:cNvSpPr/>
          <p:nvPr/>
        </p:nvSpPr>
        <p:spPr>
          <a:xfrm>
            <a:off x="734568" y="3087407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How?</a:t>
            </a:r>
            <a:endParaRPr lang="en-US" sz="100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37A06EE6-B1EA-ABA5-186C-4F7D7FC4DCC7}"/>
              </a:ext>
            </a:extLst>
          </p:cNvPr>
          <p:cNvSpPr/>
          <p:nvPr/>
        </p:nvSpPr>
        <p:spPr>
          <a:xfrm>
            <a:off x="734568" y="35129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606B55C7-33D6-6591-1081-D1C71A177D8A}"/>
              </a:ext>
            </a:extLst>
          </p:cNvPr>
          <p:cNvSpPr/>
          <p:nvPr/>
        </p:nvSpPr>
        <p:spPr>
          <a:xfrm>
            <a:off x="972312" y="349464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TF-IDF applied to the </a:t>
            </a:r>
            <a:r>
              <a:rPr lang="en-US" sz="9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clean_text</a:t>
            </a:r>
            <a:r>
              <a:rPr lang="en-US" sz="9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des issues</a:t>
            </a:r>
            <a:endParaRPr lang="en-US" sz="95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01A4F3AA-A001-1347-97FD-41C33A706110}"/>
              </a:ext>
            </a:extLst>
          </p:cNvPr>
          <p:cNvSpPr/>
          <p:nvPr/>
        </p:nvSpPr>
        <p:spPr>
          <a:xfrm>
            <a:off x="734568" y="387868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87615A7D-19CB-7B76-27CE-B992077A7249}"/>
              </a:ext>
            </a:extLst>
          </p:cNvPr>
          <p:cNvSpPr/>
          <p:nvPr/>
        </p:nvSpPr>
        <p:spPr>
          <a:xfrm>
            <a:off x="972312" y="386040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Score </a:t>
            </a:r>
            <a:r>
              <a:rPr lang="en-US" sz="9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cosine</a:t>
            </a:r>
            <a:r>
              <a:rPr lang="en-US" sz="9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entre chaque paire d'issues</a:t>
            </a:r>
            <a:endParaRPr lang="en-US" sz="95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BA418148-5772-142D-78A2-16427759145E}"/>
              </a:ext>
            </a:extLst>
          </p:cNvPr>
          <p:cNvSpPr/>
          <p:nvPr/>
        </p:nvSpPr>
        <p:spPr>
          <a:xfrm>
            <a:off x="734568" y="424444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49CC9D0E-BB46-6F73-3F57-451EE6B0AFAD}"/>
              </a:ext>
            </a:extLst>
          </p:cNvPr>
          <p:cNvSpPr/>
          <p:nvPr/>
        </p:nvSpPr>
        <p:spPr>
          <a:xfrm>
            <a:off x="972312" y="422616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Add the </a:t>
            </a:r>
            <a:r>
              <a:rPr lang="en-US" sz="9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related_issue_ids</a:t>
            </a:r>
            <a:r>
              <a:rPr lang="en-US" sz="9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dans chaque issue</a:t>
            </a:r>
            <a:endParaRPr lang="en-US" sz="950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0D654C76-96B3-9006-1C41-015E2C03FD6C}"/>
              </a:ext>
            </a:extLst>
          </p:cNvPr>
          <p:cNvSpPr/>
          <p:nvPr/>
        </p:nvSpPr>
        <p:spPr>
          <a:xfrm>
            <a:off x="734568" y="461020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AB4C07E8-0705-5A60-4DB2-DD0DC0CC48D8}"/>
              </a:ext>
            </a:extLst>
          </p:cNvPr>
          <p:cNvSpPr/>
          <p:nvPr/>
        </p:nvSpPr>
        <p:spPr>
          <a:xfrm>
            <a:off x="972312" y="459192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Configurable similarity threshold </a:t>
            </a:r>
            <a:endParaRPr lang="en-US" sz="95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FDFCD41D-2FD9-410A-BE27-40A8A3D67BA8}"/>
              </a:ext>
            </a:extLst>
          </p:cNvPr>
          <p:cNvSpPr/>
          <p:nvPr/>
        </p:nvSpPr>
        <p:spPr>
          <a:xfrm>
            <a:off x="734568" y="5074920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Résultat does: </a:t>
            </a:r>
            <a:r>
              <a:rPr lang="en-US" sz="10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chaque issue sait quelles autres issues lui ressemblent → </a:t>
            </a:r>
            <a:r>
              <a:rPr lang="en-US" sz="100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related_issue_ids</a:t>
            </a:r>
            <a:r>
              <a:rPr lang="en-US" sz="10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39994D-526F-02EA-45A6-64E6038B0C68}"/>
              </a:ext>
            </a:extLst>
          </p:cNvPr>
          <p:cNvSpPr txBox="1"/>
          <p:nvPr/>
        </p:nvSpPr>
        <p:spPr>
          <a:xfrm>
            <a:off x="5263765" y="3568501"/>
            <a:ext cx="6271260" cy="357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xample</a:t>
            </a: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pic>
        <p:nvPicPr>
          <p:cNvPr id="41" name="Graphic 40" descr="Arrow Right with solid fill">
            <a:extLst>
              <a:ext uri="{FF2B5EF4-FFF2-40B4-BE49-F238E27FC236}">
                <a16:creationId xmlns:a16="http://schemas.microsoft.com/office/drawing/2014/main" id="{47821902-8BAE-C52F-78F0-5794E5DB74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0982" y="3906879"/>
            <a:ext cx="431535" cy="431535"/>
          </a:xfrm>
          <a:prstGeom prst="rect">
            <a:avLst/>
          </a:prstGeom>
        </p:spPr>
      </p:pic>
      <p:sp>
        <p:nvSpPr>
          <p:cNvPr id="42" name="Shape 14">
            <a:extLst>
              <a:ext uri="{FF2B5EF4-FFF2-40B4-BE49-F238E27FC236}">
                <a16:creationId xmlns:a16="http://schemas.microsoft.com/office/drawing/2014/main" id="{610E26E2-BBF9-EE78-65BB-FFD7826ABE77}"/>
              </a:ext>
            </a:extLst>
          </p:cNvPr>
          <p:cNvSpPr/>
          <p:nvPr/>
        </p:nvSpPr>
        <p:spPr>
          <a:xfrm>
            <a:off x="6928236" y="1560265"/>
            <a:ext cx="3703320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204FC0CC-8ABC-0C04-C595-0178428E912C}"/>
              </a:ext>
            </a:extLst>
          </p:cNvPr>
          <p:cNvSpPr/>
          <p:nvPr/>
        </p:nvSpPr>
        <p:spPr>
          <a:xfrm>
            <a:off x="6928236" y="1560265"/>
            <a:ext cx="3703320" cy="3657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0000"/>
                </a:solidFill>
              </a:rPr>
              <a:t>Sans </a:t>
            </a:r>
            <a:r>
              <a:rPr lang="en-US" sz="1200" b="1" dirty="0" err="1">
                <a:solidFill>
                  <a:srgbClr val="C00000"/>
                </a:solidFill>
              </a:rPr>
              <a:t>Similarity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5E431D46-86C8-4517-D197-81481F5C975A}"/>
              </a:ext>
            </a:extLst>
          </p:cNvPr>
          <p:cNvSpPr/>
          <p:nvPr/>
        </p:nvSpPr>
        <p:spPr>
          <a:xfrm>
            <a:off x="6922937" y="2028894"/>
            <a:ext cx="370332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D56FCC8F-8D2A-4B0E-0504-014D2C73C7B4}"/>
              </a:ext>
            </a:extLst>
          </p:cNvPr>
          <p:cNvSpPr/>
          <p:nvPr/>
        </p:nvSpPr>
        <p:spPr>
          <a:xfrm>
            <a:off x="7065396" y="1999177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6506C2F6-0B07-A72D-DA2F-9D3C2FA5D8A0}"/>
              </a:ext>
            </a:extLst>
          </p:cNvPr>
          <p:cNvSpPr/>
          <p:nvPr/>
        </p:nvSpPr>
        <p:spPr>
          <a:xfrm>
            <a:off x="7065396" y="2254587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B"/>
                </a:solidFill>
              </a:rPr>
              <a:t>User asks: </a:t>
            </a:r>
            <a:endParaRPr lang="en-US" sz="1000" dirty="0">
              <a:solidFill>
                <a:srgbClr val="1B2A3B"/>
              </a:solidFill>
            </a:endParaRPr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9930BD4B-DC47-6A74-22B1-6E64B918CB50}"/>
              </a:ext>
            </a:extLst>
          </p:cNvPr>
          <p:cNvSpPr/>
          <p:nvPr/>
        </p:nvSpPr>
        <p:spPr>
          <a:xfrm>
            <a:off x="7065396" y="252267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"USART compile error when UART disabled" </a:t>
            </a:r>
            <a:endParaRPr lang="en-US" sz="1050" dirty="0"/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EA715E55-4938-C01A-4E29-6189B4BAD1A0}"/>
              </a:ext>
            </a:extLst>
          </p:cNvPr>
          <p:cNvSpPr/>
          <p:nvPr/>
        </p:nvSpPr>
        <p:spPr>
          <a:xfrm>
            <a:off x="7065396" y="294974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  </a:t>
            </a:r>
            <a:endParaRPr lang="en-US" sz="1000" dirty="0">
              <a:solidFill>
                <a:srgbClr val="0D9488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3296C8C-F985-E8B2-E421-65EC15B72E64}"/>
              </a:ext>
            </a:extLst>
          </p:cNvPr>
          <p:cNvSpPr txBox="1"/>
          <p:nvPr/>
        </p:nvSpPr>
        <p:spPr>
          <a:xfrm>
            <a:off x="7254504" y="2938393"/>
            <a:ext cx="32398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1B2A3B"/>
                </a:solidFill>
              </a:rPr>
              <a:t>System finds one issue → partial answer, no cross-validation.</a:t>
            </a:r>
          </a:p>
        </p:txBody>
      </p:sp>
      <p:pic>
        <p:nvPicPr>
          <p:cNvPr id="62" name="Graphic 61" descr="Arrow Right with solid fill">
            <a:extLst>
              <a:ext uri="{FF2B5EF4-FFF2-40B4-BE49-F238E27FC236}">
                <a16:creationId xmlns:a16="http://schemas.microsoft.com/office/drawing/2014/main" id="{7B04203A-91C8-C513-4278-F338FA8F1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7117344" y="3016587"/>
            <a:ext cx="137160" cy="137160"/>
          </a:xfrm>
          <a:prstGeom prst="rect">
            <a:avLst/>
          </a:prstGeom>
        </p:spPr>
      </p:pic>
      <p:sp>
        <p:nvSpPr>
          <p:cNvPr id="73" name="Shape 14">
            <a:extLst>
              <a:ext uri="{FF2B5EF4-FFF2-40B4-BE49-F238E27FC236}">
                <a16:creationId xmlns:a16="http://schemas.microsoft.com/office/drawing/2014/main" id="{462F4707-C041-C096-3BC3-55A1A70280BA}"/>
              </a:ext>
            </a:extLst>
          </p:cNvPr>
          <p:cNvSpPr/>
          <p:nvPr/>
        </p:nvSpPr>
        <p:spPr>
          <a:xfrm>
            <a:off x="6928236" y="3855978"/>
            <a:ext cx="3703320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4" name="Text 15">
            <a:extLst>
              <a:ext uri="{FF2B5EF4-FFF2-40B4-BE49-F238E27FC236}">
                <a16:creationId xmlns:a16="http://schemas.microsoft.com/office/drawing/2014/main" id="{4872DB8A-6DB6-CD3D-C0CF-F5BBA0D163FE}"/>
              </a:ext>
            </a:extLst>
          </p:cNvPr>
          <p:cNvSpPr/>
          <p:nvPr/>
        </p:nvSpPr>
        <p:spPr>
          <a:xfrm>
            <a:off x="6928236" y="385597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589"/>
                </a:solidFill>
              </a:rPr>
              <a:t>Avec </a:t>
            </a:r>
            <a:r>
              <a:rPr lang="en-US" sz="1200" b="1" dirty="0" err="1">
                <a:solidFill>
                  <a:srgbClr val="0D9589"/>
                </a:solidFill>
              </a:rPr>
              <a:t>Similarity</a:t>
            </a:r>
            <a:endParaRPr lang="en-US" sz="1200" dirty="0">
              <a:solidFill>
                <a:srgbClr val="0D9589"/>
              </a:solidFill>
            </a:endParaRPr>
          </a:p>
        </p:txBody>
      </p:sp>
      <p:sp>
        <p:nvSpPr>
          <p:cNvPr id="75" name="Shape 16">
            <a:extLst>
              <a:ext uri="{FF2B5EF4-FFF2-40B4-BE49-F238E27FC236}">
                <a16:creationId xmlns:a16="http://schemas.microsoft.com/office/drawing/2014/main" id="{F14ABEBA-460F-937C-AD6C-491F0A66A5A5}"/>
              </a:ext>
            </a:extLst>
          </p:cNvPr>
          <p:cNvSpPr/>
          <p:nvPr/>
        </p:nvSpPr>
        <p:spPr>
          <a:xfrm>
            <a:off x="6922937" y="4324607"/>
            <a:ext cx="370332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6" name="Text 17">
            <a:extLst>
              <a:ext uri="{FF2B5EF4-FFF2-40B4-BE49-F238E27FC236}">
                <a16:creationId xmlns:a16="http://schemas.microsoft.com/office/drawing/2014/main" id="{5EAFCBB1-55C6-58B3-475B-3836DDDC6113}"/>
              </a:ext>
            </a:extLst>
          </p:cNvPr>
          <p:cNvSpPr/>
          <p:nvPr/>
        </p:nvSpPr>
        <p:spPr>
          <a:xfrm>
            <a:off x="7065396" y="4294890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78" name="Text 20">
            <a:extLst>
              <a:ext uri="{FF2B5EF4-FFF2-40B4-BE49-F238E27FC236}">
                <a16:creationId xmlns:a16="http://schemas.microsoft.com/office/drawing/2014/main" id="{22A70114-5265-6BB7-6F11-49993B2A424C}"/>
              </a:ext>
            </a:extLst>
          </p:cNvPr>
          <p:cNvSpPr/>
          <p:nvPr/>
        </p:nvSpPr>
        <p:spPr>
          <a:xfrm>
            <a:off x="7065396" y="4909747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Le système retrouve 3 issues proches:</a:t>
            </a:r>
          </a:p>
          <a:p>
            <a:pPr marL="0" indent="0">
              <a:buNone/>
            </a:pPr>
            <a:endParaRPr lang="en-US" sz="1050" dirty="0">
              <a:solidFill>
                <a:srgbClr val="1B2A3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B2A3B"/>
                </a:solidFill>
              </a:rPr>
              <a:t>même composant (UART/USART)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B2A3B"/>
                </a:solidFill>
              </a:rPr>
              <a:t>same symptom type (compile-time </a:t>
            </a:r>
            <a:r>
              <a:rPr lang="en-US" sz="1050" dirty="0" err="1">
                <a:solidFill>
                  <a:srgbClr val="1B2A3B"/>
                </a:solidFill>
              </a:rPr>
              <a:t>guard</a:t>
            </a:r>
            <a:r>
              <a:rPr lang="en-US" sz="1050" dirty="0">
                <a:solidFill>
                  <a:srgbClr val="1B2A3B"/>
                </a:solidFill>
              </a:rPr>
              <a:t>/</a:t>
            </a:r>
            <a:r>
              <a:rPr lang="en-US" sz="1050" dirty="0" err="1">
                <a:solidFill>
                  <a:srgbClr val="1B2A3B"/>
                </a:solidFill>
              </a:rPr>
              <a:t>dependency</a:t>
            </a:r>
            <a:r>
              <a:rPr lang="en-US" sz="1050" dirty="0">
                <a:solidFill>
                  <a:srgbClr val="1B2A3B"/>
                </a:solidFill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B2A3B"/>
                </a:solidFill>
              </a:rPr>
              <a:t>corrections déjà discutées dans des threads liés</a:t>
            </a:r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E56910C1-18A1-D7C9-3BB1-9CC5CCCEA200}"/>
              </a:ext>
            </a:extLst>
          </p:cNvPr>
          <p:cNvSpPr/>
          <p:nvPr/>
        </p:nvSpPr>
        <p:spPr>
          <a:xfrm>
            <a:off x="7065396" y="5245455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  </a:t>
            </a:r>
            <a:endParaRPr lang="en-US" sz="1000" dirty="0">
              <a:solidFill>
                <a:srgbClr val="0D9488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5C416C-3086-36CC-49A9-AFDCD62A395E}"/>
              </a:ext>
            </a:extLst>
          </p:cNvPr>
          <p:cNvSpPr txBox="1"/>
          <p:nvPr/>
        </p:nvSpPr>
        <p:spPr>
          <a:xfrm>
            <a:off x="2801112" y="6251633"/>
            <a:ext cx="9201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dirty="0">
                <a:solidFill>
                  <a:srgbClr val="0D9589"/>
                </a:solidFill>
              </a:rPr>
              <a:t>Result: </a:t>
            </a:r>
            <a:r>
              <a:rPr lang="en-US" sz="1400" i="1" dirty="0">
                <a:solidFill>
                  <a:srgbClr val="1B2A3B"/>
                </a:solidFill>
              </a:rPr>
              <a:t>réponse plus fiable, avec alternatives of fix and validation croisée.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37580731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D4431-15DA-724A-0889-CCA7FC243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B509B-0CB0-285B-EEE4-1534E460F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Pipeline: Similarity</a:t>
            </a:r>
            <a:endParaRPr lang="fr-FR" sz="1800" b="1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C14F81-6B78-B90F-AD40-12C17DA93D33}"/>
              </a:ext>
            </a:extLst>
          </p:cNvPr>
          <p:cNvSpPr txBox="1"/>
          <p:nvPr/>
        </p:nvSpPr>
        <p:spPr>
          <a:xfrm>
            <a:off x="393456" y="428383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dirty="0">
                <a:solidFill>
                  <a:srgbClr val="425A78"/>
                </a:solidFill>
              </a:rPr>
              <a:t>Recherche TF-IDF Interactive — Validation Offline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50586D5-38DE-9065-4CCF-0C1BAF40F155}"/>
              </a:ext>
            </a:extLst>
          </p:cNvPr>
          <p:cNvSpPr/>
          <p:nvPr/>
        </p:nvSpPr>
        <p:spPr>
          <a:xfrm>
            <a:off x="488386" y="677043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dirty="0">
                <a:solidFill>
                  <a:srgbClr val="64748B"/>
                </a:solidFill>
              </a:rPr>
              <a:t>Pourquoi ? Comment ça fonctionne 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C5E7EF17-CE98-6308-C3C7-1A5F47CA8201}"/>
              </a:ext>
            </a:extLst>
          </p:cNvPr>
          <p:cNvSpPr/>
          <p:nvPr/>
        </p:nvSpPr>
        <p:spPr>
          <a:xfrm>
            <a:off x="439525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2F8EE3C-9A8E-70F6-2565-99DF0691B8FC}"/>
              </a:ext>
            </a:extLst>
          </p:cNvPr>
          <p:cNvSpPr/>
          <p:nvPr/>
        </p:nvSpPr>
        <p:spPr>
          <a:xfrm>
            <a:off x="1275623" y="1929877"/>
            <a:ext cx="8686800" cy="713232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1726A3D-270B-06CB-7AA6-A30F58650EF7}"/>
              </a:ext>
            </a:extLst>
          </p:cNvPr>
          <p:cNvSpPr/>
          <p:nvPr/>
        </p:nvSpPr>
        <p:spPr>
          <a:xfrm>
            <a:off x="1412783" y="1966453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dirty="0">
                <a:solidFill>
                  <a:srgbClr val="1E5FA8"/>
                </a:solidFill>
                <a:ea typeface="Calibri" pitchFamily="34" charset="-122"/>
                <a:cs typeface="Calibri" pitchFamily="34" charset="-120"/>
              </a:rPr>
              <a:t>Objective: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Before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uploading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the data to the ST platform,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we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want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to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validate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fr-FR" sz="105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offline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that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the system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retrieval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retrieves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relevant documents on real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queries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. Enter a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natural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language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question → the system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returns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the 5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closest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issues or files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with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a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cosine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. Un score &gt; 0.40 est considéré pertinent. C'est un test of qualité du pipeline d'indexation.</a:t>
            </a:r>
            <a:endParaRPr lang="fr-FR" sz="105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7975988-151E-8E6B-3132-D17D061C0E80}"/>
              </a:ext>
            </a:extLst>
          </p:cNvPr>
          <p:cNvSpPr/>
          <p:nvPr/>
        </p:nvSpPr>
        <p:spPr>
          <a:xfrm>
            <a:off x="1275623" y="2934810"/>
            <a:ext cx="8686800" cy="347472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CC2DE493-974A-DE93-EF00-4C170E02C433}"/>
              </a:ext>
            </a:extLst>
          </p:cNvPr>
          <p:cNvSpPr/>
          <p:nvPr/>
        </p:nvSpPr>
        <p:spPr>
          <a:xfrm>
            <a:off x="1367063" y="297138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</a:t>
            </a:r>
            <a:r>
              <a:rPr lang="fr-FR" sz="110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ême TF-IDF pipeline but in interactive query mode</a:t>
            </a:r>
            <a:endParaRPr lang="fr-FR" sz="11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BA327BE-AEA5-3478-9E49-9AC4EC6B2671}"/>
              </a:ext>
            </a:extLst>
          </p:cNvPr>
          <p:cNvSpPr/>
          <p:nvPr/>
        </p:nvSpPr>
        <p:spPr>
          <a:xfrm>
            <a:off x="1275623" y="3573983"/>
            <a:ext cx="4251960" cy="292608"/>
          </a:xfrm>
          <a:prstGeom prst="rect">
            <a:avLst/>
          </a:prstGeom>
          <a:solidFill>
            <a:srgbClr val="F8FAFC"/>
          </a:solidFill>
          <a:ln>
            <a:solidFill>
              <a:srgbClr val="0D9589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D95BEFA5-F426-DD9A-52EC-26533465E2A9}"/>
              </a:ext>
            </a:extLst>
          </p:cNvPr>
          <p:cNvSpPr/>
          <p:nvPr/>
        </p:nvSpPr>
        <p:spPr>
          <a:xfrm>
            <a:off x="1275623" y="3573983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50" b="1">
                <a:ea typeface="Calibri" pitchFamily="34" charset="-122"/>
                <a:cs typeface="Calibri" pitchFamily="34" charset="-120"/>
              </a:rPr>
              <a:t>Recherche </a:t>
            </a:r>
            <a:r>
              <a:rPr lang="fr-FR" sz="1050" b="1" dirty="0">
                <a:ea typeface="Calibri" pitchFamily="34" charset="-122"/>
                <a:cs typeface="Calibri" pitchFamily="34" charset="-120"/>
              </a:rPr>
              <a:t>Issues (</a:t>
            </a:r>
            <a:r>
              <a:rPr lang="fr-FR" sz="1050" b="1">
                <a:ea typeface="Calibri" pitchFamily="34" charset="-122"/>
                <a:cs typeface="Calibri" pitchFamily="34" charset="-120"/>
              </a:rPr>
              <a:t>max_features=8 000)</a:t>
            </a:r>
            <a:endParaRPr lang="fr-FR" sz="105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34AA749-641C-2C2A-EBDC-E1C94E231B9C}"/>
              </a:ext>
            </a:extLst>
          </p:cNvPr>
          <p:cNvSpPr/>
          <p:nvPr/>
        </p:nvSpPr>
        <p:spPr>
          <a:xfrm>
            <a:off x="1275623" y="3866591"/>
            <a:ext cx="4251960" cy="54864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C66E73C9-A4E4-030B-1072-EE93959CCF81}"/>
              </a:ext>
            </a:extLst>
          </p:cNvPr>
          <p:cNvSpPr/>
          <p:nvPr/>
        </p:nvSpPr>
        <p:spPr>
          <a:xfrm>
            <a:off x="1540799" y="3509975"/>
            <a:ext cx="40325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fr-FR" sz="9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F3C4543-7B26-9B4B-361D-22810322B080}"/>
              </a:ext>
            </a:extLst>
          </p:cNvPr>
          <p:cNvSpPr/>
          <p:nvPr/>
        </p:nvSpPr>
        <p:spPr>
          <a:xfrm>
            <a:off x="1275623" y="3921455"/>
            <a:ext cx="4251960" cy="101138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A5079B87-5A74-C140-742A-1061610B93C1}"/>
              </a:ext>
            </a:extLst>
          </p:cNvPr>
          <p:cNvSpPr/>
          <p:nvPr/>
        </p:nvSpPr>
        <p:spPr>
          <a:xfrm>
            <a:off x="1367063" y="3958031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0D9488"/>
                </a:solidFill>
              </a:rPr>
              <a:t>Output Exemple : </a:t>
            </a:r>
            <a:endParaRPr lang="fr-FR" sz="10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114A19C6-CF59-1F93-8D71-0DE0C51A367E}"/>
              </a:ext>
            </a:extLst>
          </p:cNvPr>
          <p:cNvSpPr/>
          <p:nvPr/>
        </p:nvSpPr>
        <p:spPr>
          <a:xfrm>
            <a:off x="1367063" y="4232351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[score=0.623] #487 — DMA SPI issue</a:t>
            </a:r>
            <a:endParaRPr lang="fr-FR" sz="900" dirty="0"/>
          </a:p>
          <a:p>
            <a:pPr marL="0" indent="0">
              <a:buNone/>
            </a:pP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 layer=</a:t>
            </a:r>
            <a:r>
              <a:rPr lang="fr-FR" sz="90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HAL_Driver</a:t>
            </a: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, </a:t>
            </a:r>
            <a:r>
              <a:rPr lang="fr-FR" sz="90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severity</a:t>
            </a: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=high</a:t>
            </a:r>
            <a:endParaRPr lang="fr-FR" sz="900" dirty="0"/>
          </a:p>
          <a:p>
            <a:pPr marL="0" indent="0">
              <a:buNone/>
            </a:pP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 component=SPI, </a:t>
            </a:r>
            <a:r>
              <a:rPr lang="fr-FR" sz="90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board</a:t>
            </a: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=NUCLEO-H743</a:t>
            </a:r>
            <a:endParaRPr lang="fr-FR" sz="900" dirty="0"/>
          </a:p>
          <a:p>
            <a:pPr marL="0" indent="0">
              <a:buNone/>
            </a:pP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 url=github.com/STM32CubeH7/issues/487</a:t>
            </a:r>
            <a:endParaRPr lang="fr-FR" sz="9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DB25CB58-2291-A416-49FD-8BBA2C9FC66A}"/>
              </a:ext>
            </a:extLst>
          </p:cNvPr>
          <p:cNvSpPr/>
          <p:nvPr/>
        </p:nvSpPr>
        <p:spPr>
          <a:xfrm>
            <a:off x="5756183" y="3573983"/>
            <a:ext cx="4206240" cy="292608"/>
          </a:xfrm>
          <a:prstGeom prst="rect">
            <a:avLst/>
          </a:prstGeom>
          <a:solidFill>
            <a:srgbClr val="F8FAFC"/>
          </a:solidFill>
          <a:ln>
            <a:solidFill>
              <a:srgbClr val="0D9589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D9B9D7AD-0883-D521-5D72-F6BAF75B1844}"/>
              </a:ext>
            </a:extLst>
          </p:cNvPr>
          <p:cNvSpPr/>
          <p:nvPr/>
        </p:nvSpPr>
        <p:spPr>
          <a:xfrm>
            <a:off x="5756183" y="3573983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50" b="1">
                <a:ea typeface="Calibri" pitchFamily="34" charset="-122"/>
                <a:cs typeface="Calibri" pitchFamily="34" charset="-120"/>
              </a:rPr>
              <a:t>Recherche </a:t>
            </a:r>
            <a:r>
              <a:rPr lang="fr-FR" sz="1050" b="1" dirty="0">
                <a:ea typeface="Calibri" pitchFamily="34" charset="-122"/>
                <a:cs typeface="Calibri" pitchFamily="34" charset="-120"/>
              </a:rPr>
              <a:t>Fichiers (</a:t>
            </a:r>
            <a:r>
              <a:rPr lang="fr-FR" sz="1050" b="1">
                <a:ea typeface="Calibri" pitchFamily="34" charset="-122"/>
                <a:cs typeface="Calibri" pitchFamily="34" charset="-120"/>
              </a:rPr>
              <a:t>max_features=8 000)</a:t>
            </a:r>
            <a:endParaRPr lang="fr-FR" sz="1050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12E6D101-8B4B-57EF-9E71-EF8429E30E8D}"/>
              </a:ext>
            </a:extLst>
          </p:cNvPr>
          <p:cNvSpPr/>
          <p:nvPr/>
        </p:nvSpPr>
        <p:spPr>
          <a:xfrm>
            <a:off x="5756183" y="3866591"/>
            <a:ext cx="4206240" cy="54864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058E2BC1-B334-D814-DDA5-00997D40A210}"/>
              </a:ext>
            </a:extLst>
          </p:cNvPr>
          <p:cNvSpPr/>
          <p:nvPr/>
        </p:nvSpPr>
        <p:spPr>
          <a:xfrm>
            <a:off x="5756183" y="3896441"/>
            <a:ext cx="3986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fr-FR" sz="900" dirty="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C8D4A18E-AF2C-D9A4-E380-33B8CD9979D7}"/>
              </a:ext>
            </a:extLst>
          </p:cNvPr>
          <p:cNvSpPr/>
          <p:nvPr/>
        </p:nvSpPr>
        <p:spPr>
          <a:xfrm>
            <a:off x="5756183" y="3921454"/>
            <a:ext cx="4206240" cy="1011387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F73DB0B0-6D50-445D-F2DA-5597340D1D19}"/>
              </a:ext>
            </a:extLst>
          </p:cNvPr>
          <p:cNvSpPr/>
          <p:nvPr/>
        </p:nvSpPr>
        <p:spPr>
          <a:xfrm>
            <a:off x="5847623" y="3958031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b="1" dirty="0">
                <a:solidFill>
                  <a:srgbClr val="0D9488"/>
                </a:solidFill>
              </a:rPr>
              <a:t>Output Exemple : </a:t>
            </a:r>
            <a:endParaRPr lang="fr-FR" sz="10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9EC6BBB1-79AB-FD38-E67D-DE657E74CEBD}"/>
              </a:ext>
            </a:extLst>
          </p:cNvPr>
          <p:cNvSpPr/>
          <p:nvPr/>
        </p:nvSpPr>
        <p:spPr>
          <a:xfrm>
            <a:off x="5847623" y="4232351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[score=0.541] </a:t>
            </a:r>
            <a:r>
              <a:rPr lang="fr-FR" sz="90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release_notes</a:t>
            </a:r>
            <a:endParaRPr lang="fr-FR" sz="900" dirty="0"/>
          </a:p>
          <a:p>
            <a:pPr marL="0" indent="0">
              <a:buNone/>
            </a:pP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 Drivers/STM32H7xx_HAL_Driver/</a:t>
            </a:r>
            <a:endParaRPr lang="fr-FR" sz="900" dirty="0"/>
          </a:p>
          <a:p>
            <a:pPr marL="0" indent="0">
              <a:buNone/>
            </a:pP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 Release_Notes.html</a:t>
            </a:r>
            <a:endParaRPr lang="fr-FR" sz="900" dirty="0"/>
          </a:p>
          <a:p>
            <a:pPr marL="0" indent="0">
              <a:buNone/>
            </a:pP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 </a:t>
            </a:r>
            <a:r>
              <a:rPr lang="fr-FR" sz="90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excerpt</a:t>
            </a: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: STM32H7 HAL v1.11...</a:t>
            </a:r>
            <a:endParaRPr lang="fr-FR" sz="900" dirty="0"/>
          </a:p>
        </p:txBody>
      </p:sp>
    </p:spTree>
    <p:extLst>
      <p:ext uri="{BB962C8B-B14F-4D97-AF65-F5344CB8AC3E}">
        <p14:creationId xmlns:p14="http://schemas.microsoft.com/office/powerpoint/2010/main" val="21458840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0784E-84E2-7239-74A2-04D037645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14ED1-439C-CAF4-7933-A2CD92B5A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The Preprocessing </a:t>
            </a:r>
            <a:r>
              <a:rPr lang="en-US" sz="1800" b="1" dirty="0" err="1"/>
              <a:t>Pipeline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E6CB2F-DAA6-895F-3FF1-60B7EC1C5F8D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C5D14F67-1717-46B2-60E4-EF08EF1BA472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BAFB0FA-C91C-D94C-93D6-488DA1A93448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F441E1E1-05D4-D65C-5BB9-D894B1D0EFDF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BA923E35-B385-A1E6-A74C-83395436A9AF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5F5C8785-A860-31C4-A640-EBECAEA8A370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1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0FEDB727-7E06-A4EF-1160-0C7F4EEC0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4D555E46-31DE-17CB-7281-B597F6BAD413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Ingestion</a:t>
            </a:r>
            <a:endParaRPr lang="en-US" sz="10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740A2EE1-CC41-39A4-F457-52EAA52D97EA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Download raw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from GitHub</a:t>
            </a:r>
            <a:endParaRPr lang="en-US" sz="10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84F9E6A0-1D7E-6311-87ED-664055370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9BD20430-43BF-754C-E1D3-41C14F8415E8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6FC04CA2-1D7B-D790-4D78-69384D9E5A28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E63FAACE-E8EB-7313-E212-1302137E6C97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2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93B80BD-4D83-28E6-C1DC-08F9C1A74AE1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Cleaning</a:t>
            </a: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2437C55-639A-AF7A-AB60-860BD97594BE}"/>
              </a:ext>
            </a:extLst>
          </p:cNvPr>
          <p:cNvSpPr/>
          <p:nvPr/>
        </p:nvSpPr>
        <p:spPr>
          <a:xfrm>
            <a:off x="2282448" y="2731412"/>
            <a:ext cx="12066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remove HTML,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normalize</a:t>
            </a:r>
            <a:endParaRPr lang="en-US" sz="100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2F60DDCE-90FD-B13D-489D-0E9011F1E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05DF6DA4-91CD-0AB1-8A39-6DB4EE6EC0D5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7C73A7CE-2D43-E121-7291-9A9478219EF0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383AC81-06AA-EF1C-85FB-2C3024CBABD9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3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4030F8FE-CC80-5682-EA8D-4905D1A8B4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C93446C8-622D-424D-2576-E4B0869BE5DC}"/>
              </a:ext>
            </a:extLst>
          </p:cNvPr>
          <p:cNvSpPr/>
          <p:nvPr/>
        </p:nvSpPr>
        <p:spPr>
          <a:xfrm>
            <a:off x="4026927" y="258335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 err="1">
                <a:solidFill>
                  <a:srgbClr val="1B2A3B"/>
                </a:solidFill>
              </a:rPr>
              <a:t>Enrichment</a:t>
            </a:r>
            <a:endParaRPr lang="en-US" sz="1050" b="1" dirty="0">
              <a:solidFill>
                <a:srgbClr val="1B2A3B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(</a:t>
            </a:r>
            <a:r>
              <a:rPr lang="en-US" sz="900" b="1" dirty="0" err="1">
                <a:solidFill>
                  <a:srgbClr val="0D9488"/>
                </a:solidFill>
              </a:rPr>
              <a:t>Feature</a:t>
            </a:r>
            <a:endParaRPr lang="en-US" sz="900" b="1" dirty="0">
              <a:solidFill>
                <a:srgbClr val="0D9488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Engineering)</a:t>
            </a:r>
            <a:endParaRPr lang="en-US" sz="1050" b="1" dirty="0">
              <a:solidFill>
                <a:srgbClr val="0D9488"/>
              </a:solidFill>
            </a:endParaRPr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BDE68991-D913-2777-6922-4A55E8B1BCF9}"/>
              </a:ext>
            </a:extLst>
          </p:cNvPr>
          <p:cNvSpPr/>
          <p:nvPr/>
        </p:nvSpPr>
        <p:spPr>
          <a:xfrm>
            <a:off x="3897518" y="2938258"/>
            <a:ext cx="12515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Add board, component, layer, severity, issue_kind, is_valid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2093E349-7758-F665-2BC5-7B1ED6E33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0A08616B-B4B4-BB09-E666-0B31E6CD6831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196A1E7E-DC81-61C2-8AC3-FFC8BD8490A4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77FEC3C4-AA5D-5ED3-9D2D-242A05A64BF7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4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EDC47BC4-EC15-73EE-6C31-ADBF4D471D41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Similarity</a:t>
            </a:r>
            <a:endParaRPr lang="en-US" sz="105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CBB0214B-23B5-39A4-9DA4-01529CFC5D26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Link related issues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describing the same bug</a:t>
            </a:r>
            <a:endParaRPr lang="en-US" sz="100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62952773-8864-5B44-6508-59F678F16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A6D23440-2BA9-FDC6-2FEA-2CCE14F7B8E4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6AC5193A-148D-9500-B227-96DF9FF8314C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67205F5E-BF53-CA08-A46C-AA1DFC1CB798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5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252E6628-05D4-3714-8C3D-8C0778E40C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A8EB1BF6-D040-238B-9B6C-2A66A66B046E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Chunking</a:t>
            </a:r>
            <a:endParaRPr lang="en-US" sz="105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4BFB8A31-641D-E7DB-8D84-86A2EF86868F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Split into chunks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 the KB</a:t>
            </a:r>
            <a:endParaRPr lang="en-US" sz="100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55E2B75-7E8C-F8ED-7556-8639E5E46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03DF8B78-9A20-AA17-29CE-110A8CCDCC7C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6D4239EB-515B-66F5-894F-C5759A3E9DC6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1C4D5302-B621-FCEF-782F-F00904BBE106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6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E082FD83-4C64-BFD6-5B67-D968F367A3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62BEE202-E624-593B-1DE8-224CB7AFD979}"/>
              </a:ext>
            </a:extLst>
          </p:cNvPr>
          <p:cNvSpPr/>
          <p:nvPr/>
        </p:nvSpPr>
        <p:spPr>
          <a:xfrm>
            <a:off x="8693671" y="2437053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dirty="0">
                <a:solidFill>
                  <a:srgbClr val="1B2A3B"/>
                </a:solidFill>
              </a:rPr>
              <a:t>(</a:t>
            </a:r>
            <a:r>
              <a:rPr lang="en-US" sz="900" b="1" dirty="0">
                <a:solidFill>
                  <a:srgbClr val="0D9488"/>
                </a:solidFill>
              </a:rPr>
              <a:t>Benchmark</a:t>
            </a:r>
            <a:r>
              <a:rPr lang="en-US" sz="900" b="1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5FA451A7-44F8-E541-C0DF-4B42D934F12A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Test with 50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reference questions</a:t>
            </a:r>
            <a:endParaRPr lang="en-US" sz="100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1D324EFB-EAC2-EA05-50BD-D781E9E78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0D2B4E86-F683-35FC-A9A1-D6F9C41737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AA870CC0-C6DA-36F2-5D92-E8DF9C4DB6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pic>
        <p:nvPicPr>
          <p:cNvPr id="53" name="Graphic 52" descr="Back outline">
            <a:extLst>
              <a:ext uri="{FF2B5EF4-FFF2-40B4-BE49-F238E27FC236}">
                <a16:creationId xmlns:a16="http://schemas.microsoft.com/office/drawing/2014/main" id="{017084DF-3B55-6A22-5C18-5EC3C77C83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015657" flipH="1" flipV="1">
            <a:off x="6787210" y="4305324"/>
            <a:ext cx="1481109" cy="1481109"/>
          </a:xfrm>
          <a:prstGeom prst="rect">
            <a:avLst/>
          </a:prstGeom>
        </p:spPr>
      </p:pic>
      <p:sp>
        <p:nvSpPr>
          <p:cNvPr id="61" name="Shape 44">
            <a:extLst>
              <a:ext uri="{FF2B5EF4-FFF2-40B4-BE49-F238E27FC236}">
                <a16:creationId xmlns:a16="http://schemas.microsoft.com/office/drawing/2014/main" id="{E95A1BB7-085C-242F-D00E-F94E512AEE64}"/>
              </a:ext>
            </a:extLst>
          </p:cNvPr>
          <p:cNvSpPr/>
          <p:nvPr/>
        </p:nvSpPr>
        <p:spPr>
          <a:xfrm>
            <a:off x="2479661" y="4416277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F8D93246-74FD-8E55-5C52-F90249B66453}"/>
              </a:ext>
            </a:extLst>
          </p:cNvPr>
          <p:cNvSpPr/>
          <p:nvPr/>
        </p:nvSpPr>
        <p:spPr>
          <a:xfrm>
            <a:off x="2479661" y="4416277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Text 46">
            <a:extLst>
              <a:ext uri="{FF2B5EF4-FFF2-40B4-BE49-F238E27FC236}">
                <a16:creationId xmlns:a16="http://schemas.microsoft.com/office/drawing/2014/main" id="{178E27ED-AD10-EFEC-AB55-2B2CDC737A8A}"/>
              </a:ext>
            </a:extLst>
          </p:cNvPr>
          <p:cNvSpPr/>
          <p:nvPr/>
        </p:nvSpPr>
        <p:spPr>
          <a:xfrm>
            <a:off x="2680829" y="4507717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❓ Why chunk?</a:t>
            </a:r>
            <a:endParaRPr lang="en-US" sz="1050" dirty="0"/>
          </a:p>
        </p:txBody>
      </p:sp>
      <p:sp>
        <p:nvSpPr>
          <p:cNvPr id="64" name="Text 47">
            <a:extLst>
              <a:ext uri="{FF2B5EF4-FFF2-40B4-BE49-F238E27FC236}">
                <a16:creationId xmlns:a16="http://schemas.microsoft.com/office/drawing/2014/main" id="{98B962DF-02AE-0F52-0AE0-D65EE8761DB8}"/>
              </a:ext>
            </a:extLst>
          </p:cNvPr>
          <p:cNvSpPr/>
          <p:nvPr/>
        </p:nvSpPr>
        <p:spPr>
          <a:xfrm>
            <a:off x="2680829" y="4800325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</a:rPr>
              <a:t>The AI cannot read 5,000 files at once. We split them into small chunks (</a:t>
            </a:r>
            <a:r>
              <a:rPr lang="en-US" sz="1000" dirty="0" err="1">
                <a:solidFill>
                  <a:srgbClr val="1B2A3B"/>
                </a:solidFill>
              </a:rPr>
              <a:t>chunks</a:t>
            </a:r>
            <a:r>
              <a:rPr lang="en-US" sz="1000" dirty="0">
                <a:solidFill>
                  <a:srgbClr val="1B2A3B"/>
                </a:solidFill>
              </a:rPr>
              <a:t>). Chaque </a:t>
            </a:r>
            <a:r>
              <a:rPr lang="en-US" sz="1000" dirty="0" err="1">
                <a:solidFill>
                  <a:srgbClr val="1B2A3B"/>
                </a:solidFill>
              </a:rPr>
              <a:t>chunk</a:t>
            </a:r>
            <a:r>
              <a:rPr lang="en-US" sz="1000" dirty="0">
                <a:solidFill>
                  <a:srgbClr val="1B2A3B"/>
                </a:solidFill>
              </a:rPr>
              <a:t> = un passage précis. La KB indexe ces </a:t>
            </a:r>
            <a:r>
              <a:rPr lang="en-US" sz="1000" dirty="0" err="1">
                <a:solidFill>
                  <a:srgbClr val="1B2A3B"/>
                </a:solidFill>
              </a:rPr>
              <a:t>chunks</a:t>
            </a:r>
            <a:r>
              <a:rPr lang="en-US" sz="1000" dirty="0">
                <a:solidFill>
                  <a:srgbClr val="1B2A3B"/>
                </a:solidFill>
              </a:rPr>
              <a:t>.</a:t>
            </a:r>
            <a:endParaRPr lang="en-US" sz="1000" dirty="0"/>
          </a:p>
        </p:txBody>
      </p:sp>
      <p:sp>
        <p:nvSpPr>
          <p:cNvPr id="65" name="Shape 35">
            <a:extLst>
              <a:ext uri="{FF2B5EF4-FFF2-40B4-BE49-F238E27FC236}">
                <a16:creationId xmlns:a16="http://schemas.microsoft.com/office/drawing/2014/main" id="{80860C3B-979D-C45D-7B92-93C673C4C779}"/>
              </a:ext>
            </a:extLst>
          </p:cNvPr>
          <p:cNvSpPr/>
          <p:nvPr/>
        </p:nvSpPr>
        <p:spPr>
          <a:xfrm>
            <a:off x="10032904" y="1865704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6" name="Shape 36">
            <a:extLst>
              <a:ext uri="{FF2B5EF4-FFF2-40B4-BE49-F238E27FC236}">
                <a16:creationId xmlns:a16="http://schemas.microsoft.com/office/drawing/2014/main" id="{CD63192A-2C01-0167-1A63-01BBA6D299FA}"/>
              </a:ext>
            </a:extLst>
          </p:cNvPr>
          <p:cNvSpPr/>
          <p:nvPr/>
        </p:nvSpPr>
        <p:spPr>
          <a:xfrm>
            <a:off x="10032905" y="1865705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7" name="Text 37">
            <a:extLst>
              <a:ext uri="{FF2B5EF4-FFF2-40B4-BE49-F238E27FC236}">
                <a16:creationId xmlns:a16="http://schemas.microsoft.com/office/drawing/2014/main" id="{532E5F3A-F942-1E9F-7417-0A93F4BE9ED4}"/>
              </a:ext>
            </a:extLst>
          </p:cNvPr>
          <p:cNvSpPr/>
          <p:nvPr/>
        </p:nvSpPr>
        <p:spPr>
          <a:xfrm>
            <a:off x="10032905" y="186570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7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68" name="Image 12" descr="preencoded.png">
            <a:extLst>
              <a:ext uri="{FF2B5EF4-FFF2-40B4-BE49-F238E27FC236}">
                <a16:creationId xmlns:a16="http://schemas.microsoft.com/office/drawing/2014/main" id="{69B04118-2F35-07A3-2D32-A7E0EF530D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5272" y="1950774"/>
            <a:ext cx="288037" cy="288037"/>
          </a:xfrm>
          <a:prstGeom prst="rect">
            <a:avLst/>
          </a:prstGeom>
        </p:spPr>
      </p:pic>
      <p:sp>
        <p:nvSpPr>
          <p:cNvPr id="69" name="Text 38">
            <a:extLst>
              <a:ext uri="{FF2B5EF4-FFF2-40B4-BE49-F238E27FC236}">
                <a16:creationId xmlns:a16="http://schemas.microsoft.com/office/drawing/2014/main" id="{1CBBF389-9BD9-2F39-14E2-305725F83F20}"/>
              </a:ext>
            </a:extLst>
          </p:cNvPr>
          <p:cNvSpPr/>
          <p:nvPr/>
        </p:nvSpPr>
        <p:spPr>
          <a:xfrm>
            <a:off x="10107544" y="2586437"/>
            <a:ext cx="12346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B2A3B"/>
                </a:solidFill>
              </a:rPr>
              <a:t>(</a:t>
            </a:r>
            <a:r>
              <a:rPr lang="en-US" sz="800" b="1" dirty="0" err="1">
                <a:solidFill>
                  <a:srgbClr val="0D9488"/>
                </a:solidFill>
              </a:rPr>
              <a:t>resolver</a:t>
            </a:r>
            <a:r>
              <a:rPr lang="en-US" sz="800" b="1" dirty="0">
                <a:solidFill>
                  <a:srgbClr val="0D9488"/>
                </a:solidFill>
              </a:rPr>
              <a:t> cases, diagnostic </a:t>
            </a:r>
            <a:r>
              <a:rPr lang="en-US" sz="800" b="1" dirty="0" err="1">
                <a:solidFill>
                  <a:srgbClr val="0D9488"/>
                </a:solidFill>
              </a:rPr>
              <a:t>cards</a:t>
            </a:r>
            <a:r>
              <a:rPr lang="en-US" sz="800" b="1" dirty="0">
                <a:solidFill>
                  <a:srgbClr val="0D9488"/>
                </a:solidFill>
              </a:rPr>
              <a:t>, exports ST-</a:t>
            </a:r>
            <a:r>
              <a:rPr lang="en-US" sz="800" b="1" dirty="0" err="1">
                <a:solidFill>
                  <a:srgbClr val="0D9488"/>
                </a:solidFill>
              </a:rPr>
              <a:t>ready</a:t>
            </a:r>
            <a:r>
              <a:rPr lang="en-US" sz="800" b="1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b="1" dirty="0">
              <a:solidFill>
                <a:srgbClr val="1B2A3B"/>
              </a:solidFill>
            </a:endParaRPr>
          </a:p>
        </p:txBody>
      </p:sp>
      <p:sp>
        <p:nvSpPr>
          <p:cNvPr id="70" name="Text 39">
            <a:extLst>
              <a:ext uri="{FF2B5EF4-FFF2-40B4-BE49-F238E27FC236}">
                <a16:creationId xmlns:a16="http://schemas.microsoft.com/office/drawing/2014/main" id="{D8A3ECF8-A6CD-2425-F3A8-BC546E32D9F0}"/>
              </a:ext>
            </a:extLst>
          </p:cNvPr>
          <p:cNvSpPr/>
          <p:nvPr/>
        </p:nvSpPr>
        <p:spPr>
          <a:xfrm>
            <a:off x="10221951" y="281561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Deliver JSON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format ST-</a:t>
            </a:r>
            <a:r>
              <a:rPr lang="en-US" sz="1000" dirty="0" err="1">
                <a:solidFill>
                  <a:srgbClr val="64748B"/>
                </a:solidFill>
              </a:rPr>
              <a:t>ready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701819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D0FCA-B020-A8AE-6162-5A31EE9DC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689D-76BB-A217-5E65-F07E7B87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Pipeline: </a:t>
            </a:r>
            <a:r>
              <a:rPr lang="en-US" sz="1800" b="1" dirty="0" err="1"/>
              <a:t>chunking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AAB94FE-6E63-6062-0660-D7E1F13C59F7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425A78"/>
                </a:solidFill>
              </a:rPr>
              <a:t>Chunking</a:t>
            </a:r>
            <a:r>
              <a:rPr lang="en-US" sz="1200" b="1" dirty="0">
                <a:solidFill>
                  <a:srgbClr val="425A78"/>
                </a:solidFill>
              </a:rPr>
              <a:t> PARENT_CHILD — Splitting intelligently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384CB979-B888-1C47-B794-9D08B2CDD306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Why not give the full document to the LLM at once?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81AFD3F-9C9C-11C2-FD53-8C7FD487D39C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9EC16EF-42C8-A70D-B9E7-9985E8459A5B}"/>
              </a:ext>
            </a:extLst>
          </p:cNvPr>
          <p:cNvSpPr/>
          <p:nvPr/>
        </p:nvSpPr>
        <p:spPr>
          <a:xfrm>
            <a:off x="1111518" y="1684939"/>
            <a:ext cx="9491334" cy="8046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3F5A7FE2-F523-76D9-B535-0D3AFD52D516}"/>
              </a:ext>
            </a:extLst>
          </p:cNvPr>
          <p:cNvSpPr/>
          <p:nvPr/>
        </p:nvSpPr>
        <p:spPr>
          <a:xfrm>
            <a:off x="1111518" y="1684939"/>
            <a:ext cx="68893" cy="804672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2DCA3C3-3466-AFC1-C27B-6A61651FB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686" y="1849531"/>
            <a:ext cx="295255" cy="274320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D27E289B-0AB7-50BA-C1FB-C03968058EF6}"/>
              </a:ext>
            </a:extLst>
          </p:cNvPr>
          <p:cNvSpPr/>
          <p:nvPr/>
        </p:nvSpPr>
        <p:spPr>
          <a:xfrm>
            <a:off x="1705878" y="1758091"/>
            <a:ext cx="939436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</a:rPr>
              <a:t>Book analogy: If you look for info erchez une information dans un livre, vous n'envoyez pas tout le livre à quelqu'un.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</a:rPr>
              <a:t>You first find the right chapitre (CHILD = 1 000 caractères), puis vous lisez le chapitre complet pour comprendre le contexte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</a:rPr>
              <a:t>(PARENT = 3 000 caractères).</a:t>
            </a:r>
            <a:endParaRPr lang="en-US" sz="11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BA4993E-F924-302F-CA14-634819B1AC2D}"/>
              </a:ext>
            </a:extLst>
          </p:cNvPr>
          <p:cNvSpPr/>
          <p:nvPr/>
        </p:nvSpPr>
        <p:spPr>
          <a:xfrm>
            <a:off x="1636159" y="3024640"/>
            <a:ext cx="3474720" cy="2633472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C71F2B3-A6BD-8D66-5A2F-9B90B498602F}"/>
              </a:ext>
            </a:extLst>
          </p:cNvPr>
          <p:cNvSpPr/>
          <p:nvPr/>
        </p:nvSpPr>
        <p:spPr>
          <a:xfrm>
            <a:off x="1636159" y="3024640"/>
            <a:ext cx="3474720" cy="402336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F1F76810-25A9-9F31-FB05-943755912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6857" y="3116080"/>
            <a:ext cx="214244" cy="214244"/>
          </a:xfrm>
          <a:prstGeom prst="rect">
            <a:avLst/>
          </a:prstGeom>
        </p:spPr>
      </p:pic>
      <p:sp>
        <p:nvSpPr>
          <p:cNvPr id="11" name="Text 10">
            <a:extLst>
              <a:ext uri="{FF2B5EF4-FFF2-40B4-BE49-F238E27FC236}">
                <a16:creationId xmlns:a16="http://schemas.microsoft.com/office/drawing/2014/main" id="{7EF26C2D-D553-546F-919A-0161EC724CCE}"/>
              </a:ext>
            </a:extLst>
          </p:cNvPr>
          <p:cNvSpPr/>
          <p:nvPr/>
        </p:nvSpPr>
        <p:spPr>
          <a:xfrm>
            <a:off x="2148223" y="31160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PARENT CHUNK (~3,000 chars)</a:t>
            </a:r>
            <a:endParaRPr lang="en-US" sz="1100" dirty="0">
              <a:solidFill>
                <a:srgbClr val="0D9488"/>
              </a:solidFill>
            </a:endParaRPr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0C14103C-8D6B-1272-00B6-6933FA1306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3673864"/>
            <a:ext cx="201168" cy="201168"/>
          </a:xfrm>
          <a:prstGeom prst="rect">
            <a:avLst/>
          </a:prstGeom>
        </p:spPr>
      </p:pic>
      <p:sp>
        <p:nvSpPr>
          <p:cNvPr id="13" name="Text 11">
            <a:extLst>
              <a:ext uri="{FF2B5EF4-FFF2-40B4-BE49-F238E27FC236}">
                <a16:creationId xmlns:a16="http://schemas.microsoft.com/office/drawing/2014/main" id="{8EC61778-7810-7352-CAE7-20A2C7FE84E6}"/>
              </a:ext>
            </a:extLst>
          </p:cNvPr>
          <p:cNvSpPr/>
          <p:nvPr/>
        </p:nvSpPr>
        <p:spPr>
          <a:xfrm>
            <a:off x="2093359" y="36312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Contains full document context</a:t>
            </a:r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D79C6F14-1BDA-7990-8C63-315D12882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4131064"/>
            <a:ext cx="201168" cy="201168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4CE21955-CDD3-4164-5EAB-ED31852C298C}"/>
              </a:ext>
            </a:extLst>
          </p:cNvPr>
          <p:cNvSpPr/>
          <p:nvPr/>
        </p:nvSpPr>
        <p:spPr>
          <a:xfrm>
            <a:off x="2093359" y="40884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Used by LLM to formulate the answer</a:t>
            </a:r>
          </a:p>
        </p:txBody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A6DF70D4-3473-CA90-CF4A-C03D20F02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4588264"/>
            <a:ext cx="201168" cy="201168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56129FEE-E76D-1889-5F2C-79FA1C62B454}"/>
              </a:ext>
            </a:extLst>
          </p:cNvPr>
          <p:cNvSpPr/>
          <p:nvPr/>
        </p:nvSpPr>
        <p:spPr>
          <a:xfrm>
            <a:off x="2093359" y="45456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Preserves global meaning of the section</a:t>
            </a:r>
          </a:p>
        </p:txBody>
      </p:sp>
      <p:pic>
        <p:nvPicPr>
          <p:cNvPr id="19" name="Image 5" descr="preencoded.png">
            <a:extLst>
              <a:ext uri="{FF2B5EF4-FFF2-40B4-BE49-F238E27FC236}">
                <a16:creationId xmlns:a16="http://schemas.microsoft.com/office/drawing/2014/main" id="{035D35AD-6321-7A48-5E2C-355B3ECB9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5045464"/>
            <a:ext cx="201168" cy="201168"/>
          </a:xfrm>
          <a:prstGeom prst="rect">
            <a:avLst/>
          </a:prstGeom>
        </p:spPr>
      </p:pic>
      <p:sp>
        <p:nvSpPr>
          <p:cNvPr id="20" name="Text 14">
            <a:extLst>
              <a:ext uri="{FF2B5EF4-FFF2-40B4-BE49-F238E27FC236}">
                <a16:creationId xmlns:a16="http://schemas.microsoft.com/office/drawing/2014/main" id="{3460379A-D797-D593-7461-C5AFA5ED8784}"/>
              </a:ext>
            </a:extLst>
          </p:cNvPr>
          <p:cNvSpPr/>
          <p:nvPr/>
        </p:nvSpPr>
        <p:spPr>
          <a:xfrm>
            <a:off x="2093359" y="50028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Sent whole to AI for generation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AC870222-1E78-321C-87AB-F93B818A74B2}"/>
              </a:ext>
            </a:extLst>
          </p:cNvPr>
          <p:cNvSpPr/>
          <p:nvPr/>
        </p:nvSpPr>
        <p:spPr>
          <a:xfrm>
            <a:off x="5524675" y="4172809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subdivided into ▶</a:t>
            </a:r>
            <a:endParaRPr lang="en-US" sz="1000" dirty="0">
              <a:solidFill>
                <a:srgbClr val="F59E0B"/>
              </a:solidFill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4F96C280-9172-BA67-3C8A-8BCE4935A656}"/>
              </a:ext>
            </a:extLst>
          </p:cNvPr>
          <p:cNvSpPr/>
          <p:nvPr/>
        </p:nvSpPr>
        <p:spPr>
          <a:xfrm>
            <a:off x="7006339" y="3024640"/>
            <a:ext cx="3338245" cy="2633472"/>
          </a:xfrm>
          <a:prstGeom prst="rect">
            <a:avLst/>
          </a:prstGeom>
          <a:noFill/>
          <a:ln w="28575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9D32629B-9345-E633-E9E5-C423B3F8E570}"/>
              </a:ext>
            </a:extLst>
          </p:cNvPr>
          <p:cNvSpPr/>
          <p:nvPr/>
        </p:nvSpPr>
        <p:spPr>
          <a:xfrm>
            <a:off x="7006340" y="3024640"/>
            <a:ext cx="3338246" cy="402336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4" name="Image 6" descr="preencoded.png">
            <a:extLst>
              <a:ext uri="{FF2B5EF4-FFF2-40B4-BE49-F238E27FC236}">
                <a16:creationId xmlns:a16="http://schemas.microsoft.com/office/drawing/2014/main" id="{F32B72B3-1A16-232D-E26F-8ED52990A0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4432" y="3097792"/>
            <a:ext cx="232532" cy="232532"/>
          </a:xfrm>
          <a:prstGeom prst="rect">
            <a:avLst/>
          </a:prstGeom>
        </p:spPr>
      </p:pic>
      <p:sp>
        <p:nvSpPr>
          <p:cNvPr id="25" name="Text 18">
            <a:extLst>
              <a:ext uri="{FF2B5EF4-FFF2-40B4-BE49-F238E27FC236}">
                <a16:creationId xmlns:a16="http://schemas.microsoft.com/office/drawing/2014/main" id="{631A8F47-D047-CFE1-CC0E-4B77F9563AD3}"/>
              </a:ext>
            </a:extLst>
          </p:cNvPr>
          <p:cNvSpPr/>
          <p:nvPr/>
        </p:nvSpPr>
        <p:spPr>
          <a:xfrm>
            <a:off x="7500116" y="311608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589"/>
                </a:solidFill>
              </a:rPr>
              <a:t>CHILD CHUNK (~1,000 chars)</a:t>
            </a:r>
            <a:endParaRPr lang="en-US" sz="1100" dirty="0">
              <a:solidFill>
                <a:srgbClr val="0D9589"/>
              </a:solidFill>
            </a:endParaRPr>
          </a:p>
        </p:txBody>
      </p:sp>
      <p:pic>
        <p:nvPicPr>
          <p:cNvPr id="26" name="Image 7" descr="preencoded.png">
            <a:extLst>
              <a:ext uri="{FF2B5EF4-FFF2-40B4-BE49-F238E27FC236}">
                <a16:creationId xmlns:a16="http://schemas.microsoft.com/office/drawing/2014/main" id="{DD0E3BF1-B458-0495-9A27-82F3ECF59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3713585"/>
            <a:ext cx="201168" cy="201168"/>
          </a:xfrm>
          <a:prstGeom prst="rect">
            <a:avLst/>
          </a:prstGeom>
        </p:spPr>
      </p:pic>
      <p:sp>
        <p:nvSpPr>
          <p:cNvPr id="27" name="Text 19">
            <a:extLst>
              <a:ext uri="{FF2B5EF4-FFF2-40B4-BE49-F238E27FC236}">
                <a16:creationId xmlns:a16="http://schemas.microsoft.com/office/drawing/2014/main" id="{A53EC1B3-9429-16D2-D9B6-7D80145AE9EF}"/>
              </a:ext>
            </a:extLst>
          </p:cNvPr>
          <p:cNvSpPr/>
          <p:nvPr/>
        </p:nvSpPr>
        <p:spPr>
          <a:xfrm>
            <a:off x="7500116" y="36738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Precise sub-segment of the parent</a:t>
            </a:r>
          </a:p>
        </p:txBody>
      </p:sp>
      <p:pic>
        <p:nvPicPr>
          <p:cNvPr id="29" name="Image 8" descr="preencoded.png">
            <a:extLst>
              <a:ext uri="{FF2B5EF4-FFF2-40B4-BE49-F238E27FC236}">
                <a16:creationId xmlns:a16="http://schemas.microsoft.com/office/drawing/2014/main" id="{D58D0FBD-8CB6-8782-9241-DF97FF722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4170785"/>
            <a:ext cx="201168" cy="201168"/>
          </a:xfrm>
          <a:prstGeom prst="rect">
            <a:avLst/>
          </a:prstGeom>
        </p:spPr>
      </p:pic>
      <p:sp>
        <p:nvSpPr>
          <p:cNvPr id="30" name="Text 20">
            <a:extLst>
              <a:ext uri="{FF2B5EF4-FFF2-40B4-BE49-F238E27FC236}">
                <a16:creationId xmlns:a16="http://schemas.microsoft.com/office/drawing/2014/main" id="{31A79FC8-8EEC-E254-2447-64B3C43ED31B}"/>
              </a:ext>
            </a:extLst>
          </p:cNvPr>
          <p:cNvSpPr/>
          <p:nvPr/>
        </p:nvSpPr>
        <p:spPr>
          <a:xfrm>
            <a:off x="7500116" y="41310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Used for SEARCH in the KB</a:t>
            </a:r>
          </a:p>
        </p:txBody>
      </p:sp>
      <p:pic>
        <p:nvPicPr>
          <p:cNvPr id="31" name="Image 9" descr="preencoded.png">
            <a:extLst>
              <a:ext uri="{FF2B5EF4-FFF2-40B4-BE49-F238E27FC236}">
                <a16:creationId xmlns:a16="http://schemas.microsoft.com/office/drawing/2014/main" id="{1CEE3D51-B252-F3CE-78CD-8ACC8F651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4627985"/>
            <a:ext cx="201168" cy="201168"/>
          </a:xfrm>
          <a:prstGeom prst="rect">
            <a:avLst/>
          </a:prstGeom>
        </p:spPr>
      </p:pic>
      <p:sp>
        <p:nvSpPr>
          <p:cNvPr id="32" name="Text 21">
            <a:extLst>
              <a:ext uri="{FF2B5EF4-FFF2-40B4-BE49-F238E27FC236}">
                <a16:creationId xmlns:a16="http://schemas.microsoft.com/office/drawing/2014/main" id="{017708C0-CC47-3F1A-D898-BD47FF2EB60B}"/>
              </a:ext>
            </a:extLst>
          </p:cNvPr>
          <p:cNvSpPr/>
          <p:nvPr/>
        </p:nvSpPr>
        <p:spPr>
          <a:xfrm>
            <a:off x="7500116" y="45882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Finds the right passage for the query</a:t>
            </a:r>
          </a:p>
        </p:txBody>
      </p:sp>
      <p:pic>
        <p:nvPicPr>
          <p:cNvPr id="33" name="Image 10" descr="preencoded.png">
            <a:extLst>
              <a:ext uri="{FF2B5EF4-FFF2-40B4-BE49-F238E27FC236}">
                <a16:creationId xmlns:a16="http://schemas.microsoft.com/office/drawing/2014/main" id="{304695C4-648B-5674-44BE-0D7DEC5EE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5085185"/>
            <a:ext cx="201168" cy="201168"/>
          </a:xfrm>
          <a:prstGeom prst="rect">
            <a:avLst/>
          </a:prstGeom>
        </p:spPr>
      </p:pic>
      <p:sp>
        <p:nvSpPr>
          <p:cNvPr id="34" name="Text 22">
            <a:extLst>
              <a:ext uri="{FF2B5EF4-FFF2-40B4-BE49-F238E27FC236}">
                <a16:creationId xmlns:a16="http://schemas.microsoft.com/office/drawing/2014/main" id="{462F4488-04CC-74B5-2010-C82EBF67EA40}"/>
              </a:ext>
            </a:extLst>
          </p:cNvPr>
          <p:cNvSpPr/>
          <p:nvPr/>
        </p:nvSpPr>
        <p:spPr>
          <a:xfrm>
            <a:off x="7500116" y="50454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Linked to parent to retrieve context</a:t>
            </a:r>
          </a:p>
        </p:txBody>
      </p:sp>
    </p:spTree>
    <p:extLst>
      <p:ext uri="{BB962C8B-B14F-4D97-AF65-F5344CB8AC3E}">
        <p14:creationId xmlns:p14="http://schemas.microsoft.com/office/powerpoint/2010/main" val="23073499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04E1B-00EB-D13D-E508-AD0B13EFE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040A2-3B8F-724F-A2A6-58712861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Pipeline : STM32Cube RAG </a:t>
            </a:r>
            <a:r>
              <a:rPr lang="en-US" sz="1800" b="1" dirty="0" err="1"/>
              <a:t>Chunking</a:t>
            </a:r>
            <a:r>
              <a:rPr lang="en-US" sz="1800" b="1" dirty="0"/>
              <a:t> Benchmark  </a:t>
            </a:r>
            <a:endParaRPr lang="en-US" sz="18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E0F2FF0-1366-3A69-2B1D-C65FE2DDC3F2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8544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How the Persona Works , RAG Behind the Scenes</a:t>
            </a:r>
            <a:endParaRPr lang="en-US" sz="180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145420" y="808000"/>
            <a:ext cx="11609159" cy="5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i="1" dirty="0">
                <a:solidFill>
                  <a:srgbClr val="475569"/>
                </a:solidFill>
              </a:rPr>
              <a:t>The persona does not answer from memory , it retrieves from its Knowledge Base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99230F7F-240A-371B-B932-EB6DC6BE8C18}"/>
              </a:ext>
            </a:extLst>
          </p:cNvPr>
          <p:cNvSpPr/>
          <p:nvPr/>
        </p:nvSpPr>
        <p:spPr>
          <a:xfrm>
            <a:off x="242477" y="121651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D6C68B6-05B0-B9F0-31E4-1A991BE0FB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33"/>
          <a:stretch>
            <a:fillRect/>
          </a:stretch>
        </p:blipFill>
        <p:spPr>
          <a:xfrm>
            <a:off x="2693102" y="1553072"/>
            <a:ext cx="6707907" cy="449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865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991AA-BF68-4E69-4BE3-18D7FAC99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64379-3597-9A73-E9C2-94CB67C8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How the Persona Works , RAG Behind the Scenes</a:t>
            </a:r>
            <a:endParaRPr lang="en-US" sz="180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311672BB-622E-3FF1-1E26-EE990BF01172}"/>
              </a:ext>
            </a:extLst>
          </p:cNvPr>
          <p:cNvSpPr>
            <a:spLocks noGrp="1"/>
          </p:cNvSpPr>
          <p:nvPr/>
        </p:nvSpPr>
        <p:spPr>
          <a:xfrm>
            <a:off x="145420" y="808000"/>
            <a:ext cx="11609159" cy="5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i="1" dirty="0">
                <a:solidFill>
                  <a:srgbClr val="475569"/>
                </a:solidFill>
              </a:rPr>
              <a:t>The persona does not answer from memory , it retrieves from its Knowledge Base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ADBEA1AF-B84C-E330-DF2B-A8EE3BAFEFC2}"/>
              </a:ext>
            </a:extLst>
          </p:cNvPr>
          <p:cNvSpPr/>
          <p:nvPr/>
        </p:nvSpPr>
        <p:spPr>
          <a:xfrm>
            <a:off x="242477" y="121651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4BC43D8-B929-6CF7-2AE1-5E0C49898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33"/>
          <a:stretch>
            <a:fillRect/>
          </a:stretch>
        </p:blipFill>
        <p:spPr>
          <a:xfrm>
            <a:off x="3589183" y="2330936"/>
            <a:ext cx="5679048" cy="38071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2ABCD27-76C0-B2B0-F311-3AB612BFB3BC}"/>
              </a:ext>
            </a:extLst>
          </p:cNvPr>
          <p:cNvSpPr/>
          <p:nvPr/>
        </p:nvSpPr>
        <p:spPr>
          <a:xfrm>
            <a:off x="3428640" y="2016758"/>
            <a:ext cx="5334719" cy="461213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AE94A7-4044-90A8-A0DA-73B0F11103F8}"/>
              </a:ext>
            </a:extLst>
          </p:cNvPr>
          <p:cNvSpPr txBox="1"/>
          <p:nvPr/>
        </p:nvSpPr>
        <p:spPr>
          <a:xfrm>
            <a:off x="4245570" y="1556647"/>
            <a:ext cx="6271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The RAG Behind is a black box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979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F8E3F-6BBB-59B2-A7EE-81F3D1662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0231E-9ECB-442A-55BE-A0A3C4D1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How the Persona Works , RAG Behind the Scenes</a:t>
            </a:r>
            <a:endParaRPr lang="en-US" sz="180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A462AA39-1BF5-41EC-7DF8-C3DCB81CC5F2}"/>
              </a:ext>
            </a:extLst>
          </p:cNvPr>
          <p:cNvSpPr>
            <a:spLocks noGrp="1"/>
          </p:cNvSpPr>
          <p:nvPr/>
        </p:nvSpPr>
        <p:spPr>
          <a:xfrm>
            <a:off x="145420" y="808000"/>
            <a:ext cx="11609159" cy="5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i="1" dirty="0">
                <a:solidFill>
                  <a:srgbClr val="475569"/>
                </a:solidFill>
              </a:rPr>
              <a:t>The persona does not answer from memory , it retrieves from its Knowledge Base</a:t>
            </a:r>
          </a:p>
        </p:txBody>
      </p:sp>
      <p:sp>
        <p:nvSpPr>
          <p:cNvPr id="11" name="Col11">
            <a:extLst>
              <a:ext uri="{FF2B5EF4-FFF2-40B4-BE49-F238E27FC236}">
                <a16:creationId xmlns:a16="http://schemas.microsoft.com/office/drawing/2014/main" id="{AFCA2ECE-740E-23A4-C753-F24BB595EA81}"/>
              </a:ext>
            </a:extLst>
          </p:cNvPr>
          <p:cNvSpPr>
            <a:spLocks noGrp="1"/>
          </p:cNvSpPr>
          <p:nvPr/>
        </p:nvSpPr>
        <p:spPr>
          <a:xfrm>
            <a:off x="6871380" y="2675677"/>
            <a:ext cx="4539097" cy="1798601"/>
          </a:xfrm>
          <a:prstGeom prst="rect">
            <a:avLst/>
          </a:prstGeom>
          <a:noFill/>
          <a:ln w="12700">
            <a:solidFill>
              <a:srgbClr val="0D9589"/>
            </a:solidFill>
          </a:ln>
        </p:spPr>
        <p:txBody>
          <a:bodyPr wrap="square" lIns="182880" tIns="182880" rIns="182880" bIns="182880"/>
          <a:lstStyle/>
          <a:p>
            <a:r>
              <a:rPr lang="en-US" sz="1100" b="0" dirty="0"/>
              <a:t>The ONLY lever we have is </a:t>
            </a:r>
            <a:r>
              <a:rPr lang="en-US" sz="1100" b="1" dirty="0">
                <a:solidFill>
                  <a:srgbClr val="0D9589"/>
                </a:solidFill>
              </a:rPr>
              <a:t>data quality</a:t>
            </a:r>
            <a:r>
              <a:rPr lang="en-US" sz="1100" b="0" dirty="0"/>
              <a:t>:</a:t>
            </a:r>
          </a:p>
          <a:p>
            <a:endParaRPr lang="en-US" sz="1000" dirty="0"/>
          </a:p>
          <a:p>
            <a:pPr>
              <a:lnSpc>
                <a:spcPct val="150000"/>
              </a:lnSpc>
            </a:pPr>
            <a:r>
              <a:rPr lang="en-US" sz="1100" b="0" dirty="0"/>
              <a:t>● Clean text → better semantic matching</a:t>
            </a:r>
          </a:p>
          <a:p>
            <a:pPr>
              <a:lnSpc>
                <a:spcPct val="150000"/>
              </a:lnSpc>
            </a:pPr>
            <a:r>
              <a:rPr lang="en-US" sz="1100" b="0" dirty="0"/>
              <a:t>● Rich metadata (component, layer, severity) → better filtering</a:t>
            </a:r>
          </a:p>
          <a:p>
            <a:pPr>
              <a:lnSpc>
                <a:spcPct val="150000"/>
              </a:lnSpc>
            </a:pPr>
            <a:r>
              <a:rPr lang="en-US" sz="1100" b="0" dirty="0"/>
              <a:t>● Structured st_ready_text → better lexical anchors</a:t>
            </a:r>
          </a:p>
          <a:p>
            <a:pPr>
              <a:lnSpc>
                <a:spcPct val="150000"/>
              </a:lnSpc>
            </a:pPr>
            <a:r>
              <a:rPr lang="en-US" sz="1100" b="0" dirty="0"/>
              <a:t>● Resolver cases + diagnostic cards → actionable answers</a:t>
            </a:r>
          </a:p>
          <a:p>
            <a:endParaRPr lang="en-US" sz="1000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3FDB9622-87EC-91D2-D5F7-5C0F062A19F5}"/>
              </a:ext>
            </a:extLst>
          </p:cNvPr>
          <p:cNvSpPr/>
          <p:nvPr/>
        </p:nvSpPr>
        <p:spPr>
          <a:xfrm>
            <a:off x="242477" y="121651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9F4EC62-F9FA-E839-0854-5EDBB916E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33"/>
          <a:stretch>
            <a:fillRect/>
          </a:stretch>
        </p:blipFill>
        <p:spPr>
          <a:xfrm>
            <a:off x="270951" y="2055050"/>
            <a:ext cx="5679048" cy="38071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52BCB9-801A-C205-DE47-CE3D488C9747}"/>
              </a:ext>
            </a:extLst>
          </p:cNvPr>
          <p:cNvSpPr/>
          <p:nvPr/>
        </p:nvSpPr>
        <p:spPr>
          <a:xfrm>
            <a:off x="270951" y="1567722"/>
            <a:ext cx="5334719" cy="461213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D3112F-6F79-4B81-45E5-0B0A0572EF63}"/>
              </a:ext>
            </a:extLst>
          </p:cNvPr>
          <p:cNvSpPr txBox="1"/>
          <p:nvPr/>
        </p:nvSpPr>
        <p:spPr>
          <a:xfrm>
            <a:off x="1312224" y="1623441"/>
            <a:ext cx="6271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The RAG Behind is a black box </a:t>
            </a:r>
            <a:endParaRPr lang="en-US" dirty="0"/>
          </a:p>
        </p:txBody>
      </p:sp>
      <p:pic>
        <p:nvPicPr>
          <p:cNvPr id="6" name="Graphic 5" descr="Arrow Right with solid fill">
            <a:extLst>
              <a:ext uri="{FF2B5EF4-FFF2-40B4-BE49-F238E27FC236}">
                <a16:creationId xmlns:a16="http://schemas.microsoft.com/office/drawing/2014/main" id="{0790D1DC-1DC6-7787-5706-D544D64E62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6619" y="3790191"/>
            <a:ext cx="589739" cy="3369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7891C9-4E0C-D4F2-FFFE-DD4B1F78A73A}"/>
              </a:ext>
            </a:extLst>
          </p:cNvPr>
          <p:cNvSpPr txBox="1"/>
          <p:nvPr/>
        </p:nvSpPr>
        <p:spPr>
          <a:xfrm>
            <a:off x="6871380" y="4572407"/>
            <a:ext cx="62716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1" dirty="0">
                <a:solidFill>
                  <a:srgbClr val="0D9589"/>
                </a:solidFill>
              </a:rPr>
              <a:t>Bad data in → vague answers out.</a:t>
            </a:r>
          </a:p>
          <a:p>
            <a:r>
              <a:rPr lang="en-US" sz="1400" b="0" i="1" dirty="0">
                <a:solidFill>
                  <a:srgbClr val="0D9589"/>
                </a:solidFill>
              </a:rPr>
              <a:t>Good data in → precise, traceable answers out.</a:t>
            </a:r>
          </a:p>
        </p:txBody>
      </p:sp>
    </p:spTree>
    <p:extLst>
      <p:ext uri="{BB962C8B-B14F-4D97-AF65-F5344CB8AC3E}">
        <p14:creationId xmlns:p14="http://schemas.microsoft.com/office/powerpoint/2010/main" val="18849811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BA9E6-68EA-05CF-572D-E998A257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068AD-9ADF-0D4F-C3B6-44EB30DE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>
                <a:latin typeface="+mn-lt"/>
              </a:rPr>
              <a:t>The Preprocessing </a:t>
            </a:r>
            <a:r>
              <a:rPr lang="en-US" sz="1800" b="1" dirty="0" err="1">
                <a:latin typeface="+mn-lt"/>
              </a:rPr>
              <a:t>Pipeline</a:t>
            </a:r>
            <a:endParaRPr lang="en-US" sz="180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515EA1-F5BE-958D-23C0-08F14ADB29CA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ED036537-B7F2-5A4F-4553-DA48CDFC50DD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0D82B09-A925-3264-2D5A-EFA1FB74855C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2D9C5BD2-5E97-AFDB-146B-D40E4734F02A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02E48A15-587B-C18F-E2C3-AC65142D28B4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CD679645-7E07-2D69-0DD5-FEB0729F55EB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1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403C5750-ED1D-2250-6848-857E3A4BC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5DC30F6E-D769-CD7E-803D-519B58FD01BD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Ingestion</a:t>
            </a:r>
            <a:endParaRPr lang="en-US" sz="10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F44B0820-0672-2568-4C6C-10E624F9A64A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Download raw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from GitHub</a:t>
            </a:r>
            <a:endParaRPr lang="en-US" sz="10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993CC2CF-A237-D515-F21B-FB3BA9741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850D30B1-9811-96B4-60E3-EDD42BE80F24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DD03F411-D71B-6AF3-991E-98F34F05ED47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B6F22A1-15C6-0147-3A0A-B5E45BF622D3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2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38FDEEA-DE36-3078-491F-9F2CB2F50929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Cleaning</a:t>
            </a: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3121297-FC83-204B-6BE4-3BCC41B99966}"/>
              </a:ext>
            </a:extLst>
          </p:cNvPr>
          <p:cNvSpPr/>
          <p:nvPr/>
        </p:nvSpPr>
        <p:spPr>
          <a:xfrm>
            <a:off x="2282448" y="2731412"/>
            <a:ext cx="12066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remove HTML,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normalize</a:t>
            </a:r>
            <a:endParaRPr lang="en-US" sz="100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E91046D7-CAC2-2060-D5F1-E819ECBAF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11B5B2DC-F89E-F9FA-DCB9-AB12AF13F355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878E3C11-B13B-51E7-C46E-F410454FF3F3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FAEBAE8-43DF-F56D-B2F8-0179F05081B4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3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010DFF61-4F7B-9540-2052-4A2CCA48A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1954F5E4-00BB-AAAF-41C6-0029CDF012EC}"/>
              </a:ext>
            </a:extLst>
          </p:cNvPr>
          <p:cNvSpPr/>
          <p:nvPr/>
        </p:nvSpPr>
        <p:spPr>
          <a:xfrm>
            <a:off x="4026927" y="258335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 err="1">
                <a:solidFill>
                  <a:srgbClr val="1B2A3B"/>
                </a:solidFill>
              </a:rPr>
              <a:t>Enrichment</a:t>
            </a:r>
            <a:endParaRPr lang="en-US" sz="1050" b="1" dirty="0">
              <a:solidFill>
                <a:srgbClr val="1B2A3B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(</a:t>
            </a:r>
            <a:r>
              <a:rPr lang="en-US" sz="900" b="1" dirty="0" err="1">
                <a:solidFill>
                  <a:srgbClr val="0D9488"/>
                </a:solidFill>
              </a:rPr>
              <a:t>Feature</a:t>
            </a:r>
            <a:endParaRPr lang="en-US" sz="900" b="1" dirty="0">
              <a:solidFill>
                <a:srgbClr val="0D9488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Engineering)</a:t>
            </a:r>
            <a:endParaRPr lang="en-US" sz="1050" b="1" dirty="0">
              <a:solidFill>
                <a:srgbClr val="0D9488"/>
              </a:solidFill>
            </a:endParaRPr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86F9D098-3F6B-B8F2-0119-991485AE8CA7}"/>
              </a:ext>
            </a:extLst>
          </p:cNvPr>
          <p:cNvSpPr/>
          <p:nvPr/>
        </p:nvSpPr>
        <p:spPr>
          <a:xfrm>
            <a:off x="3897518" y="2938258"/>
            <a:ext cx="12515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Add board, component, layer, severity, issue_kind, is_valid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BD980639-2B9A-6F7F-7528-B2A7DEC8A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B39ECECC-13FA-BE8B-0713-696A9FD4CCE1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8321C08C-CF48-EA52-0763-826AFC9A4FBA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E7606226-BB49-572F-4B9A-58EB5F8F25A0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4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DD5689E0-4094-164A-387C-4665C7665B09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Similarity</a:t>
            </a:r>
            <a:endParaRPr lang="en-US" sz="105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C562E706-809A-A2EB-D7DB-A6349545F717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Link related issues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describing the same bug</a:t>
            </a:r>
            <a:endParaRPr lang="en-US" sz="100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4873C363-3BC0-B37D-DF27-411EA96E5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169CA800-15EE-C1CB-3277-15570AB1355F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FA85AD85-CDB5-D1A7-7BC8-8F255D173F59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D2D738CF-0CD3-432F-3065-6A407E33426A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5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029F2ABD-38B1-2D7D-A90A-8C13712064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33CBA65E-E111-6924-B057-415246D9ED1E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Chunking</a:t>
            </a:r>
            <a:endParaRPr lang="en-US" sz="105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03C95EF2-D8F6-7F40-3D22-68528482B3CD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Split into chunks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 the KB</a:t>
            </a:r>
            <a:endParaRPr lang="en-US" sz="100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64D12DF-B210-97A5-66B0-B075DFA4F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F01004BB-9E35-100F-E973-13FD9BBF8C50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9B6B957F-6062-41B1-8FE2-6EBEEA4253DE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FD2DA581-5610-FED6-B10E-A6EB14637DD4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6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65BB49C4-AE8C-2AD4-9192-C02CCD851E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9286BC1A-3F85-FC67-7A1B-443B9C47A300}"/>
              </a:ext>
            </a:extLst>
          </p:cNvPr>
          <p:cNvSpPr/>
          <p:nvPr/>
        </p:nvSpPr>
        <p:spPr>
          <a:xfrm>
            <a:off x="8693671" y="2437053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dirty="0">
                <a:solidFill>
                  <a:srgbClr val="1B2A3B"/>
                </a:solidFill>
              </a:rPr>
              <a:t>(</a:t>
            </a:r>
            <a:r>
              <a:rPr lang="en-US" sz="900" b="1" dirty="0">
                <a:solidFill>
                  <a:srgbClr val="0D9488"/>
                </a:solidFill>
              </a:rPr>
              <a:t>Benchmark</a:t>
            </a:r>
            <a:r>
              <a:rPr lang="en-US" sz="900" b="1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5013CDEC-5B66-D914-C2BB-4B80F08B042E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Test with 50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reference questions</a:t>
            </a:r>
            <a:endParaRPr lang="en-US" sz="100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381BFBD2-A13C-13E5-9832-0E3328C4C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ECE150D7-2B7D-4E15-69D1-DD7FAD3FF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8D9E55CE-B201-FE85-5891-7B25E0A3E1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pic>
        <p:nvPicPr>
          <p:cNvPr id="53" name="Graphic 52" descr="Back outline">
            <a:extLst>
              <a:ext uri="{FF2B5EF4-FFF2-40B4-BE49-F238E27FC236}">
                <a16:creationId xmlns:a16="http://schemas.microsoft.com/office/drawing/2014/main" id="{2A5C4170-1428-3FA7-71A1-E3B95E16B3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724647" flipH="1" flipV="1">
            <a:off x="9456942" y="4312872"/>
            <a:ext cx="1481109" cy="1481109"/>
          </a:xfrm>
          <a:prstGeom prst="rect">
            <a:avLst/>
          </a:prstGeom>
        </p:spPr>
      </p:pic>
      <p:sp>
        <p:nvSpPr>
          <p:cNvPr id="61" name="Shape 44">
            <a:extLst>
              <a:ext uri="{FF2B5EF4-FFF2-40B4-BE49-F238E27FC236}">
                <a16:creationId xmlns:a16="http://schemas.microsoft.com/office/drawing/2014/main" id="{C53B86F6-D0EA-9EB6-7B8D-217F41075383}"/>
              </a:ext>
            </a:extLst>
          </p:cNvPr>
          <p:cNvSpPr/>
          <p:nvPr/>
        </p:nvSpPr>
        <p:spPr>
          <a:xfrm>
            <a:off x="5223326" y="4450836"/>
            <a:ext cx="4114800" cy="208712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2908F3CD-40DA-6E54-5FC9-117E3B63C6F4}"/>
              </a:ext>
            </a:extLst>
          </p:cNvPr>
          <p:cNvSpPr/>
          <p:nvPr/>
        </p:nvSpPr>
        <p:spPr>
          <a:xfrm>
            <a:off x="5237648" y="4450837"/>
            <a:ext cx="49686" cy="208712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Text 46">
            <a:extLst>
              <a:ext uri="{FF2B5EF4-FFF2-40B4-BE49-F238E27FC236}">
                <a16:creationId xmlns:a16="http://schemas.microsoft.com/office/drawing/2014/main" id="{6703202F-852D-D09C-BEA0-9E94CE95F0B1}"/>
              </a:ext>
            </a:extLst>
          </p:cNvPr>
          <p:cNvSpPr/>
          <p:nvPr/>
        </p:nvSpPr>
        <p:spPr>
          <a:xfrm>
            <a:off x="5424494" y="4542277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❓ Delivery objective</a:t>
            </a:r>
            <a:endParaRPr lang="en-US" sz="1050" dirty="0"/>
          </a:p>
        </p:txBody>
      </p:sp>
      <p:sp>
        <p:nvSpPr>
          <p:cNvPr id="64" name="Text 47">
            <a:extLst>
              <a:ext uri="{FF2B5EF4-FFF2-40B4-BE49-F238E27FC236}">
                <a16:creationId xmlns:a16="http://schemas.microsoft.com/office/drawing/2014/main" id="{0A3EECA0-A257-AEA9-9224-5636247E997E}"/>
              </a:ext>
            </a:extLst>
          </p:cNvPr>
          <p:cNvSpPr/>
          <p:nvPr/>
        </p:nvSpPr>
        <p:spPr>
          <a:xfrm>
            <a:off x="5424494" y="4954376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</a:rPr>
              <a:t>Delivery transforms raw technical data into knowledge directly usable in a support KB.</a:t>
            </a:r>
          </a:p>
          <a:p>
            <a:pPr marL="0" indent="0">
              <a:buNone/>
            </a:pPr>
            <a:endParaRPr lang="en-US" sz="1000" dirty="0">
              <a:solidFill>
                <a:srgbClr val="1B2A3B"/>
              </a:solidFill>
            </a:endParaRPr>
          </a:p>
          <a:p>
            <a:r>
              <a:rPr lang="en-US" sz="1000" b="1" u="sng" dirty="0"/>
              <a:t>The goal:</a:t>
            </a:r>
          </a:p>
          <a:p>
            <a:pPr marL="0" indent="0">
              <a:buNone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Provide actionable answers for troubleshooting.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Maintain complete traceability to GitHub.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Fournir un format stable pour l’ingestion côté ST.</a:t>
            </a:r>
          </a:p>
        </p:txBody>
      </p:sp>
      <p:sp>
        <p:nvSpPr>
          <p:cNvPr id="65" name="Shape 35">
            <a:extLst>
              <a:ext uri="{FF2B5EF4-FFF2-40B4-BE49-F238E27FC236}">
                <a16:creationId xmlns:a16="http://schemas.microsoft.com/office/drawing/2014/main" id="{409D077B-D71B-B5F0-633A-75F47FFDB1AE}"/>
              </a:ext>
            </a:extLst>
          </p:cNvPr>
          <p:cNvSpPr/>
          <p:nvPr/>
        </p:nvSpPr>
        <p:spPr>
          <a:xfrm>
            <a:off x="10032904" y="1865704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6" name="Shape 36">
            <a:extLst>
              <a:ext uri="{FF2B5EF4-FFF2-40B4-BE49-F238E27FC236}">
                <a16:creationId xmlns:a16="http://schemas.microsoft.com/office/drawing/2014/main" id="{CEED2109-5844-0133-53CC-697EA2F0B748}"/>
              </a:ext>
            </a:extLst>
          </p:cNvPr>
          <p:cNvSpPr/>
          <p:nvPr/>
        </p:nvSpPr>
        <p:spPr>
          <a:xfrm>
            <a:off x="10032905" y="1865705"/>
            <a:ext cx="1383932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7" name="Text 37">
            <a:extLst>
              <a:ext uri="{FF2B5EF4-FFF2-40B4-BE49-F238E27FC236}">
                <a16:creationId xmlns:a16="http://schemas.microsoft.com/office/drawing/2014/main" id="{8B34F9FF-FA11-E574-4A80-548122336DE8}"/>
              </a:ext>
            </a:extLst>
          </p:cNvPr>
          <p:cNvSpPr/>
          <p:nvPr/>
        </p:nvSpPr>
        <p:spPr>
          <a:xfrm>
            <a:off x="10032905" y="186570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7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68" name="Image 12" descr="preencoded.png">
            <a:extLst>
              <a:ext uri="{FF2B5EF4-FFF2-40B4-BE49-F238E27FC236}">
                <a16:creationId xmlns:a16="http://schemas.microsoft.com/office/drawing/2014/main" id="{3198A977-AE5B-7329-EDC0-F8196B863F3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5272" y="1950774"/>
            <a:ext cx="288037" cy="288037"/>
          </a:xfrm>
          <a:prstGeom prst="rect">
            <a:avLst/>
          </a:prstGeom>
        </p:spPr>
      </p:pic>
      <p:sp>
        <p:nvSpPr>
          <p:cNvPr id="69" name="Text 38">
            <a:extLst>
              <a:ext uri="{FF2B5EF4-FFF2-40B4-BE49-F238E27FC236}">
                <a16:creationId xmlns:a16="http://schemas.microsoft.com/office/drawing/2014/main" id="{1C459205-08D6-4E78-C304-590F210F9EF9}"/>
              </a:ext>
            </a:extLst>
          </p:cNvPr>
          <p:cNvSpPr/>
          <p:nvPr/>
        </p:nvSpPr>
        <p:spPr>
          <a:xfrm>
            <a:off x="10107544" y="2586437"/>
            <a:ext cx="12346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B2A3B"/>
                </a:solidFill>
              </a:rPr>
              <a:t>(</a:t>
            </a:r>
            <a:r>
              <a:rPr lang="en-US" sz="800" b="1" dirty="0" err="1">
                <a:solidFill>
                  <a:srgbClr val="0D9488"/>
                </a:solidFill>
              </a:rPr>
              <a:t>resolver</a:t>
            </a:r>
            <a:r>
              <a:rPr lang="en-US" sz="800" b="1" dirty="0">
                <a:solidFill>
                  <a:srgbClr val="0D9488"/>
                </a:solidFill>
              </a:rPr>
              <a:t> cases, diagnostic </a:t>
            </a:r>
            <a:r>
              <a:rPr lang="en-US" sz="800" b="1" dirty="0" err="1">
                <a:solidFill>
                  <a:srgbClr val="0D9488"/>
                </a:solidFill>
              </a:rPr>
              <a:t>cards</a:t>
            </a:r>
            <a:r>
              <a:rPr lang="en-US" sz="800" b="1" dirty="0">
                <a:solidFill>
                  <a:srgbClr val="0D9488"/>
                </a:solidFill>
              </a:rPr>
              <a:t>, exports ST-</a:t>
            </a:r>
            <a:r>
              <a:rPr lang="en-US" sz="800" b="1" dirty="0" err="1">
                <a:solidFill>
                  <a:srgbClr val="0D9488"/>
                </a:solidFill>
              </a:rPr>
              <a:t>ready</a:t>
            </a:r>
            <a:r>
              <a:rPr lang="en-US" sz="800" b="1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b="1" dirty="0">
              <a:solidFill>
                <a:srgbClr val="1B2A3B"/>
              </a:solidFill>
            </a:endParaRPr>
          </a:p>
        </p:txBody>
      </p:sp>
      <p:sp>
        <p:nvSpPr>
          <p:cNvPr id="70" name="Text 39">
            <a:extLst>
              <a:ext uri="{FF2B5EF4-FFF2-40B4-BE49-F238E27FC236}">
                <a16:creationId xmlns:a16="http://schemas.microsoft.com/office/drawing/2014/main" id="{F16CDF2A-8CAF-A429-A0B2-171399C10153}"/>
              </a:ext>
            </a:extLst>
          </p:cNvPr>
          <p:cNvSpPr/>
          <p:nvPr/>
        </p:nvSpPr>
        <p:spPr>
          <a:xfrm>
            <a:off x="10221951" y="281561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Deliver JSON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format ST-</a:t>
            </a:r>
            <a:r>
              <a:rPr lang="en-US" sz="1000" dirty="0" err="1">
                <a:solidFill>
                  <a:srgbClr val="64748B"/>
                </a:solidFill>
              </a:rPr>
              <a:t>ready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361006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Pipeline: Delivery(</a:t>
            </a:r>
            <a:r>
              <a:rPr lang="en-US" sz="1800" b="1" dirty="0">
                <a:solidFill>
                  <a:srgbClr val="0D9589"/>
                </a:solidFill>
              </a:rPr>
              <a:t>resolver cases, diagnostic cards, exports ST-ready</a:t>
            </a:r>
            <a:r>
              <a:rPr lang="en-US" sz="1800" b="1" dirty="0"/>
              <a:t>)</a:t>
            </a:r>
            <a:endParaRPr lang="en-US" sz="180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145420" y="771803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dirty="0">
                <a:solidFill>
                  <a:srgbClr val="475569"/>
                </a:solidFill>
              </a:rPr>
              <a:t>ST-ready exports = actionable, traceable, platform-ready knowledge</a:t>
            </a:r>
          </a:p>
        </p:txBody>
      </p:sp>
      <p:sp>
        <p:nvSpPr>
          <p:cNvPr id="10" name="C10"/>
          <p:cNvSpPr>
            <a:spLocks noGrp="1"/>
          </p:cNvSpPr>
          <p:nvPr/>
        </p:nvSpPr>
        <p:spPr>
          <a:xfrm>
            <a:off x="326654" y="1521489"/>
            <a:ext cx="11246690" cy="300902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dirty="0">
                <a:solidFill>
                  <a:srgbClr val="00B0F0"/>
                </a:solidFill>
              </a:rPr>
              <a:t>Why a Delivery Layer?</a:t>
            </a:r>
          </a:p>
          <a:p>
            <a:endParaRPr lang="en-US" sz="900" dirty="0"/>
          </a:p>
          <a:p>
            <a:r>
              <a:rPr lang="en-US" sz="1200" b="1" dirty="0">
                <a:solidFill>
                  <a:srgbClr val="334155"/>
                </a:solidFill>
              </a:rPr>
              <a:t>We observed a gap between raw available data and actual support usability:</a:t>
            </a:r>
          </a:p>
          <a:p>
            <a:endParaRPr lang="en-US" sz="1000" dirty="0"/>
          </a:p>
          <a:p>
            <a:r>
              <a:rPr lang="en-US" sz="1200" b="0" dirty="0">
                <a:solidFill>
                  <a:srgbClr val="334155"/>
                </a:solidFill>
              </a:rPr>
              <a:t>● Raw issues explain a problem but lack a clear diagnostic path</a:t>
            </a:r>
          </a:p>
          <a:p>
            <a:r>
              <a:rPr lang="en-US" sz="1200" b="0" dirty="0">
                <a:solidFill>
                  <a:srgbClr val="334155"/>
                </a:solidFill>
              </a:rPr>
              <a:t>● Users ask symptom-oriented questions, not issue-number queries</a:t>
            </a:r>
          </a:p>
          <a:p>
            <a:r>
              <a:rPr lang="en-US" sz="1200" b="0" dirty="0">
                <a:solidFill>
                  <a:srgbClr val="334155"/>
                </a:solidFill>
              </a:rPr>
              <a:t>● Results could be correct at source but weak on actionable steps</a:t>
            </a:r>
          </a:p>
          <a:p>
            <a:r>
              <a:rPr lang="en-US" sz="1200" b="0" dirty="0">
                <a:solidFill>
                  <a:srgbClr val="334155"/>
                </a:solidFill>
              </a:rPr>
              <a:t>● Without delivery standards, labels and links become inconsistent</a:t>
            </a:r>
          </a:p>
          <a:p>
            <a:endParaRPr lang="en-US" sz="1100" b="0" dirty="0">
              <a:solidFill>
                <a:srgbClr val="334155"/>
              </a:solidFill>
            </a:endParaRPr>
          </a:p>
          <a:p>
            <a:endParaRPr lang="en-US" sz="900" dirty="0"/>
          </a:p>
          <a:p>
            <a:pPr algn="ctr"/>
            <a:r>
              <a:rPr lang="en-US" sz="1100" b="1" i="1" dirty="0">
                <a:solidFill>
                  <a:srgbClr val="334155"/>
                </a:solidFill>
              </a:rPr>
              <a:t>The content existed, the operational layer was missing.</a:t>
            </a:r>
          </a:p>
          <a:p>
            <a:endParaRPr lang="en-US" sz="900" dirty="0"/>
          </a:p>
          <a:p>
            <a:r>
              <a:rPr lang="en-US" sz="1400" b="1" dirty="0">
                <a:solidFill>
                  <a:srgbClr val="00B0F0"/>
                </a:solidFill>
              </a:rPr>
              <a:t>The solution:</a:t>
            </a:r>
          </a:p>
          <a:p>
            <a:endParaRPr lang="en-US" sz="1400" b="1" dirty="0">
              <a:solidFill>
                <a:srgbClr val="00B0F0"/>
              </a:solidFill>
            </a:endParaRPr>
          </a:p>
          <a:p>
            <a:r>
              <a:rPr lang="en-US" sz="1200" b="0" dirty="0">
                <a:solidFill>
                  <a:srgbClr val="334155"/>
                </a:solidFill>
              </a:rPr>
              <a:t>Build a structured export layer that transforms raw pipeline output into KB-ready, support-oriented knowledge artifacts.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51027A4E-7493-00B9-AB5C-8F2836DF99C6}"/>
              </a:ext>
            </a:extLst>
          </p:cNvPr>
          <p:cNvSpPr/>
          <p:nvPr/>
        </p:nvSpPr>
        <p:spPr>
          <a:xfrm>
            <a:off x="242477" y="118217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Shape 20">
            <a:extLst>
              <a:ext uri="{FF2B5EF4-FFF2-40B4-BE49-F238E27FC236}">
                <a16:creationId xmlns:a16="http://schemas.microsoft.com/office/drawing/2014/main" id="{21A870B0-7C66-977B-0DF6-2C8B59FA32B9}"/>
              </a:ext>
            </a:extLst>
          </p:cNvPr>
          <p:cNvSpPr/>
          <p:nvPr/>
        </p:nvSpPr>
        <p:spPr>
          <a:xfrm>
            <a:off x="326654" y="1520935"/>
            <a:ext cx="4388600" cy="45719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5" name="Picture 32">
            <a:extLst>
              <a:ext uri="{FF2B5EF4-FFF2-40B4-BE49-F238E27FC236}">
                <a16:creationId xmlns:a16="http://schemas.microsoft.com/office/drawing/2014/main" id="{C124EF34-A73E-F222-1957-85966A216B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02"/>
          <a:stretch>
            <a:fillRect/>
          </a:stretch>
        </p:blipFill>
        <p:spPr>
          <a:xfrm>
            <a:off x="4330523" y="4830196"/>
            <a:ext cx="3238952" cy="148729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BF50B-304A-9E25-C387-91DCBC31E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8D09-D7D6-7F14-3DFD-221DE823F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39" y="-222791"/>
            <a:ext cx="11609159" cy="1247050"/>
          </a:xfrm>
        </p:spPr>
        <p:txBody>
          <a:bodyPr/>
          <a:lstStyle/>
          <a:p>
            <a:r>
              <a:rPr lang="fr-FR" sz="1800" b="1">
                <a:latin typeface="+mn-lt"/>
              </a:rPr>
              <a:t>Pipeline</a:t>
            </a:r>
            <a:r>
              <a:rPr lang="fr-FR" sz="1800" b="1" dirty="0">
                <a:latin typeface="+mn-lt"/>
              </a:rPr>
              <a:t>: Delivery</a:t>
            </a:r>
            <a:r>
              <a:rPr lang="fr-FR" sz="1800" b="1">
                <a:solidFill>
                  <a:srgbClr val="1B2A3B"/>
                </a:solidFill>
                <a:latin typeface="+mn-lt"/>
              </a:rPr>
              <a:t>(</a:t>
            </a:r>
            <a:r>
              <a:rPr lang="fr-FR" sz="1800" b="1">
                <a:solidFill>
                  <a:srgbClr val="0D9488"/>
                </a:solidFill>
                <a:latin typeface="+mn-lt"/>
              </a:rPr>
              <a:t>resolver cases, diagnostic cards, exports ST-ready</a:t>
            </a:r>
            <a:r>
              <a:rPr lang="fr-FR" sz="1800" b="1">
                <a:solidFill>
                  <a:srgbClr val="1B2A3B"/>
                </a:solidFill>
                <a:latin typeface="+mn-lt"/>
              </a:rPr>
              <a:t>)</a:t>
            </a:r>
            <a:endParaRPr lang="fr-FR" sz="180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15D4270-FBC4-556D-BCA0-B39FFFAC789B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dirty="0">
                <a:solidFill>
                  <a:srgbClr val="425A78"/>
                </a:solidFill>
              </a:rPr>
              <a:t>Delivery — Why structure the final </a:t>
            </a:r>
            <a:r>
              <a:rPr lang="fr-FR" sz="1200" b="1">
                <a:solidFill>
                  <a:srgbClr val="425A78"/>
                </a:solidFill>
              </a:rPr>
              <a:t>output?</a:t>
            </a:r>
            <a:endParaRPr lang="fr-FR" sz="1200" b="1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12D244D-1F34-B011-8D32-D426B4DD2077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>
                <a:solidFill>
                  <a:srgbClr val="64748B"/>
                </a:solidFill>
              </a:rPr>
              <a:t>Des </a:t>
            </a:r>
            <a:r>
              <a:rPr lang="fr-FR" sz="1200" i="1" dirty="0">
                <a:solidFill>
                  <a:srgbClr val="64748B"/>
                </a:solidFill>
              </a:rPr>
              <a:t>exports ST-</a:t>
            </a:r>
            <a:r>
              <a:rPr lang="fr-FR" sz="1200" i="1">
                <a:solidFill>
                  <a:srgbClr val="64748B"/>
                </a:solidFill>
              </a:rPr>
              <a:t>ready = actionable cases, ready to integrate</a:t>
            </a:r>
            <a:endParaRPr lang="fr-FR" sz="1200" i="1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11DE4D1-BE12-171B-035E-04CEABC234FA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Shape 30">
            <a:extLst>
              <a:ext uri="{FF2B5EF4-FFF2-40B4-BE49-F238E27FC236}">
                <a16:creationId xmlns:a16="http://schemas.microsoft.com/office/drawing/2014/main" id="{24C28AF3-A8FC-E721-E131-F1C427C46064}"/>
              </a:ext>
            </a:extLst>
          </p:cNvPr>
          <p:cNvSpPr/>
          <p:nvPr/>
        </p:nvSpPr>
        <p:spPr>
          <a:xfrm>
            <a:off x="1423523" y="2096437"/>
            <a:ext cx="425196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0D6C41A0-6CCE-04FC-D29B-7A27335B8F3A}"/>
              </a:ext>
            </a:extLst>
          </p:cNvPr>
          <p:cNvSpPr/>
          <p:nvPr/>
        </p:nvSpPr>
        <p:spPr>
          <a:xfrm>
            <a:off x="1496675" y="2133013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 = (docs_..._v2) — source of vérité </a:t>
            </a:r>
            <a:r>
              <a:rPr lang="fr-FR" sz="90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riche </a:t>
            </a:r>
            <a:r>
              <a:rPr lang="fr-FR" sz="9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en </a:t>
            </a:r>
            <a:r>
              <a:rPr lang="fr-FR" sz="90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metadata</a:t>
            </a:r>
            <a:endParaRPr lang="fr-FR" sz="900" dirty="0"/>
          </a:p>
        </p:txBody>
      </p:sp>
      <p:sp>
        <p:nvSpPr>
          <p:cNvPr id="28" name="Shape 32">
            <a:extLst>
              <a:ext uri="{FF2B5EF4-FFF2-40B4-BE49-F238E27FC236}">
                <a16:creationId xmlns:a16="http://schemas.microsoft.com/office/drawing/2014/main" id="{27278D46-CC65-4940-0EC6-5240F966FE61}"/>
              </a:ext>
            </a:extLst>
          </p:cNvPr>
          <p:cNvSpPr/>
          <p:nvPr/>
        </p:nvSpPr>
        <p:spPr>
          <a:xfrm>
            <a:off x="6023443" y="2091035"/>
            <a:ext cx="42519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B0F9F03-BF0F-FF00-D149-5CEBE5649433}"/>
              </a:ext>
            </a:extLst>
          </p:cNvPr>
          <p:cNvSpPr/>
          <p:nvPr/>
        </p:nvSpPr>
        <p:spPr>
          <a:xfrm>
            <a:off x="6096595" y="2127611"/>
            <a:ext cx="4178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B </a:t>
            </a:r>
            <a:r>
              <a:rPr lang="fr-FR" sz="90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= </a:t>
            </a:r>
            <a:r>
              <a:rPr lang="fr-FR" sz="9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Format ST-</a:t>
            </a:r>
            <a:r>
              <a:rPr lang="fr-FR" sz="90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ready  (st_ready_... ) — adapté au moteur RAG ST</a:t>
            </a:r>
            <a:endParaRPr lang="fr-FR" sz="9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ED315BA5-E32E-436C-11C5-F43D97B1F1BC}"/>
              </a:ext>
            </a:extLst>
          </p:cNvPr>
          <p:cNvSpPr/>
          <p:nvPr/>
        </p:nvSpPr>
        <p:spPr>
          <a:xfrm>
            <a:off x="3390863" y="3002564"/>
            <a:ext cx="5036559" cy="255263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7C58861-5090-9AA1-BE5C-0C45E798068A}"/>
              </a:ext>
            </a:extLst>
          </p:cNvPr>
          <p:cNvSpPr/>
          <p:nvPr/>
        </p:nvSpPr>
        <p:spPr>
          <a:xfrm>
            <a:off x="3390864" y="3002565"/>
            <a:ext cx="54864" cy="1737360"/>
          </a:xfrm>
          <a:prstGeom prst="rect">
            <a:avLst/>
          </a:prstGeom>
          <a:solidFill>
            <a:srgbClr val="425A78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8D33FDD-557D-2EE0-A247-DE417BE9F41A}"/>
              </a:ext>
            </a:extLst>
          </p:cNvPr>
          <p:cNvSpPr/>
          <p:nvPr/>
        </p:nvSpPr>
        <p:spPr>
          <a:xfrm>
            <a:off x="3619464" y="3141613"/>
            <a:ext cx="480795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Structure: </a:t>
            </a:r>
            <a:r>
              <a:rPr lang="fr-FR" sz="1100" b="1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st_ready_text</a:t>
            </a:r>
            <a:r>
              <a:rPr lang="fr-FR" sz="11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(issues) — </a:t>
            </a:r>
            <a:r>
              <a:rPr lang="fr-FR" sz="1100" b="1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fields</a:t>
            </a:r>
            <a:r>
              <a:rPr lang="fr-FR" sz="11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fr-FR" sz="1100" b="1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exposed</a:t>
            </a:r>
            <a:r>
              <a:rPr lang="fr-FR" sz="11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to the moteur RAG</a:t>
            </a:r>
            <a:endParaRPr lang="fr-FR" sz="11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28EBD78-EE0D-F039-30EB-2A35E86F318E}"/>
              </a:ext>
            </a:extLst>
          </p:cNvPr>
          <p:cNvSpPr/>
          <p:nvPr/>
        </p:nvSpPr>
        <p:spPr>
          <a:xfrm>
            <a:off x="3619464" y="3628133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C250B83-CB9A-5993-5C85-A829CF71AAEC}"/>
              </a:ext>
            </a:extLst>
          </p:cNvPr>
          <p:cNvSpPr/>
          <p:nvPr/>
        </p:nvSpPr>
        <p:spPr>
          <a:xfrm>
            <a:off x="3665184" y="3628133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Problem</a:t>
            </a:r>
            <a:endParaRPr lang="fr-FR" sz="900" dirty="0">
              <a:solidFill>
                <a:schemeClr val="bg1"/>
              </a:solidFill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1FE35AAD-BCD7-9A52-F1EB-D47C01B86A26}"/>
              </a:ext>
            </a:extLst>
          </p:cNvPr>
          <p:cNvSpPr/>
          <p:nvPr/>
        </p:nvSpPr>
        <p:spPr>
          <a:xfrm>
            <a:off x="5768304" y="3628133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52C4D455-9979-7B15-7B83-4574FCDCED00}"/>
              </a:ext>
            </a:extLst>
          </p:cNvPr>
          <p:cNvSpPr/>
          <p:nvPr/>
        </p:nvSpPr>
        <p:spPr>
          <a:xfrm>
            <a:off x="5814024" y="3628133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Context</a:t>
            </a:r>
            <a:endParaRPr lang="fr-FR" sz="900" dirty="0">
              <a:solidFill>
                <a:schemeClr val="bg1"/>
              </a:solidFill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C639846-3F32-B5FD-5A5D-40DA9B19DDF2}"/>
              </a:ext>
            </a:extLst>
          </p:cNvPr>
          <p:cNvSpPr/>
          <p:nvPr/>
        </p:nvSpPr>
        <p:spPr>
          <a:xfrm>
            <a:off x="3619464" y="4542533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48D806A-D466-8554-357E-764060721E00}"/>
              </a:ext>
            </a:extLst>
          </p:cNvPr>
          <p:cNvSpPr/>
          <p:nvPr/>
        </p:nvSpPr>
        <p:spPr>
          <a:xfrm>
            <a:off x="3665184" y="4542533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Root cause</a:t>
            </a:r>
            <a:endParaRPr lang="fr-FR" sz="900" dirty="0">
              <a:solidFill>
                <a:schemeClr val="bg1"/>
              </a:solidFill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CCDDD07C-B27C-3265-6F7F-C2A9BB4D151A}"/>
              </a:ext>
            </a:extLst>
          </p:cNvPr>
          <p:cNvSpPr/>
          <p:nvPr/>
        </p:nvSpPr>
        <p:spPr>
          <a:xfrm>
            <a:off x="5768304" y="4542533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2EBAC4C0-FD34-3D7B-1E70-248F6F610838}"/>
              </a:ext>
            </a:extLst>
          </p:cNvPr>
          <p:cNvSpPr/>
          <p:nvPr/>
        </p:nvSpPr>
        <p:spPr>
          <a:xfrm>
            <a:off x="5814024" y="4542533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Fix</a:t>
            </a:r>
            <a:endParaRPr lang="fr-FR" sz="900" dirty="0">
              <a:solidFill>
                <a:schemeClr val="bg1"/>
              </a:solidFill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804033E5-AB41-F507-EB6C-C17B2266C9E7}"/>
              </a:ext>
            </a:extLst>
          </p:cNvPr>
          <p:cNvSpPr/>
          <p:nvPr/>
        </p:nvSpPr>
        <p:spPr>
          <a:xfrm>
            <a:off x="3619464" y="4085333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883A9D0E-CD31-2743-10F1-2626C88CF0FF}"/>
              </a:ext>
            </a:extLst>
          </p:cNvPr>
          <p:cNvSpPr/>
          <p:nvPr/>
        </p:nvSpPr>
        <p:spPr>
          <a:xfrm>
            <a:off x="3665184" y="4085333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Constraints</a:t>
            </a:r>
            <a:endParaRPr lang="fr-FR" sz="900" dirty="0">
              <a:solidFill>
                <a:schemeClr val="bg1"/>
              </a:solidFill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B7AD383F-19F4-7AF9-FC24-E69AFF3BB9AC}"/>
              </a:ext>
            </a:extLst>
          </p:cNvPr>
          <p:cNvSpPr/>
          <p:nvPr/>
        </p:nvSpPr>
        <p:spPr>
          <a:xfrm>
            <a:off x="5768304" y="4085333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40D98847-10C3-A463-6131-45A8689A9E2B}"/>
              </a:ext>
            </a:extLst>
          </p:cNvPr>
          <p:cNvSpPr/>
          <p:nvPr/>
        </p:nvSpPr>
        <p:spPr>
          <a:xfrm>
            <a:off x="5814024" y="4085333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Keywords</a:t>
            </a:r>
            <a:endParaRPr lang="fr-FR" sz="900" dirty="0">
              <a:solidFill>
                <a:schemeClr val="bg1"/>
              </a:solidFill>
            </a:endParaRPr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186B3D92-96F8-C0EC-C717-BF3D7FA00FFF}"/>
              </a:ext>
            </a:extLst>
          </p:cNvPr>
          <p:cNvSpPr/>
          <p:nvPr/>
        </p:nvSpPr>
        <p:spPr>
          <a:xfrm>
            <a:off x="3619464" y="4999733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E26FA5F6-B797-9583-4CE4-3D504D406352}"/>
              </a:ext>
            </a:extLst>
          </p:cNvPr>
          <p:cNvSpPr/>
          <p:nvPr/>
        </p:nvSpPr>
        <p:spPr>
          <a:xfrm>
            <a:off x="3665184" y="4999733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Technical</a:t>
            </a:r>
            <a:r>
              <a:rPr lang="fr-FR" sz="900" b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details</a:t>
            </a:r>
            <a:endParaRPr lang="fr-FR" sz="900" dirty="0">
              <a:solidFill>
                <a:schemeClr val="bg1"/>
              </a:solidFill>
            </a:endParaRPr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020D3776-1751-AC36-3EAC-8FC1CCA8F065}"/>
              </a:ext>
            </a:extLst>
          </p:cNvPr>
          <p:cNvSpPr/>
          <p:nvPr/>
        </p:nvSpPr>
        <p:spPr>
          <a:xfrm>
            <a:off x="5768304" y="4999733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5AC58C8-3BF7-A0A4-E52D-334E3DFD5B45}"/>
              </a:ext>
            </a:extLst>
          </p:cNvPr>
          <p:cNvSpPr/>
          <p:nvPr/>
        </p:nvSpPr>
        <p:spPr>
          <a:xfrm>
            <a:off x="5814024" y="4999733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Key </a:t>
            </a:r>
            <a:r>
              <a:rPr lang="fr-FR" sz="900" b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comments</a:t>
            </a:r>
            <a:endParaRPr lang="fr-FR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266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C3002-B399-9E10-ED48-CD5D330D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5FB56-30FC-8F15-8AD6-940E7C27B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4" y="-209366"/>
            <a:ext cx="11609159" cy="1247050"/>
          </a:xfrm>
        </p:spPr>
        <p:txBody>
          <a:bodyPr/>
          <a:lstStyle/>
          <a:p>
            <a:r>
              <a:rPr lang="fr-FR" sz="1800" b="1">
                <a:latin typeface="+mn-lt"/>
              </a:rPr>
              <a:t>Pipeline</a:t>
            </a:r>
            <a:r>
              <a:rPr lang="fr-FR" sz="1800" b="1" dirty="0">
                <a:latin typeface="+mn-lt"/>
              </a:rPr>
              <a:t>: Delivery</a:t>
            </a:r>
            <a:r>
              <a:rPr lang="fr-FR" sz="1800" b="1">
                <a:solidFill>
                  <a:srgbClr val="1B2A3B"/>
                </a:solidFill>
                <a:latin typeface="+mn-lt"/>
              </a:rPr>
              <a:t>(</a:t>
            </a:r>
            <a:r>
              <a:rPr lang="fr-FR" sz="1800" b="1">
                <a:solidFill>
                  <a:srgbClr val="0D9488"/>
                </a:solidFill>
                <a:latin typeface="+mn-lt"/>
              </a:rPr>
              <a:t>resolver cases, diagnostic cards, exports ST-ready</a:t>
            </a:r>
            <a:r>
              <a:rPr lang="fr-FR" sz="1800" b="1">
                <a:solidFill>
                  <a:srgbClr val="1B2A3B"/>
                </a:solidFill>
                <a:latin typeface="+mn-lt"/>
              </a:rPr>
              <a:t>)</a:t>
            </a:r>
            <a:endParaRPr lang="fr-FR" sz="180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08897E-A805-11DA-216A-08FE2B68C2B6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dirty="0">
                <a:solidFill>
                  <a:srgbClr val="425A78"/>
                </a:solidFill>
              </a:rPr>
              <a:t>Delivery — Why structure the final </a:t>
            </a:r>
            <a:r>
              <a:rPr lang="fr-FR" sz="1200" b="1">
                <a:solidFill>
                  <a:srgbClr val="425A78"/>
                </a:solidFill>
              </a:rPr>
              <a:t>output?</a:t>
            </a:r>
            <a:endParaRPr lang="fr-FR" sz="1200" b="1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1ECEE609-1BC8-9D3B-7C00-4D0051E9A859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>
                <a:solidFill>
                  <a:srgbClr val="64748B"/>
                </a:solidFill>
              </a:rPr>
              <a:t>Des </a:t>
            </a:r>
            <a:r>
              <a:rPr lang="fr-FR" sz="1200" i="1" dirty="0">
                <a:solidFill>
                  <a:srgbClr val="64748B"/>
                </a:solidFill>
              </a:rPr>
              <a:t>exports ST-</a:t>
            </a:r>
            <a:r>
              <a:rPr lang="fr-FR" sz="1200" i="1">
                <a:solidFill>
                  <a:srgbClr val="64748B"/>
                </a:solidFill>
              </a:rPr>
              <a:t>ready = actionable cases, ready to integrate</a:t>
            </a:r>
            <a:endParaRPr lang="fr-FR" sz="1200" i="1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B844D2B-1C48-11B5-505E-498E4FCC4E99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7" name="Text 40">
            <a:extLst>
              <a:ext uri="{FF2B5EF4-FFF2-40B4-BE49-F238E27FC236}">
                <a16:creationId xmlns:a16="http://schemas.microsoft.com/office/drawing/2014/main" id="{1E2E4E41-43F5-5127-E7B6-6B44F684D495}"/>
              </a:ext>
            </a:extLst>
          </p:cNvPr>
          <p:cNvSpPr/>
          <p:nvPr/>
        </p:nvSpPr>
        <p:spPr>
          <a:xfrm>
            <a:off x="481402" y="3032819"/>
            <a:ext cx="837847" cy="29260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fr-FR" sz="1000" dirty="0">
              <a:solidFill>
                <a:srgbClr val="0D9589"/>
              </a:solidFill>
            </a:endParaRPr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7F4990AE-E457-B1D2-C3CB-E2C14D213C85}"/>
              </a:ext>
            </a:extLst>
          </p:cNvPr>
          <p:cNvSpPr/>
          <p:nvPr/>
        </p:nvSpPr>
        <p:spPr>
          <a:xfrm>
            <a:off x="1752600" y="1861340"/>
            <a:ext cx="8686800" cy="124705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182684DD-E71E-24A5-EF7B-7B4896385E96}"/>
              </a:ext>
            </a:extLst>
          </p:cNvPr>
          <p:cNvSpPr/>
          <p:nvPr/>
        </p:nvSpPr>
        <p:spPr>
          <a:xfrm>
            <a:off x="1846892" y="1965648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fr-FR" sz="1050" b="1">
                <a:solidFill>
                  <a:srgbClr val="3C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need</a:t>
            </a:r>
            <a:r>
              <a:rPr lang="fr-FR" sz="1050" b="1" dirty="0">
                <a:solidFill>
                  <a:srgbClr val="3C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engineers receive technical questions about STM32 bugs. To answer, they need to know if a GitHub bug is already resolved </a:t>
            </a:r>
            <a:r>
              <a:rPr lang="fr-FR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was a PR mergede </a:t>
            </a: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fr-FR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fix commit exist </a:t>
            </a: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fr-FR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Existe-t-il un chemin of correction crédible and vérifiable pour ce bug</a:t>
            </a: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fr-F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fr-F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cards are injected into the ST Knowledge Base (KB) so the RAG engine can cite fixes during a query.</a:t>
            </a:r>
            <a:endParaRPr lang="fr-FR" sz="105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A39685B7-3897-C6D0-81BD-5984893C6C9C}"/>
              </a:ext>
            </a:extLst>
          </p:cNvPr>
          <p:cNvSpPr/>
          <p:nvPr/>
        </p:nvSpPr>
        <p:spPr>
          <a:xfrm>
            <a:off x="3321506" y="3318487"/>
            <a:ext cx="2834640" cy="158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629511D7-12C4-1BA8-8662-FF51C34DE966}"/>
              </a:ext>
            </a:extLst>
          </p:cNvPr>
          <p:cNvSpPr/>
          <p:nvPr/>
        </p:nvSpPr>
        <p:spPr>
          <a:xfrm>
            <a:off x="3321506" y="3318488"/>
            <a:ext cx="2834640" cy="402336"/>
          </a:xfrm>
          <a:prstGeom prst="rect">
            <a:avLst/>
          </a:prstGeom>
          <a:solidFill>
            <a:schemeClr val="bg2"/>
          </a:solidFill>
          <a:ln w="12700">
            <a:solidFill>
              <a:srgbClr val="0D9589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FA88D70-E772-B20B-0A8F-524EB0B0E3F3}"/>
              </a:ext>
            </a:extLst>
          </p:cNvPr>
          <p:cNvSpPr/>
          <p:nvPr/>
        </p:nvSpPr>
        <p:spPr>
          <a:xfrm>
            <a:off x="3412946" y="33550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GitHub </a:t>
            </a:r>
            <a:r>
              <a:rPr lang="fr-FR" sz="1300" b="1">
                <a:latin typeface="Calibri" pitchFamily="34" charset="0"/>
                <a:ea typeface="Calibri" pitchFamily="34" charset="-122"/>
                <a:cs typeface="Calibri" pitchFamily="34" charset="-120"/>
              </a:rPr>
              <a:t>Issue (</a:t>
            </a:r>
            <a:r>
              <a:rPr lang="fr-FR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problem)</a:t>
            </a:r>
            <a:endParaRPr lang="fr-FR" sz="13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B179619F-6052-0E04-5CD4-165A2D84A31E}"/>
              </a:ext>
            </a:extLst>
          </p:cNvPr>
          <p:cNvSpPr/>
          <p:nvPr/>
        </p:nvSpPr>
        <p:spPr>
          <a:xfrm>
            <a:off x="3412946" y="3851075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décrivant un bug ou comportement anormal sur STM32Cube (repo GitHub ST).</a:t>
            </a:r>
          </a:p>
          <a:p>
            <a:pPr marL="0" indent="0">
              <a:buNone/>
            </a:pPr>
            <a:endParaRPr lang="fr-F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fr-FR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</a:t>
            </a:r>
            <a:r>
              <a:rPr lang="fr-F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fr-FR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r>
              <a:rPr lang="fr-F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fr-FR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r>
              <a:rPr lang="fr-F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descriptione</a:t>
            </a:r>
            <a:r>
              <a:rPr lang="fr-F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labels, état (open/</a:t>
            </a:r>
            <a:r>
              <a:rPr lang="fr-FR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r>
              <a:rPr lang="fr-F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fr-FR" sz="105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AB7E0DA6-0F84-BB3B-4126-DC69FE366351}"/>
              </a:ext>
            </a:extLst>
          </p:cNvPr>
          <p:cNvSpPr/>
          <p:nvPr/>
        </p:nvSpPr>
        <p:spPr>
          <a:xfrm>
            <a:off x="6293306" y="3318488"/>
            <a:ext cx="2834640" cy="1584401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21697E60-2D1B-74A3-DEF5-54C6D0207FD2}"/>
              </a:ext>
            </a:extLst>
          </p:cNvPr>
          <p:cNvSpPr/>
          <p:nvPr/>
        </p:nvSpPr>
        <p:spPr>
          <a:xfrm>
            <a:off x="6293306" y="3318488"/>
            <a:ext cx="2834640" cy="402336"/>
          </a:xfrm>
          <a:prstGeom prst="rect">
            <a:avLst/>
          </a:prstGeom>
          <a:solidFill>
            <a:schemeClr val="bg2"/>
          </a:solidFill>
          <a:ln w="12700">
            <a:solidFill>
              <a:srgbClr val="0D9589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46FB7672-F81B-224E-DA02-3520E4AACE57}"/>
              </a:ext>
            </a:extLst>
          </p:cNvPr>
          <p:cNvSpPr/>
          <p:nvPr/>
        </p:nvSpPr>
        <p:spPr>
          <a:xfrm>
            <a:off x="6384746" y="33550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 (proposition </a:t>
            </a:r>
            <a:r>
              <a:rPr lang="fr-FR" sz="1300" b="1">
                <a:latin typeface="Calibri" pitchFamily="34" charset="0"/>
                <a:ea typeface="Calibri" pitchFamily="34" charset="-122"/>
                <a:cs typeface="Calibri" pitchFamily="34" charset="-120"/>
              </a:rPr>
              <a:t>of </a:t>
            </a:r>
            <a:r>
              <a:rPr lang="fr-FR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correction)</a:t>
            </a:r>
            <a:endParaRPr lang="fr-FR" sz="1300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1A0706A5-C54E-AC35-3091-471FFD1805A6}"/>
              </a:ext>
            </a:extLst>
          </p:cNvPr>
          <p:cNvSpPr/>
          <p:nvPr/>
        </p:nvSpPr>
        <p:spPr>
          <a:xfrm>
            <a:off x="6384746" y="3851075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 proposal on </a:t>
            </a: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soumise sur GitHub. Si elle est mergée, elle constitue un fix officiel. </a:t>
            </a:r>
            <a:endParaRPr lang="fr-F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fr-F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 title, changed filesngés, commits associated </a:t>
            </a:r>
            <a:r>
              <a:rPr lang="fr-FR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(preuve technique of changement)</a:t>
            </a: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fr-FR" sz="105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7BBB5622-4666-89AE-1B84-EC0D7079E7F3}"/>
              </a:ext>
            </a:extLst>
          </p:cNvPr>
          <p:cNvSpPr/>
          <p:nvPr/>
        </p:nvSpPr>
        <p:spPr>
          <a:xfrm>
            <a:off x="4921706" y="5033137"/>
            <a:ext cx="2834640" cy="1535187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03136A8F-DA66-501E-2070-5498829CEC84}"/>
              </a:ext>
            </a:extLst>
          </p:cNvPr>
          <p:cNvSpPr/>
          <p:nvPr/>
        </p:nvSpPr>
        <p:spPr>
          <a:xfrm>
            <a:off x="4921706" y="5033138"/>
            <a:ext cx="2834640" cy="402336"/>
          </a:xfrm>
          <a:prstGeom prst="rect">
            <a:avLst/>
          </a:prstGeom>
          <a:solidFill>
            <a:schemeClr val="bg2"/>
          </a:solidFill>
          <a:ln w="12700">
            <a:solidFill>
              <a:srgbClr val="0D9589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BD7F7EDA-7403-A123-F2AA-8BE0CE8F055C}"/>
              </a:ext>
            </a:extLst>
          </p:cNvPr>
          <p:cNvSpPr/>
          <p:nvPr/>
        </p:nvSpPr>
        <p:spPr>
          <a:xfrm>
            <a:off x="5013146" y="506971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300" b="1">
                <a:latin typeface="Calibri" pitchFamily="34" charset="0"/>
                <a:ea typeface="Calibri" pitchFamily="34" charset="-122"/>
                <a:cs typeface="Calibri" pitchFamily="34" charset="-120"/>
              </a:rPr>
              <a:t> Case</a:t>
            </a:r>
            <a:endParaRPr lang="fr-FR" sz="1300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E866F4B2-1C98-66DE-E0AB-8888AB3276E7}"/>
              </a:ext>
            </a:extLst>
          </p:cNvPr>
          <p:cNvSpPr/>
          <p:nvPr/>
        </p:nvSpPr>
        <p:spPr>
          <a:xfrm>
            <a:off x="5013146" y="5490854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</a:t>
            </a:r>
            <a:r>
              <a:rPr lang="fr-F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structurée ST-</a:t>
            </a: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linking an issue to its PRs/commits fix PRs/commits. </a:t>
            </a:r>
            <a:endParaRPr lang="fr-F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fr-F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fr-FR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</a:t>
            </a: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resolution status, levu of confiance, fichiers impactés, texte prêt for the KB.</a:t>
            </a:r>
            <a:endParaRPr lang="fr-FR" sz="1050" dirty="0"/>
          </a:p>
        </p:txBody>
      </p:sp>
      <p:pic>
        <p:nvPicPr>
          <p:cNvPr id="35" name="Graphic 34" descr="Back outline">
            <a:extLst>
              <a:ext uri="{FF2B5EF4-FFF2-40B4-BE49-F238E27FC236}">
                <a16:creationId xmlns:a16="http://schemas.microsoft.com/office/drawing/2014/main" id="{A4A35463-D13E-CB42-4E42-F369B9943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974399" flipH="1" flipV="1">
            <a:off x="8183223" y="5206063"/>
            <a:ext cx="1000399" cy="1000399"/>
          </a:xfrm>
          <a:prstGeom prst="rect">
            <a:avLst/>
          </a:prstGeom>
        </p:spPr>
      </p:pic>
      <p:pic>
        <p:nvPicPr>
          <p:cNvPr id="36" name="Graphic 35" descr="Back outline">
            <a:extLst>
              <a:ext uri="{FF2B5EF4-FFF2-40B4-BE49-F238E27FC236}">
                <a16:creationId xmlns:a16="http://schemas.microsoft.com/office/drawing/2014/main" id="{935E2A12-374E-CF62-7CC9-73816FC3A4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5601" flipV="1">
            <a:off x="3357270" y="5160183"/>
            <a:ext cx="1000399" cy="100039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2FED638-CCAB-01FD-C114-52E9093BE7B7}"/>
              </a:ext>
            </a:extLst>
          </p:cNvPr>
          <p:cNvSpPr txBox="1"/>
          <p:nvPr/>
        </p:nvSpPr>
        <p:spPr>
          <a:xfrm>
            <a:off x="242558" y="1402149"/>
            <a:ext cx="6271666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400" b="1" dirty="0" err="1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400" b="1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 Cases: what we built and how  </a:t>
            </a:r>
            <a:endParaRPr lang="fr-FR" sz="1400" dirty="0">
              <a:solidFill>
                <a:srgbClr val="3CB4E6"/>
              </a:solidFill>
            </a:endParaRPr>
          </a:p>
        </p:txBody>
      </p:sp>
      <p:sp>
        <p:nvSpPr>
          <p:cNvPr id="39" name="Shape 45">
            <a:extLst>
              <a:ext uri="{FF2B5EF4-FFF2-40B4-BE49-F238E27FC236}">
                <a16:creationId xmlns:a16="http://schemas.microsoft.com/office/drawing/2014/main" id="{07013E7E-BC63-0D47-9241-E036D4D7480C}"/>
              </a:ext>
            </a:extLst>
          </p:cNvPr>
          <p:cNvSpPr/>
          <p:nvPr/>
        </p:nvSpPr>
        <p:spPr>
          <a:xfrm>
            <a:off x="1746826" y="1861340"/>
            <a:ext cx="45719" cy="1247050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490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Resolver Cases — Tracing Bugs to Their Fix</a:t>
            </a:r>
            <a:endParaRPr lang="en-US" sz="180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145420" y="659139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dirty="0">
                <a:solidFill>
                  <a:srgbClr val="475569"/>
                </a:solidFill>
              </a:rPr>
              <a:t>Going beyond issue similarity: linking confirmed resolutions</a:t>
            </a:r>
          </a:p>
        </p:txBody>
      </p:sp>
      <p:sp>
        <p:nvSpPr>
          <p:cNvPr id="10" name="C10"/>
          <p:cNvSpPr>
            <a:spLocks noGrp="1"/>
          </p:cNvSpPr>
          <p:nvPr/>
        </p:nvSpPr>
        <p:spPr>
          <a:xfrm>
            <a:off x="242477" y="2313315"/>
            <a:ext cx="11333852" cy="283012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182880" tIns="182880" rIns="182880" bIns="182880"/>
          <a:lstStyle/>
          <a:p>
            <a:r>
              <a:rPr lang="en-US" sz="1100" b="1" dirty="0">
                <a:solidFill>
                  <a:srgbClr val="03217B"/>
                </a:solidFill>
              </a:rPr>
              <a:t>Construction process:</a:t>
            </a:r>
          </a:p>
          <a:p>
            <a:endParaRPr lang="en-US" sz="1100" b="1" dirty="0">
              <a:solidFill>
                <a:srgbClr val="03217B"/>
              </a:solidFill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ED107DC2-ED9D-CCF4-57F2-F82844686C8F}"/>
              </a:ext>
            </a:extLst>
          </p:cNvPr>
          <p:cNvSpPr/>
          <p:nvPr/>
        </p:nvSpPr>
        <p:spPr>
          <a:xfrm>
            <a:off x="242477" y="102457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8E84EE-5D72-B4F0-A715-3B2F3F33BF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798" b="31201"/>
          <a:stretch>
            <a:fillRect/>
          </a:stretch>
        </p:blipFill>
        <p:spPr>
          <a:xfrm>
            <a:off x="-269775" y="2829515"/>
            <a:ext cx="12731549" cy="163274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D1F4-CB5B-DCA1-101F-85A337B78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0706B-7BAE-2BDA-32B4-B5D597826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Resolver Cases — Tracing Bugs to Their Fix</a:t>
            </a:r>
            <a:endParaRPr lang="en-US" sz="180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19E2036C-F5D2-A5BA-414D-AB2F598A9786}"/>
              </a:ext>
            </a:extLst>
          </p:cNvPr>
          <p:cNvSpPr>
            <a:spLocks noGrp="1"/>
          </p:cNvSpPr>
          <p:nvPr/>
        </p:nvSpPr>
        <p:spPr>
          <a:xfrm>
            <a:off x="145420" y="659139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dirty="0">
                <a:solidFill>
                  <a:srgbClr val="475569"/>
                </a:solidFill>
              </a:rPr>
              <a:t>Going beyond issue similarity: linking confirmed resolutions</a:t>
            </a:r>
          </a:p>
        </p:txBody>
      </p:sp>
      <p:sp>
        <p:nvSpPr>
          <p:cNvPr id="10" name="C10">
            <a:extLst>
              <a:ext uri="{FF2B5EF4-FFF2-40B4-BE49-F238E27FC236}">
                <a16:creationId xmlns:a16="http://schemas.microsoft.com/office/drawing/2014/main" id="{89D13EA2-2D49-9E38-5CC0-16D9152D7197}"/>
              </a:ext>
            </a:extLst>
          </p:cNvPr>
          <p:cNvSpPr>
            <a:spLocks noGrp="1"/>
          </p:cNvSpPr>
          <p:nvPr/>
        </p:nvSpPr>
        <p:spPr>
          <a:xfrm>
            <a:off x="242477" y="2313315"/>
            <a:ext cx="11333852" cy="283012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182880" tIns="182880" rIns="182880" bIns="182880"/>
          <a:lstStyle/>
          <a:p>
            <a:r>
              <a:rPr lang="en-US" sz="1100" b="1" dirty="0">
                <a:solidFill>
                  <a:srgbClr val="03217B"/>
                </a:solidFill>
              </a:rPr>
              <a:t>Construction process:</a:t>
            </a:r>
          </a:p>
          <a:p>
            <a:endParaRPr lang="en-US" sz="1100" b="1" dirty="0">
              <a:solidFill>
                <a:srgbClr val="03217B"/>
              </a:solidFill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DE081668-E3C0-81D6-B9FE-CE5D5EAFD9A6}"/>
              </a:ext>
            </a:extLst>
          </p:cNvPr>
          <p:cNvSpPr/>
          <p:nvPr/>
        </p:nvSpPr>
        <p:spPr>
          <a:xfrm>
            <a:off x="242477" y="102457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6886DE-9625-386D-B888-B876354F97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798" b="31201"/>
          <a:stretch>
            <a:fillRect/>
          </a:stretch>
        </p:blipFill>
        <p:spPr>
          <a:xfrm>
            <a:off x="-269775" y="2829515"/>
            <a:ext cx="12731549" cy="163274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ABAFA9-6C70-2888-5D31-6C8B7309B6D9}"/>
              </a:ext>
            </a:extLst>
          </p:cNvPr>
          <p:cNvSpPr/>
          <p:nvPr/>
        </p:nvSpPr>
        <p:spPr>
          <a:xfrm>
            <a:off x="3804183" y="3167244"/>
            <a:ext cx="2554735" cy="5235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DCD773-1F13-113E-6F82-877789284CE7}"/>
              </a:ext>
            </a:extLst>
          </p:cNvPr>
          <p:cNvSpPr/>
          <p:nvPr/>
        </p:nvSpPr>
        <p:spPr>
          <a:xfrm>
            <a:off x="6463621" y="3167243"/>
            <a:ext cx="1926523" cy="5235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5729524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DF4BA0F-6D5A-C8F9-37FA-CE2F34744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3C4C4-EFA9-D3F1-948B-4325296EB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Resolver Cases — Tracing Bugs to Their Fix</a:t>
            </a:r>
            <a:endParaRPr lang="en-US" sz="180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0D4087D8-48A3-2697-2146-18AD761B16DC}"/>
              </a:ext>
            </a:extLst>
          </p:cNvPr>
          <p:cNvSpPr>
            <a:spLocks noGrp="1"/>
          </p:cNvSpPr>
          <p:nvPr/>
        </p:nvSpPr>
        <p:spPr>
          <a:xfrm>
            <a:off x="145420" y="659139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dirty="0">
                <a:solidFill>
                  <a:srgbClr val="475569"/>
                </a:solidFill>
              </a:rPr>
              <a:t>Going beyond issue similarity: linking confirmed resolutions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B1B191A6-F719-ED8E-F744-11AB8D5F8EB1}"/>
              </a:ext>
            </a:extLst>
          </p:cNvPr>
          <p:cNvSpPr/>
          <p:nvPr/>
        </p:nvSpPr>
        <p:spPr>
          <a:xfrm>
            <a:off x="242477" y="102457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2C08261-0190-7483-4E11-D65CC82D30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798" b="31201"/>
          <a:stretch>
            <a:fillRect/>
          </a:stretch>
        </p:blipFill>
        <p:spPr>
          <a:xfrm>
            <a:off x="0" y="1906189"/>
            <a:ext cx="12192000" cy="1563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B42A4A8-180C-1DD0-7E7B-42BCFF80648F}"/>
              </a:ext>
            </a:extLst>
          </p:cNvPr>
          <p:cNvSpPr/>
          <p:nvPr/>
        </p:nvSpPr>
        <p:spPr>
          <a:xfrm>
            <a:off x="3853044" y="2191768"/>
            <a:ext cx="2554735" cy="5235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BDE4F-780C-E24B-F82E-6EDBF717D11B}"/>
              </a:ext>
            </a:extLst>
          </p:cNvPr>
          <p:cNvSpPr txBox="1"/>
          <p:nvPr/>
        </p:nvSpPr>
        <p:spPr>
          <a:xfrm>
            <a:off x="455455" y="1437304"/>
            <a:ext cx="6271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3217B"/>
                </a:solidFill>
              </a:rPr>
              <a:t>Construction process: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8049B-2EA2-A7B2-8020-11F02684EAB1}"/>
              </a:ext>
            </a:extLst>
          </p:cNvPr>
          <p:cNvSpPr txBox="1"/>
          <p:nvPr/>
        </p:nvSpPr>
        <p:spPr>
          <a:xfrm>
            <a:off x="1429768" y="3382441"/>
            <a:ext cx="6271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rgbClr val="03217B"/>
                </a:solidFill>
              </a:rPr>
              <a:t>Calcul</a:t>
            </a:r>
            <a:r>
              <a:rPr lang="en-US" sz="1400" b="1" dirty="0">
                <a:solidFill>
                  <a:srgbClr val="03217B"/>
                </a:solidFill>
              </a:rPr>
              <a:t> calculation: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D3856F-F1FA-1FBB-DCE1-52FFD5B8DD7E}"/>
              </a:ext>
            </a:extLst>
          </p:cNvPr>
          <p:cNvSpPr txBox="1"/>
          <p:nvPr/>
        </p:nvSpPr>
        <p:spPr>
          <a:xfrm>
            <a:off x="1429768" y="3774236"/>
            <a:ext cx="39298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 err="1">
                <a:solidFill>
                  <a:schemeClr val="bg2">
                    <a:lumMod val="10000"/>
                  </a:schemeClr>
                </a:solidFill>
                <a:effectLst/>
              </a:rPr>
              <a:t>link_score</a:t>
            </a:r>
            <a:r>
              <a:rPr lang="en-US" sz="1200" b="0" i="1" dirty="0">
                <a:solidFill>
                  <a:schemeClr val="bg2">
                    <a:lumMod val="10000"/>
                  </a:schemeClr>
                </a:solidFill>
                <a:effectLst/>
              </a:rPr>
              <a:t>=min(1,PR+MergeBonus+Commit)</a:t>
            </a:r>
            <a:endParaRPr lang="en-US" sz="1200" i="1" dirty="0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2DF9468-B893-BAE1-ED5B-985CDEEDDF5B}"/>
                  </a:ext>
                </a:extLst>
              </p:cNvPr>
              <p:cNvSpPr txBox="1"/>
              <p:nvPr/>
            </p:nvSpPr>
            <p:spPr>
              <a:xfrm>
                <a:off x="145420" y="4135253"/>
                <a:ext cx="846517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1200"/>
                  </a:spcAft>
                  <a:buNone/>
                </a:pPr>
                <a:r>
                  <a:rPr lang="en-US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                             Avec: </a:t>
                </a:r>
                <a14:m>
                  <m:oMath xmlns:m="http://schemas.openxmlformats.org/officeDocument/2006/math">
                    <m:r>
                      <a:rPr lang="fr-FR" sz="1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𝑃𝑅</m:t>
                    </m:r>
                    <m:r>
                      <a:rPr lang="en-US" sz="1200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12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20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𝑀𝑒𝑟𝑔𝑒𝐵𝑜𝑛𝑢𝑠</m:t>
                    </m:r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fr-FR" sz="1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1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20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𝐶𝑜𝑚𝑚𝑖𝑡</m:t>
                    </m:r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ar-AE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2DF9468-B893-BAE1-ED5B-985CDEEDD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20" y="4135253"/>
                <a:ext cx="8465179" cy="276999"/>
              </a:xfrm>
              <a:prstGeom prst="rect">
                <a:avLst/>
              </a:prstGeom>
              <a:blipFill>
                <a:blip r:embed="rId4"/>
                <a:stretch>
                  <a:fillRect t="-217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20B7B7A-EDEF-3AC1-D416-EFCFA65666AF}"/>
              </a:ext>
            </a:extLst>
          </p:cNvPr>
          <p:cNvSpPr txBox="1"/>
          <p:nvPr/>
        </p:nvSpPr>
        <p:spPr>
          <a:xfrm>
            <a:off x="1429768" y="4808268"/>
            <a:ext cx="627166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 Explicit </a:t>
            </a: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PR found</a:t>
            </a: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: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+0.5</a:t>
            </a:r>
            <a:endParaRPr lang="fr-FR" sz="1200" b="1" i="0" dirty="0">
              <a:solidFill>
                <a:srgbClr val="425A78"/>
              </a:solidFill>
              <a:effectLst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 Merged PR: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+0.3</a:t>
            </a:r>
            <a:endParaRPr lang="fr-FR" sz="1200" b="1" i="0" dirty="0">
              <a:solidFill>
                <a:srgbClr val="425A78"/>
              </a:solidFill>
              <a:effectLst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 If PR found but not merged: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+0.1 </a:t>
            </a: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(au lieu of +0.3)</a:t>
            </a:r>
            <a:endParaRPr lang="fr-FR" sz="1200" b="0" i="0" dirty="0">
              <a:solidFill>
                <a:schemeClr val="bg2">
                  <a:lumMod val="10000"/>
                </a:schemeClr>
              </a:solidFill>
              <a:effectLst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 Commit </a:t>
            </a:r>
            <a:r>
              <a:rPr lang="fr-FR" sz="1200">
                <a:solidFill>
                  <a:schemeClr val="bg2">
                    <a:lumMod val="10000"/>
                  </a:schemeClr>
                </a:solidFill>
              </a:rPr>
              <a:t>"</a:t>
            </a: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meaningful trouvé" does: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+0.2</a:t>
            </a:r>
            <a:endParaRPr lang="fr-FR" sz="1200" b="1" i="0" dirty="0">
              <a:solidFill>
                <a:srgbClr val="425A78"/>
              </a:solidFill>
              <a:effectLst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 Final score capped at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1.0</a:t>
            </a:r>
            <a:endParaRPr lang="fr-FR" sz="1200" b="1" i="0" dirty="0">
              <a:solidFill>
                <a:srgbClr val="425A78"/>
              </a:solidFill>
              <a:effectLst/>
            </a:endParaRPr>
          </a:p>
        </p:txBody>
      </p:sp>
      <p:pic>
        <p:nvPicPr>
          <p:cNvPr id="21" name="Graphic 20" descr="Arrow Right with solid fill">
            <a:extLst>
              <a:ext uri="{FF2B5EF4-FFF2-40B4-BE49-F238E27FC236}">
                <a16:creationId xmlns:a16="http://schemas.microsoft.com/office/drawing/2014/main" id="{F12C3C76-EACA-06E8-094E-C8EA5ABC0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263501">
            <a:off x="3637276" y="2902537"/>
            <a:ext cx="431535" cy="431535"/>
          </a:xfrm>
          <a:prstGeom prst="rect">
            <a:avLst/>
          </a:prstGeom>
        </p:spPr>
      </p:pic>
      <p:pic>
        <p:nvPicPr>
          <p:cNvPr id="23" name="Graphic 22" descr="Arrow Right with solid fill">
            <a:extLst>
              <a:ext uri="{FF2B5EF4-FFF2-40B4-BE49-F238E27FC236}">
                <a16:creationId xmlns:a16="http://schemas.microsoft.com/office/drawing/2014/main" id="{B014555E-E712-218A-F2C8-B72A086180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0109" y="4468301"/>
            <a:ext cx="431535" cy="43153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0A8D5B7-EAC4-3BEF-9483-14AF9ED3C0BE}"/>
              </a:ext>
            </a:extLst>
          </p:cNvPr>
          <p:cNvSpPr txBox="1"/>
          <p:nvPr/>
        </p:nvSpPr>
        <p:spPr>
          <a:xfrm>
            <a:off x="6645950" y="3424450"/>
            <a:ext cx="15874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3217B"/>
                </a:solidFill>
              </a:rPr>
              <a:t>Confidence: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F0457C6-C116-44B1-C68F-D2C12F55EF30}"/>
                  </a:ext>
                </a:extLst>
              </p:cNvPr>
              <p:cNvSpPr txBox="1"/>
              <p:nvPr/>
            </p:nvSpPr>
            <p:spPr>
              <a:xfrm>
                <a:off x="6662556" y="3806116"/>
                <a:ext cx="2331371" cy="1061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high if score </a:t>
                </a:r>
                <a14:m>
                  <m:oMath xmlns:m="http://schemas.openxmlformats.org/officeDocument/2006/math">
                    <m:r>
                      <a:rPr lang="it-IT" sz="12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medium if score </a:t>
                </a:r>
                <a14:m>
                  <m:oMath xmlns:m="http://schemas.openxmlformats.org/officeDocument/2006/math">
                    <m:r>
                      <a:rPr lang="it-IT" sz="12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low if score </a:t>
                </a:r>
                <a14:m>
                  <m:oMath xmlns:m="http://schemas.openxmlformats.org/officeDocument/2006/math">
                    <m:r>
                      <a:rPr lang="it-IT" sz="12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none if score </a:t>
                </a:r>
                <a14:m>
                  <m:oMath xmlns:m="http://schemas.openxmlformats.org/officeDocument/2006/math">
                    <m:r>
                      <a:rPr lang="it-IT" sz="12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F0457C6-C116-44B1-C68F-D2C12F55E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556" y="3806116"/>
                <a:ext cx="2331371" cy="1061829"/>
              </a:xfrm>
              <a:prstGeom prst="rect">
                <a:avLst/>
              </a:prstGeom>
              <a:blipFill>
                <a:blip r:embed="rId7"/>
                <a:stretch>
                  <a:fillRect t="-571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Graphic 40" descr="Arrow Right with solid fill">
            <a:extLst>
              <a:ext uri="{FF2B5EF4-FFF2-40B4-BE49-F238E27FC236}">
                <a16:creationId xmlns:a16="http://schemas.microsoft.com/office/drawing/2014/main" id="{D2F45B98-9C28-2AE6-FA5D-84C292CB75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41392">
            <a:off x="6206235" y="2927225"/>
            <a:ext cx="431535" cy="43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114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FE8EE9F-DB24-5D6A-1899-CC1715381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E35A8-EB2C-741D-2150-D679F8243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Resolver Cases — Tracing Bugs to Their Fix</a:t>
            </a:r>
            <a:endParaRPr lang="en-US" sz="180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9A9ECA2A-33BE-303A-9FEE-1A501DB996AE}"/>
              </a:ext>
            </a:extLst>
          </p:cNvPr>
          <p:cNvSpPr>
            <a:spLocks noGrp="1"/>
          </p:cNvSpPr>
          <p:nvPr/>
        </p:nvSpPr>
        <p:spPr>
          <a:xfrm>
            <a:off x="145420" y="659139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dirty="0">
                <a:solidFill>
                  <a:srgbClr val="475569"/>
                </a:solidFill>
              </a:rPr>
              <a:t>Going beyond issue similarity: linking confirmed resolutions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5A2270B4-3549-9BC3-EF8D-ACF002D674E3}"/>
              </a:ext>
            </a:extLst>
          </p:cNvPr>
          <p:cNvSpPr/>
          <p:nvPr/>
        </p:nvSpPr>
        <p:spPr>
          <a:xfrm>
            <a:off x="242477" y="102457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AEEABC3-1EEF-36D8-C8EA-87605F7614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798" b="31201"/>
          <a:stretch>
            <a:fillRect/>
          </a:stretch>
        </p:blipFill>
        <p:spPr>
          <a:xfrm>
            <a:off x="0" y="1906189"/>
            <a:ext cx="12192000" cy="1563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9AE51E1-C55C-8EBA-F77B-7BA14FA5AEFC}"/>
              </a:ext>
            </a:extLst>
          </p:cNvPr>
          <p:cNvSpPr/>
          <p:nvPr/>
        </p:nvSpPr>
        <p:spPr>
          <a:xfrm>
            <a:off x="3853044" y="2191768"/>
            <a:ext cx="2554735" cy="5235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236EC-1BE6-D51D-D0D3-03E53D5CF2C8}"/>
              </a:ext>
            </a:extLst>
          </p:cNvPr>
          <p:cNvSpPr txBox="1"/>
          <p:nvPr/>
        </p:nvSpPr>
        <p:spPr>
          <a:xfrm>
            <a:off x="455455" y="1437304"/>
            <a:ext cx="6271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3217B"/>
                </a:solidFill>
              </a:rPr>
              <a:t>Construction process: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114943-FDEC-8D65-2E68-E78B15A8C4C4}"/>
              </a:ext>
            </a:extLst>
          </p:cNvPr>
          <p:cNvSpPr txBox="1"/>
          <p:nvPr/>
        </p:nvSpPr>
        <p:spPr>
          <a:xfrm>
            <a:off x="717211" y="3180933"/>
            <a:ext cx="6271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rgbClr val="03217B"/>
                </a:solidFill>
              </a:rPr>
              <a:t>Calcul</a:t>
            </a:r>
            <a:r>
              <a:rPr lang="en-US" sz="1400" b="1" dirty="0">
                <a:solidFill>
                  <a:srgbClr val="03217B"/>
                </a:solidFill>
              </a:rPr>
              <a:t> calculation: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DCD65-3579-98DA-A220-FD20301219AD}"/>
              </a:ext>
            </a:extLst>
          </p:cNvPr>
          <p:cNvSpPr txBox="1"/>
          <p:nvPr/>
        </p:nvSpPr>
        <p:spPr>
          <a:xfrm>
            <a:off x="717211" y="3572728"/>
            <a:ext cx="39298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 err="1">
                <a:solidFill>
                  <a:schemeClr val="bg2">
                    <a:lumMod val="10000"/>
                  </a:schemeClr>
                </a:solidFill>
                <a:effectLst/>
              </a:rPr>
              <a:t>link_score</a:t>
            </a:r>
            <a:r>
              <a:rPr lang="en-US" sz="1200" b="0" i="1" dirty="0">
                <a:solidFill>
                  <a:schemeClr val="bg2">
                    <a:lumMod val="10000"/>
                  </a:schemeClr>
                </a:solidFill>
                <a:effectLst/>
              </a:rPr>
              <a:t>=min(1,PR+MergeBonus+Commit)</a:t>
            </a:r>
            <a:endParaRPr lang="en-US" sz="1200" i="1" dirty="0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C90B78C-2171-3012-D504-0CAE0BC662F2}"/>
                  </a:ext>
                </a:extLst>
              </p:cNvPr>
              <p:cNvSpPr txBox="1"/>
              <p:nvPr/>
            </p:nvSpPr>
            <p:spPr>
              <a:xfrm>
                <a:off x="-567137" y="3933745"/>
                <a:ext cx="846517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1200"/>
                  </a:spcAft>
                  <a:buNone/>
                </a:pPr>
                <a:r>
                  <a:rPr lang="en-US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                             Avec: </a:t>
                </a:r>
                <a14:m>
                  <m:oMath xmlns:m="http://schemas.openxmlformats.org/officeDocument/2006/math">
                    <m:r>
                      <a:rPr lang="fr-FR" sz="1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𝑃𝑅</m:t>
                    </m:r>
                    <m:r>
                      <a:rPr lang="en-US" sz="1200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12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20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𝑀𝑒𝑟𝑔𝑒𝐵𝑜𝑛𝑢𝑠</m:t>
                    </m:r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fr-FR" sz="1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1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20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𝐶𝑜𝑚𝑚𝑖𝑡</m:t>
                    </m:r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ar-AE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C90B78C-2171-3012-D504-0CAE0BC66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7137" y="3933745"/>
                <a:ext cx="8465179" cy="276999"/>
              </a:xfrm>
              <a:prstGeom prst="rect">
                <a:avLst/>
              </a:prstGeom>
              <a:blipFill>
                <a:blip r:embed="rId4"/>
                <a:stretch>
                  <a:fillRect t="-217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F7BAE5B2-7C55-4CFC-0877-0CF6C7AEB278}"/>
              </a:ext>
            </a:extLst>
          </p:cNvPr>
          <p:cNvSpPr txBox="1"/>
          <p:nvPr/>
        </p:nvSpPr>
        <p:spPr>
          <a:xfrm>
            <a:off x="717211" y="4606760"/>
            <a:ext cx="627166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 Explicit </a:t>
            </a: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PR found</a:t>
            </a: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: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+0.5</a:t>
            </a:r>
            <a:endParaRPr lang="fr-FR" sz="1200" b="1" i="0" dirty="0">
              <a:solidFill>
                <a:srgbClr val="425A78"/>
              </a:solidFill>
              <a:effectLst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 Merged PR: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+0.3</a:t>
            </a:r>
            <a:endParaRPr lang="fr-FR" sz="1200" b="1" i="0" dirty="0">
              <a:solidFill>
                <a:srgbClr val="425A78"/>
              </a:solidFill>
              <a:effectLst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 If PR found but not merged: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+0.1 </a:t>
            </a: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(au lieu of +0.3)</a:t>
            </a:r>
            <a:endParaRPr lang="fr-FR" sz="1200" b="0" i="0" dirty="0">
              <a:solidFill>
                <a:schemeClr val="bg2">
                  <a:lumMod val="10000"/>
                </a:schemeClr>
              </a:solidFill>
              <a:effectLst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 Commit </a:t>
            </a:r>
            <a:r>
              <a:rPr lang="fr-FR" sz="1200">
                <a:solidFill>
                  <a:schemeClr val="bg2">
                    <a:lumMod val="10000"/>
                  </a:schemeClr>
                </a:solidFill>
              </a:rPr>
              <a:t>"</a:t>
            </a: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meaningful trouvé" does: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+0.2</a:t>
            </a:r>
            <a:endParaRPr lang="fr-FR" sz="1200" b="1" i="0" dirty="0">
              <a:solidFill>
                <a:srgbClr val="425A78"/>
              </a:solidFill>
              <a:effectLst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 Final score capped at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1.0</a:t>
            </a:r>
            <a:endParaRPr lang="fr-FR" sz="1200" b="1" i="0" dirty="0">
              <a:solidFill>
                <a:srgbClr val="425A78"/>
              </a:solidFill>
              <a:effectLst/>
            </a:endParaRPr>
          </a:p>
        </p:txBody>
      </p:sp>
      <p:pic>
        <p:nvPicPr>
          <p:cNvPr id="21" name="Graphic 20" descr="Arrow Right with solid fill">
            <a:extLst>
              <a:ext uri="{FF2B5EF4-FFF2-40B4-BE49-F238E27FC236}">
                <a16:creationId xmlns:a16="http://schemas.microsoft.com/office/drawing/2014/main" id="{0068E255-AAB0-C276-CC16-2FEFC4EF11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263501">
            <a:off x="3836714" y="2859976"/>
            <a:ext cx="431535" cy="431535"/>
          </a:xfrm>
          <a:prstGeom prst="rect">
            <a:avLst/>
          </a:prstGeom>
        </p:spPr>
      </p:pic>
      <p:pic>
        <p:nvPicPr>
          <p:cNvPr id="23" name="Graphic 22" descr="Arrow Right with solid fill">
            <a:extLst>
              <a:ext uri="{FF2B5EF4-FFF2-40B4-BE49-F238E27FC236}">
                <a16:creationId xmlns:a16="http://schemas.microsoft.com/office/drawing/2014/main" id="{D59FCA83-7ECF-FD19-AE03-B19AD47CFC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7552" y="4266793"/>
            <a:ext cx="431535" cy="43153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82F8DE2-B72D-0C0D-EF62-643A2AF58886}"/>
              </a:ext>
            </a:extLst>
          </p:cNvPr>
          <p:cNvSpPr txBox="1"/>
          <p:nvPr/>
        </p:nvSpPr>
        <p:spPr>
          <a:xfrm>
            <a:off x="8186150" y="3192632"/>
            <a:ext cx="24064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rgbClr val="03217B"/>
                </a:solidFill>
              </a:rPr>
              <a:t>Statut</a:t>
            </a:r>
            <a:r>
              <a:rPr lang="en-US" sz="1400" b="1" dirty="0">
                <a:solidFill>
                  <a:srgbClr val="03217B"/>
                </a:solidFill>
              </a:rPr>
              <a:t> status:</a:t>
            </a:r>
          </a:p>
          <a:p>
            <a:endParaRPr lang="en-US" sz="1400" b="1" dirty="0">
              <a:solidFill>
                <a:srgbClr val="03217B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71F2C5-681F-3E74-D408-CD4DA1135DC5}"/>
              </a:ext>
            </a:extLst>
          </p:cNvPr>
          <p:cNvSpPr txBox="1"/>
          <p:nvPr/>
        </p:nvSpPr>
        <p:spPr>
          <a:xfrm>
            <a:off x="5933393" y="3222942"/>
            <a:ext cx="15874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3217B"/>
                </a:solidFill>
              </a:rPr>
              <a:t>Confidence: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5B654E1-4082-00B2-0752-6B16EA05C4AD}"/>
                  </a:ext>
                </a:extLst>
              </p:cNvPr>
              <p:cNvSpPr txBox="1"/>
              <p:nvPr/>
            </p:nvSpPr>
            <p:spPr>
              <a:xfrm>
                <a:off x="5949999" y="3604608"/>
                <a:ext cx="2331371" cy="1061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high if score </a:t>
                </a:r>
                <a14:m>
                  <m:oMath xmlns:m="http://schemas.openxmlformats.org/officeDocument/2006/math">
                    <m:r>
                      <a:rPr lang="it-IT" sz="12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medium if score </a:t>
                </a:r>
                <a14:m>
                  <m:oMath xmlns:m="http://schemas.openxmlformats.org/officeDocument/2006/math">
                    <m:r>
                      <a:rPr lang="it-IT" sz="12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low if score </a:t>
                </a:r>
                <a14:m>
                  <m:oMath xmlns:m="http://schemas.openxmlformats.org/officeDocument/2006/math">
                    <m:r>
                      <a:rPr lang="it-IT" sz="12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none if score </a:t>
                </a:r>
                <a14:m>
                  <m:oMath xmlns:m="http://schemas.openxmlformats.org/officeDocument/2006/math">
                    <m:r>
                      <a:rPr lang="it-IT" sz="12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5B654E1-4082-00B2-0752-6B16EA05C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9999" y="3604608"/>
                <a:ext cx="2331371" cy="1061829"/>
              </a:xfrm>
              <a:prstGeom prst="rect">
                <a:avLst/>
              </a:prstGeom>
              <a:blipFill>
                <a:blip r:embed="rId7"/>
                <a:stretch>
                  <a:fillRect t="-575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DCE9769F-35D7-6FB1-09A9-3D8C2ACDA742}"/>
              </a:ext>
            </a:extLst>
          </p:cNvPr>
          <p:cNvSpPr txBox="1"/>
          <p:nvPr/>
        </p:nvSpPr>
        <p:spPr>
          <a:xfrm>
            <a:off x="8186150" y="3543632"/>
            <a:ext cx="3798772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it-IT" sz="1200">
                <a:solidFill>
                  <a:schemeClr val="bg2">
                    <a:lumMod val="10000"/>
                  </a:schemeClr>
                </a:solidFill>
              </a:rPr>
              <a:t>merged_fix: PR mergée + commit meaningful</a:t>
            </a:r>
            <a:endParaRPr lang="it-IT" sz="12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it-IT" sz="1200">
                <a:solidFill>
                  <a:schemeClr val="bg2">
                    <a:lumMod val="10000"/>
                  </a:schemeClr>
                </a:solidFill>
              </a:rPr>
              <a:t> candidate_fix: PR trouvée + commit meaningful (merge non confirmé)</a:t>
            </a:r>
            <a:endParaRPr lang="it-IT" sz="12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it-IT" sz="1200">
                <a:solidFill>
                  <a:schemeClr val="bg2">
                    <a:lumMod val="10000"/>
                  </a:schemeClr>
                </a:solidFill>
              </a:rPr>
              <a:t> reference_only: PR trouvée mais pas of commit meaningful</a:t>
            </a:r>
            <a:endParaRPr lang="it-IT" sz="12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it-IT" sz="1200">
                <a:solidFill>
                  <a:schemeClr val="bg2">
                    <a:lumMod val="10000"/>
                  </a:schemeClr>
                </a:solidFill>
              </a:rPr>
              <a:t> unlinked: pas of chemin of fix crédible</a:t>
            </a:r>
            <a:endParaRPr lang="it-IT" sz="1200" b="0" i="0" dirty="0">
              <a:solidFill>
                <a:schemeClr val="bg2">
                  <a:lumMod val="10000"/>
                </a:schemeClr>
              </a:solidFill>
              <a:effectLst/>
            </a:endParaRPr>
          </a:p>
        </p:txBody>
      </p:sp>
      <p:pic>
        <p:nvPicPr>
          <p:cNvPr id="41" name="Graphic 40" descr="Arrow Right with solid fill">
            <a:extLst>
              <a:ext uri="{FF2B5EF4-FFF2-40B4-BE49-F238E27FC236}">
                <a16:creationId xmlns:a16="http://schemas.microsoft.com/office/drawing/2014/main" id="{E4A85812-76D7-C7AC-890E-FCFBC428A0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41392">
            <a:off x="5310687" y="2871218"/>
            <a:ext cx="431535" cy="431535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93975508-4600-1416-6C59-34CB5DDE1B76}"/>
              </a:ext>
            </a:extLst>
          </p:cNvPr>
          <p:cNvSpPr/>
          <p:nvPr/>
        </p:nvSpPr>
        <p:spPr>
          <a:xfrm>
            <a:off x="6462457" y="2184848"/>
            <a:ext cx="1818913" cy="5235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pic>
        <p:nvPicPr>
          <p:cNvPr id="43" name="Graphic 42" descr="Arrow Right with solid fill">
            <a:extLst>
              <a:ext uri="{FF2B5EF4-FFF2-40B4-BE49-F238E27FC236}">
                <a16:creationId xmlns:a16="http://schemas.microsoft.com/office/drawing/2014/main" id="{67994CBD-F99C-FA9E-C7ED-DC248ED38E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41392">
            <a:off x="7799684" y="2791104"/>
            <a:ext cx="431535" cy="43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303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3A488-018B-4302-49C0-721CDF7B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16A2-C867-2336-9107-225646CB7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4" y="-209366"/>
            <a:ext cx="11609159" cy="1247050"/>
          </a:xfrm>
        </p:spPr>
        <p:txBody>
          <a:bodyPr/>
          <a:lstStyle/>
          <a:p>
            <a:r>
              <a:rPr lang="fr-FR" sz="1800" b="1">
                <a:latin typeface="+mn-lt"/>
              </a:rPr>
              <a:t>Pipeline</a:t>
            </a:r>
            <a:r>
              <a:rPr lang="fr-FR" sz="1800" b="1" dirty="0">
                <a:latin typeface="+mn-lt"/>
              </a:rPr>
              <a:t>: Delivery</a:t>
            </a:r>
            <a:r>
              <a:rPr lang="fr-FR" sz="1800" b="1">
                <a:solidFill>
                  <a:srgbClr val="1B2A3B"/>
                </a:solidFill>
                <a:latin typeface="+mn-lt"/>
              </a:rPr>
              <a:t>(</a:t>
            </a:r>
            <a:r>
              <a:rPr lang="fr-FR" sz="1800" b="1">
                <a:solidFill>
                  <a:srgbClr val="0D9488"/>
                </a:solidFill>
                <a:latin typeface="+mn-lt"/>
              </a:rPr>
              <a:t>resolver cases, diagnostic cards, exports ST-ready</a:t>
            </a:r>
            <a:r>
              <a:rPr lang="fr-FR" sz="1800" b="1">
                <a:solidFill>
                  <a:srgbClr val="1B2A3B"/>
                </a:solidFill>
                <a:latin typeface="+mn-lt"/>
              </a:rPr>
              <a:t>)</a:t>
            </a:r>
            <a:endParaRPr lang="fr-FR" sz="180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28AA731-CBB2-62D5-6B39-87135F5FA331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dirty="0">
                <a:solidFill>
                  <a:srgbClr val="425A78"/>
                </a:solidFill>
              </a:rPr>
              <a:t>Delivery — Why structure the final </a:t>
            </a:r>
            <a:r>
              <a:rPr lang="fr-FR" sz="1200" b="1">
                <a:solidFill>
                  <a:srgbClr val="425A78"/>
                </a:solidFill>
              </a:rPr>
              <a:t>output?</a:t>
            </a:r>
            <a:endParaRPr lang="fr-FR" sz="1200" b="1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9EE2DC9-ABD3-F778-A8FB-C261AD444FC5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>
                <a:solidFill>
                  <a:srgbClr val="64748B"/>
                </a:solidFill>
              </a:rPr>
              <a:t>Des </a:t>
            </a:r>
            <a:r>
              <a:rPr lang="fr-FR" sz="1200" i="1" dirty="0">
                <a:solidFill>
                  <a:srgbClr val="64748B"/>
                </a:solidFill>
              </a:rPr>
              <a:t>exports ST-</a:t>
            </a:r>
            <a:r>
              <a:rPr lang="fr-FR" sz="1200" i="1">
                <a:solidFill>
                  <a:srgbClr val="64748B"/>
                </a:solidFill>
              </a:rPr>
              <a:t>ready = actionable cases, ready to integrate</a:t>
            </a:r>
            <a:endParaRPr lang="fr-FR" sz="1200" i="1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F0BE9D3-BD01-A147-3600-BC57E9B2600D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3175C6-48E7-CD52-27D9-EBC22AB1482D}"/>
              </a:ext>
            </a:extLst>
          </p:cNvPr>
          <p:cNvSpPr txBox="1"/>
          <p:nvPr/>
        </p:nvSpPr>
        <p:spPr>
          <a:xfrm>
            <a:off x="291502" y="1444095"/>
            <a:ext cx="6271666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400" b="1" dirty="0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Diagnostic </a:t>
            </a:r>
            <a:r>
              <a:rPr lang="fr-FR" sz="1400" b="1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Cards: what we built and how  </a:t>
            </a:r>
            <a:endParaRPr lang="fr-FR" sz="1400" dirty="0">
              <a:solidFill>
                <a:srgbClr val="3CB4E6"/>
              </a:solidFill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2C33855-0E54-7B18-9EBD-3D94DDC61885}"/>
              </a:ext>
            </a:extLst>
          </p:cNvPr>
          <p:cNvSpPr/>
          <p:nvPr/>
        </p:nvSpPr>
        <p:spPr>
          <a:xfrm>
            <a:off x="2121881" y="1917251"/>
            <a:ext cx="8686800" cy="763128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D6E7441-7833-8AF4-080E-491A65F134CB}"/>
              </a:ext>
            </a:extLst>
          </p:cNvPr>
          <p:cNvSpPr/>
          <p:nvPr/>
        </p:nvSpPr>
        <p:spPr>
          <a:xfrm>
            <a:off x="2221947" y="1760060"/>
            <a:ext cx="8321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Real need</a:t>
            </a:r>
            <a:r>
              <a:rPr lang="fr-FR" sz="1050" b="1" dirty="0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fr-FR" sz="105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An ST engineer receives a customer question: “My HAL_SPI_Transmit_DMA blocks on 2 bytes, why?”. They need a </a:t>
            </a:r>
            <a:r>
              <a:rPr lang="fr-FR" sz="1050" b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fiche diagnostique structurée</a:t>
            </a:r>
            <a:r>
              <a:rPr lang="fr-FR" sz="105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ready-to-use structured diagnostic card, not just a GitHub ticket n lien vers un ticket GitHub. </a:t>
            </a:r>
            <a:endParaRPr lang="fr-FR" sz="1050" dirty="0">
              <a:solidFill>
                <a:srgbClr val="1E293B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FEF9DA4A-8BAD-F7D2-F526-E85E8C2B6EDE}"/>
              </a:ext>
            </a:extLst>
          </p:cNvPr>
          <p:cNvSpPr/>
          <p:nvPr/>
        </p:nvSpPr>
        <p:spPr>
          <a:xfrm>
            <a:off x="1621579" y="3021145"/>
            <a:ext cx="4251960" cy="291500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009B0AA-F133-6E54-5476-F04E653110C2}"/>
              </a:ext>
            </a:extLst>
          </p:cNvPr>
          <p:cNvSpPr/>
          <p:nvPr/>
        </p:nvSpPr>
        <p:spPr>
          <a:xfrm>
            <a:off x="1621579" y="3021146"/>
            <a:ext cx="4251960" cy="365760"/>
          </a:xfrm>
          <a:prstGeom prst="rect">
            <a:avLst/>
          </a:prstGeom>
          <a:noFill/>
          <a:ln w="12700">
            <a:solidFill>
              <a:srgbClr val="0D9589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F1B6EA3-6A6C-52E2-21E7-6181A04D081C}"/>
              </a:ext>
            </a:extLst>
          </p:cNvPr>
          <p:cNvSpPr/>
          <p:nvPr/>
        </p:nvSpPr>
        <p:spPr>
          <a:xfrm>
            <a:off x="1713019" y="305772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ea typeface="Calibri" pitchFamily="34" charset="-122"/>
                <a:cs typeface="Calibri" pitchFamily="34" charset="-120"/>
              </a:rPr>
              <a:t>A Diagnostic </a:t>
            </a:r>
            <a:r>
              <a:rPr lang="fr-FR" sz="1300" b="1">
                <a:ea typeface="Calibri" pitchFamily="34" charset="-122"/>
                <a:cs typeface="Calibri" pitchFamily="34" charset="-120"/>
              </a:rPr>
              <a:t>Card </a:t>
            </a:r>
            <a:r>
              <a:rPr lang="fr-FR" sz="1300" b="1" dirty="0">
                <a:ea typeface="Calibri" pitchFamily="34" charset="-122"/>
                <a:cs typeface="Calibri" pitchFamily="34" charset="-120"/>
              </a:rPr>
              <a:t>contains </a:t>
            </a:r>
            <a:endParaRPr lang="fr-FR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4537630-9AC4-9BBF-24D6-1A4FFF7A7668}"/>
              </a:ext>
            </a:extLst>
          </p:cNvPr>
          <p:cNvSpPr/>
          <p:nvPr/>
        </p:nvSpPr>
        <p:spPr>
          <a:xfrm>
            <a:off x="1713019" y="361550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symptom</a:t>
            </a: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_summary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Summary of the observed symptom</a:t>
            </a:r>
            <a:endParaRPr lang="fr-FR" sz="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A96173D-C156-EE2B-EA3A-ED3D13599830}"/>
              </a:ext>
            </a:extLst>
          </p:cNvPr>
          <p:cNvSpPr/>
          <p:nvPr/>
        </p:nvSpPr>
        <p:spPr>
          <a:xfrm>
            <a:off x="1713019" y="382581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likely</a:t>
            </a: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_causes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Probable causes (root cause)</a:t>
            </a:r>
            <a:endParaRPr lang="fr-FR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2F4368A-31C3-1707-4392-070CD8633C94}"/>
              </a:ext>
            </a:extLst>
          </p:cNvPr>
          <p:cNvSpPr/>
          <p:nvPr/>
        </p:nvSpPr>
        <p:spPr>
          <a:xfrm>
            <a:off x="1713019" y="403613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confirmed</a:t>
            </a: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_facts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Faits vérifiés (evidence_strength, commit sha)</a:t>
            </a:r>
            <a:endParaRPr lang="fr-FR" sz="9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D3BF6F5-319D-C8EB-3556-F97B7EC02745}"/>
              </a:ext>
            </a:extLst>
          </p:cNvPr>
          <p:cNvSpPr/>
          <p:nvPr/>
        </p:nvSpPr>
        <p:spPr>
          <a:xfrm>
            <a:off x="1713019" y="424644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plausible</a:t>
            </a: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_diagnosis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Hypotheses based on layer+component+pattern</a:t>
            </a:r>
            <a:endParaRPr lang="fr-FR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D539F13-7029-C12E-0064-6197EB362885}"/>
              </a:ext>
            </a:extLst>
          </p:cNvPr>
          <p:cNvSpPr/>
          <p:nvPr/>
        </p:nvSpPr>
        <p:spPr>
          <a:xfrm>
            <a:off x="1713019" y="445675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debug</a:t>
            </a: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_checks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Debug debug actions</a:t>
            </a:r>
            <a:endParaRPr lang="fr-FR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4EEE350-BAC8-96E0-4156-AE01AF39C2E9}"/>
              </a:ext>
            </a:extLst>
          </p:cNvPr>
          <p:cNvSpPr/>
          <p:nvPr/>
        </p:nvSpPr>
        <p:spPr>
          <a:xfrm>
            <a:off x="1713019" y="466706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possible</a:t>
            </a: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_workarounds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Contournements possibles</a:t>
            </a:r>
            <a:endParaRPr lang="fr-FR" sz="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110DD94-EBB8-2877-575B-D091CB876507}"/>
              </a:ext>
            </a:extLst>
          </p:cNvPr>
          <p:cNvSpPr/>
          <p:nvPr/>
        </p:nvSpPr>
        <p:spPr>
          <a:xfrm>
            <a:off x="1713019" y="487737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constraints</a:t>
            </a:r>
            <a:r>
              <a:rPr lang="fr-FR" sz="900" b="1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or</a:t>
            </a: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_limits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Validated scope: MCU series, firmware version</a:t>
            </a:r>
            <a:endParaRPr lang="fr-FR" sz="9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2C449DB-8E72-3390-97B3-974352262F88}"/>
              </a:ext>
            </a:extLst>
          </p:cNvPr>
          <p:cNvSpPr/>
          <p:nvPr/>
        </p:nvSpPr>
        <p:spPr>
          <a:xfrm>
            <a:off x="1713019" y="508769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evidence</a:t>
            </a: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_refs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Liens does: issue, PR, commit</a:t>
            </a:r>
            <a:endParaRPr lang="fr-FR" sz="9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80762ED-3366-5BDC-3C13-E23E42BEA36D}"/>
              </a:ext>
            </a:extLst>
          </p:cNvPr>
          <p:cNvSpPr/>
          <p:nvPr/>
        </p:nvSpPr>
        <p:spPr>
          <a:xfrm>
            <a:off x="1713019" y="529800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query</a:t>
            </a: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_aliases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NL aliases for retrieval RAG</a:t>
            </a:r>
            <a:endParaRPr lang="fr-FR" sz="900" dirty="0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34476067-1EFA-EE21-292A-8D1D617FC367}"/>
              </a:ext>
            </a:extLst>
          </p:cNvPr>
          <p:cNvSpPr/>
          <p:nvPr/>
        </p:nvSpPr>
        <p:spPr>
          <a:xfrm>
            <a:off x="1713019" y="550831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keywords </a:t>
            </a:r>
            <a:r>
              <a:rPr lang="fr-FR" sz="900" b="1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+ 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api_tags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Labels, HAL_* tags (max 24)</a:t>
            </a:r>
            <a:endParaRPr lang="fr-FR" sz="900" dirty="0"/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4548C9A2-5BF0-D12C-FA4B-54D17E731A2C}"/>
              </a:ext>
            </a:extLst>
          </p:cNvPr>
          <p:cNvSpPr/>
          <p:nvPr/>
        </p:nvSpPr>
        <p:spPr>
          <a:xfrm>
            <a:off x="6400800" y="3021146"/>
            <a:ext cx="4683682" cy="291500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D44B4DC5-9C00-71A9-2152-572E0230BB84}"/>
              </a:ext>
            </a:extLst>
          </p:cNvPr>
          <p:cNvSpPr/>
          <p:nvPr/>
        </p:nvSpPr>
        <p:spPr>
          <a:xfrm>
            <a:off x="6400800" y="3021147"/>
            <a:ext cx="4683681" cy="365760"/>
          </a:xfrm>
          <a:prstGeom prst="rect">
            <a:avLst/>
          </a:prstGeom>
          <a:noFill/>
          <a:ln w="12700">
            <a:solidFill>
              <a:srgbClr val="0D9589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406F305E-2B0F-2F8F-A883-53505EEBACCD}"/>
              </a:ext>
            </a:extLst>
          </p:cNvPr>
          <p:cNvSpPr/>
          <p:nvPr/>
        </p:nvSpPr>
        <p:spPr>
          <a:xfrm>
            <a:off x="6693881" y="3057723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ea typeface="Calibri" pitchFamily="34" charset="-122"/>
                <a:cs typeface="Calibri" pitchFamily="34" charset="-120"/>
              </a:rPr>
              <a:t>Construction = </a:t>
            </a:r>
            <a:r>
              <a:rPr lang="fr-FR" sz="1300" b="1">
                <a:ea typeface="Calibri" pitchFamily="34" charset="-122"/>
                <a:cs typeface="Calibri" pitchFamily="34" charset="-120"/>
              </a:rPr>
              <a:t>Issue </a:t>
            </a:r>
            <a:r>
              <a:rPr lang="fr-FR" sz="1300" b="1" dirty="0">
                <a:ea typeface="Calibri" pitchFamily="34" charset="-122"/>
                <a:cs typeface="Calibri" pitchFamily="34" charset="-120"/>
              </a:rPr>
              <a:t>+ </a:t>
            </a:r>
            <a:r>
              <a:rPr lang="fr-FR" sz="1300" b="1">
                <a:ea typeface="Calibri" pitchFamily="34" charset="-122"/>
                <a:cs typeface="Calibri" pitchFamily="34" charset="-120"/>
              </a:rPr>
              <a:t>Resolver</a:t>
            </a:r>
            <a:endParaRPr lang="fr-FR" sz="1300" dirty="0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002E1D51-978C-A893-2F08-F83750821A26}"/>
              </a:ext>
            </a:extLst>
          </p:cNvPr>
          <p:cNvSpPr/>
          <p:nvPr/>
        </p:nvSpPr>
        <p:spPr>
          <a:xfrm>
            <a:off x="6693881" y="3460059"/>
            <a:ext cx="1737360" cy="1042416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BDDD16C8-78FC-EA7D-BA60-7A8E9ECBF997}"/>
              </a:ext>
            </a:extLst>
          </p:cNvPr>
          <p:cNvSpPr/>
          <p:nvPr/>
        </p:nvSpPr>
        <p:spPr>
          <a:xfrm>
            <a:off x="6693881" y="3460059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E5FA8"/>
                </a:solidFill>
                <a:ea typeface="Calibri" pitchFamily="34" charset="-122"/>
                <a:cs typeface="Calibri" pitchFamily="34" charset="-120"/>
              </a:rPr>
              <a:t>Issue GitHub</a:t>
            </a:r>
            <a:endParaRPr lang="fr-FR" sz="1000" dirty="0"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851B1B37-0D52-50AF-495A-A9FF92B8954D}"/>
              </a:ext>
            </a:extLst>
          </p:cNvPr>
          <p:cNvSpPr/>
          <p:nvPr/>
        </p:nvSpPr>
        <p:spPr>
          <a:xfrm>
            <a:off x="6808181" y="3724261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issue</a:t>
            </a:r>
            <a:r>
              <a:rPr lang="fr-FR" sz="80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_title</a:t>
            </a:r>
            <a:endParaRPr lang="fr-FR" sz="800" dirty="0"/>
          </a:p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layer, severity</a:t>
            </a:r>
            <a:endParaRPr lang="fr-FR" sz="800" dirty="0"/>
          </a:p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component, board</a:t>
            </a:r>
            <a:endParaRPr lang="fr-FR" sz="800" dirty="0"/>
          </a:p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st_ready_text</a:t>
            </a:r>
            <a:endParaRPr lang="fr-FR" sz="800" dirty="0"/>
          </a:p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github_url</a:t>
            </a:r>
            <a:endParaRPr lang="fr-FR" sz="800" dirty="0"/>
          </a:p>
        </p:txBody>
      </p:sp>
      <p:sp>
        <p:nvSpPr>
          <p:cNvPr id="45" name="Text 25">
            <a:extLst>
              <a:ext uri="{FF2B5EF4-FFF2-40B4-BE49-F238E27FC236}">
                <a16:creationId xmlns:a16="http://schemas.microsoft.com/office/drawing/2014/main" id="{E7631697-1F07-76F0-CA0A-E9F789C01B42}"/>
              </a:ext>
            </a:extLst>
          </p:cNvPr>
          <p:cNvSpPr/>
          <p:nvPr/>
        </p:nvSpPr>
        <p:spPr>
          <a:xfrm>
            <a:off x="8454101" y="3846505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/>
              <a:t>+</a:t>
            </a:r>
            <a:endParaRPr lang="fr-FR" sz="2200" dirty="0"/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5C03EFFA-71D1-83A5-9276-D5CA396A733C}"/>
              </a:ext>
            </a:extLst>
          </p:cNvPr>
          <p:cNvSpPr/>
          <p:nvPr/>
        </p:nvSpPr>
        <p:spPr>
          <a:xfrm>
            <a:off x="8797001" y="3460059"/>
            <a:ext cx="1737360" cy="960120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9EE84E0A-03CA-0A77-B626-1119221901A4}"/>
              </a:ext>
            </a:extLst>
          </p:cNvPr>
          <p:cNvSpPr/>
          <p:nvPr/>
        </p:nvSpPr>
        <p:spPr>
          <a:xfrm>
            <a:off x="8797001" y="3460059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dirty="0" err="1">
                <a:solidFill>
                  <a:srgbClr val="1E5FA8"/>
                </a:solidFill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000" b="1">
                <a:solidFill>
                  <a:srgbClr val="1E5FA8"/>
                </a:solidFill>
                <a:ea typeface="Calibri" pitchFamily="34" charset="-122"/>
                <a:cs typeface="Calibri" pitchFamily="34" charset="-120"/>
              </a:rPr>
              <a:t> Case</a:t>
            </a:r>
            <a:endParaRPr lang="fr-FR" sz="1000" dirty="0">
              <a:solidFill>
                <a:srgbClr val="1E5FA8"/>
              </a:solidFill>
            </a:endParaRPr>
          </a:p>
        </p:txBody>
      </p:sp>
      <p:sp>
        <p:nvSpPr>
          <p:cNvPr id="48" name="Text 28">
            <a:extLst>
              <a:ext uri="{FF2B5EF4-FFF2-40B4-BE49-F238E27FC236}">
                <a16:creationId xmlns:a16="http://schemas.microsoft.com/office/drawing/2014/main" id="{9CBB06F8-42AC-223C-EA68-A2ADFB4A708F}"/>
              </a:ext>
            </a:extLst>
          </p:cNvPr>
          <p:cNvSpPr/>
          <p:nvPr/>
        </p:nvSpPr>
        <p:spPr>
          <a:xfrm>
            <a:off x="8888441" y="3724261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resolution</a:t>
            </a:r>
            <a:r>
              <a:rPr lang="fr-FR" sz="80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_status</a:t>
            </a:r>
            <a:endParaRPr lang="fr-FR" sz="800" dirty="0"/>
          </a:p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link_confidence</a:t>
            </a:r>
            <a:endParaRPr lang="fr-FR" sz="800" dirty="0"/>
          </a:p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linked_pr_urls</a:t>
            </a:r>
            <a:endParaRPr lang="fr-FR" sz="800" dirty="0"/>
          </a:p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linked_commits</a:t>
            </a:r>
            <a:endParaRPr lang="fr-FR" sz="800" dirty="0"/>
          </a:p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files_evidence</a:t>
            </a:r>
            <a:endParaRPr lang="fr-FR" sz="800" dirty="0"/>
          </a:p>
        </p:txBody>
      </p:sp>
      <p:sp>
        <p:nvSpPr>
          <p:cNvPr id="49" name="Text 29">
            <a:extLst>
              <a:ext uri="{FF2B5EF4-FFF2-40B4-BE49-F238E27FC236}">
                <a16:creationId xmlns:a16="http://schemas.microsoft.com/office/drawing/2014/main" id="{A5A92267-F2D9-0992-BC55-208E5AA8EB82}"/>
              </a:ext>
            </a:extLst>
          </p:cNvPr>
          <p:cNvSpPr/>
          <p:nvPr/>
        </p:nvSpPr>
        <p:spPr>
          <a:xfrm>
            <a:off x="6693881" y="4502475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→  </a:t>
            </a:r>
            <a:r>
              <a:rPr lang="fr-FR" sz="11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build_diagnostic_card()</a:t>
            </a:r>
            <a:endParaRPr lang="fr-FR" sz="1100" dirty="0">
              <a:solidFill>
                <a:srgbClr val="1E5FA8"/>
              </a:solidFill>
            </a:endParaRPr>
          </a:p>
        </p:txBody>
      </p:sp>
      <p:sp>
        <p:nvSpPr>
          <p:cNvPr id="50" name="Shape 30">
            <a:extLst>
              <a:ext uri="{FF2B5EF4-FFF2-40B4-BE49-F238E27FC236}">
                <a16:creationId xmlns:a16="http://schemas.microsoft.com/office/drawing/2014/main" id="{CD103E6C-63BF-9BCA-7A91-067FC61FC799}"/>
              </a:ext>
            </a:extLst>
          </p:cNvPr>
          <p:cNvSpPr/>
          <p:nvPr/>
        </p:nvSpPr>
        <p:spPr>
          <a:xfrm>
            <a:off x="6716741" y="4917741"/>
            <a:ext cx="3977640" cy="79552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51" name="Text 31">
            <a:extLst>
              <a:ext uri="{FF2B5EF4-FFF2-40B4-BE49-F238E27FC236}">
                <a16:creationId xmlns:a16="http://schemas.microsoft.com/office/drawing/2014/main" id="{1328BF6F-AED0-670C-8837-9D3BC1E5256C}"/>
              </a:ext>
            </a:extLst>
          </p:cNvPr>
          <p:cNvSpPr/>
          <p:nvPr/>
        </p:nvSpPr>
        <p:spPr>
          <a:xfrm>
            <a:off x="6785321" y="4990893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Diagnostic </a:t>
            </a:r>
            <a:r>
              <a:rPr lang="fr-FR" sz="100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Card JSON</a:t>
            </a:r>
            <a:r>
              <a:rPr lang="fr-FR" sz="1000"/>
              <a:t> </a:t>
            </a:r>
            <a:endParaRPr lang="fr-FR" sz="1000" dirty="0"/>
          </a:p>
          <a:p>
            <a:pPr marL="0" indent="0" algn="ctr">
              <a:buNone/>
            </a:pPr>
            <a:endParaRPr lang="fr-FR" sz="1000" dirty="0"/>
          </a:p>
          <a:p>
            <a:pPr marL="0" indent="0">
              <a:buNone/>
            </a:pPr>
            <a:r>
              <a:rPr lang="fr-FR" sz="100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→ injected into the ST KB</a:t>
            </a:r>
            <a:endParaRPr lang="fr-FR" sz="1000" dirty="0"/>
          </a:p>
          <a:p>
            <a:pPr marL="0" indent="0">
              <a:buNone/>
            </a:pPr>
            <a:r>
              <a:rPr lang="fr-FR" sz="100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→ optimized for retrieval RAG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39033693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Diagnostic Cards — Structured Troubleshooting Knowledge</a:t>
            </a:r>
            <a:endParaRPr lang="en-US" sz="180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240841" y="842873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dirty="0">
                <a:solidFill>
                  <a:srgbClr val="475569"/>
                </a:solidFill>
              </a:rPr>
              <a:t>18 cards delivered: 13 diagnostic · 3 behavior · 2 resolution guidance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0655831E-B312-82E8-50A6-C3E668863480}"/>
              </a:ext>
            </a:extLst>
          </p:cNvPr>
          <p:cNvSpPr/>
          <p:nvPr/>
        </p:nvSpPr>
        <p:spPr>
          <a:xfrm>
            <a:off x="239205" y="114657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EAA9F-891B-4482-2856-0EE192D80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7873"/>
            <a:ext cx="12192000" cy="546943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29EC4-8C00-824E-EE78-7831B7DA9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C336C-DDD8-DD4E-6744-AC287FCE5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20" y="-319068"/>
            <a:ext cx="11609159" cy="1247050"/>
          </a:xfrm>
        </p:spPr>
        <p:txBody>
          <a:bodyPr/>
          <a:lstStyle/>
          <a:p>
            <a:r>
              <a:rPr lang="fr-FR" sz="1800" b="1" dirty="0"/>
              <a:t>Pipeline: </a:t>
            </a:r>
            <a:r>
              <a:rPr lang="en-US" sz="1800" b="1"/>
              <a:t>AI </a:t>
            </a:r>
            <a:r>
              <a:rPr lang="en-US" sz="1800" b="1" dirty="0"/>
              <a:t>Agents — Two Specialized Assistants in the Project</a:t>
            </a:r>
            <a:endParaRPr lang="fr-FR" sz="1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DBB67D-F919-F18F-079E-329A926AA36E}"/>
              </a:ext>
            </a:extLst>
          </p:cNvPr>
          <p:cNvSpPr txBox="1"/>
          <p:nvPr/>
        </p:nvSpPr>
        <p:spPr>
          <a:xfrm>
            <a:off x="340364" y="396684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>
                <a:solidFill>
                  <a:srgbClr val="425A78"/>
                </a:solidFill>
              </a:rPr>
              <a:t>C'est quoi un Agent IA do?</a:t>
            </a:r>
            <a:endParaRPr lang="fr-FR" sz="1200" b="1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B95795A1-5183-3060-DDB1-D385A121B318}"/>
              </a:ext>
            </a:extLst>
          </p:cNvPr>
          <p:cNvSpPr/>
          <p:nvPr/>
        </p:nvSpPr>
        <p:spPr>
          <a:xfrm>
            <a:off x="439525" y="68282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Not just one AI: two agents used for engineering acceleration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E7CE777-6CB8-7564-B98A-F00C4B882575}"/>
              </a:ext>
            </a:extLst>
          </p:cNvPr>
          <p:cNvSpPr/>
          <p:nvPr/>
        </p:nvSpPr>
        <p:spPr>
          <a:xfrm>
            <a:off x="439525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10EB5CA1-A26B-4A64-0493-961763176C6A}"/>
              </a:ext>
            </a:extLst>
          </p:cNvPr>
          <p:cNvSpPr/>
          <p:nvPr/>
        </p:nvSpPr>
        <p:spPr>
          <a:xfrm>
            <a:off x="1191978" y="1285047"/>
            <a:ext cx="9506502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D7DFA3E7-BC58-0BB5-3F73-A4A47072A31C}"/>
              </a:ext>
            </a:extLst>
          </p:cNvPr>
          <p:cNvSpPr/>
          <p:nvPr/>
        </p:nvSpPr>
        <p:spPr>
          <a:xfrm>
            <a:off x="1191978" y="1285047"/>
            <a:ext cx="64008" cy="658368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18605C76-C373-1D69-3025-57D9C081D7D6}"/>
              </a:ext>
            </a:extLst>
          </p:cNvPr>
          <p:cNvSpPr/>
          <p:nvPr/>
        </p:nvSpPr>
        <p:spPr>
          <a:xfrm>
            <a:off x="1384002" y="1307907"/>
            <a:ext cx="8800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dirty="0">
                <a:solidFill>
                  <a:srgbClr val="1B2A3B"/>
                </a:solidFill>
              </a:rPr>
              <a:t>An AI agent = an LLM given a specific mission with a defined context. It automatically analyzes, documents, or compares. In this project, 2 agents are used </a:t>
            </a:r>
            <a:r>
              <a:rPr lang="fr-FR" sz="1100">
                <a:solidFill>
                  <a:srgbClr val="1B2A3B"/>
                </a:solidFill>
              </a:rPr>
              <a:t>to </a:t>
            </a:r>
            <a:r>
              <a:rPr lang="fr-FR" sz="1100" dirty="0">
                <a:solidFill>
                  <a:srgbClr val="1B2A3B"/>
                </a:solidFill>
              </a:rPr>
              <a:t>accelerate </a:t>
            </a:r>
            <a:r>
              <a:rPr lang="fr-FR" sz="1100">
                <a:solidFill>
                  <a:srgbClr val="1B2A3B"/>
                </a:solidFill>
              </a:rPr>
              <a:t>Pipeline.</a:t>
            </a:r>
            <a:endParaRPr lang="fr-FR" sz="1100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F174005A-FE81-766B-86DB-E24EBC50F990}"/>
              </a:ext>
            </a:extLst>
          </p:cNvPr>
          <p:cNvSpPr/>
          <p:nvPr/>
        </p:nvSpPr>
        <p:spPr>
          <a:xfrm>
            <a:off x="1329138" y="2083143"/>
            <a:ext cx="4114800" cy="378018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/>
              <a:t>benchmark outputs</a:t>
            </a: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31D917A9-AA22-4C1A-F419-E771A41F3EF9}"/>
              </a:ext>
            </a:extLst>
          </p:cNvPr>
          <p:cNvSpPr/>
          <p:nvPr/>
        </p:nvSpPr>
        <p:spPr>
          <a:xfrm>
            <a:off x="1329138" y="2083143"/>
            <a:ext cx="45719" cy="378018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69F09090-008A-5447-44B8-E843E5FF56BA}"/>
              </a:ext>
            </a:extLst>
          </p:cNvPr>
          <p:cNvSpPr/>
          <p:nvPr/>
        </p:nvSpPr>
        <p:spPr>
          <a:xfrm>
            <a:off x="1384002" y="2083143"/>
            <a:ext cx="4059936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DB91AD11-2909-03DF-5BBF-616CEE470B64}"/>
              </a:ext>
            </a:extLst>
          </p:cNvPr>
          <p:cNvSpPr/>
          <p:nvPr/>
        </p:nvSpPr>
        <p:spPr>
          <a:xfrm>
            <a:off x="1466298" y="2083143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Agent 1 — Preprocessing Agent</a:t>
            </a:r>
            <a:endParaRPr lang="en-US" sz="120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055A6C3B-9751-A313-7F4F-BB1350B95194}"/>
              </a:ext>
            </a:extLst>
          </p:cNvPr>
          <p:cNvSpPr/>
          <p:nvPr/>
        </p:nvSpPr>
        <p:spPr>
          <a:xfrm>
            <a:off x="1466298" y="2586063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488"/>
                </a:solidFill>
                <a:ea typeface="Calibri" pitchFamily="34" charset="-122"/>
                <a:cs typeface="Calibri" pitchFamily="34" charset="-120"/>
              </a:rPr>
              <a:t>STM32Cube Preprocessing Agent</a:t>
            </a:r>
            <a:endParaRPr lang="en-US" sz="100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C262AF6D-282C-5F71-012D-C35430EA86C2}"/>
              </a:ext>
            </a:extLst>
          </p:cNvPr>
          <p:cNvSpPr/>
          <p:nvPr/>
        </p:nvSpPr>
        <p:spPr>
          <a:xfrm>
            <a:off x="1466298" y="2970111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CC93A921-E7BF-8390-2138-EB5A8C8CAA1B}"/>
              </a:ext>
            </a:extLst>
          </p:cNvPr>
          <p:cNvSpPr/>
          <p:nvPr/>
        </p:nvSpPr>
        <p:spPr>
          <a:xfrm>
            <a:off x="1466298" y="2970111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57318F25-D31C-7E1F-EB1D-0BEDF2855C00}"/>
              </a:ext>
            </a:extLst>
          </p:cNvPr>
          <p:cNvSpPr/>
          <p:nvPr/>
        </p:nvSpPr>
        <p:spPr>
          <a:xfrm>
            <a:off x="2563578" y="2997543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Assistant dédié à l'analyse and documentation du pipeline</a:t>
            </a:r>
            <a:endParaRPr lang="en-US" sz="950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18D5232E-AE4F-1253-591D-E0AB92EB4226}"/>
              </a:ext>
            </a:extLst>
          </p:cNvPr>
          <p:cNvSpPr/>
          <p:nvPr/>
        </p:nvSpPr>
        <p:spPr>
          <a:xfrm>
            <a:off x="1466298" y="3537039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7EA6B79A-AF90-F3A3-572C-44B25355CCA4}"/>
              </a:ext>
            </a:extLst>
          </p:cNvPr>
          <p:cNvSpPr/>
          <p:nvPr/>
        </p:nvSpPr>
        <p:spPr>
          <a:xfrm>
            <a:off x="1466298" y="3537039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Analyze</a:t>
            </a:r>
            <a:endParaRPr lang="en-US" sz="95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CB235AB3-ADC9-3BE7-2443-661DE6DFACB9}"/>
              </a:ext>
            </a:extLst>
          </p:cNvPr>
          <p:cNvSpPr/>
          <p:nvPr/>
        </p:nvSpPr>
        <p:spPr>
          <a:xfrm>
            <a:off x="2547285" y="3634196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The data flow, JSON outputs and benchmark outputs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1297BE13-866D-E08E-C158-F32A3C947953}"/>
              </a:ext>
            </a:extLst>
          </p:cNvPr>
          <p:cNvSpPr/>
          <p:nvPr/>
        </p:nvSpPr>
        <p:spPr>
          <a:xfrm>
            <a:off x="1466298" y="4103967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AB3D344B-22B7-3CEE-7F3C-DC334545D2C2}"/>
              </a:ext>
            </a:extLst>
          </p:cNvPr>
          <p:cNvSpPr/>
          <p:nvPr/>
        </p:nvSpPr>
        <p:spPr>
          <a:xfrm>
            <a:off x="1466298" y="4103967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Document</a:t>
            </a:r>
            <a:endParaRPr lang="en-US" sz="950" dirty="0"/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E76E4066-38D9-35D1-9E5A-F48E0DC4D261}"/>
              </a:ext>
            </a:extLst>
          </p:cNvPr>
          <p:cNvSpPr/>
          <p:nvPr/>
        </p:nvSpPr>
        <p:spPr>
          <a:xfrm>
            <a:off x="2563578" y="4131399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Data schemas, test results</a:t>
            </a:r>
            <a:endParaRPr lang="en-US" sz="950" dirty="0"/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E21FEF7F-5C35-E550-8B47-24EEDA293A6F}"/>
              </a:ext>
            </a:extLst>
          </p:cNvPr>
          <p:cNvSpPr/>
          <p:nvPr/>
        </p:nvSpPr>
        <p:spPr>
          <a:xfrm>
            <a:off x="1466298" y="4670895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DEB73949-CC74-E152-0C88-91C274BC643D}"/>
              </a:ext>
            </a:extLst>
          </p:cNvPr>
          <p:cNvSpPr/>
          <p:nvPr/>
        </p:nvSpPr>
        <p:spPr>
          <a:xfrm>
            <a:off x="1466298" y="467089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Compare</a:t>
            </a:r>
            <a:endParaRPr lang="en-US" sz="95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18751870-CAAC-6309-AE02-3BAEF930AB6A}"/>
              </a:ext>
            </a:extLst>
          </p:cNvPr>
          <p:cNvSpPr/>
          <p:nvPr/>
        </p:nvSpPr>
        <p:spPr>
          <a:xfrm>
            <a:off x="2563578" y="4698327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Structuring / chunking strategies</a:t>
            </a:r>
            <a:endParaRPr lang="en-US" sz="950" dirty="0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4B0175B4-3047-F5EA-F80D-64520ACF1316}"/>
              </a:ext>
            </a:extLst>
          </p:cNvPr>
          <p:cNvSpPr/>
          <p:nvPr/>
        </p:nvSpPr>
        <p:spPr>
          <a:xfrm>
            <a:off x="1466298" y="5237823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3DD8A7E2-8AD7-4D4F-5028-890B4C9CB5D6}"/>
              </a:ext>
            </a:extLst>
          </p:cNvPr>
          <p:cNvSpPr/>
          <p:nvPr/>
        </p:nvSpPr>
        <p:spPr>
          <a:xfrm>
            <a:off x="1466298" y="5237823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Value</a:t>
            </a:r>
            <a:endParaRPr lang="en-US" sz="950" dirty="0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87DCD588-A867-50B5-CB9D-109D4A9B64B0}"/>
              </a:ext>
            </a:extLst>
          </p:cNvPr>
          <p:cNvSpPr/>
          <p:nvPr/>
        </p:nvSpPr>
        <p:spPr>
          <a:xfrm>
            <a:off x="2472138" y="5265255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Documentation acceleration + pipeline readability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Faster iteration on data quality improvements</a:t>
            </a:r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7A2959F9-5E54-862F-F868-BF3C0FA0E80A}"/>
              </a:ext>
            </a:extLst>
          </p:cNvPr>
          <p:cNvSpPr/>
          <p:nvPr/>
        </p:nvSpPr>
        <p:spPr>
          <a:xfrm>
            <a:off x="6304893" y="2091003"/>
            <a:ext cx="4114800" cy="378018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9" name="Shape 24">
            <a:extLst>
              <a:ext uri="{FF2B5EF4-FFF2-40B4-BE49-F238E27FC236}">
                <a16:creationId xmlns:a16="http://schemas.microsoft.com/office/drawing/2014/main" id="{78D061FE-3E2B-550A-B4C6-A7930C217B29}"/>
              </a:ext>
            </a:extLst>
          </p:cNvPr>
          <p:cNvSpPr/>
          <p:nvPr/>
        </p:nvSpPr>
        <p:spPr>
          <a:xfrm>
            <a:off x="6304893" y="2091003"/>
            <a:ext cx="45719" cy="377232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27D4AF82-8147-BD9E-0110-310C2C69F865}"/>
              </a:ext>
            </a:extLst>
          </p:cNvPr>
          <p:cNvSpPr/>
          <p:nvPr/>
        </p:nvSpPr>
        <p:spPr>
          <a:xfrm>
            <a:off x="6359757" y="2091003"/>
            <a:ext cx="4059936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84E9ABBD-E17C-CD0E-2FD6-B93CF8E5457B}"/>
              </a:ext>
            </a:extLst>
          </p:cNvPr>
          <p:cNvSpPr/>
          <p:nvPr/>
        </p:nvSpPr>
        <p:spPr>
          <a:xfrm>
            <a:off x="6414621" y="2091003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Agent 2 — PDF Vision Agent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A3757B89-84D9-6F4C-8BAC-9989F7957F67}"/>
              </a:ext>
            </a:extLst>
          </p:cNvPr>
          <p:cNvSpPr/>
          <p:nvPr/>
        </p:nvSpPr>
        <p:spPr>
          <a:xfrm>
            <a:off x="6414621" y="2593923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STM32Cube PDF Vision Agent</a:t>
            </a:r>
            <a:endParaRPr lang="en-US" sz="1000" dirty="0">
              <a:solidFill>
                <a:srgbClr val="0D9589"/>
              </a:solidFill>
            </a:endParaRPr>
          </a:p>
        </p:txBody>
      </p:sp>
      <p:sp>
        <p:nvSpPr>
          <p:cNvPr id="63" name="Shape 28">
            <a:extLst>
              <a:ext uri="{FF2B5EF4-FFF2-40B4-BE49-F238E27FC236}">
                <a16:creationId xmlns:a16="http://schemas.microsoft.com/office/drawing/2014/main" id="{B6DDD175-0CC7-98F0-E823-7E1E24C990ED}"/>
              </a:ext>
            </a:extLst>
          </p:cNvPr>
          <p:cNvSpPr/>
          <p:nvPr/>
        </p:nvSpPr>
        <p:spPr>
          <a:xfrm>
            <a:off x="6414621" y="2977971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52836A59-D233-6464-8266-A771A75B4957}"/>
              </a:ext>
            </a:extLst>
          </p:cNvPr>
          <p:cNvSpPr/>
          <p:nvPr/>
        </p:nvSpPr>
        <p:spPr>
          <a:xfrm>
            <a:off x="6414621" y="2977971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id="{50BFCACD-BF4C-05EC-E4F7-6D4CF4E1195C}"/>
              </a:ext>
            </a:extLst>
          </p:cNvPr>
          <p:cNvSpPr/>
          <p:nvPr/>
        </p:nvSpPr>
        <p:spPr>
          <a:xfrm>
            <a:off x="7511901" y="3005403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Analyzes figures &amp; diagrams extracted from technical PDFs</a:t>
            </a:r>
            <a:endParaRPr lang="en-US" sz="950" dirty="0"/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45F21099-AEE1-F12B-ABB6-86F96CE7A433}"/>
              </a:ext>
            </a:extLst>
          </p:cNvPr>
          <p:cNvSpPr/>
          <p:nvPr/>
        </p:nvSpPr>
        <p:spPr>
          <a:xfrm>
            <a:off x="6414621" y="3544899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E65319AA-2696-196F-7039-8C8D2EFC31EB}"/>
              </a:ext>
            </a:extLst>
          </p:cNvPr>
          <p:cNvSpPr/>
          <p:nvPr/>
        </p:nvSpPr>
        <p:spPr>
          <a:xfrm>
            <a:off x="6414621" y="3544899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Read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68" name="Text 33">
            <a:extLst>
              <a:ext uri="{FF2B5EF4-FFF2-40B4-BE49-F238E27FC236}">
                <a16:creationId xmlns:a16="http://schemas.microsoft.com/office/drawing/2014/main" id="{16602276-8A29-0600-3735-61157D5A4246}"/>
              </a:ext>
            </a:extLst>
          </p:cNvPr>
          <p:cNvSpPr/>
          <p:nvPr/>
        </p:nvSpPr>
        <p:spPr>
          <a:xfrm>
            <a:off x="7511901" y="3572331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pdf_image_tasks_&lt;repo&gt;.jsonl</a:t>
            </a:r>
            <a:endParaRPr lang="en-US" sz="950" dirty="0"/>
          </a:p>
        </p:txBody>
      </p:sp>
      <p:sp>
        <p:nvSpPr>
          <p:cNvPr id="69" name="Shape 34">
            <a:extLst>
              <a:ext uri="{FF2B5EF4-FFF2-40B4-BE49-F238E27FC236}">
                <a16:creationId xmlns:a16="http://schemas.microsoft.com/office/drawing/2014/main" id="{84FD88A5-4F19-3785-8BCA-2DB920AE14E6}"/>
              </a:ext>
            </a:extLst>
          </p:cNvPr>
          <p:cNvSpPr/>
          <p:nvPr/>
        </p:nvSpPr>
        <p:spPr>
          <a:xfrm>
            <a:off x="6414621" y="4111827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0" name="Text 35">
            <a:extLst>
              <a:ext uri="{FF2B5EF4-FFF2-40B4-BE49-F238E27FC236}">
                <a16:creationId xmlns:a16="http://schemas.microsoft.com/office/drawing/2014/main" id="{DCEF7CEF-CB03-A0ED-78AC-3DA0EC9A85A5}"/>
              </a:ext>
            </a:extLst>
          </p:cNvPr>
          <p:cNvSpPr/>
          <p:nvPr/>
        </p:nvSpPr>
        <p:spPr>
          <a:xfrm>
            <a:off x="6414621" y="4111827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Analyze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71" name="Text 36">
            <a:extLst>
              <a:ext uri="{FF2B5EF4-FFF2-40B4-BE49-F238E27FC236}">
                <a16:creationId xmlns:a16="http://schemas.microsoft.com/office/drawing/2014/main" id="{8665424C-D262-3AD0-4B70-6E44B1F92A8B}"/>
              </a:ext>
            </a:extLst>
          </p:cNvPr>
          <p:cNvSpPr/>
          <p:nvPr/>
        </p:nvSpPr>
        <p:spPr>
          <a:xfrm>
            <a:off x="7511901" y="4139259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Figures / diagrams from PDFs</a:t>
            </a:r>
            <a:endParaRPr lang="en-US" sz="950" dirty="0"/>
          </a:p>
        </p:txBody>
      </p:sp>
      <p:sp>
        <p:nvSpPr>
          <p:cNvPr id="72" name="Shape 37">
            <a:extLst>
              <a:ext uri="{FF2B5EF4-FFF2-40B4-BE49-F238E27FC236}">
                <a16:creationId xmlns:a16="http://schemas.microsoft.com/office/drawing/2014/main" id="{3C7DE127-7A36-EBEB-B7A3-14DF3286FB7D}"/>
              </a:ext>
            </a:extLst>
          </p:cNvPr>
          <p:cNvSpPr/>
          <p:nvPr/>
        </p:nvSpPr>
        <p:spPr>
          <a:xfrm>
            <a:off x="6414621" y="4678755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3" name="Text 38">
            <a:extLst>
              <a:ext uri="{FF2B5EF4-FFF2-40B4-BE49-F238E27FC236}">
                <a16:creationId xmlns:a16="http://schemas.microsoft.com/office/drawing/2014/main" id="{9A55BA80-2F2E-619E-2370-015738A3B495}"/>
              </a:ext>
            </a:extLst>
          </p:cNvPr>
          <p:cNvSpPr/>
          <p:nvPr/>
        </p:nvSpPr>
        <p:spPr>
          <a:xfrm>
            <a:off x="6414621" y="467875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Describe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74" name="Text 39">
            <a:extLst>
              <a:ext uri="{FF2B5EF4-FFF2-40B4-BE49-F238E27FC236}">
                <a16:creationId xmlns:a16="http://schemas.microsoft.com/office/drawing/2014/main" id="{F818EAF8-6C84-E599-6C01-4D4BFE4DDE61}"/>
              </a:ext>
            </a:extLst>
          </p:cNvPr>
          <p:cNvSpPr/>
          <p:nvPr/>
        </p:nvSpPr>
        <p:spPr>
          <a:xfrm>
            <a:off x="7511901" y="4706187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Injectable technical text descriptions</a:t>
            </a:r>
            <a:endParaRPr lang="en-US" sz="950" dirty="0"/>
          </a:p>
        </p:txBody>
      </p:sp>
      <p:sp>
        <p:nvSpPr>
          <p:cNvPr id="75" name="Shape 40">
            <a:extLst>
              <a:ext uri="{FF2B5EF4-FFF2-40B4-BE49-F238E27FC236}">
                <a16:creationId xmlns:a16="http://schemas.microsoft.com/office/drawing/2014/main" id="{5AD0D949-A43C-E0E5-95A0-64D15E12D73C}"/>
              </a:ext>
            </a:extLst>
          </p:cNvPr>
          <p:cNvSpPr/>
          <p:nvPr/>
        </p:nvSpPr>
        <p:spPr>
          <a:xfrm>
            <a:off x="6414621" y="5245683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6" name="Text 41">
            <a:extLst>
              <a:ext uri="{FF2B5EF4-FFF2-40B4-BE49-F238E27FC236}">
                <a16:creationId xmlns:a16="http://schemas.microsoft.com/office/drawing/2014/main" id="{93963607-AF50-D14D-F49D-D8A38A4695DB}"/>
              </a:ext>
            </a:extLst>
          </p:cNvPr>
          <p:cNvSpPr/>
          <p:nvPr/>
        </p:nvSpPr>
        <p:spPr>
          <a:xfrm>
            <a:off x="6414621" y="5245683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Value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77" name="Text 42">
            <a:extLst>
              <a:ext uri="{FF2B5EF4-FFF2-40B4-BE49-F238E27FC236}">
                <a16:creationId xmlns:a16="http://schemas.microsoft.com/office/drawing/2014/main" id="{CB703920-3813-6637-D09C-643148F1998B}"/>
              </a:ext>
            </a:extLst>
          </p:cNvPr>
          <p:cNvSpPr/>
          <p:nvPr/>
        </p:nvSpPr>
        <p:spPr>
          <a:xfrm>
            <a:off x="7511901" y="5273115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Preserve information in PDF diagrams</a:t>
            </a:r>
            <a:endParaRPr lang="en-US" sz="950" dirty="0"/>
          </a:p>
        </p:txBody>
      </p:sp>
      <p:sp>
        <p:nvSpPr>
          <p:cNvPr id="78" name="Shape 43">
            <a:extLst>
              <a:ext uri="{FF2B5EF4-FFF2-40B4-BE49-F238E27FC236}">
                <a16:creationId xmlns:a16="http://schemas.microsoft.com/office/drawing/2014/main" id="{2226132C-D1F0-17B4-8062-4714B0B0AA4E}"/>
              </a:ext>
            </a:extLst>
          </p:cNvPr>
          <p:cNvSpPr/>
          <p:nvPr/>
        </p:nvSpPr>
        <p:spPr>
          <a:xfrm>
            <a:off x="1589531" y="6095970"/>
            <a:ext cx="8711290" cy="438912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9" name="Text 44">
            <a:extLst>
              <a:ext uri="{FF2B5EF4-FFF2-40B4-BE49-F238E27FC236}">
                <a16:creationId xmlns:a16="http://schemas.microsoft.com/office/drawing/2014/main" id="{79CDEDA2-3443-ADDC-F8D9-8327FB0118E4}"/>
              </a:ext>
            </a:extLst>
          </p:cNvPr>
          <p:cNvSpPr/>
          <p:nvPr/>
        </p:nvSpPr>
        <p:spPr>
          <a:xfrm>
            <a:off x="1726692" y="614169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PDF workflow:</a:t>
            </a:r>
            <a:endParaRPr lang="en-US" sz="950" dirty="0"/>
          </a:p>
        </p:txBody>
      </p:sp>
      <p:sp>
        <p:nvSpPr>
          <p:cNvPr id="80" name="Text 45">
            <a:extLst>
              <a:ext uri="{FF2B5EF4-FFF2-40B4-BE49-F238E27FC236}">
                <a16:creationId xmlns:a16="http://schemas.microsoft.com/office/drawing/2014/main" id="{09C39D04-BB1E-80D7-7908-CE05F2CB84CD}"/>
              </a:ext>
            </a:extLst>
          </p:cNvPr>
          <p:cNvSpPr/>
          <p:nvPr/>
        </p:nvSpPr>
        <p:spPr>
          <a:xfrm>
            <a:off x="3199018" y="6141690"/>
            <a:ext cx="1151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→</a:t>
            </a:r>
            <a:endParaRPr lang="en-US" sz="850" dirty="0"/>
          </a:p>
        </p:txBody>
      </p:sp>
      <p:sp>
        <p:nvSpPr>
          <p:cNvPr id="81" name="Text 46">
            <a:extLst>
              <a:ext uri="{FF2B5EF4-FFF2-40B4-BE49-F238E27FC236}">
                <a16:creationId xmlns:a16="http://schemas.microsoft.com/office/drawing/2014/main" id="{AFC156EB-2F55-AFEA-8339-9E5809B9C87C}"/>
              </a:ext>
            </a:extLst>
          </p:cNvPr>
          <p:cNvSpPr/>
          <p:nvPr/>
        </p:nvSpPr>
        <p:spPr>
          <a:xfrm>
            <a:off x="4186003" y="6141690"/>
            <a:ext cx="12805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image rendering →</a:t>
            </a:r>
            <a:endParaRPr lang="en-US" sz="850" dirty="0"/>
          </a:p>
        </p:txBody>
      </p:sp>
      <p:sp>
        <p:nvSpPr>
          <p:cNvPr id="82" name="Text 47">
            <a:extLst>
              <a:ext uri="{FF2B5EF4-FFF2-40B4-BE49-F238E27FC236}">
                <a16:creationId xmlns:a16="http://schemas.microsoft.com/office/drawing/2014/main" id="{8FDBD8DD-653E-36C3-DDD2-2128398AF726}"/>
              </a:ext>
            </a:extLst>
          </p:cNvPr>
          <p:cNvSpPr/>
          <p:nvPr/>
        </p:nvSpPr>
        <p:spPr>
          <a:xfrm>
            <a:off x="5320285" y="6141690"/>
            <a:ext cx="1097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Figure detection →</a:t>
            </a:r>
            <a:endParaRPr lang="en-US" sz="850" dirty="0"/>
          </a:p>
        </p:txBody>
      </p:sp>
      <p:sp>
        <p:nvSpPr>
          <p:cNvPr id="83" name="Text 48">
            <a:extLst>
              <a:ext uri="{FF2B5EF4-FFF2-40B4-BE49-F238E27FC236}">
                <a16:creationId xmlns:a16="http://schemas.microsoft.com/office/drawing/2014/main" id="{FBBAE22A-999B-3931-A824-E42D6CB6E322}"/>
              </a:ext>
            </a:extLst>
          </p:cNvPr>
          <p:cNvSpPr/>
          <p:nvPr/>
        </p:nvSpPr>
        <p:spPr>
          <a:xfrm>
            <a:off x="6454140" y="614169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figures →</a:t>
            </a:r>
            <a:endParaRPr lang="en-US" sz="850" dirty="0"/>
          </a:p>
        </p:txBody>
      </p:sp>
      <p:sp>
        <p:nvSpPr>
          <p:cNvPr id="84" name="Text 49">
            <a:extLst>
              <a:ext uri="{FF2B5EF4-FFF2-40B4-BE49-F238E27FC236}">
                <a16:creationId xmlns:a16="http://schemas.microsoft.com/office/drawing/2014/main" id="{A77874B4-CFB5-3346-2A79-3B4208D00AC6}"/>
              </a:ext>
            </a:extLst>
          </p:cNvPr>
          <p:cNvSpPr/>
          <p:nvPr/>
        </p:nvSpPr>
        <p:spPr>
          <a:xfrm>
            <a:off x="7277100" y="6142257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JSONL tasks →</a:t>
            </a:r>
            <a:endParaRPr lang="en-US" sz="850" dirty="0"/>
          </a:p>
        </p:txBody>
      </p:sp>
      <p:sp>
        <p:nvSpPr>
          <p:cNvPr id="85" name="Text 50">
            <a:extLst>
              <a:ext uri="{FF2B5EF4-FFF2-40B4-BE49-F238E27FC236}">
                <a16:creationId xmlns:a16="http://schemas.microsoft.com/office/drawing/2014/main" id="{14AA4D9F-4EE9-11A3-E8CF-38563F48FC35}"/>
              </a:ext>
            </a:extLst>
          </p:cNvPr>
          <p:cNvSpPr/>
          <p:nvPr/>
        </p:nvSpPr>
        <p:spPr>
          <a:xfrm>
            <a:off x="8105872" y="6141690"/>
            <a:ext cx="1164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descriptions →</a:t>
            </a:r>
            <a:endParaRPr lang="en-US" sz="850" dirty="0"/>
          </a:p>
        </p:txBody>
      </p:sp>
      <p:sp>
        <p:nvSpPr>
          <p:cNvPr id="86" name="Text 51">
            <a:extLst>
              <a:ext uri="{FF2B5EF4-FFF2-40B4-BE49-F238E27FC236}">
                <a16:creationId xmlns:a16="http://schemas.microsoft.com/office/drawing/2014/main" id="{A4445835-105F-44D5-4CE1-A93CB808DB63}"/>
              </a:ext>
            </a:extLst>
          </p:cNvPr>
          <p:cNvSpPr/>
          <p:nvPr/>
        </p:nvSpPr>
        <p:spPr>
          <a:xfrm>
            <a:off x="9193405" y="6261951"/>
            <a:ext cx="185102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Enriched re-injection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1701271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Evaluation Protocol &amp; Benchmark Results</a:t>
            </a:r>
            <a:endParaRPr lang="en-US" sz="180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dirty="0">
                <a:solidFill>
                  <a:srgbClr val="475569"/>
                </a:solidFill>
              </a:rPr>
              <a:t>Concrete numbers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5D7000F6-3657-B851-DA40-61B5DB848475}"/>
              </a:ext>
            </a:extLst>
          </p:cNvPr>
          <p:cNvSpPr/>
          <p:nvPr/>
        </p:nvSpPr>
        <p:spPr>
          <a:xfrm>
            <a:off x="586202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7" name="G1">
            <a:extLst>
              <a:ext uri="{FF2B5EF4-FFF2-40B4-BE49-F238E27FC236}">
                <a16:creationId xmlns:a16="http://schemas.microsoft.com/office/drawing/2014/main" id="{F78B0074-D184-9D4A-2FD1-8010161CBD1A}"/>
              </a:ext>
            </a:extLst>
          </p:cNvPr>
          <p:cNvSpPr/>
          <p:nvPr/>
        </p:nvSpPr>
        <p:spPr>
          <a:xfrm>
            <a:off x="365802" y="1892174"/>
            <a:ext cx="2650000" cy="14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0D9589"/>
            </a:solidFill>
          </a:ln>
        </p:spPr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2200" b="1" dirty="0">
                <a:solidFill>
                  <a:srgbClr val="0D9488"/>
                </a:solidFill>
              </a:rPr>
              <a:t>G1</a:t>
            </a:r>
          </a:p>
          <a:p>
            <a:pPr algn="l">
              <a:buNone/>
            </a:pPr>
            <a:r>
              <a:rPr lang="en-US" sz="1100" b="1" dirty="0">
                <a:solidFill>
                  <a:srgbClr val="0D9589"/>
                </a:solidFill>
              </a:rPr>
              <a:t>Stats Quality</a:t>
            </a:r>
          </a:p>
          <a:p>
            <a:pPr algn="l">
              <a:buNone/>
            </a:pPr>
            <a:r>
              <a:rPr lang="en-US" sz="850" b="0" dirty="0"/>
              <a:t>test_stats_issues_v2</a:t>
            </a:r>
          </a:p>
          <a:p>
            <a:pPr algn="l">
              <a:buNone/>
            </a:pPr>
            <a:r>
              <a:rPr lang="en-US" sz="850" b="0" dirty="0"/>
              <a:t>test_stats_files_v2</a:t>
            </a:r>
          </a:p>
          <a:p>
            <a:pPr algn="l">
              <a:buNone/>
            </a:pPr>
            <a:endParaRPr lang="en-US" sz="850" b="0" dirty="0"/>
          </a:p>
          <a:p>
            <a:pPr algn="l">
              <a:buNone/>
            </a:pPr>
            <a:r>
              <a:rPr lang="en-US" sz="800" b="0" i="1" dirty="0"/>
              <a:t>Distribution + couverture metadata</a:t>
            </a:r>
          </a:p>
        </p:txBody>
      </p:sp>
      <p:sp>
        <p:nvSpPr>
          <p:cNvPr id="8" name="G2">
            <a:extLst>
              <a:ext uri="{FF2B5EF4-FFF2-40B4-BE49-F238E27FC236}">
                <a16:creationId xmlns:a16="http://schemas.microsoft.com/office/drawing/2014/main" id="{7E4FA9F5-F59D-5926-7159-891DC62E1FDA}"/>
              </a:ext>
            </a:extLst>
          </p:cNvPr>
          <p:cNvSpPr/>
          <p:nvPr/>
        </p:nvSpPr>
        <p:spPr>
          <a:xfrm>
            <a:off x="3265802" y="1892174"/>
            <a:ext cx="2650000" cy="1400000"/>
          </a:xfrm>
          <a:prstGeom prst="roundRect">
            <a:avLst>
              <a:gd name="adj" fmla="val 10000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2200" b="1" dirty="0">
                <a:solidFill>
                  <a:srgbClr val="FFC000"/>
                </a:solidFill>
              </a:rPr>
              <a:t>G2</a:t>
            </a:r>
          </a:p>
          <a:p>
            <a:pPr algn="l">
              <a:buNone/>
            </a:pPr>
            <a:r>
              <a:rPr lang="en-US" sz="1100" b="1" dirty="0">
                <a:solidFill>
                  <a:srgbClr val="FFC000"/>
                </a:solidFill>
              </a:rPr>
              <a:t>TF-IDF Retrieval</a:t>
            </a:r>
          </a:p>
          <a:p>
            <a:pPr algn="l">
              <a:buNone/>
            </a:pPr>
            <a:r>
              <a:rPr lang="en-US" sz="850" b="0" dirty="0"/>
              <a:t>test_tfidf_search_issues_v2</a:t>
            </a:r>
          </a:p>
          <a:p>
            <a:pPr algn="l">
              <a:buNone/>
            </a:pPr>
            <a:r>
              <a:rPr lang="en-US" sz="850" b="0" dirty="0"/>
              <a:t>test_tfidf_search_files_v2</a:t>
            </a:r>
          </a:p>
          <a:p>
            <a:pPr algn="l">
              <a:buNone/>
            </a:pPr>
            <a:endParaRPr lang="en-US" sz="850" b="0" dirty="0"/>
          </a:p>
          <a:p>
            <a:pPr algn="l">
              <a:buNone/>
            </a:pPr>
            <a:r>
              <a:rPr lang="en-US" sz="800" b="0" i="1" dirty="0"/>
              <a:t>Top-3 pertinence verifie offline</a:t>
            </a:r>
          </a:p>
        </p:txBody>
      </p:sp>
      <p:sp>
        <p:nvSpPr>
          <p:cNvPr id="9" name="G3">
            <a:extLst>
              <a:ext uri="{FF2B5EF4-FFF2-40B4-BE49-F238E27FC236}">
                <a16:creationId xmlns:a16="http://schemas.microsoft.com/office/drawing/2014/main" id="{3DC8C0D3-4F14-6C4C-9A81-CEA22E5F489A}"/>
              </a:ext>
            </a:extLst>
          </p:cNvPr>
          <p:cNvSpPr/>
          <p:nvPr/>
        </p:nvSpPr>
        <p:spPr>
          <a:xfrm>
            <a:off x="6165802" y="1892174"/>
            <a:ext cx="2650000" cy="1400000"/>
          </a:xfrm>
          <a:prstGeom prst="roundRect">
            <a:avLst>
              <a:gd name="adj" fmla="val 10000"/>
            </a:avLst>
          </a:prstGeom>
          <a:ln>
            <a:solidFill>
              <a:srgbClr val="93C5FD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2200" b="1" dirty="0">
                <a:solidFill>
                  <a:srgbClr val="93C5FD"/>
                </a:solidFill>
              </a:rPr>
              <a:t>G3</a:t>
            </a:r>
          </a:p>
          <a:p>
            <a:pPr algn="l">
              <a:buNone/>
            </a:pPr>
            <a:r>
              <a:rPr lang="en-US" sz="1100" b="1" dirty="0">
                <a:solidFill>
                  <a:srgbClr val="93C5FD"/>
                </a:solidFill>
              </a:rPr>
              <a:t>Schema Validation</a:t>
            </a:r>
          </a:p>
          <a:p>
            <a:pPr algn="l">
              <a:buNone/>
            </a:pPr>
            <a:r>
              <a:rPr lang="en-US" sz="850" b="0" dirty="0"/>
              <a:t>validate_schemas.py</a:t>
            </a:r>
          </a:p>
          <a:p>
            <a:pPr algn="l">
              <a:buNone/>
            </a:pPr>
            <a:r>
              <a:rPr lang="en-US" sz="850" b="0" dirty="0"/>
              <a:t>Taux cible : &gt;95%</a:t>
            </a:r>
          </a:p>
          <a:p>
            <a:pPr algn="l">
              <a:buNone/>
            </a:pPr>
            <a:endParaRPr lang="en-US" sz="850" b="0" dirty="0"/>
          </a:p>
          <a:p>
            <a:pPr algn="l">
              <a:buNone/>
            </a:pPr>
            <a:r>
              <a:rPr lang="en-US" sz="800" b="0" i="1" dirty="0"/>
              <a:t>Contrat doc/chunk verifie</a:t>
            </a:r>
          </a:p>
        </p:txBody>
      </p:sp>
      <p:sp>
        <p:nvSpPr>
          <p:cNvPr id="10" name="G4">
            <a:extLst>
              <a:ext uri="{FF2B5EF4-FFF2-40B4-BE49-F238E27FC236}">
                <a16:creationId xmlns:a16="http://schemas.microsoft.com/office/drawing/2014/main" id="{28D57247-864C-41F3-9258-2EAA765E19FE}"/>
              </a:ext>
            </a:extLst>
          </p:cNvPr>
          <p:cNvSpPr/>
          <p:nvPr/>
        </p:nvSpPr>
        <p:spPr>
          <a:xfrm>
            <a:off x="9065802" y="1892174"/>
            <a:ext cx="2850000" cy="14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00B0F0"/>
            </a:solidFill>
          </a:ln>
        </p:spPr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2200" b="1" dirty="0">
                <a:solidFill>
                  <a:srgbClr val="3CB4E6"/>
                </a:solidFill>
              </a:rPr>
              <a:t>G4</a:t>
            </a:r>
          </a:p>
          <a:p>
            <a:pPr algn="l">
              <a:buNone/>
            </a:pPr>
            <a:r>
              <a:rPr lang="en-US" sz="1100" b="1" dirty="0">
                <a:solidFill>
                  <a:srgbClr val="3CB4E6"/>
                </a:solidFill>
              </a:rPr>
              <a:t>30Q + 50Q Live</a:t>
            </a:r>
          </a:p>
          <a:p>
            <a:pPr algn="l">
              <a:buNone/>
            </a:pPr>
            <a:r>
              <a:rPr lang="en-US" sz="850" b="0" dirty="0"/>
              <a:t>run_h7_50q_ab_test.ps1</a:t>
            </a:r>
          </a:p>
          <a:p>
            <a:pPr algn="l">
              <a:buNone/>
            </a:pPr>
            <a:r>
              <a:rPr lang="en-US" sz="850" b="0" dirty="0"/>
              <a:t>DMA,UART,I2C,USB,ADC,FDCAN</a:t>
            </a:r>
          </a:p>
          <a:p>
            <a:pPr algn="l">
              <a:buNone/>
            </a:pPr>
            <a:endParaRPr lang="en-US" sz="850" b="0" dirty="0"/>
          </a:p>
          <a:p>
            <a:pPr algn="l">
              <a:buNone/>
            </a:pPr>
            <a:r>
              <a:rPr lang="en-US" sz="800" b="0" i="1" dirty="0"/>
              <a:t>Benchmark manuel, zero biais</a:t>
            </a:r>
          </a:p>
        </p:txBody>
      </p:sp>
      <p:sp>
        <p:nvSpPr>
          <p:cNvPr id="11" name="flow">
            <a:extLst>
              <a:ext uri="{FF2B5EF4-FFF2-40B4-BE49-F238E27FC236}">
                <a16:creationId xmlns:a16="http://schemas.microsoft.com/office/drawing/2014/main" id="{E34A8314-6798-BA98-4CC9-BEF0D1B0DC2F}"/>
              </a:ext>
            </a:extLst>
          </p:cNvPr>
          <p:cNvSpPr/>
          <p:nvPr/>
        </p:nvSpPr>
        <p:spPr>
          <a:xfrm>
            <a:off x="296000" y="1430017"/>
            <a:ext cx="11500000" cy="2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0" i="1" dirty="0"/>
              <a:t>G1  →  G2  →  G3  →  G4  →  Upload KB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D9F3A-1772-9623-97BC-665ED9529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4835-2AB6-3E0A-F771-AF3D31C3F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Evaluation Protocol &amp; Benchmark Results</a:t>
            </a:r>
            <a:endParaRPr lang="en-US" sz="180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74257900-84B7-95E2-A00D-1EAB90434864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dirty="0">
                <a:solidFill>
                  <a:srgbClr val="475569"/>
                </a:solidFill>
              </a:rPr>
              <a:t>50Q Live Run — ST Platform results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1FDEFE5B-2740-0AA2-8F24-7074CB3A8B3F}"/>
              </a:ext>
            </a:extLst>
          </p:cNvPr>
          <p:cNvSpPr/>
          <p:nvPr/>
        </p:nvSpPr>
        <p:spPr>
          <a:xfrm>
            <a:off x="586202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IncNote">
            <a:extLst>
              <a:ext uri="{FF2B5EF4-FFF2-40B4-BE49-F238E27FC236}">
                <a16:creationId xmlns:a16="http://schemas.microsoft.com/office/drawing/2014/main" id="{46AB72AE-E4C8-6B09-EF09-16CD08C7AD4A}"/>
              </a:ext>
            </a:extLst>
          </p:cNvPr>
          <p:cNvSpPr/>
          <p:nvPr/>
        </p:nvSpPr>
        <p:spPr>
          <a:xfrm>
            <a:off x="2623252" y="1504803"/>
            <a:ext cx="7500000" cy="380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9050">
            <a:solidFill>
              <a:srgbClr val="0369A1"/>
            </a:solidFill>
          </a:ln>
        </p:spPr>
        <p:txBody>
          <a:bodyPr wrap="square" lIns="152400" tIns="45720" rIns="152400" bIns="45720" anchor="ctr"/>
          <a:lstStyle/>
          <a:p>
            <a:pPr algn="l">
              <a:buNone/>
            </a:pPr>
            <a:r>
              <a:rPr lang="en-US" sz="900" b="1" dirty="0">
                <a:solidFill>
                  <a:srgbClr val="0369A1"/>
                </a:solidFill>
              </a:rPr>
              <a:t>Evaluation incrementale: </a:t>
            </a:r>
            <a:r>
              <a:rPr lang="en-US" sz="900" b="0" dirty="0">
                <a:solidFill>
                  <a:srgbClr val="475569"/>
                </a:solidFill>
              </a:rPr>
              <a:t>chaque ajout de source evalue separement pour ne pas introduire d'hallucination ni de reponses hors-contexte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992801-CC3D-0552-3411-DF656980A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384" y="2115703"/>
            <a:ext cx="8011439" cy="3818388"/>
          </a:xfrm>
          <a:prstGeom prst="rect">
            <a:avLst/>
          </a:prstGeom>
        </p:spPr>
      </p:pic>
      <p:sp>
        <p:nvSpPr>
          <p:cNvPr id="12" name="Gain">
            <a:extLst>
              <a:ext uri="{FF2B5EF4-FFF2-40B4-BE49-F238E27FC236}">
                <a16:creationId xmlns:a16="http://schemas.microsoft.com/office/drawing/2014/main" id="{BAA4EEB4-BB7D-E65F-E3FE-0700FED15C8C}"/>
              </a:ext>
            </a:extLst>
          </p:cNvPr>
          <p:cNvSpPr/>
          <p:nvPr/>
        </p:nvSpPr>
        <p:spPr>
          <a:xfrm>
            <a:off x="10560972" y="4125956"/>
            <a:ext cx="621233" cy="571688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↑</a:t>
            </a:r>
          </a:p>
        </p:txBody>
      </p:sp>
    </p:spTree>
    <p:extLst>
      <p:ext uri="{BB962C8B-B14F-4D97-AF65-F5344CB8AC3E}">
        <p14:creationId xmlns:p14="http://schemas.microsoft.com/office/powerpoint/2010/main" val="14721329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CC406-4A34-C89F-87EF-885FC6AF7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BC418-DC98-C858-69A4-3B09C91F9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Challenges encountered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AE134684-80BE-7C2E-166E-C542ACABAF3D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dirty="0">
                <a:solidFill>
                  <a:srgbClr val="475569"/>
                </a:solidFill>
              </a:rPr>
              <a:t>Technical obstacles encountered during the project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6F54D768-54E6-15AA-3550-0C1AD83D10FD}"/>
              </a:ext>
            </a:extLst>
          </p:cNvPr>
          <p:cNvSpPr/>
          <p:nvPr/>
        </p:nvSpPr>
        <p:spPr>
          <a:xfrm>
            <a:off x="586202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7" name="TechLabel">
            <a:extLst>
              <a:ext uri="{FF2B5EF4-FFF2-40B4-BE49-F238E27FC236}">
                <a16:creationId xmlns:a16="http://schemas.microsoft.com/office/drawing/2014/main" id="{E4AA5137-A921-033E-6819-914B6BCF03AF}"/>
              </a:ext>
            </a:extLst>
          </p:cNvPr>
          <p:cNvSpPr/>
          <p:nvPr/>
        </p:nvSpPr>
        <p:spPr>
          <a:xfrm>
            <a:off x="353272" y="1740690"/>
            <a:ext cx="5600000" cy="340000"/>
          </a:xfrm>
          <a:prstGeom prst="roundRect">
            <a:avLst>
              <a:gd name="adj" fmla="val 20000"/>
            </a:avLst>
          </a:prstGeom>
          <a:solidFill>
            <a:srgbClr val="1B2A3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  Technical Challenges</a:t>
            </a:r>
          </a:p>
        </p:txBody>
      </p:sp>
      <p:sp>
        <p:nvSpPr>
          <p:cNvPr id="8" name="OpsLabel">
            <a:extLst>
              <a:ext uri="{FF2B5EF4-FFF2-40B4-BE49-F238E27FC236}">
                <a16:creationId xmlns:a16="http://schemas.microsoft.com/office/drawing/2014/main" id="{1C957672-DE3F-1E01-6049-618CEDDAA152}"/>
              </a:ext>
            </a:extLst>
          </p:cNvPr>
          <p:cNvSpPr/>
          <p:nvPr/>
        </p:nvSpPr>
        <p:spPr>
          <a:xfrm>
            <a:off x="6253272" y="1740690"/>
            <a:ext cx="5600000" cy="3400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Operational &amp; Validation Challenges</a:t>
            </a:r>
          </a:p>
        </p:txBody>
      </p:sp>
      <p:sp>
        <p:nvSpPr>
          <p:cNvPr id="9" name="T1">
            <a:extLst>
              <a:ext uri="{FF2B5EF4-FFF2-40B4-BE49-F238E27FC236}">
                <a16:creationId xmlns:a16="http://schemas.microsoft.com/office/drawing/2014/main" id="{A424B787-2ED9-CAC2-71EE-C2AA960E59F7}"/>
              </a:ext>
            </a:extLst>
          </p:cNvPr>
          <p:cNvSpPr/>
          <p:nvPr/>
        </p:nvSpPr>
        <p:spPr>
          <a:xfrm>
            <a:off x="353272" y="2160690"/>
            <a:ext cx="5600000" cy="9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1B2A3B"/>
            </a:solidFill>
          </a:ln>
        </p:spPr>
        <p:txBody>
          <a:bodyPr wrap="square" lIns="182880" tIns="91440" rIns="182880" bIns="91440" anchor="t"/>
          <a:lstStyle/>
          <a:p>
            <a:pPr marL="228600" indent="-228600" algn="l">
              <a:buAutoNum type="arabicPeriod"/>
            </a:pPr>
            <a:r>
              <a:rPr lang="en-US" sz="1000" b="1" dirty="0">
                <a:solidFill>
                  <a:srgbClr val="1B2A3B"/>
                </a:solidFill>
              </a:rPr>
              <a:t>Black-box RAG engine</a:t>
            </a:r>
          </a:p>
          <a:p>
            <a:pPr algn="l"/>
            <a:endParaRPr lang="en-US" sz="1000" b="1" dirty="0">
              <a:solidFill>
                <a:srgbClr val="1B2A3B"/>
              </a:solidFill>
            </a:endParaRPr>
          </a:p>
          <a:p>
            <a:pPr algn="l">
              <a:buNone/>
            </a:pPr>
            <a:r>
              <a:rPr lang="en-US" sz="900" b="0" dirty="0">
                <a:solidFill>
                  <a:srgbClr val="475569"/>
                </a:solidFill>
              </a:rPr>
              <a:t>Retrieval/chunking internals inaccessible. All improvements must be data-centric only.</a:t>
            </a:r>
          </a:p>
          <a:p>
            <a:pPr algn="l">
              <a:buNone/>
            </a:pPr>
            <a:endParaRPr lang="en-US" sz="900" b="0" dirty="0">
              <a:solidFill>
                <a:srgbClr val="475569"/>
              </a:solidFill>
            </a:endParaRPr>
          </a:p>
          <a:p>
            <a:pPr algn="l">
              <a:buNone/>
            </a:pPr>
            <a:r>
              <a:rPr lang="en-US" sz="850" b="1" i="0" dirty="0">
                <a:solidFill>
                  <a:srgbClr val="0D9488"/>
                </a:solidFill>
              </a:rPr>
              <a:t>→ Solution: </a:t>
            </a:r>
            <a:r>
              <a:rPr lang="en-US" sz="850" b="0" i="1" dirty="0">
                <a:solidFill>
                  <a:srgbClr val="64748B"/>
                </a:solidFill>
              </a:rPr>
              <a:t>Structured lexical anchors + stable card templates</a:t>
            </a:r>
          </a:p>
        </p:txBody>
      </p:sp>
      <p:sp>
        <p:nvSpPr>
          <p:cNvPr id="10" name="T2">
            <a:extLst>
              <a:ext uri="{FF2B5EF4-FFF2-40B4-BE49-F238E27FC236}">
                <a16:creationId xmlns:a16="http://schemas.microsoft.com/office/drawing/2014/main" id="{D0CDD47E-3984-33F9-E1F3-DD4A114AC596}"/>
              </a:ext>
            </a:extLst>
          </p:cNvPr>
          <p:cNvSpPr/>
          <p:nvPr/>
        </p:nvSpPr>
        <p:spPr>
          <a:xfrm>
            <a:off x="353272" y="3140690"/>
            <a:ext cx="5600000" cy="9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1B2A3B"/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en-US" sz="1000" b="1" dirty="0">
                <a:solidFill>
                  <a:srgbClr val="1B2A3B"/>
                </a:solidFill>
              </a:rPr>
              <a:t>2. Defining high data quality</a:t>
            </a:r>
          </a:p>
          <a:p>
            <a:pPr algn="l">
              <a:buNone/>
            </a:pPr>
            <a:r>
              <a:rPr lang="en-US" sz="900" b="0" dirty="0">
                <a:solidFill>
                  <a:srgbClr val="475569"/>
                </a:solidFill>
              </a:rPr>
              <a:t>No existing quality definition. What is "good enough" for RAG retrieval?</a:t>
            </a:r>
          </a:p>
          <a:p>
            <a:pPr algn="l">
              <a:buNone/>
            </a:pPr>
            <a:endParaRPr lang="en-US" sz="900" b="0" dirty="0">
              <a:solidFill>
                <a:srgbClr val="475569"/>
              </a:solidFill>
            </a:endParaRPr>
          </a:p>
          <a:p>
            <a:r>
              <a:rPr lang="en-US" sz="850" b="1" dirty="0">
                <a:solidFill>
                  <a:srgbClr val="0D9488"/>
                </a:solidFill>
              </a:rPr>
              <a:t>→ Solution : </a:t>
            </a:r>
            <a:r>
              <a:rPr lang="en-US" sz="850" b="0" i="1" dirty="0">
                <a:solidFill>
                  <a:srgbClr val="64748B"/>
                </a:solidFill>
              </a:rPr>
              <a:t>Schema validation &gt;95% + TF-IDF smoke tests before every upload</a:t>
            </a:r>
          </a:p>
        </p:txBody>
      </p:sp>
      <p:sp>
        <p:nvSpPr>
          <p:cNvPr id="11" name="T3">
            <a:extLst>
              <a:ext uri="{FF2B5EF4-FFF2-40B4-BE49-F238E27FC236}">
                <a16:creationId xmlns:a16="http://schemas.microsoft.com/office/drawing/2014/main" id="{54C7F598-4394-67AB-C811-6F9B482A0B91}"/>
              </a:ext>
            </a:extLst>
          </p:cNvPr>
          <p:cNvSpPr/>
          <p:nvPr/>
        </p:nvSpPr>
        <p:spPr>
          <a:xfrm>
            <a:off x="353272" y="4120690"/>
            <a:ext cx="5600000" cy="9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1B2A3B"/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en-US" sz="1000" b="1" dirty="0">
                <a:solidFill>
                  <a:srgbClr val="1B2A3B"/>
                </a:solidFill>
              </a:rPr>
              <a:t>3. Heterogeneous source formats</a:t>
            </a:r>
          </a:p>
          <a:p>
            <a:pPr algn="l">
              <a:buNone/>
            </a:pPr>
            <a:r>
              <a:rPr lang="en-US" sz="900" b="0" dirty="0">
                <a:solidFill>
                  <a:srgbClr val="475569"/>
                </a:solidFill>
              </a:rPr>
              <a:t>Issues, PRs, commits, files, PDFs: all have different structures.</a:t>
            </a:r>
          </a:p>
          <a:p>
            <a:pPr algn="l">
              <a:buNone/>
            </a:pPr>
            <a:endParaRPr lang="en-US" sz="900" b="0" dirty="0">
              <a:solidFill>
                <a:srgbClr val="475569"/>
              </a:solidFill>
            </a:endParaRPr>
          </a:p>
          <a:p>
            <a:r>
              <a:rPr lang="en-US" sz="850" b="1" dirty="0">
                <a:solidFill>
                  <a:srgbClr val="0D9488"/>
                </a:solidFill>
              </a:rPr>
              <a:t>→ Solution : </a:t>
            </a:r>
            <a:r>
              <a:rPr lang="en-US" sz="850" b="0" i="1" dirty="0">
                <a:solidFill>
                  <a:srgbClr val="64748B"/>
                </a:solidFill>
              </a:rPr>
              <a:t>Unified docs_v2 schema normalizing all sources</a:t>
            </a:r>
          </a:p>
        </p:txBody>
      </p:sp>
      <p:sp>
        <p:nvSpPr>
          <p:cNvPr id="13" name="O4">
            <a:extLst>
              <a:ext uri="{FF2B5EF4-FFF2-40B4-BE49-F238E27FC236}">
                <a16:creationId xmlns:a16="http://schemas.microsoft.com/office/drawing/2014/main" id="{903C4B5E-7199-9FB2-C2C5-7CC122F16FE4}"/>
              </a:ext>
            </a:extLst>
          </p:cNvPr>
          <p:cNvSpPr/>
          <p:nvPr/>
        </p:nvSpPr>
        <p:spPr>
          <a:xfrm>
            <a:off x="6253272" y="2160690"/>
            <a:ext cx="5600000" cy="9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en-US" sz="1000" b="1" dirty="0">
                <a:solidFill>
                  <a:srgbClr val="1B2A3B"/>
                </a:solidFill>
              </a:rPr>
              <a:t>4. Upload payload limits</a:t>
            </a:r>
          </a:p>
          <a:p>
            <a:pPr algn="l">
              <a:buNone/>
            </a:pPr>
            <a:r>
              <a:rPr lang="en-US" sz="900" b="0" dirty="0">
                <a:solidFill>
                  <a:srgbClr val="475569"/>
                </a:solidFill>
              </a:rPr>
              <a:t>STM32CubeH7: 4,707 docs / ~57.6 MB — exceeds single-batch limits.</a:t>
            </a:r>
          </a:p>
          <a:p>
            <a:pPr algn="l">
              <a:buNone/>
            </a:pPr>
            <a:endParaRPr lang="en-US" sz="900" b="0" dirty="0">
              <a:solidFill>
                <a:srgbClr val="475569"/>
              </a:solidFill>
            </a:endParaRPr>
          </a:p>
          <a:p>
            <a:r>
              <a:rPr lang="en-US" sz="850" b="1" dirty="0">
                <a:solidFill>
                  <a:srgbClr val="0D9488"/>
                </a:solidFill>
              </a:rPr>
              <a:t>→ Solution : </a:t>
            </a:r>
            <a:r>
              <a:rPr lang="en-US" sz="850" b="0" i="1" dirty="0">
                <a:solidFill>
                  <a:srgbClr val="64748B"/>
                </a:solidFill>
              </a:rPr>
              <a:t>Manual split workflow: 50 parts, deterministic upload order</a:t>
            </a:r>
          </a:p>
        </p:txBody>
      </p:sp>
      <p:sp>
        <p:nvSpPr>
          <p:cNvPr id="14" name="O5">
            <a:extLst>
              <a:ext uri="{FF2B5EF4-FFF2-40B4-BE49-F238E27FC236}">
                <a16:creationId xmlns:a16="http://schemas.microsoft.com/office/drawing/2014/main" id="{5EC5D8A0-A149-D9D3-DEAA-3C56F28A1A63}"/>
              </a:ext>
            </a:extLst>
          </p:cNvPr>
          <p:cNvSpPr/>
          <p:nvPr/>
        </p:nvSpPr>
        <p:spPr>
          <a:xfrm>
            <a:off x="6253272" y="3140690"/>
            <a:ext cx="5600000" cy="9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en-US" sz="1000" b="1" dirty="0">
                <a:solidFill>
                  <a:srgbClr val="1B2A3B"/>
                </a:solidFill>
              </a:rPr>
              <a:t>5. Validation without ground truth</a:t>
            </a:r>
          </a:p>
          <a:p>
            <a:pPr algn="l">
              <a:buNone/>
            </a:pPr>
            <a:r>
              <a:rPr lang="en-US" sz="900" b="0" dirty="0">
                <a:solidFill>
                  <a:srgbClr val="475569"/>
                </a:solidFill>
              </a:rPr>
              <a:t>No labeled STM32Cube Q&amp;A dataset existed anywhere.</a:t>
            </a:r>
          </a:p>
          <a:p>
            <a:pPr algn="l">
              <a:buNone/>
            </a:pPr>
            <a:endParaRPr lang="en-US" sz="900" b="0" dirty="0">
              <a:solidFill>
                <a:srgbClr val="475569"/>
              </a:solidFill>
            </a:endParaRPr>
          </a:p>
          <a:p>
            <a:r>
              <a:rPr lang="en-US" sz="850" b="1" dirty="0">
                <a:solidFill>
                  <a:srgbClr val="0D9488"/>
                </a:solidFill>
              </a:rPr>
              <a:t>→ Solution : </a:t>
            </a:r>
            <a:r>
              <a:rPr lang="en-US" sz="850" b="0" i="1" dirty="0">
                <a:solidFill>
                  <a:srgbClr val="64748B"/>
                </a:solidFill>
              </a:rPr>
              <a:t>Built 30Q+50Q benchmark manually — zero synthetic bias</a:t>
            </a:r>
          </a:p>
        </p:txBody>
      </p:sp>
      <p:sp>
        <p:nvSpPr>
          <p:cNvPr id="15" name="O6">
            <a:extLst>
              <a:ext uri="{FF2B5EF4-FFF2-40B4-BE49-F238E27FC236}">
                <a16:creationId xmlns:a16="http://schemas.microsoft.com/office/drawing/2014/main" id="{2F3CBF02-2765-1A72-D444-8478AC83B32B}"/>
              </a:ext>
            </a:extLst>
          </p:cNvPr>
          <p:cNvSpPr/>
          <p:nvPr/>
        </p:nvSpPr>
        <p:spPr>
          <a:xfrm>
            <a:off x="6253272" y="4120690"/>
            <a:ext cx="5600000" cy="9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en-US" sz="1000" b="1" dirty="0">
                <a:solidFill>
                  <a:srgbClr val="1B2A3B"/>
                </a:solidFill>
              </a:rPr>
              <a:t>6. New bugs with no linked PR</a:t>
            </a:r>
          </a:p>
          <a:p>
            <a:pPr algn="l">
              <a:buNone/>
            </a:pPr>
            <a:r>
              <a:rPr lang="en-US" sz="900" b="0" dirty="0">
                <a:solidFill>
                  <a:srgbClr val="475569"/>
                </a:solidFill>
              </a:rPr>
              <a:t>Truly new bugs (e.g. HAL_CRYP &gt;65535 bytes) return "I DON'T KNOW".</a:t>
            </a:r>
          </a:p>
          <a:p>
            <a:pPr algn="l">
              <a:buNone/>
            </a:pPr>
            <a:endParaRPr lang="en-US" sz="900" b="0" dirty="0">
              <a:solidFill>
                <a:srgbClr val="475569"/>
              </a:solidFill>
            </a:endParaRPr>
          </a:p>
          <a:p>
            <a:pPr algn="l">
              <a:buNone/>
            </a:pPr>
            <a:r>
              <a:rPr lang="en-US" sz="850" b="1" dirty="0">
                <a:solidFill>
                  <a:srgbClr val="0D9488"/>
                </a:solidFill>
              </a:rPr>
              <a:t>→ Next: </a:t>
            </a:r>
            <a:r>
              <a:rPr lang="en-US" sz="850" b="0" i="1" dirty="0">
                <a:solidFill>
                  <a:srgbClr val="64748B"/>
                </a:solidFill>
              </a:rPr>
              <a:t>Technical pattern tags for class-based retrieval (overflow, uint16_limit...)</a:t>
            </a:r>
          </a:p>
        </p:txBody>
      </p:sp>
    </p:spTree>
    <p:extLst>
      <p:ext uri="{BB962C8B-B14F-4D97-AF65-F5344CB8AC3E}">
        <p14:creationId xmlns:p14="http://schemas.microsoft.com/office/powerpoint/2010/main" val="9946529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790A819-8D50-B25F-3461-6EE506827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5">
            <a:extLst>
              <a:ext uri="{FF2B5EF4-FFF2-40B4-BE49-F238E27FC236}">
                <a16:creationId xmlns:a16="http://schemas.microsoft.com/office/drawing/2014/main" id="{FFCA4939-B7F6-12C3-CD0F-B9BCB4DC6FF9}"/>
              </a:ext>
            </a:extLst>
          </p:cNvPr>
          <p:cNvSpPr/>
          <p:nvPr/>
        </p:nvSpPr>
        <p:spPr>
          <a:xfrm>
            <a:off x="1640020" y="1456079"/>
            <a:ext cx="10551980" cy="3945841"/>
          </a:xfrm>
          <a:prstGeom prst="rect">
            <a:avLst/>
          </a:prstGeom>
          <a:solidFill>
            <a:srgbClr val="425A7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4460195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F0139B-0BEB-449C-B1F7-80D4F54F3FC1}"/>
              </a:ext>
            </a:extLst>
          </p:cNvPr>
          <p:cNvGrpSpPr/>
          <p:nvPr/>
        </p:nvGrpSpPr>
        <p:grpSpPr>
          <a:xfrm>
            <a:off x="4688541" y="0"/>
            <a:ext cx="7503459" cy="6858000"/>
            <a:chOff x="4688541" y="0"/>
            <a:chExt cx="750345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975067-3004-4E25-8B69-CACB0B1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541" y="0"/>
              <a:ext cx="750345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F24E-0C24-4EB7-8B46-271260356B65}"/>
                </a:ext>
              </a:extLst>
            </p:cNvPr>
            <p:cNvSpPr/>
            <p:nvPr/>
          </p:nvSpPr>
          <p:spPr>
            <a:xfrm>
              <a:off x="11640457" y="0"/>
              <a:ext cx="551543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759B23-2AC6-4702-845A-24B397B67FAF}"/>
              </a:ext>
            </a:extLst>
          </p:cNvPr>
          <p:cNvSpPr txBox="1"/>
          <p:nvPr/>
        </p:nvSpPr>
        <p:spPr>
          <a:xfrm>
            <a:off x="188686" y="2513364"/>
            <a:ext cx="4325257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fr-FR" dirty="0"/>
              <a:t>For </a:t>
            </a:r>
            <a:r>
              <a:rPr lang="fr-FR"/>
              <a:t>further support in creating a PowerPoint presentation, including graphic assets, formatting tools and additional information on the ST brand</a:t>
            </a:r>
            <a:endParaRPr lang="fr-FR" dirty="0"/>
          </a:p>
          <a:p>
            <a:pPr algn="ctr">
              <a:spcBef>
                <a:spcPts val="600"/>
              </a:spcBef>
            </a:pPr>
            <a:r>
              <a:rPr lang="fr-FR" b="1"/>
              <a:t>you can visit the ST Brand Portal</a:t>
            </a:r>
            <a:br>
              <a:rPr lang="fr-FR" dirty="0"/>
            </a:br>
            <a:r>
              <a:rPr lang="fr-FR">
                <a:hlinkClick r:id="rId4"/>
              </a:rPr>
              <a:t>https://brandportal.st.com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2923148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527FFCAB48D543983E702177FA4D5E" ma:contentTypeVersion="1" ma:contentTypeDescription="Create a new document." ma:contentTypeScope="" ma:versionID="79e94945f58b0ccd46b3c7ecfbaac7f0">
  <xsd:schema xmlns:xsd="http://www.w3.org/2001/XMLSchema" xmlns:xs="http://www.w3.org/2001/XMLSchema" xmlns:p="http://schemas.microsoft.com/office/2006/metadata/properties" xmlns:ns3="a9b83574-adda-46ce-ac63-af2fdf65ff3b" targetNamespace="http://schemas.microsoft.com/office/2006/metadata/properties" ma:root="true" ma:fieldsID="186b049367a49709f79d150b2d56bce3" ns3:_="">
    <xsd:import namespace="a9b83574-adda-46ce-ac63-af2fdf65ff3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83574-adda-46ce-ac63-af2fdf65ff3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CB8446A-891D-4E00-8259-E4025A836D60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purl.org/dc/terms/"/>
    <ds:schemaRef ds:uri="a9b83574-adda-46ce-ac63-af2fdf65ff3b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48C8AF0-9AC2-483F-A140-F19A1E7F5F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b83574-adda-46ce-ac63-af2fdf65ff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2B9293-6E89-44A0-8ACC-8E3FDF77ED6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6373</TotalTime>
  <Words>6450</Words>
  <Application>Microsoft Office PowerPoint</Application>
  <PresentationFormat>Widescreen</PresentationFormat>
  <Paragraphs>1058</Paragraphs>
  <Slides>51</Slides>
  <Notes>50</Notes>
  <HiddenSlides>7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Calibri</vt:lpstr>
      <vt:lpstr>Cambria Math</vt:lpstr>
      <vt:lpstr>Consolas</vt:lpstr>
      <vt:lpstr>Open_Sans</vt:lpstr>
      <vt:lpstr>ST PowerPoint Template 16x9</vt:lpstr>
      <vt:lpstr>An AI Tool for STM32Cube Technical Support  From raw GitHub data to precise technical answers: Understanding how it works , step by step.  </vt:lpstr>
      <vt:lpstr>PowerPoint Presentation</vt:lpstr>
      <vt:lpstr>PowerPoint Presentation</vt:lpstr>
      <vt:lpstr>The ST ChatGPT Platform,  Creating a Persona</vt:lpstr>
      <vt:lpstr>Meet the STM32Cube AI Persona</vt:lpstr>
      <vt:lpstr> ST ChatGPT</vt:lpstr>
      <vt:lpstr> ST ChatGPT</vt:lpstr>
      <vt:lpstr> ST ChatGPT</vt:lpstr>
      <vt:lpstr>Why this project?</vt:lpstr>
      <vt:lpstr>Where AI stands in here !</vt:lpstr>
      <vt:lpstr>Project Overview ! </vt:lpstr>
      <vt:lpstr> The ST ChatGPT Platform</vt:lpstr>
      <vt:lpstr> The ST ChatGPT Platform</vt:lpstr>
      <vt:lpstr> The ST ChatGPT Platform</vt:lpstr>
      <vt:lpstr> The ST ChatGPT Platform</vt:lpstr>
      <vt:lpstr> The ST ChatGPT Platform</vt:lpstr>
      <vt:lpstr> The ST ChatGPT Platform</vt:lpstr>
      <vt:lpstr>Data Sources Used</vt:lpstr>
      <vt:lpstr>Getting Better Answers — How to Query the Persona</vt:lpstr>
      <vt:lpstr>PowerPoint Presentation</vt:lpstr>
      <vt:lpstr>PowerPoint Presentation</vt:lpstr>
      <vt:lpstr>The Preprocessing Pipeline</vt:lpstr>
      <vt:lpstr>The Preprocessing Pipeline</vt:lpstr>
      <vt:lpstr>Pipeline: cleaning</vt:lpstr>
      <vt:lpstr>The Preprocessing Pipeline</vt:lpstr>
      <vt:lpstr>Pipeline: Enrichment (Feature Engineering)    </vt:lpstr>
      <vt:lpstr>The Preprocessing Pipeline</vt:lpstr>
      <vt:lpstr>Pipeline: Similarity</vt:lpstr>
      <vt:lpstr>Pipeline: Similarity</vt:lpstr>
      <vt:lpstr>The Preprocessing Pipeline</vt:lpstr>
      <vt:lpstr>Pipeline: chunking</vt:lpstr>
      <vt:lpstr>Pipeline : STM32Cube RAG Chunking Benchmark  </vt:lpstr>
      <vt:lpstr>How the Persona Works , RAG Behind the Scenes</vt:lpstr>
      <vt:lpstr>How the Persona Works , RAG Behind the Scenes</vt:lpstr>
      <vt:lpstr>How the Persona Works , RAG Behind the Scenes</vt:lpstr>
      <vt:lpstr>The Preprocessing Pipeline</vt:lpstr>
      <vt:lpstr>Pipeline: Delivery(resolver cases, diagnostic cards, exports ST-ready)</vt:lpstr>
      <vt:lpstr>Pipeline: Delivery(resolver cases, diagnostic cards, exports ST-ready)</vt:lpstr>
      <vt:lpstr>Pipeline: Delivery(resolver cases, diagnostic cards, exports ST-ready)</vt:lpstr>
      <vt:lpstr>Resolver Cases — Tracing Bugs to Their Fix</vt:lpstr>
      <vt:lpstr>Resolver Cases — Tracing Bugs to Their Fix</vt:lpstr>
      <vt:lpstr>Resolver Cases — Tracing Bugs to Their Fix</vt:lpstr>
      <vt:lpstr>Resolver Cases — Tracing Bugs to Their Fix</vt:lpstr>
      <vt:lpstr>Pipeline: Delivery(resolver cases, diagnostic cards, exports ST-ready)</vt:lpstr>
      <vt:lpstr>Diagnostic Cards — Structured Troubleshooting Knowledge</vt:lpstr>
      <vt:lpstr>Pipeline: AI Agents — Two Specialized Assistants in the Project</vt:lpstr>
      <vt:lpstr>Evaluation Protocol &amp; Benchmark Results</vt:lpstr>
      <vt:lpstr>Evaluation Protocol &amp; Benchmark Results</vt:lpstr>
      <vt:lpstr>Challenges encountered</vt:lpstr>
      <vt:lpstr>PowerPoint Presentation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Abir GHARBI</dc:creator>
  <cp:keywords/>
  <cp:lastModifiedBy>Abir GHARBI</cp:lastModifiedBy>
  <cp:revision>11</cp:revision>
  <dcterms:created xsi:type="dcterms:W3CDTF">2026-04-28T15:20:14Z</dcterms:created>
  <dcterms:modified xsi:type="dcterms:W3CDTF">2026-05-12T17:11:27Z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0x01010062527FFCAB48D543983E702177FA4D5E</vt:lpwstr>
  </property>
</Properties>
</file>