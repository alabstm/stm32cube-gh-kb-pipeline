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7"/>
  </p:notesMasterIdLst>
  <p:sldIdLst>
    <p:sldId id="455" r:id="rId5"/>
    <p:sldId id="290" r:id="rId6"/>
    <p:sldId id="449" r:id="rId7"/>
    <p:sldId id="378" r:id="rId8"/>
    <p:sldId id="379" r:id="rId9"/>
    <p:sldId id="450" r:id="rId10"/>
    <p:sldId id="414" r:id="rId11"/>
    <p:sldId id="296" r:id="rId12"/>
    <p:sldId id="295" r:id="rId13"/>
    <p:sldId id="360" r:id="rId14"/>
    <p:sldId id="417" r:id="rId15"/>
    <p:sldId id="451" r:id="rId16"/>
    <p:sldId id="405" r:id="rId17"/>
    <p:sldId id="429" r:id="rId18"/>
    <p:sldId id="433" r:id="rId19"/>
    <p:sldId id="440" r:id="rId20"/>
    <p:sldId id="434" r:id="rId21"/>
    <p:sldId id="452" r:id="rId22"/>
    <p:sldId id="436" r:id="rId23"/>
    <p:sldId id="437" r:id="rId24"/>
    <p:sldId id="439" r:id="rId25"/>
    <p:sldId id="453" r:id="rId26"/>
    <p:sldId id="426" r:id="rId27"/>
    <p:sldId id="430" r:id="rId28"/>
    <p:sldId id="431" r:id="rId29"/>
    <p:sldId id="435" r:id="rId30"/>
    <p:sldId id="454" r:id="rId31"/>
    <p:sldId id="458" r:id="rId32"/>
    <p:sldId id="462" r:id="rId33"/>
    <p:sldId id="456" r:id="rId34"/>
    <p:sldId id="457" r:id="rId35"/>
    <p:sldId id="265" r:id="rId36"/>
    <p:sldId id="317" r:id="rId37"/>
    <p:sldId id="432" r:id="rId38"/>
    <p:sldId id="419" r:id="rId39"/>
    <p:sldId id="418" r:id="rId40"/>
    <p:sldId id="370" r:id="rId41"/>
    <p:sldId id="420" r:id="rId42"/>
    <p:sldId id="463" r:id="rId43"/>
    <p:sldId id="308" r:id="rId44"/>
    <p:sldId id="309" r:id="rId45"/>
    <p:sldId id="421" r:id="rId46"/>
    <p:sldId id="312" r:id="rId47"/>
    <p:sldId id="422" r:id="rId48"/>
    <p:sldId id="423" r:id="rId49"/>
    <p:sldId id="372" r:id="rId50"/>
    <p:sldId id="373" r:id="rId51"/>
    <p:sldId id="343" r:id="rId52"/>
    <p:sldId id="391" r:id="rId53"/>
    <p:sldId id="353" r:id="rId54"/>
    <p:sldId id="392" r:id="rId55"/>
    <p:sldId id="310" r:id="rId56"/>
    <p:sldId id="345" r:id="rId57"/>
    <p:sldId id="374" r:id="rId58"/>
    <p:sldId id="315" r:id="rId59"/>
    <p:sldId id="362" r:id="rId60"/>
    <p:sldId id="291" r:id="rId61"/>
    <p:sldId id="459" r:id="rId62"/>
    <p:sldId id="460" r:id="rId63"/>
    <p:sldId id="461" r:id="rId64"/>
    <p:sldId id="406" r:id="rId65"/>
    <p:sldId id="383" r:id="rId66"/>
    <p:sldId id="318" r:id="rId67"/>
    <p:sldId id="387" r:id="rId68"/>
    <p:sldId id="352" r:id="rId69"/>
    <p:sldId id="438" r:id="rId70"/>
    <p:sldId id="442" r:id="rId71"/>
    <p:sldId id="297" r:id="rId72"/>
    <p:sldId id="298" r:id="rId73"/>
    <p:sldId id="299" r:id="rId74"/>
    <p:sldId id="301" r:id="rId75"/>
    <p:sldId id="30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455"/>
            <p14:sldId id="290"/>
            <p14:sldId id="449"/>
            <p14:sldId id="378"/>
            <p14:sldId id="379"/>
            <p14:sldId id="450"/>
            <p14:sldId id="414"/>
            <p14:sldId id="296"/>
            <p14:sldId id="295"/>
            <p14:sldId id="360"/>
            <p14:sldId id="417"/>
            <p14:sldId id="451"/>
            <p14:sldId id="405"/>
            <p14:sldId id="429"/>
            <p14:sldId id="433"/>
            <p14:sldId id="440"/>
            <p14:sldId id="434"/>
            <p14:sldId id="452"/>
            <p14:sldId id="436"/>
            <p14:sldId id="437"/>
            <p14:sldId id="439"/>
            <p14:sldId id="453"/>
            <p14:sldId id="426"/>
            <p14:sldId id="430"/>
            <p14:sldId id="431"/>
            <p14:sldId id="435"/>
            <p14:sldId id="454"/>
            <p14:sldId id="458"/>
            <p14:sldId id="462"/>
            <p14:sldId id="456"/>
            <p14:sldId id="457"/>
            <p14:sldId id="265"/>
            <p14:sldId id="317"/>
            <p14:sldId id="432"/>
            <p14:sldId id="419"/>
            <p14:sldId id="418"/>
            <p14:sldId id="370"/>
            <p14:sldId id="420"/>
            <p14:sldId id="463"/>
            <p14:sldId id="308"/>
            <p14:sldId id="309"/>
            <p14:sldId id="421"/>
            <p14:sldId id="312"/>
            <p14:sldId id="422"/>
            <p14:sldId id="423"/>
            <p14:sldId id="372"/>
            <p14:sldId id="373"/>
            <p14:sldId id="343"/>
            <p14:sldId id="391"/>
            <p14:sldId id="353"/>
            <p14:sldId id="392"/>
            <p14:sldId id="310"/>
            <p14:sldId id="345"/>
            <p14:sldId id="374"/>
            <p14:sldId id="315"/>
            <p14:sldId id="362"/>
            <p14:sldId id="291"/>
            <p14:sldId id="459"/>
            <p14:sldId id="460"/>
            <p14:sldId id="461"/>
            <p14:sldId id="406"/>
            <p14:sldId id="383"/>
            <p14:sldId id="318"/>
            <p14:sldId id="387"/>
            <p14:sldId id="352"/>
            <p14:sldId id="438"/>
            <p14:sldId id="442"/>
            <p14:sldId id="297"/>
            <p14:sldId id="298"/>
            <p14:sldId id="299"/>
            <p14:sldId id="301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9EA8B7"/>
    <a:srgbClr val="EEEFF1"/>
    <a:srgbClr val="E3FDEB"/>
    <a:srgbClr val="FFFFFF"/>
    <a:srgbClr val="F4FEF7"/>
    <a:srgbClr val="BAE6FD"/>
    <a:srgbClr val="E8F7FE"/>
    <a:srgbClr val="0D9589"/>
    <a:srgbClr val="3C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6E9DC-44A8-4696-B17A-90CE2CB6FD01}" v="7" dt="2026-07-27T13:33:26.574"/>
  </p1510:revLst>
</p1510:revInfo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162" autoAdjust="0"/>
  </p:normalViewPr>
  <p:slideViewPr>
    <p:cSldViewPr snapToGrid="0">
      <p:cViewPr varScale="1">
        <p:scale>
          <a:sx n="101" d="100"/>
          <a:sy n="101" d="100"/>
        </p:scale>
        <p:origin x="115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 (/100)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Issues only</c:v>
                </c:pt>
                <c:pt idx="1">
                  <c:v>+ System prompt</c:v>
                </c:pt>
                <c:pt idx="2">
                  <c:v>+ Hybrid search</c:v>
                </c:pt>
                <c:pt idx="3">
                  <c:v>+ Diag. Cards + Resolver</c:v>
                </c:pt>
                <c:pt idx="4">
                  <c:v>Real cases (STCommunity)</c:v>
                </c:pt>
                <c:pt idx="5">
                  <c:v>Multi-series (5, 52Q)</c:v>
                </c:pt>
                <c:pt idx="6">
                  <c:v>All series S0 Balanced</c:v>
                </c:pt>
                <c:pt idx="7">
                  <c:v>All series S1 Recall+</c:v>
                </c:pt>
                <c:pt idx="8">
                  <c:v> + System prompt &amp; tool description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</c:v>
                </c:pt>
                <c:pt idx="1">
                  <c:v>57</c:v>
                </c:pt>
                <c:pt idx="2">
                  <c:v>61</c:v>
                </c:pt>
                <c:pt idx="3">
                  <c:v>94</c:v>
                </c:pt>
                <c:pt idx="4">
                  <c:v>88</c:v>
                </c:pt>
                <c:pt idx="5">
                  <c:v>54</c:v>
                </c:pt>
                <c:pt idx="6">
                  <c:v>65</c:v>
                </c:pt>
                <c:pt idx="7">
                  <c:v>66</c:v>
                </c:pt>
                <c:pt idx="8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C-424D-93F0-33FB585853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9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Index</c:v>
                </c:pt>
              </c:strCache>
            </c:strRef>
          </c:tx>
          <c:spPr>
            <a:solidFill>
              <a:srgbClr val="1B2A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2A3B"/>
                    </a:solidFill>
                    <a:latin typeface="Arial"/>
                  </a:defRPr>
                </a:pPr>
                <a:endParaRPr lang="fr-T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S0 Current</c:v>
                </c:pt>
                <c:pt idx="1">
                  <c:v>S1 Recall+</c:v>
                </c:pt>
                <c:pt idx="2">
                  <c:v>S2 Precision+</c:v>
                </c:pt>
                <c:pt idx="3">
                  <c:v>S3 Sem-heavy</c:v>
                </c:pt>
                <c:pt idx="4">
                  <c:v>S4 FT-heavy</c:v>
                </c:pt>
                <c:pt idx="5">
                  <c:v>S5 Sem-only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66</c:v>
                </c:pt>
                <c:pt idx="2">
                  <c:v>63</c:v>
                </c:pt>
                <c:pt idx="3">
                  <c:v>51</c:v>
                </c:pt>
                <c:pt idx="4">
                  <c:v>47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A-4567-A246-482D0C44AB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gharbiab/AppData/Local/Programs/Microsoft%20VS%20Code/5264f2156c/resources/app/out/vs/code/electron-browser/workbench/workbench.html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4" Type="http://schemas.openxmlformats.org/officeDocument/2006/relationships/hyperlink" Target="vscode-file://vscode-app/c:/Users/gharbiab/AppData/Local/Programs/Microsoft%20VS%20Code/5264f2156c/resources/app/out/vs/code/electron-browser/workbench/workbench.html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48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D018-F24D-6FCB-66CB-1E079216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013B-ADAF-DD9F-458F-2C2A281C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DC8EB-E7E9-FD7D-B219-BB1E53E1E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A827A-F966-CA63-5D9D-E21160343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4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DCB8-DBFA-7794-0ACB-0A8E243F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F6262-67DB-5D27-F2CF-ED56E6FCB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679CC-A181-2AE6-B592-2F843377E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A6E6D-1F21-75F6-C791-344484918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7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A8B9-4149-2406-297E-D4F0A3FB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8D4E-845A-5E2B-D6E0-014B7A5D6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87FFE-585B-38EF-49D0-5B8D7548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15FD-3DC5-D91B-66E1-448C561DA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56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FA0-FC4A-D81E-4A89-99DCCFD3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AD78-C918-0304-7C4D-44FC1BFB5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7E2C-DE3E-E9E9-CE9A-5F518589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9F3C-2020-2CE9-B58C-14986290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6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0D4-396A-427E-7F35-12DF9C5E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50D5-3758-3ABB-EA7A-B6DDA59E1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8FF0F-1966-46E0-EE58-3BBF2CC0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AAC08-0D2A-5BFD-A3A9-458589189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07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0D71-61CE-A9EC-F2C0-A54B55F9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790FB-0E46-8338-A2BD-DE6506813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1943C-289F-9A7E-BE44-1A2F24A58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F0614-5DCE-F8D9-BA69-5E419D318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13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9706-3BBD-A020-F54C-44624FBC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981C6-581A-725A-D499-86C895B3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465CC-A583-2DE9-0B81-98AF37CAF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5DB16-B487-8142-CA27-F590F3E8E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16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5959-EA85-9F06-D7F2-0EEF0F13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C6300-0502-8547-2397-D422819C9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3DB76-69C5-5677-5407-BC681BE74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8563B-396F-05A9-3F45-D1DA416C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33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B818-4CF0-248C-ADE3-6E41A729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C51C-76AE-1E95-867B-9E7371527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99ABC-88A7-0842-3C4B-C00A1F9E9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10533-CCD8-9FD8-C013-DB33309A7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FDC4-13A5-BBDE-B6FF-E138BB49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6048-DBB5-26CF-1326-2CC25D838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0399F-E98D-919C-17B3-793FB84E4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023B-FAAD-08B3-0726-FAF2D73B8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73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FE68-E48C-24F3-C714-983F1A34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91327-64B3-A893-1847-8B84E5F1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21A59-E02F-73DF-51DB-284C7DDDD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074A-263B-E45D-DAFD-628847F5E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61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92AA-EBD1-D672-0F28-3E96FAAF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8D607-6790-76C6-B439-7B8A9765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069F9-6228-0AC7-5CD5-83B6262CB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3F40F-1397-9D0F-03E9-D4D0122D8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4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2694-DD37-9EFD-9282-6E7F7148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494A-2B07-8FE5-C280-84903A5CE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642C4-6090-2C26-CED6-B4273E10E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4DCF-DA85-ACE1-F81C-407E87C85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40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1E13-7DDA-6D94-B886-FB8FA734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CB6EC-EC21-8B17-C90E-37D9EBE8A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AE803-B949-3E26-B2A6-9E9905D1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D274A-268D-6082-A890-74071375C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85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1112-DE4B-A642-CEC5-3F9B324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CBE3B-01BA-870A-6FD8-85CD2DDAD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29465-B873-7F07-A54C-8798ADC1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DBFD-BFE6-051A-3AC6-7D1E24736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7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BA28-D3FA-E40D-53E0-B6C133BE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4C906-CD54-34A7-B485-0938DA873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0B4E5-8D88-8AEF-39EE-50CA8AF5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321C0-A5F4-2F90-168B-302AE8AC6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7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010B-7BF9-1F00-117F-042EDB2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C9B7D-8981-A4A8-C873-712B0FDE2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640B3-B420-24B4-173E-B944B6077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BB1F8-2741-721F-2C0F-95B13726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03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5AD0-5DA3-0A64-6001-FF316218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18318-27C4-D3D6-97E7-BDD1C1AE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08BE9-1DBC-5D3B-C601-8D936CF5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E4D08-E7D1-D97C-E370-66796D67E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70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2C3E7-FF3D-C79F-1479-9968B31E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E5D3D-FFDF-B364-B18A-871DB0936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63EB8-2586-8867-9F1D-BA127F268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3B4DE-6840-CDD4-551E-FE9E3B441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74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8FE7-98D7-CDA7-B154-72608541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E248C-CB7E-0A30-A985-7A351A263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4CCB8-D706-4EF1-C79D-744BCBE5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A8DC-6093-5EB3-EEC8-54FCFC89F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64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AE4F-DEE1-DF0C-0DB2-1531DC52D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19259-3DBA-5890-3316-FCE62650E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7F584-E34F-7826-BBB8-F391CDCA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804DF-C2F7-025B-47D8-11A3A2215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83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6A5C-0B00-D3AC-BDF5-1F8D1B7E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84976-9BC3-03F6-4589-5D8EE2825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2E5B3-6580-368B-9E7B-D80E4F557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1EFF8-52A3-0ADC-EB5C-3D9B5C01C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8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61E7-87D7-8E9C-66A6-EEB7EAC9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A271D-BE55-DCB5-4396-355EE5BDF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3C133-A109-F1C3-B16A-E60C4CD0D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2E1A-408B-36A2-2F1C-B26C92599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89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740B-7EB8-A116-F132-EC6E4871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20EBF-E514-B357-F86B-9BCB4DDF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C3E5C-671E-3709-8CCC-8F415ACD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BB081-91A5-7FB7-CE51-439C66832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14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BCD63-8E8B-1617-D441-AE0EC61E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405BE-830B-D9E9-7B11-8631091CA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90949-71FA-3FB4-D520-A216AECA5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A1EF4-5758-BB18-EA61-1A98A9059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88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1BCD-6018-4779-8D25-81CDADBF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6F1AA-4385-C3DE-6D35-A8595976D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7B6A-E050-D0C9-BDA8-01F8873B5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3636-FC6E-FED1-DA91-DCB4EA82A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3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E6A4-3BBE-4E95-83F6-33EFB3C1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FFF3-9928-FCC1-3B6C-4B1F7FCFC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4E36D-6525-DB73-198F-9DA82B25F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2B16-3C87-D40F-4747-7A5DEE4D6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9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937B-E786-41FF-D2B5-057A77A8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9FAA-886A-274A-CE23-1531EDB4A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93E2E-7091-4DB7-8711-D8A1B0E8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73ECB-97C1-9B02-6674-5BCF7A9BE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604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E3C0-203C-C63D-2976-1C0F0CFE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122CE-E01D-2549-F855-508FE7EA3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42F03-0E68-BBF1-B149-B67DF25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F7177-43E3-4D48-BEB2-600E7BA99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424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7778E-3FB6-0E82-B3A1-44D4D8B7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A168E-762B-ADBD-E4A8-446786730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357CD83-418F-00F9-9FF7-E9073A3E27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 Before et After dans V3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Before = longueur du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texte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d’entrée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juste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avant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nettoyage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V3,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original_text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clean_files_v3.py:399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= longueur du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texte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après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V3,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cleaned_text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clean_files_v3.py:400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deux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valeurs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sauvegardées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dans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chaque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record JSON.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Preuve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sur un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vrai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fichier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.h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réel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Include/stm32f301x8.h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clean_files_cmsis_device_f3_v3.json:100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Valeurs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stockées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original_length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698576 et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cleaned_length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27567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clean_files_cmsis_device_f3_v3.json:113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exacte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réduction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Réduction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(%)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𝐵𝑒𝑓𝑜𝑟𝑒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𝐴𝑓𝑡𝑒𝑟</m:t>
                        </m:r>
                      </m:num>
                      <m:den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𝐵𝑒𝑓𝑜𝑟𝑒</m:t>
                        </m:r>
                      </m:den>
                    </m:f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×100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698576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−27567</m:t>
                        </m:r>
                      </m:num>
                      <m:den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698576</m:t>
                        </m:r>
                      </m:den>
                    </m:f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×100=96.05%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 slide,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l’affiche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souvent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arrondi: -96%.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1,458,301 -&gt; 52,140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1458301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−52140</m:t>
                        </m:r>
                      </m:num>
                      <m:den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1458301</m:t>
                        </m:r>
                      </m:den>
                    </m:f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×100=96.4%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Donc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-96.4%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directement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357CD83-418F-00F9-9FF7-E9073A3E27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 Before et After dans V3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Before = longueur du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texte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d’entrée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juste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avant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nettoyage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V3,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original_text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/>
                  </a:rPr>
                  <a:t>clean_files_v3.py:399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= longueur du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texte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après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V3,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cleaned_text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/>
                  </a:rPr>
                  <a:t>clean_files_v3.py:400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deux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valeurs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sauvegardées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dans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chaque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record JSON.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Preuve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sur un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vrai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fichier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.h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réel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Include/stm32f301x8.h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/>
                  </a:rPr>
                  <a:t>clean_files_cmsis_device_f3_v3.json:100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Valeurs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stockées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original_length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698576 et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cleaned_length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27567 dans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/>
                  </a:rPr>
                  <a:t>clean_files_cmsis_device_f3_v3.json:113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exacte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réduction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Réduction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(%) =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(𝐵𝑒𝑓𝑜𝑟𝑒−𝐴𝑓𝑡𝑒𝑟)/𝐵𝑒𝑓𝑜𝑟𝑒×100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(698576−27567)/698576×100=96.05%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 slide,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l’affiche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souvent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arrondi: -96%.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1,458,301 -&gt; 52,140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formule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(1458301−52140)/1458301×100=96.4%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Donc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-96.4%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vient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directement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7586D-D957-9912-5FC3-CB425751E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931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6B6C-406F-F0B3-4DA4-05856FC9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0766A-C5A5-7374-D78D-1548F2D3F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65547-5C79-32E5-6DFC-74BAFC116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6AC35-51D8-311D-368C-CB7C2589D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714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4944-BB52-7709-C4E0-0E049605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01F56-97F2-401A-45A6-54BAA4B0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45ADC-9305-6293-FC3D-A81016653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536EB-A409-2091-0D5C-94F2C8841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988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C2BF-1420-F42F-AD93-45CEA135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3957A-E207-9D84-0417-1B0B62BFC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9564-EFE0-A4A4-E2AC-2BD9099F9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405CC-5490-ACB5-5D77-50EF70461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166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5D18-6EB2-B8ED-8F9D-21663244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A0C2F-5F95-8A2D-6562-20D1A409A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92CFB-0034-6CDF-5669-0ED54B123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F6A5-E497-AD9B-2AC9-4C54EFE14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969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3291-9FFA-0F7E-F268-C0BC1CFB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55EC2-CA0B-EA4E-1822-561AB619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DEEE-D7C6-3A72-6CA6-E41E22838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C93B6-035A-3928-DA8F-8C46D6CCB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921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query_aliases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mieux retrouver,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possible_workarounds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agir tout de suite,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plausible_diagnosis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raisonner,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debug_checks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pour vérifier méthodiquement.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0CC6-8CDA-82BA-1367-B7C42740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96352-A5F1-5CF0-2D00-CF39BB0A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FC0A4-24E4-9802-766C-9FDEC15B9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BEB9-DE33-8F32-11C2-3FF093CD1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218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0E27-3119-FF90-E764-2159D102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B3F0-562E-1D0E-9DAF-6C02D1D0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0F920-0076-A864-9140-27FDDA47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EFA3-4BA0-6871-7ED1-60B5604DA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78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BC76-B53B-2A98-78F8-96FDF0FE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11088-EE00-FA89-F407-E8D3E4A2E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B2CA6-6AC3-1FA1-4D3C-2CC01A222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A033-D640-BAA2-AFF2-373735450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012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D1BF-72DA-D907-23E7-DBB57AB4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862A-5FF5-A1A5-139A-D53EA375F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5EE1F-E36D-AB09-7AF5-4A48E86B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6CF66-43C1-5F82-1398-055920192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52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2500E-C8FA-DF65-6B2C-AC9052AF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E3D07-9931-7506-58D7-A115048FE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CD709-6388-2CAF-60BD-22979BA72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7C665-D009-4437-D391-CB2980BA0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009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ED9B-0487-6319-005F-BCDF084C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FB48-766C-DF51-9957-DB3551D0A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F5C5-DA36-AE08-2A34-4996F5409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Issues JSON</a:t>
            </a:r>
            <a:br>
              <a:rPr lang="fr-FR" dirty="0"/>
            </a:br>
            <a:r>
              <a:rPr lang="fr-FR" dirty="0" err="1"/>
              <a:t>Structured</a:t>
            </a:r>
            <a:r>
              <a:rPr lang="fr-FR" dirty="0"/>
              <a:t> bug </a:t>
            </a:r>
            <a:r>
              <a:rPr lang="fr-FR" dirty="0" err="1"/>
              <a:t>cards</a:t>
            </a:r>
            <a:r>
              <a:rPr lang="fr-FR" dirty="0"/>
              <a:t> (</a:t>
            </a:r>
            <a:r>
              <a:rPr lang="fr-FR" dirty="0" err="1"/>
              <a:t>Problem</a:t>
            </a:r>
            <a:r>
              <a:rPr lang="fr-FR" dirty="0"/>
              <a:t> → Root cause → Fix)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TN" dirty="0"/>
              <a:t> </a:t>
            </a:r>
            <a:r>
              <a:rPr lang="fr-FR" b="1" dirty="0"/>
              <a:t>Files JSON</a:t>
            </a:r>
            <a:br>
              <a:rPr lang="fr-FR" dirty="0"/>
            </a:br>
            <a:r>
              <a:rPr lang="fr-FR" dirty="0"/>
              <a:t>Source code + documentation </a:t>
            </a:r>
            <a:r>
              <a:rPr lang="fr-FR" dirty="0" err="1"/>
              <a:t>cards</a:t>
            </a:r>
            <a:r>
              <a:rPr lang="fr-FR" dirty="0"/>
              <a:t> (HAL/LL/BSP, release notes, README,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Resolver</a:t>
            </a:r>
            <a:r>
              <a:rPr lang="fr-FR" b="1" dirty="0"/>
              <a:t> Cases JSON</a:t>
            </a:r>
            <a:br>
              <a:rPr lang="fr-FR" dirty="0"/>
            </a:br>
            <a:r>
              <a:rPr lang="fr-FR" dirty="0"/>
              <a:t>Issue ↔ PR ↔ Commit </a:t>
            </a:r>
            <a:r>
              <a:rPr lang="fr-FR" dirty="0" err="1"/>
              <a:t>linking</a:t>
            </a:r>
            <a:r>
              <a:rPr lang="fr-FR" dirty="0"/>
              <a:t> (fix </a:t>
            </a:r>
            <a:r>
              <a:rPr lang="fr-FR" dirty="0" err="1"/>
              <a:t>evidence</a:t>
            </a:r>
            <a:r>
              <a:rPr lang="fr-FR" dirty="0"/>
              <a:t> + confidence)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Diagnostic </a:t>
            </a:r>
            <a:r>
              <a:rPr lang="fr-FR" b="1" dirty="0" err="1"/>
              <a:t>Cards</a:t>
            </a:r>
            <a:r>
              <a:rPr lang="fr-FR" b="1" dirty="0"/>
              <a:t> JSON</a:t>
            </a:r>
            <a:br>
              <a:rPr lang="fr-FR" dirty="0"/>
            </a:br>
            <a:r>
              <a:rPr lang="fr-FR" dirty="0"/>
              <a:t>Troubleshooting guidance (checks, causes, </a:t>
            </a:r>
            <a:r>
              <a:rPr lang="fr-FR" dirty="0" err="1"/>
              <a:t>workarounds</a:t>
            </a:r>
            <a:r>
              <a:rPr lang="fr-FR" dirty="0"/>
              <a:t>, </a:t>
            </a:r>
            <a:r>
              <a:rPr lang="fr-FR" dirty="0" err="1"/>
              <a:t>constraints</a:t>
            </a:r>
            <a:r>
              <a:rPr lang="fr-FR" dirty="0"/>
              <a:t>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6405F-B801-8101-A4D6-A8D8A63D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31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BB21-49BF-A36B-96D4-957D7BBA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8B944-AFE3-64A7-4481-82FB0449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D18B-85FF-32CB-8861-70132DF1D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DA3C9-A7B3-C942-A173-5BF7B14CE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03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2CFA-AF13-2647-7186-E5FD079B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F2772-314E-2DD2-334A-546EF3382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E6AF6-26C3-1C8E-2CA9-9156F985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CC0A5-41B7-FD12-E142-F63E58932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747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D45A-85A9-9CDD-1D57-F2B2E148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AF679-927A-264F-CB2F-8D056A509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5F706-AD79-F6B2-FA8C-F729918C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16718-484A-1F07-72C0-D5D747B17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904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79F8-5C81-4686-9B96-1B1967411D0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2526B-D870-4079-B65F-8D7D425250CD}" type="datetime1">
              <a:rPr lang="en-US" smtClean="0"/>
              <a:t>8/4/2026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4C63-49FF-42C7-B5D1-EBBDAB6CD1E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83B64-271E-4844-A132-A95A5700260D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0316B-DEBB-43F6-80BF-4DF46A17F596}" type="datetime1">
              <a:rPr lang="en-US" smtClean="0"/>
              <a:t>8/4/2026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1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797107F4-97C6-4F3A-BF20-3F985D21AFA0}" type="datetime1">
              <a:rPr lang="en-US" smtClean="0"/>
              <a:t>8/4/2026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  <p:sldLayoutId id="2147483672" r:id="rId10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6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11" Type="http://schemas.openxmlformats.org/officeDocument/2006/relationships/image" Target="../media/image29.svg"/><Relationship Id="rId5" Type="http://schemas.openxmlformats.org/officeDocument/2006/relationships/image" Target="../media/image24.png"/><Relationship Id="rId10" Type="http://schemas.openxmlformats.org/officeDocument/2006/relationships/image" Target="../media/image28.svg"/><Relationship Id="rId4" Type="http://schemas.openxmlformats.org/officeDocument/2006/relationships/image" Target="../media/image23.sv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3.svg"/><Relationship Id="rId4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5.pn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3.svg"/><Relationship Id="rId4" Type="http://schemas.openxmlformats.org/officeDocument/2006/relationships/image" Target="../media/image17.png"/><Relationship Id="rId9" Type="http://schemas.openxmlformats.org/officeDocument/2006/relationships/image" Target="../media/image23.svg"/><Relationship Id="rId1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3.svg"/><Relationship Id="rId4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2.sv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3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3.svg"/><Relationship Id="rId4" Type="http://schemas.openxmlformats.org/officeDocument/2006/relationships/image" Target="../media/image19.png"/><Relationship Id="rId9" Type="http://schemas.openxmlformats.org/officeDocument/2006/relationships/image" Target="../media/image26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9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3.svg"/><Relationship Id="rId4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48.sv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7">
            <a:extLst>
              <a:ext uri="{FF2B5EF4-FFF2-40B4-BE49-F238E27FC236}">
                <a16:creationId xmlns:a16="http://schemas.microsoft.com/office/drawing/2014/main" id="{A3860AAF-CB23-ECD8-D2C6-F723195CF9A6}"/>
              </a:ext>
            </a:extLst>
          </p:cNvPr>
          <p:cNvSpPr txBox="1"/>
          <p:nvPr/>
        </p:nvSpPr>
        <p:spPr>
          <a:xfrm>
            <a:off x="803641" y="2435084"/>
            <a:ext cx="110272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Actionable Knowledge: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Designing, Automating, and Industrializing an Intelligent Data Preprocessing Pipeline for STM32Cube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6A391-DB47-FBCB-1AEF-6831A5EF041A}"/>
              </a:ext>
            </a:extLst>
          </p:cNvPr>
          <p:cNvSpPr txBox="1"/>
          <p:nvPr/>
        </p:nvSpPr>
        <p:spPr>
          <a:xfrm>
            <a:off x="2076450" y="251818"/>
            <a:ext cx="8805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of studies project presentation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Abir GHARBI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/>
        </p:nvSpPr>
        <p:spPr bwMode="auto">
          <a:xfrm>
            <a:off x="803641" y="4408722"/>
            <a:ext cx="10318709" cy="162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000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1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2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ctr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ctr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43200" indent="0" algn="ct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4290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indent="0" algn="ctr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r>
              <a:rPr lang="en-US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LABBENE &amp; Omar SAKET</a:t>
            </a:r>
          </a:p>
          <a:p>
            <a:pPr algn="ctr"/>
            <a:endParaRPr lang="en-US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PFE - 2026 | STMicroelectronics Tunis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318839-2EEC-D851-5440-5E45445ACBE9}"/>
              </a:ext>
            </a:extLst>
          </p:cNvPr>
          <p:cNvCxnSpPr>
            <a:cxnSpLocks/>
          </p:cNvCxnSpPr>
          <p:nvPr/>
        </p:nvCxnSpPr>
        <p:spPr>
          <a:xfrm>
            <a:off x="1510939" y="2230798"/>
            <a:ext cx="9691365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3CFB2B-4F77-BD57-F84E-C38439F8096C}"/>
              </a:ext>
            </a:extLst>
          </p:cNvPr>
          <p:cNvCxnSpPr>
            <a:cxnSpLocks/>
          </p:cNvCxnSpPr>
          <p:nvPr/>
        </p:nvCxnSpPr>
        <p:spPr>
          <a:xfrm>
            <a:off x="1510939" y="2383198"/>
            <a:ext cx="9691365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6D9E22F-8B8A-CC90-FFC7-16DB681D5259}"/>
              </a:ext>
            </a:extLst>
          </p:cNvPr>
          <p:cNvCxnSpPr>
            <a:cxnSpLocks/>
          </p:cNvCxnSpPr>
          <p:nvPr/>
        </p:nvCxnSpPr>
        <p:spPr>
          <a:xfrm>
            <a:off x="1492616" y="3962249"/>
            <a:ext cx="9709688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D1B8B2-7509-5634-6A4E-77AEAA0D50E2}"/>
              </a:ext>
            </a:extLst>
          </p:cNvPr>
          <p:cNvCxnSpPr>
            <a:cxnSpLocks/>
          </p:cNvCxnSpPr>
          <p:nvPr/>
        </p:nvCxnSpPr>
        <p:spPr>
          <a:xfrm>
            <a:off x="1492616" y="4114649"/>
            <a:ext cx="9709688" cy="0"/>
          </a:xfrm>
          <a:prstGeom prst="line">
            <a:avLst/>
          </a:prstGeom>
          <a:ln w="22225">
            <a:solidFill>
              <a:schemeClr val="accent4">
                <a:lumMod val="60000"/>
                <a:lumOff val="4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CCD1309-CDB3-00FF-5C6E-523902D00451}"/>
              </a:ext>
            </a:extLst>
          </p:cNvPr>
          <p:cNvSpPr/>
          <p:nvPr/>
        </p:nvSpPr>
        <p:spPr>
          <a:xfrm>
            <a:off x="1866900" y="5457165"/>
            <a:ext cx="723900" cy="581025"/>
          </a:xfrm>
          <a:custGeom>
            <a:avLst/>
            <a:gdLst>
              <a:gd name="connsiteX0" fmla="*/ 0 w 723900"/>
              <a:gd name="connsiteY0" fmla="*/ 0 h 581025"/>
              <a:gd name="connsiteX1" fmla="*/ 723900 w 723900"/>
              <a:gd name="connsiteY1" fmla="*/ 581025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3900" h="581025">
                <a:moveTo>
                  <a:pt x="0" y="0"/>
                </a:moveTo>
                <a:cubicBezTo>
                  <a:pt x="280194" y="248444"/>
                  <a:pt x="560388" y="496888"/>
                  <a:pt x="723900" y="581025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SAMM — INSTITUT SUPÉRIEUR DES ARTS MULTIMÉDIAS DE LA MANOUBA - Cinema ...">
            <a:extLst>
              <a:ext uri="{FF2B5EF4-FFF2-40B4-BE49-F238E27FC236}">
                <a16:creationId xmlns:a16="http://schemas.microsoft.com/office/drawing/2014/main" id="{D3F8EF46-F6C2-673A-7CDD-801F5A4B2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47" y="305087"/>
            <a:ext cx="1545553" cy="119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73DFB-82A5-4CE2-15D1-7DD03AAB5FA9}"/>
              </a:ext>
            </a:extLst>
          </p:cNvPr>
          <p:cNvSpPr txBox="1"/>
          <p:nvPr/>
        </p:nvSpPr>
        <p:spPr>
          <a:xfrm>
            <a:off x="803641" y="6245136"/>
            <a:ext cx="670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solidFill>
                  <a:srgbClr val="3CB4E6"/>
                </a:solidFill>
              </a:rPr>
              <a:t>STM32 MCU Embedded Software Support &amp; Maintenance Team</a:t>
            </a:r>
          </a:p>
        </p:txBody>
      </p:sp>
    </p:spTree>
    <p:extLst>
      <p:ext uri="{BB962C8B-B14F-4D97-AF65-F5344CB8AC3E}">
        <p14:creationId xmlns:p14="http://schemas.microsoft.com/office/powerpoint/2010/main" val="405064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10106066" y="29044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29754C-EDE4-7F3B-B3DA-26B89D65D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3AA344E1-2C54-40DE-B7CB-DD9610C017EC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677CEC2D-57AE-CFF1-D835-F68B236C06A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7F864C77-0E58-3AD8-C1AC-1E558EA4C28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73D6858E-9143-B918-D7C0-4D54DAECBE09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Ongoing work &amp; perspectives </a:t>
            </a:r>
            <a:endParaRPr lang="en-US" sz="1200" noProof="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15BDA7F0-8F6B-EF24-5D8D-ABD7E420551F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C114-8FAE-C844-50C5-7E53092F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B789CEDA-0C03-B557-1EE1-AB917763A216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300EA47F-FD78-3D3B-B866-B3809D028FA0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28FDE664-1B66-F590-80EC-5D9B85ED4363}"/>
              </a:ext>
            </a:extLst>
          </p:cNvPr>
          <p:cNvSpPr/>
          <p:nvPr/>
        </p:nvSpPr>
        <p:spPr>
          <a:xfrm>
            <a:off x="9921241" y="37567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2A212D2B-F59F-C13F-D05A-7F1EA060D176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73AA3C61-E27F-B0E4-509E-62ACD52E0C82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EABE6289-E4FE-CD6F-401E-E6EACA933846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8AD7452C-841D-650D-054E-775B13F726C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2CE4321-DD32-4333-19A3-A8FED479687A}"/>
              </a:ext>
            </a:extLst>
          </p:cNvPr>
          <p:cNvSpPr/>
          <p:nvPr/>
        </p:nvSpPr>
        <p:spPr>
          <a:xfrm>
            <a:off x="2269264" y="2903907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1E438299-08C2-041D-9FB5-5268B56A673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>
              <a:solidFill>
                <a:srgbClr val="9EA8B7"/>
              </a:solidFill>
            </a:endParaRPr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91F108B-FC53-B916-8E57-AC912829D5D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4D773701-2632-2DEB-6C10-E9B7F37E773A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A2F42453-6D32-4FEC-5096-531B1F052DCE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D7CA3BAD-0F06-12A4-0F47-F5476D650349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D5E79307-36D7-1143-BD4F-EC4C2B58C3D5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902C08C1-7D4E-B9FD-5D77-19DD8D613414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3439187-D977-08A2-970C-40D2901B471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A65435EC-E40B-A919-A253-A67F4CEC3B9B}"/>
              </a:ext>
            </a:extLst>
          </p:cNvPr>
          <p:cNvSpPr/>
          <p:nvPr/>
        </p:nvSpPr>
        <p:spPr>
          <a:xfrm>
            <a:off x="2247499" y="3825353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18F49EC-DF1B-46B3-FD07-889CA9E2C5DF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5139AA2-2287-32DE-1F5D-D96AF8F9E1B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26D04FD9-238A-49E5-1B64-8DA6B8DD185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6E9EAA0F-F74A-4D46-6C0D-11EBC0C432E4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DBB3F89B-5D64-4157-9AE0-55776CE7409C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>
              <a:solidFill>
                <a:srgbClr val="9EA8B7"/>
              </a:solidFill>
            </a:endParaRPr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C2C44BD6-3FD4-F894-2A32-E4918EF781F3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AB0162C5-2D05-AB86-C35C-E5391FCC43E3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BDBE8F73-318C-0A51-32FE-CA6FB609E7C0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30C8D27-A763-2F34-47A6-77F46CC06CF1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522FEDE2-A116-22CE-181B-7ECDD1DA3AB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7613F121-5C5F-E151-6AAA-4607D537A36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CA13104D-5E48-34D9-ECAA-893BF453B48A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7C32AD8-7B1F-97CE-F2B5-903D50A5BCE7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4689AA96-3D77-CA52-6BAD-DF9E0C623D8A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50D71037-1ECF-A091-313E-1958003DB2C3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863C3859-86AF-0E68-B6F8-3DA5F42EAA7A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645BF0E-EF9F-EF71-08D9-9F9BDF758051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4CB97-26F6-FD18-D7F5-DC1ECC50C5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A560FA9D-CD8F-83EF-6C07-FBE70DCD9C9A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0791C212-89AD-F6A8-AE90-2C6F4F5A7BF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4F028650-21E6-CDF2-6EE9-BD3648BA3A2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8AA1BD1-D467-44FC-32C2-73F48FFD9D79}"/>
              </a:ext>
            </a:extLst>
          </p:cNvPr>
          <p:cNvSpPr/>
          <p:nvPr/>
        </p:nvSpPr>
        <p:spPr>
          <a:xfrm>
            <a:off x="7228853" y="2883520"/>
            <a:ext cx="3611880" cy="380045"/>
          </a:xfrm>
          <a:prstGeom prst="rect">
            <a:avLst/>
          </a:prstGeom>
          <a:solidFill>
            <a:srgbClr val="EEEFF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18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4379-F99A-44B6-8DCB-74187A64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>
            <a:extLst>
              <a:ext uri="{FF2B5EF4-FFF2-40B4-BE49-F238E27FC236}">
                <a16:creationId xmlns:a16="http://schemas.microsoft.com/office/drawing/2014/main" id="{E670D360-DA12-BD4B-814E-972625DF4D1F}"/>
              </a:ext>
            </a:extLst>
          </p:cNvPr>
          <p:cNvSpPr/>
          <p:nvPr/>
        </p:nvSpPr>
        <p:spPr>
          <a:xfrm>
            <a:off x="4251960" y="159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Project context ( </a:t>
            </a:r>
            <a:r>
              <a:rPr lang="en-US" sz="2600" b="1" noProof="0" dirty="0">
                <a:solidFill>
                  <a:srgbClr val="0D9488"/>
                </a:solidFill>
              </a:rPr>
              <a:t>Problem Statement , Solution</a:t>
            </a:r>
            <a:r>
              <a:rPr lang="en-US" sz="2600" b="1" noProof="0" dirty="0">
                <a:solidFill>
                  <a:srgbClr val="1B2A3B"/>
                </a:solidFill>
              </a:rPr>
              <a:t> ) 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56359-F6A8-3E7F-948F-21330EDDA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126A32-A5A4-5491-1EC3-032117E7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14"/>
          <a:stretch>
            <a:fillRect/>
          </a:stretch>
        </p:blipFill>
        <p:spPr>
          <a:xfrm>
            <a:off x="545306" y="1665146"/>
            <a:ext cx="11101387" cy="385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3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CD0F-FFC4-3C9B-7BD8-97A2A846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AACB370-1A96-F4F7-522E-45F722DCAB65}"/>
              </a:ext>
            </a:extLst>
          </p:cNvPr>
          <p:cNvGrpSpPr/>
          <p:nvPr/>
        </p:nvGrpSpPr>
        <p:grpSpPr>
          <a:xfrm>
            <a:off x="1072005" y="1004413"/>
            <a:ext cx="9834120" cy="5355717"/>
            <a:chOff x="915258" y="773038"/>
            <a:chExt cx="9773111" cy="53482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ABD46E-3EDB-EDD7-0E7B-A0810F3B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334" b="8036"/>
            <a:stretch>
              <a:fillRect/>
            </a:stretch>
          </p:blipFill>
          <p:spPr>
            <a:xfrm>
              <a:off x="915258" y="773038"/>
              <a:ext cx="9773111" cy="5348237"/>
            </a:xfrm>
            <a:prstGeom prst="rect">
              <a:avLst/>
            </a:prstGeom>
          </p:spPr>
        </p:pic>
        <p:pic>
          <p:nvPicPr>
            <p:cNvPr id="15" name="Picture 2" descr="Github Logo - Free social media icons">
              <a:extLst>
                <a:ext uri="{FF2B5EF4-FFF2-40B4-BE49-F238E27FC236}">
                  <a16:creationId xmlns:a16="http://schemas.microsoft.com/office/drawing/2014/main" id="{99EB5BAD-26EA-C7C4-A2DB-D5EDE30156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279" y="1555372"/>
              <a:ext cx="371052" cy="371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Graphic 15" descr="Arrow circle with solid fill">
              <a:extLst>
                <a:ext uri="{FF2B5EF4-FFF2-40B4-BE49-F238E27FC236}">
                  <a16:creationId xmlns:a16="http://schemas.microsoft.com/office/drawing/2014/main" id="{51B024FE-8ADF-D4D4-5D6C-43FAA95E1E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25520" y="3429000"/>
              <a:ext cx="537611" cy="537611"/>
            </a:xfrm>
            <a:prstGeom prst="rect">
              <a:avLst/>
            </a:prstGeom>
          </p:spPr>
        </p:pic>
        <p:pic>
          <p:nvPicPr>
            <p:cNvPr id="17" name="Graphic 13" descr="Users with solid fill">
              <a:extLst>
                <a:ext uri="{FF2B5EF4-FFF2-40B4-BE49-F238E27FC236}">
                  <a16:creationId xmlns:a16="http://schemas.microsoft.com/office/drawing/2014/main" id="{0523DAF9-31F6-03AE-CC12-76A9D078C3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00155" y="2400949"/>
              <a:ext cx="304780" cy="304780"/>
            </a:xfrm>
            <a:prstGeom prst="rect">
              <a:avLst/>
            </a:prstGeom>
          </p:spPr>
        </p:pic>
      </p:grpSp>
      <p:sp>
        <p:nvSpPr>
          <p:cNvPr id="88" name="Text 0">
            <a:extLst>
              <a:ext uri="{FF2B5EF4-FFF2-40B4-BE49-F238E27FC236}">
                <a16:creationId xmlns:a16="http://schemas.microsoft.com/office/drawing/2014/main" id="{4A7BD7B0-5860-51BC-0DA1-46D330459604}"/>
              </a:ext>
            </a:extLst>
          </p:cNvPr>
          <p:cNvSpPr/>
          <p:nvPr/>
        </p:nvSpPr>
        <p:spPr>
          <a:xfrm>
            <a:off x="6827894" y="273559"/>
            <a:ext cx="5944523" cy="292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noProof="0" dirty="0">
                <a:solidFill>
                  <a:srgbClr val="1B2A3B"/>
                </a:solidFill>
              </a:rPr>
              <a:t>Project context (</a:t>
            </a:r>
            <a:r>
              <a:rPr lang="en-US" sz="2600" b="1" noProof="0" dirty="0">
                <a:solidFill>
                  <a:srgbClr val="0D9488"/>
                </a:solidFill>
              </a:rPr>
              <a:t>Ongoing Work</a:t>
            </a:r>
            <a:r>
              <a:rPr lang="en-US" sz="2600" b="1" noProof="0" dirty="0">
                <a:solidFill>
                  <a:srgbClr val="1B2A3B"/>
                </a:solidFill>
              </a:rPr>
              <a:t>) </a:t>
            </a:r>
            <a:endParaRPr lang="en-US" sz="26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59750-60BD-01F5-B78B-D89F824D53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82545" y="6360130"/>
            <a:ext cx="448220" cy="302133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538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3635-E60D-36D1-CAAB-A1C1BA1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9339575C-6173-8B04-6FE5-53E9C453714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901837CC-57AF-1F9C-CC53-D597CADA9238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08050C6C-FC6E-3A53-82BB-39F755F50EEE}"/>
              </a:ext>
            </a:extLst>
          </p:cNvPr>
          <p:cNvSpPr/>
          <p:nvPr/>
        </p:nvSpPr>
        <p:spPr>
          <a:xfrm>
            <a:off x="9785054" y="331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9FD2E521-63C3-041F-D3A0-ECD50C9F9DB8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03A47BA7-EE9A-8622-C27F-732BC8758451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E012EC61-41A7-9706-2D7F-75F4925E583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184C0AA9-3614-3985-3A5D-A014371AF27B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3648EB06-8AA7-A6DB-8579-02253F358B0D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Architecture Overview 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3F8D2F1B-A948-5E87-51C3-6095358F4991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BC4F0BCB-E367-3BB5-4112-E8C4B2CFCE26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7B374D21-82AF-6A70-4D57-0859C9DDBEFD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EA985981-994A-A614-AE56-38F629081609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4FB2CC47-1DB1-2D81-AB4C-1B7B982C30B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855FA08C-0442-9FD1-31DF-537AB8F78040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D18B45A8-0930-2843-0806-8622C5852BF9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8F7926A-35DE-D0B0-1C90-AC4E93F35390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C10D4561-D0B6-C4B6-75B3-235AD089C677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A15803F-EBB5-7FAD-F60C-848D877E87FD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B17D14BC-1FD9-E384-848B-F0EC030A0033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DE5594D8-7FCE-1FC7-07AC-00C4D5E530C6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65CCE2BA-60FB-CB1A-4DEC-6C4DFB7AB73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73C38AF0-5F95-692A-3295-B87E1DD8B4F1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4C16002A-C75B-D4B0-86A0-B8781C7BB78F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A90FB02B-BF9E-3864-C6B2-61AC992A569A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C4940300-2FD7-915C-6266-A155DA301B3B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20A7D7C2-8D57-F378-C07E-4A3092FAB3B9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153A9D4-EA86-2220-4A37-2CD1DEBE26AD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5D44F2E0-7D2B-A743-8266-DFAF2C87425E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C10586F9-190B-3005-44BA-9532CF2E50AF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570C62E-0049-7B85-5259-A9B3C8E6947B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52D8616A-733E-11AE-2808-7CD65A1F6416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445321EC-C30F-32A6-2949-AF58A95D60FF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5AA01771-6B7D-BAB0-0A33-3F0B6680A16F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C008766A-C250-02A9-D92A-5242CB5980E0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ED0B8236-BDCF-31B3-D526-500059E76496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C5919627-2333-FC66-5CA5-C18DCCD693FB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09DC8263-BEC4-4BFE-12E8-9C6DB1C3387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269C2727-4491-D0EA-6CC3-8B78FDF96C03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27A96-1DAE-360D-3D6E-B592F70A5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1FD319C0-7116-BD82-7BEF-9D99A674BBD9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2EC5B8E-F84E-81AE-7D07-B4975D34544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622EDE71-88FA-0D98-32FB-3D4661B0E73A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E1298FEF-6407-8A7E-ADAE-2C9BD7F5AB10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0AFF2DFA-660B-D61A-91F0-EBD444F67A43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46320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9D9C-6BD0-F86E-8845-FFEE4181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9963A1-8312-7FEF-FFC8-CD27CE291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02" y="793476"/>
            <a:ext cx="11751055" cy="5925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017E58-D494-E4A9-1A07-F79C2A5B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2" y="-303652"/>
            <a:ext cx="11609159" cy="1247050"/>
          </a:xfrm>
        </p:spPr>
        <p:txBody>
          <a:bodyPr/>
          <a:lstStyle/>
          <a:p>
            <a:r>
              <a:rPr lang="en-US" sz="1800" b="1" dirty="0">
                <a:solidFill>
                  <a:srgbClr val="1B2A3B"/>
                </a:solidFill>
              </a:rPr>
              <a:t>Architecture</a:t>
            </a:r>
            <a:endParaRPr lang="en-US" sz="1800" b="1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682B64A3-9A9C-4F0A-9C3A-60D783FFBA4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C4D1A09-9A39-7810-FE43-EAF70BD6D452}"/>
              </a:ext>
            </a:extLst>
          </p:cNvPr>
          <p:cNvSpPr/>
          <p:nvPr/>
        </p:nvSpPr>
        <p:spPr>
          <a:xfrm>
            <a:off x="3494961" y="68679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54E3B-4A8D-D322-C184-D6360F7E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144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Data Sources Used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572992" y="69512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770885" y="190850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770885" y="190850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209797" y="197251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898901" y="2464442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User-reported bugs: title, body, comments, labels, state (open/resolved), </a:t>
            </a:r>
            <a:r>
              <a:rPr lang="en-US" sz="1050" noProof="0" dirty="0" err="1">
                <a:solidFill>
                  <a:srgbClr val="1B2A3B"/>
                </a:solidFill>
              </a:rPr>
              <a:t>github_url</a:t>
            </a:r>
            <a:r>
              <a:rPr lang="en-US" sz="1050" noProof="0" dirty="0">
                <a:solidFill>
                  <a:srgbClr val="1B2A3B"/>
                </a:solidFill>
              </a:rPr>
              <a:t>, timestamps </a:t>
            </a:r>
            <a:endParaRPr lang="en-US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880613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397749" y="1925676"/>
            <a:ext cx="4027937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397749" y="1925677"/>
            <a:ext cx="4027937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7" y="1989685"/>
            <a:ext cx="250627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836661" y="1989685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504995" y="3577563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 and extensible to other series</a:t>
            </a:r>
            <a:endParaRPr lang="en-US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770885" y="4476122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770885" y="4476122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613" y="4540130"/>
            <a:ext cx="20587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209797" y="4540130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PRs &amp; Commits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509077" y="4576184"/>
            <a:ext cx="13511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chemeClr val="bg1"/>
                </a:solidFill>
              </a:rPr>
              <a:t>Resolver Cases</a:t>
            </a:r>
          </a:p>
          <a:p>
            <a:pPr marL="0" indent="0" algn="ctr">
              <a:buNone/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898901" y="4915034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When a bug is resolved, we trace the PR and commit messages that provide the confirmed fix</a:t>
            </a:r>
            <a:endParaRPr lang="en-US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898901" y="5829434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6397749" y="4448690"/>
            <a:ext cx="4027937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6397749" y="4448690"/>
            <a:ext cx="4027937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477" y="4512698"/>
            <a:ext cx="232725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6836661" y="4512698"/>
            <a:ext cx="250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Diagnostic cards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8521333" y="4476122"/>
            <a:ext cx="194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FFFFFF"/>
                </a:solidFill>
              </a:rPr>
              <a:t>Intelligent synthesis layer </a:t>
            </a:r>
            <a:endParaRPr lang="en-US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6525765" y="4887602"/>
            <a:ext cx="3777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Structured cards: Problem → Evidence → Solution. Built automatically from resolved issues</a:t>
            </a:r>
            <a:endParaRPr lang="en-US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6525765" y="5802002"/>
            <a:ext cx="3777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noProof="0" dirty="0">
                <a:solidFill>
                  <a:srgbClr val="64748B"/>
                </a:solidFill>
              </a:rPr>
              <a:t>Source: Generated by pipeline</a:t>
            </a:r>
            <a:endParaRPr lang="en-US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1735" y="1965359"/>
            <a:ext cx="214823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5892115" y="3978611"/>
            <a:ext cx="407770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415279" y="6330968"/>
            <a:ext cx="12545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noProof="0" dirty="0"/>
              <a:t>For Each </a:t>
            </a:r>
            <a:r>
              <a:rPr lang="en-US" sz="1200" b="1" i="1" u="sng" noProof="0" dirty="0">
                <a:effectLst/>
              </a:rPr>
              <a:t>STM32Cube series</a:t>
            </a:r>
            <a:r>
              <a:rPr lang="en-US" sz="1200" b="1" i="1" u="sng" noProof="0" dirty="0"/>
              <a:t> </a:t>
            </a:r>
            <a:r>
              <a:rPr lang="en-US" sz="1200" noProof="0" dirty="0"/>
              <a:t>: </a:t>
            </a:r>
            <a:r>
              <a:rPr lang="en-US" sz="1200" b="0" i="0" noProof="0" dirty="0">
                <a:effectLst/>
              </a:rPr>
              <a:t>we unify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noProof="0" dirty="0">
                <a:effectLst/>
              </a:rPr>
              <a:t>, 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PRs and commits (</a:t>
            </a:r>
            <a:r>
              <a:rPr lang="en-US" sz="1200" b="1" noProof="0" dirty="0">
                <a:solidFill>
                  <a:srgbClr val="0D9589"/>
                </a:solidFill>
              </a:rPr>
              <a:t>Resolver Cases</a:t>
            </a:r>
            <a:r>
              <a:rPr lang="en-US" sz="1200" b="0" i="0" noProof="0" dirty="0">
                <a:solidFill>
                  <a:srgbClr val="0D9589"/>
                </a:solidFill>
                <a:effectLst/>
              </a:rPr>
              <a:t>) </a:t>
            </a:r>
            <a:r>
              <a:rPr lang="en-US" sz="1200" b="0" i="0" noProof="0" dirty="0">
                <a:effectLst/>
              </a:rPr>
              <a:t>to produce </a:t>
            </a:r>
            <a:r>
              <a:rPr lang="en-US" sz="1200" b="1" noProof="0" dirty="0">
                <a:solidFill>
                  <a:srgbClr val="0D9589"/>
                </a:solidFill>
              </a:rPr>
              <a:t>d</a:t>
            </a:r>
            <a:r>
              <a:rPr lang="en-US" sz="1200" b="1" i="0" noProof="0" dirty="0">
                <a:solidFill>
                  <a:srgbClr val="0D9589"/>
                </a:solidFill>
                <a:effectLst/>
              </a:rPr>
              <a:t>iagnostic cards</a:t>
            </a:r>
            <a:r>
              <a:rPr lang="en-US" sz="1200" b="0" i="0" noProof="0" dirty="0">
                <a:effectLst/>
              </a:rPr>
              <a:t>.</a:t>
            </a:r>
            <a:endParaRPr lang="en-US" sz="1200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EBE23-EEF6-6B6E-A5A3-7D44E5B5E367}"/>
              </a:ext>
            </a:extLst>
          </p:cNvPr>
          <p:cNvSpPr txBox="1"/>
          <p:nvPr/>
        </p:nvSpPr>
        <p:spPr>
          <a:xfrm>
            <a:off x="6504995" y="2488748"/>
            <a:ext cx="3851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Source code files: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drivers (HAL, LL) , middleware, utilities, components, BSP board files.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Technical documentation: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release notes, project README, PDF documentation.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00000"/>
                </a:solidFill>
                <a:effectLst/>
              </a:rPr>
              <a:t>Configuration/metadata files useful for context:</a:t>
            </a:r>
            <a:r>
              <a:rPr lang="en-US" sz="1000" b="0" i="0" noProof="0" dirty="0">
                <a:solidFill>
                  <a:srgbClr val="000000"/>
                </a:solidFill>
                <a:effectLst/>
              </a:rPr>
              <a:t> package.xml, security-related files, etc.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EBFA1-08A8-668B-3FE0-6DECDAE5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B9618AA-33E4-4CC3-4048-64A14060707F}"/>
              </a:ext>
            </a:extLst>
          </p:cNvPr>
          <p:cNvSpPr/>
          <p:nvPr/>
        </p:nvSpPr>
        <p:spPr>
          <a:xfrm>
            <a:off x="1788343" y="1020946"/>
            <a:ext cx="1224000" cy="503999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dirty="0"/>
              <a:t>GitHub</a:t>
            </a:r>
            <a:br>
              <a:rPr dirty="0"/>
            </a:br>
            <a:r>
              <a:rPr dirty="0"/>
              <a:t>25 series</a:t>
            </a:r>
            <a:br>
              <a:rPr dirty="0"/>
            </a:br>
            <a:r>
              <a:rPr dirty="0"/>
              <a:t>200+ repos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EB47F285-5D53-ADA8-EFCD-B9D7C0E2546E}"/>
              </a:ext>
            </a:extLst>
          </p:cNvPr>
          <p:cNvSpPr/>
          <p:nvPr/>
        </p:nvSpPr>
        <p:spPr>
          <a:xfrm>
            <a:off x="3300343" y="1020946"/>
            <a:ext cx="1224000" cy="50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Pipeline</a:t>
            </a:r>
            <a:br/>
            <a:r>
              <a:t>7 stages</a:t>
            </a:r>
            <a:br/>
            <a:r>
              <a:t>23 steps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CC2D8BEF-119E-266A-DEFF-5B6551F798B5}"/>
              </a:ext>
            </a:extLst>
          </p:cNvPr>
          <p:cNvSpPr/>
          <p:nvPr/>
        </p:nvSpPr>
        <p:spPr>
          <a:xfrm>
            <a:off x="4812342" y="1020946"/>
            <a:ext cx="1224000" cy="50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ST-ready JSON</a:t>
            </a:r>
            <a:br>
              <a:rPr sz="900" dirty="0"/>
            </a:br>
            <a:r>
              <a:rPr sz="900" dirty="0"/>
              <a:t>4 artifact types</a:t>
            </a:r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C69ECA93-41E1-3632-3B4E-294A243BB18E}"/>
              </a:ext>
            </a:extLst>
          </p:cNvPr>
          <p:cNvSpPr/>
          <p:nvPr/>
        </p:nvSpPr>
        <p:spPr>
          <a:xfrm>
            <a:off x="6324343" y="1020946"/>
            <a:ext cx="1224000" cy="503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900" dirty="0"/>
              <a:t>KB</a:t>
            </a:r>
            <a:br>
              <a:rPr sz="900" dirty="0"/>
            </a:br>
            <a:r>
              <a:rPr lang="fr-FR" sz="900" dirty="0"/>
              <a:t>90 </a:t>
            </a:r>
            <a:r>
              <a:rPr lang="en-US" sz="900" dirty="0"/>
              <a:t>data sources</a:t>
            </a:r>
            <a:endParaRPr sz="900" dirty="0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9ABA8C37-912A-60E5-1544-A098B61E6B45}"/>
              </a:ext>
            </a:extLst>
          </p:cNvPr>
          <p:cNvSpPr/>
          <p:nvPr/>
        </p:nvSpPr>
        <p:spPr>
          <a:xfrm>
            <a:off x="7836343" y="1020946"/>
            <a:ext cx="1224000" cy="503999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64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00" dirty="0"/>
              <a:t>ST ChatGPT</a:t>
            </a:r>
            <a:br>
              <a:rPr sz="1000" dirty="0"/>
            </a:br>
            <a:r>
              <a:rPr sz="1000" dirty="0"/>
              <a:t>GPT-5.1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0CB8C54C-A032-6B04-2080-12904EAD00FC}"/>
              </a:ext>
            </a:extLst>
          </p:cNvPr>
          <p:cNvSpPr/>
          <p:nvPr/>
        </p:nvSpPr>
        <p:spPr>
          <a:xfrm>
            <a:off x="9348343" y="1020946"/>
            <a:ext cx="1007999" cy="503999"/>
          </a:xfrm>
          <a:prstGeom prst="roundRect">
            <a:avLst/>
          </a:prstGeom>
          <a:solidFill>
            <a:srgbClr val="E6FAE6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rPr sz="1050" dirty="0"/>
              <a:t>Sourced</a:t>
            </a:r>
            <a:br>
              <a:rPr sz="1050" dirty="0"/>
            </a:br>
            <a:r>
              <a:rPr sz="1050" dirty="0"/>
              <a:t>answer</a:t>
            </a:r>
          </a:p>
        </p:txBody>
      </p:sp>
      <p:cxnSp>
        <p:nvCxnSpPr>
          <p:cNvPr id="38" name="Connector 9">
            <a:extLst>
              <a:ext uri="{FF2B5EF4-FFF2-40B4-BE49-F238E27FC236}">
                <a16:creationId xmlns:a16="http://schemas.microsoft.com/office/drawing/2014/main" id="{11A70779-3FF2-6BFB-A272-F0418D068D8E}"/>
              </a:ext>
            </a:extLst>
          </p:cNvPr>
          <p:cNvCxnSpPr>
            <a:cxnSpLocks/>
          </p:cNvCxnSpPr>
          <p:nvPr/>
        </p:nvCxnSpPr>
        <p:spPr>
          <a:xfrm>
            <a:off x="3030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0">
            <a:extLst>
              <a:ext uri="{FF2B5EF4-FFF2-40B4-BE49-F238E27FC236}">
                <a16:creationId xmlns:a16="http://schemas.microsoft.com/office/drawing/2014/main" id="{33278825-701D-68C3-7D39-C0AE2573D5BD}"/>
              </a:ext>
            </a:extLst>
          </p:cNvPr>
          <p:cNvCxnSpPr>
            <a:cxnSpLocks/>
          </p:cNvCxnSpPr>
          <p:nvPr/>
        </p:nvCxnSpPr>
        <p:spPr>
          <a:xfrm>
            <a:off x="4542342" y="1272947"/>
            <a:ext cx="234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1">
            <a:extLst>
              <a:ext uri="{FF2B5EF4-FFF2-40B4-BE49-F238E27FC236}">
                <a16:creationId xmlns:a16="http://schemas.microsoft.com/office/drawing/2014/main" id="{7D216977-807A-557B-D92B-BEB0ABB1581A}"/>
              </a:ext>
            </a:extLst>
          </p:cNvPr>
          <p:cNvCxnSpPr>
            <a:cxnSpLocks/>
          </p:cNvCxnSpPr>
          <p:nvPr/>
        </p:nvCxnSpPr>
        <p:spPr>
          <a:xfrm>
            <a:off x="6054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2">
            <a:extLst>
              <a:ext uri="{FF2B5EF4-FFF2-40B4-BE49-F238E27FC236}">
                <a16:creationId xmlns:a16="http://schemas.microsoft.com/office/drawing/2014/main" id="{6B6B2C00-C329-A7DA-85B2-D270161E23B2}"/>
              </a:ext>
            </a:extLst>
          </p:cNvPr>
          <p:cNvCxnSpPr>
            <a:cxnSpLocks/>
          </p:cNvCxnSpPr>
          <p:nvPr/>
        </p:nvCxnSpPr>
        <p:spPr>
          <a:xfrm>
            <a:off x="7566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3">
            <a:extLst>
              <a:ext uri="{FF2B5EF4-FFF2-40B4-BE49-F238E27FC236}">
                <a16:creationId xmlns:a16="http://schemas.microsoft.com/office/drawing/2014/main" id="{F57DDBEC-57D8-9068-1782-F67243695D3B}"/>
              </a:ext>
            </a:extLst>
          </p:cNvPr>
          <p:cNvCxnSpPr>
            <a:cxnSpLocks/>
          </p:cNvCxnSpPr>
          <p:nvPr/>
        </p:nvCxnSpPr>
        <p:spPr>
          <a:xfrm>
            <a:off x="9078343" y="1272947"/>
            <a:ext cx="234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076D37C-6CE1-2F82-A3C6-D0B987A2FCAC}"/>
              </a:ext>
            </a:extLst>
          </p:cNvPr>
          <p:cNvSpPr/>
          <p:nvPr/>
        </p:nvSpPr>
        <p:spPr>
          <a:xfrm>
            <a:off x="4684583" y="943886"/>
            <a:ext cx="1497142" cy="7099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978612" y="2258568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84" y="2555748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868884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772" y="2715768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97684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156" y="2630822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87956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844" y="2715768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416756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84" y="2603800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307028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16" y="2842459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135828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76" y="259670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7026100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854900" y="225856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2372" y="261909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745172" y="35112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44172" y="2610287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43190" y="263082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76433" y="263476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9893" y="2622561"/>
            <a:ext cx="417157" cy="4171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34054-65D3-DF09-E42A-5B689DFC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6" name="Shape 33">
            <a:extLst>
              <a:ext uri="{FF2B5EF4-FFF2-40B4-BE49-F238E27FC236}">
                <a16:creationId xmlns:a16="http://schemas.microsoft.com/office/drawing/2014/main" id="{E935AA7B-E14B-86F9-5371-90E28E4F9B3D}"/>
              </a:ext>
            </a:extLst>
          </p:cNvPr>
          <p:cNvSpPr/>
          <p:nvPr/>
        </p:nvSpPr>
        <p:spPr>
          <a:xfrm>
            <a:off x="1096831" y="4659085"/>
            <a:ext cx="10267481" cy="896112"/>
          </a:xfrm>
          <a:prstGeom prst="roundRect">
            <a:avLst>
              <a:gd name="adj" fmla="val 918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039A410C-15BD-0F72-15BE-887DDDCB7BB6}"/>
              </a:ext>
            </a:extLst>
          </p:cNvPr>
          <p:cNvSpPr/>
          <p:nvPr/>
        </p:nvSpPr>
        <p:spPr>
          <a:xfrm>
            <a:off x="1371152" y="4659085"/>
            <a:ext cx="9993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preparation (once):  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turned into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(numeric meaning) →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r>
              <a:rPr lang="en-US" sz="13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retrieval works on meaning, not just keywords.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EB3-6346-C060-BA60-3E87FC8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CCD4-A597-7012-D3D7-6B74109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D64F1-8233-71F1-1A66-C403606727F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BC27D3-B56C-04D7-2347-DC1208AE812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D1E40C5A-89C0-5416-0C43-D57172B2B4FF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9ACB6311-80A2-BFA7-6161-E1F557CE6E86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374A291-18C3-E4D2-7CC7-83A39E53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43DA998-047D-CAE6-C70E-1C6D5670A9A0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98C2B48-EEDD-B6C3-D13B-1B583D6D595B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257FDA79-8D01-D6D4-0A85-BC2D7B5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14C765FC-109E-69AA-4279-25F578EC5ED9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0C85453C-3CA7-4983-DB72-DA067C85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B7DE301D-8B30-8666-96D6-C5F98A47713E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5987185-7356-1741-15FE-C9AF09285406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918E269-E95D-F821-E16C-8F0E181A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C021FEF5-277A-1A46-655B-CDB7B6EF0312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F7B2EE91-0100-83D8-64A2-90997C5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F267FE-5FCD-55C3-E122-0D00DFCFC5B7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4F73A8E-4265-B697-057E-FA560BB98FE4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0B3579F-4CD8-1914-80C1-3D3C1F45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7413AB44-7CAE-6613-ABAC-25CCEB4A8100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89A4023C-2F56-79F3-33E3-F09BC30D5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C299AE1-C47B-1538-5EF1-D2C675497AB2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211DC969-3244-EA71-5720-BA2C1AAF022E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4EE1F258-DB54-3BAE-EB90-2AC875F9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B2A6D0FE-F5FB-D0D6-6079-14B7DEC248C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297088A8-1EA8-EC8D-A6B9-5779509AE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9C3F010B-3856-5F04-8E3C-868D37C4C0AA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44B9DE0-EEFD-7CD7-2676-E17F5D469D2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9727760-8705-1AA9-09D0-915AFA8C1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87B52E17-AF15-1556-1EA3-118C275E6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42AA5D48-3934-4437-D743-AABAD70E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658EB652-276D-F09A-D7B5-23A3FAB84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637564" y="4292527"/>
            <a:ext cx="1033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0D9488"/>
                </a:solidFill>
              </a:rPr>
              <a:t>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10216" y="440327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14B8A6"/>
                </a:solidFill>
              </a:rPr>
              <a:t>etrieval</a:t>
            </a:r>
            <a:endParaRPr lang="en-US" sz="1600" b="0" i="1" noProof="0" dirty="0">
              <a:solidFill>
                <a:srgbClr val="14B8A6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4964981" y="4348344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F59E0B"/>
                </a:solidFill>
              </a:rPr>
              <a:t>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81495" y="4382861"/>
            <a:ext cx="1298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F59E0B"/>
                </a:solidFill>
              </a:rPr>
              <a:t>ugmented</a:t>
            </a:r>
            <a:endParaRPr lang="en-US" sz="1600" b="0" i="1" noProof="0" dirty="0">
              <a:solidFill>
                <a:srgbClr val="F59E0B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26099" y="4389771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 noProof="0" dirty="0">
                <a:solidFill>
                  <a:srgbClr val="EF4444"/>
                </a:solidFill>
              </a:rPr>
              <a:t>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00944" y="4403271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1" noProof="0" dirty="0" err="1">
                <a:solidFill>
                  <a:srgbClr val="EF4444"/>
                </a:solidFill>
              </a:rPr>
              <a:t>eneration</a:t>
            </a:r>
            <a:endParaRPr lang="en-US" sz="1600" b="0" i="1" noProof="0" dirty="0">
              <a:solidFill>
                <a:srgbClr val="EF4444"/>
              </a:solidFill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4377E528-74C2-10B4-B777-42F4E34A8B44}"/>
              </a:ext>
            </a:extLst>
          </p:cNvPr>
          <p:cNvSpPr/>
          <p:nvPr/>
        </p:nvSpPr>
        <p:spPr>
          <a:xfrm>
            <a:off x="3299240" y="1952424"/>
            <a:ext cx="5233032" cy="215611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3ACF4-D561-BB7F-CBE8-8AABF4A8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659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510FAC-5EFE-45D6-B3A4-43220EBE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A4B5-A2A2-DC04-78B8-63FD66DA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Why RAG , not just standard ChatGPT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1609689-8885-4F85-BAA1-AD66C9B048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4300E70-3F4A-195B-F0C7-9EB64627DE28}"/>
              </a:ext>
            </a:extLst>
          </p:cNvPr>
          <p:cNvSpPr/>
          <p:nvPr/>
        </p:nvSpPr>
        <p:spPr>
          <a:xfrm>
            <a:off x="1254548" y="90127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40BA2-D6A8-F488-1EFC-3A995CA9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31A7519-5666-F2A3-CC94-A5DB97879FA1}"/>
              </a:ext>
            </a:extLst>
          </p:cNvPr>
          <p:cNvSpPr/>
          <p:nvPr/>
        </p:nvSpPr>
        <p:spPr>
          <a:xfrm>
            <a:off x="431804" y="1193607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Without RAG the model invents. With RAG, every answer is grounded in real STM32 documents.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9" name="Shape 4">
            <a:extLst>
              <a:ext uri="{FF2B5EF4-FFF2-40B4-BE49-F238E27FC236}">
                <a16:creationId xmlns:a16="http://schemas.microsoft.com/office/drawing/2014/main" id="{0ABA53A5-492C-4D0E-48F3-BE091562AB4E}"/>
              </a:ext>
            </a:extLst>
          </p:cNvPr>
          <p:cNvSpPr/>
          <p:nvPr/>
        </p:nvSpPr>
        <p:spPr>
          <a:xfrm>
            <a:off x="58883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1" name="Shape 5">
            <a:extLst>
              <a:ext uri="{FF2B5EF4-FFF2-40B4-BE49-F238E27FC236}">
                <a16:creationId xmlns:a16="http://schemas.microsoft.com/office/drawing/2014/main" id="{B5908588-9E59-4E46-F799-C1A7D266557F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6">
            <a:extLst>
              <a:ext uri="{FF2B5EF4-FFF2-40B4-BE49-F238E27FC236}">
                <a16:creationId xmlns:a16="http://schemas.microsoft.com/office/drawing/2014/main" id="{C031CF7C-5864-A6E4-D118-B3B562F6A62A}"/>
              </a:ext>
            </a:extLst>
          </p:cNvPr>
          <p:cNvSpPr/>
          <p:nvPr/>
        </p:nvSpPr>
        <p:spPr>
          <a:xfrm>
            <a:off x="72599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5" name="Text 7">
            <a:extLst>
              <a:ext uri="{FF2B5EF4-FFF2-40B4-BE49-F238E27FC236}">
                <a16:creationId xmlns:a16="http://schemas.microsoft.com/office/drawing/2014/main" id="{2B8DB9A6-F86E-54A5-E299-F4324A8E3EEE}"/>
              </a:ext>
            </a:extLst>
          </p:cNvPr>
          <p:cNvSpPr/>
          <p:nvPr/>
        </p:nvSpPr>
        <p:spPr>
          <a:xfrm>
            <a:off x="113747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</a:t>
            </a:r>
            <a:endParaRPr lang="en-US" sz="1200" dirty="0"/>
          </a:p>
        </p:txBody>
      </p:sp>
      <p:sp>
        <p:nvSpPr>
          <p:cNvPr id="217" name="Text 8">
            <a:extLst>
              <a:ext uri="{FF2B5EF4-FFF2-40B4-BE49-F238E27FC236}">
                <a16:creationId xmlns:a16="http://schemas.microsoft.com/office/drawing/2014/main" id="{47DEEDF3-D5BF-0125-A774-69AAFE4367D9}"/>
              </a:ext>
            </a:extLst>
          </p:cNvPr>
          <p:cNvSpPr/>
          <p:nvPr/>
        </p:nvSpPr>
        <p:spPr>
          <a:xfrm>
            <a:off x="72599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my STM32H7 DMA give wrong values after cache is enabled?"</a:t>
            </a:r>
            <a:endParaRPr lang="en-US" sz="1200" dirty="0"/>
          </a:p>
        </p:txBody>
      </p:sp>
      <p:sp>
        <p:nvSpPr>
          <p:cNvPr id="219" name="Shape 9">
            <a:extLst>
              <a:ext uri="{FF2B5EF4-FFF2-40B4-BE49-F238E27FC236}">
                <a16:creationId xmlns:a16="http://schemas.microsoft.com/office/drawing/2014/main" id="{8A721035-BF1E-B524-A7E3-A9C2B29A66D9}"/>
              </a:ext>
            </a:extLst>
          </p:cNvPr>
          <p:cNvSpPr/>
          <p:nvPr/>
        </p:nvSpPr>
        <p:spPr>
          <a:xfrm>
            <a:off x="342347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10">
            <a:extLst>
              <a:ext uri="{FF2B5EF4-FFF2-40B4-BE49-F238E27FC236}">
                <a16:creationId xmlns:a16="http://schemas.microsoft.com/office/drawing/2014/main" id="{869BB9D2-CFDC-327E-F3A5-E9737A2439CF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11">
            <a:extLst>
              <a:ext uri="{FF2B5EF4-FFF2-40B4-BE49-F238E27FC236}">
                <a16:creationId xmlns:a16="http://schemas.microsoft.com/office/drawing/2014/main" id="{5336A511-0781-D599-F58A-A55CF07F9166}"/>
              </a:ext>
            </a:extLst>
          </p:cNvPr>
          <p:cNvSpPr/>
          <p:nvPr/>
        </p:nvSpPr>
        <p:spPr>
          <a:xfrm>
            <a:off x="356063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5" name="Text 12">
            <a:extLst>
              <a:ext uri="{FF2B5EF4-FFF2-40B4-BE49-F238E27FC236}">
                <a16:creationId xmlns:a16="http://schemas.microsoft.com/office/drawing/2014/main" id="{70803CC8-5773-3335-98EA-87D9459911D9}"/>
              </a:ext>
            </a:extLst>
          </p:cNvPr>
          <p:cNvSpPr/>
          <p:nvPr/>
        </p:nvSpPr>
        <p:spPr>
          <a:xfrm>
            <a:off x="397211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searches</a:t>
            </a:r>
            <a:endParaRPr lang="en-US" sz="1200" dirty="0"/>
          </a:p>
        </p:txBody>
      </p:sp>
      <p:sp>
        <p:nvSpPr>
          <p:cNvPr id="227" name="Text 13">
            <a:extLst>
              <a:ext uri="{FF2B5EF4-FFF2-40B4-BE49-F238E27FC236}">
                <a16:creationId xmlns:a16="http://schemas.microsoft.com/office/drawing/2014/main" id="{E15130C7-96A3-ACA2-809F-23B2F9B67F9E}"/>
              </a:ext>
            </a:extLst>
          </p:cNvPr>
          <p:cNvSpPr/>
          <p:nvPr/>
        </p:nvSpPr>
        <p:spPr>
          <a:xfrm>
            <a:off x="356063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3 most relevant passages in STM32 documents</a:t>
            </a:r>
            <a:endParaRPr lang="en-US" sz="1200" dirty="0"/>
          </a:p>
        </p:txBody>
      </p:sp>
      <p:sp>
        <p:nvSpPr>
          <p:cNvPr id="229" name="Shape 14">
            <a:extLst>
              <a:ext uri="{FF2B5EF4-FFF2-40B4-BE49-F238E27FC236}">
                <a16:creationId xmlns:a16="http://schemas.microsoft.com/office/drawing/2014/main" id="{46429EA2-391B-82DA-7686-475262DA934A}"/>
              </a:ext>
            </a:extLst>
          </p:cNvPr>
          <p:cNvSpPr/>
          <p:nvPr/>
        </p:nvSpPr>
        <p:spPr>
          <a:xfrm>
            <a:off x="625811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15">
            <a:extLst>
              <a:ext uri="{FF2B5EF4-FFF2-40B4-BE49-F238E27FC236}">
                <a16:creationId xmlns:a16="http://schemas.microsoft.com/office/drawing/2014/main" id="{85A70082-956C-552C-3CA0-9BAB9E2F750D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16">
            <a:extLst>
              <a:ext uri="{FF2B5EF4-FFF2-40B4-BE49-F238E27FC236}">
                <a16:creationId xmlns:a16="http://schemas.microsoft.com/office/drawing/2014/main" id="{B7C1DC84-0071-CC20-1532-62941E61ACF2}"/>
              </a:ext>
            </a:extLst>
          </p:cNvPr>
          <p:cNvSpPr/>
          <p:nvPr/>
        </p:nvSpPr>
        <p:spPr>
          <a:xfrm>
            <a:off x="639527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5" name="Text 17">
            <a:extLst>
              <a:ext uri="{FF2B5EF4-FFF2-40B4-BE49-F238E27FC236}">
                <a16:creationId xmlns:a16="http://schemas.microsoft.com/office/drawing/2014/main" id="{04F45200-7EC1-C4AC-CBD3-C31BC249232E}"/>
              </a:ext>
            </a:extLst>
          </p:cNvPr>
          <p:cNvSpPr/>
          <p:nvPr/>
        </p:nvSpPr>
        <p:spPr>
          <a:xfrm>
            <a:off x="680675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injects</a:t>
            </a:r>
            <a:endParaRPr lang="en-US" sz="1200" dirty="0"/>
          </a:p>
        </p:txBody>
      </p:sp>
      <p:sp>
        <p:nvSpPr>
          <p:cNvPr id="237" name="Text 18">
            <a:extLst>
              <a:ext uri="{FF2B5EF4-FFF2-40B4-BE49-F238E27FC236}">
                <a16:creationId xmlns:a16="http://schemas.microsoft.com/office/drawing/2014/main" id="{DFFEC47D-7B87-F06F-C572-FC5BC72FE9A8}"/>
              </a:ext>
            </a:extLst>
          </p:cNvPr>
          <p:cNvSpPr/>
          <p:nvPr/>
        </p:nvSpPr>
        <p:spPr>
          <a:xfrm>
            <a:off x="639527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those passages to the AI as augmented context</a:t>
            </a:r>
            <a:endParaRPr lang="en-US" sz="1200" dirty="0"/>
          </a:p>
        </p:txBody>
      </p:sp>
      <p:sp>
        <p:nvSpPr>
          <p:cNvPr id="239" name="Shape 19">
            <a:extLst>
              <a:ext uri="{FF2B5EF4-FFF2-40B4-BE49-F238E27FC236}">
                <a16:creationId xmlns:a16="http://schemas.microsoft.com/office/drawing/2014/main" id="{37D3EFEF-21EB-9D22-8FD4-07F30FAB453A}"/>
              </a:ext>
            </a:extLst>
          </p:cNvPr>
          <p:cNvSpPr/>
          <p:nvPr/>
        </p:nvSpPr>
        <p:spPr>
          <a:xfrm>
            <a:off x="9092754" y="1683012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1" name="Shape 20">
            <a:extLst>
              <a:ext uri="{FF2B5EF4-FFF2-40B4-BE49-F238E27FC236}">
                <a16:creationId xmlns:a16="http://schemas.microsoft.com/office/drawing/2014/main" id="{54D34DA0-0E76-00B8-35F6-6DAAF1CEA7E0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3" name="Text 21">
            <a:extLst>
              <a:ext uri="{FF2B5EF4-FFF2-40B4-BE49-F238E27FC236}">
                <a16:creationId xmlns:a16="http://schemas.microsoft.com/office/drawing/2014/main" id="{A09514CC-D0AC-A7B6-983C-61B9C5324946}"/>
              </a:ext>
            </a:extLst>
          </p:cNvPr>
          <p:cNvSpPr/>
          <p:nvPr/>
        </p:nvSpPr>
        <p:spPr>
          <a:xfrm>
            <a:off x="9229914" y="1820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5" name="Text 22">
            <a:extLst>
              <a:ext uri="{FF2B5EF4-FFF2-40B4-BE49-F238E27FC236}">
                <a16:creationId xmlns:a16="http://schemas.microsoft.com/office/drawing/2014/main" id="{A3FA49F1-DB77-3317-7EF9-F3A7EDBA3789}"/>
              </a:ext>
            </a:extLst>
          </p:cNvPr>
          <p:cNvSpPr/>
          <p:nvPr/>
        </p:nvSpPr>
        <p:spPr>
          <a:xfrm>
            <a:off x="9641394" y="18201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answers</a:t>
            </a:r>
            <a:endParaRPr lang="en-US" sz="1200" dirty="0"/>
          </a:p>
        </p:txBody>
      </p:sp>
      <p:sp>
        <p:nvSpPr>
          <p:cNvPr id="247" name="Text 23">
            <a:extLst>
              <a:ext uri="{FF2B5EF4-FFF2-40B4-BE49-F238E27FC236}">
                <a16:creationId xmlns:a16="http://schemas.microsoft.com/office/drawing/2014/main" id="{AB8CAD35-7CF8-729E-6B39-33C217E8BF7B}"/>
              </a:ext>
            </a:extLst>
          </p:cNvPr>
          <p:cNvSpPr/>
          <p:nvPr/>
        </p:nvSpPr>
        <p:spPr>
          <a:xfrm>
            <a:off x="9229914" y="2339409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answer with source: Issue #1234, PR #456</a:t>
            </a:r>
            <a:endParaRPr lang="en-US" sz="1200" dirty="0"/>
          </a:p>
        </p:txBody>
      </p:sp>
      <p:sp>
        <p:nvSpPr>
          <p:cNvPr id="249" name="Shape 24">
            <a:extLst>
              <a:ext uri="{FF2B5EF4-FFF2-40B4-BE49-F238E27FC236}">
                <a16:creationId xmlns:a16="http://schemas.microsoft.com/office/drawing/2014/main" id="{154F1276-B13D-AD64-B812-673B9EC4BEAC}"/>
              </a:ext>
            </a:extLst>
          </p:cNvPr>
          <p:cNvSpPr/>
          <p:nvPr/>
        </p:nvSpPr>
        <p:spPr>
          <a:xfrm>
            <a:off x="342347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1" name="Shape 25">
            <a:extLst>
              <a:ext uri="{FF2B5EF4-FFF2-40B4-BE49-F238E27FC236}">
                <a16:creationId xmlns:a16="http://schemas.microsoft.com/office/drawing/2014/main" id="{9B4D8730-138F-9F82-1104-F06A5C7E7B92}"/>
              </a:ext>
            </a:extLst>
          </p:cNvPr>
          <p:cNvSpPr/>
          <p:nvPr/>
        </p:nvSpPr>
        <p:spPr>
          <a:xfrm>
            <a:off x="625811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3" name="Shape 26">
            <a:extLst>
              <a:ext uri="{FF2B5EF4-FFF2-40B4-BE49-F238E27FC236}">
                <a16:creationId xmlns:a16="http://schemas.microsoft.com/office/drawing/2014/main" id="{816ADB59-40BB-6B60-B34B-776AF34523EE}"/>
              </a:ext>
            </a:extLst>
          </p:cNvPr>
          <p:cNvSpPr/>
          <p:nvPr/>
        </p:nvSpPr>
        <p:spPr>
          <a:xfrm>
            <a:off x="9092754" y="2476569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55" name="Shape 27">
            <a:extLst>
              <a:ext uri="{FF2B5EF4-FFF2-40B4-BE49-F238E27FC236}">
                <a16:creationId xmlns:a16="http://schemas.microsoft.com/office/drawing/2014/main" id="{C4B96512-8A51-B51E-6CA4-F2E00BE452FA}"/>
              </a:ext>
            </a:extLst>
          </p:cNvPr>
          <p:cNvSpPr/>
          <p:nvPr/>
        </p:nvSpPr>
        <p:spPr>
          <a:xfrm>
            <a:off x="588834" y="3237492"/>
            <a:ext cx="5577840" cy="2148840"/>
          </a:xfrm>
          <a:prstGeom prst="roundRect">
            <a:avLst>
              <a:gd name="adj" fmla="val 2540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7" name="Text 28">
            <a:extLst>
              <a:ext uri="{FF2B5EF4-FFF2-40B4-BE49-F238E27FC236}">
                <a16:creationId xmlns:a16="http://schemas.microsoft.com/office/drawing/2014/main" id="{DA3EFB01-F43A-8B4E-FF52-BA5706043F5F}"/>
              </a:ext>
            </a:extLst>
          </p:cNvPr>
          <p:cNvSpPr/>
          <p:nvPr/>
        </p:nvSpPr>
        <p:spPr>
          <a:xfrm>
            <a:off x="81743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ChatGPT</a:t>
            </a:r>
            <a:endParaRPr lang="en-US" sz="1500" dirty="0"/>
          </a:p>
        </p:txBody>
      </p:sp>
      <p:sp>
        <p:nvSpPr>
          <p:cNvPr id="259" name="Text 29">
            <a:extLst>
              <a:ext uri="{FF2B5EF4-FFF2-40B4-BE49-F238E27FC236}">
                <a16:creationId xmlns:a16="http://schemas.microsoft.com/office/drawing/2014/main" id="{A2C79E4B-5C8A-1575-11E6-9E95B3E8BD8B}"/>
              </a:ext>
            </a:extLst>
          </p:cNvPr>
          <p:cNvSpPr/>
          <p:nvPr/>
        </p:nvSpPr>
        <p:spPr>
          <a:xfrm>
            <a:off x="81743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generic internet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your STM32 project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plausible-sounding answers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cite the source of its answer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for technical support</a:t>
            </a:r>
            <a:endParaRPr lang="en-US" sz="1100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4E22CFC1-83B4-F3F4-8FA0-87F2EAF5224C}"/>
              </a:ext>
            </a:extLst>
          </p:cNvPr>
          <p:cNvSpPr/>
          <p:nvPr/>
        </p:nvSpPr>
        <p:spPr>
          <a:xfrm>
            <a:off x="6349554" y="3237492"/>
            <a:ext cx="5577840" cy="2148839"/>
          </a:xfrm>
          <a:prstGeom prst="roundRect">
            <a:avLst>
              <a:gd name="adj" fmla="val 254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3" name="Text 31">
            <a:extLst>
              <a:ext uri="{FF2B5EF4-FFF2-40B4-BE49-F238E27FC236}">
                <a16:creationId xmlns:a16="http://schemas.microsoft.com/office/drawing/2014/main" id="{E0D22308-8BE3-E76B-F981-9AE54C93F64A}"/>
              </a:ext>
            </a:extLst>
          </p:cNvPr>
          <p:cNvSpPr/>
          <p:nvPr/>
        </p:nvSpPr>
        <p:spPr>
          <a:xfrm>
            <a:off x="6578154" y="33746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ChatGPT with RAG</a:t>
            </a:r>
            <a:endParaRPr lang="en-US" sz="1500" dirty="0"/>
          </a:p>
        </p:txBody>
      </p:sp>
      <p:sp>
        <p:nvSpPr>
          <p:cNvPr id="265" name="Text 32">
            <a:extLst>
              <a:ext uri="{FF2B5EF4-FFF2-40B4-BE49-F238E27FC236}">
                <a16:creationId xmlns:a16="http://schemas.microsoft.com/office/drawing/2014/main" id="{6CAC1BEF-DFBB-E2EF-6B21-00A12C2D3A5D}"/>
              </a:ext>
            </a:extLst>
          </p:cNvPr>
          <p:cNvSpPr/>
          <p:nvPr/>
        </p:nvSpPr>
        <p:spPr>
          <a:xfrm>
            <a:off x="6578154" y="378613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STM32 data (issues, docs, fixes)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exact project context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built from retrieved passages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cites the source (issue / PR / doc)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technical support teams</a:t>
            </a:r>
            <a:endParaRPr lang="en-US" sz="1100" dirty="0"/>
          </a:p>
        </p:txBody>
      </p:sp>
      <p:sp>
        <p:nvSpPr>
          <p:cNvPr id="267" name="Shape 33">
            <a:extLst>
              <a:ext uri="{FF2B5EF4-FFF2-40B4-BE49-F238E27FC236}">
                <a16:creationId xmlns:a16="http://schemas.microsoft.com/office/drawing/2014/main" id="{8FDFB3E0-DA8A-9EBD-6EF7-1AAF620122EB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7C194E8D-E58A-55E2-B435-59C5107F1ABE}"/>
              </a:ext>
            </a:extLst>
          </p:cNvPr>
          <p:cNvSpPr/>
          <p:nvPr/>
        </p:nvSpPr>
        <p:spPr>
          <a:xfrm>
            <a:off x="5979608" y="4426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100" dirty="0"/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06B05FF4-A266-4DA1-5BB4-6C26317D1ECA}"/>
              </a:ext>
            </a:extLst>
          </p:cNvPr>
          <p:cNvSpPr/>
          <p:nvPr/>
        </p:nvSpPr>
        <p:spPr>
          <a:xfrm>
            <a:off x="767528" y="5675729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= Retrieval-Augmented Generation.  The engine retrieves before the LLM generates.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827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EC04-6C1C-F4B8-A438-6B9DEEA1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C223A83E-37C8-B920-73CC-1D6C25B48AF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EAD6B7CD-1CDB-EFF3-7314-218FC7EF953D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9C756D95-D359-F4BF-2421-CE6AC95096FB}"/>
              </a:ext>
            </a:extLst>
          </p:cNvPr>
          <p:cNvSpPr/>
          <p:nvPr/>
        </p:nvSpPr>
        <p:spPr>
          <a:xfrm>
            <a:off x="9785054" y="41827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DDE698B8-030E-36C6-CCDF-777757437852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D5D84E4A-49A8-AC9E-01B5-6061BF34A581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81BF7782-093E-CF23-7215-09CA41BBCC2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89BE1C99-DB83-9954-F6AF-9F78E1EA00F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B6B2BAFE-8A37-9059-87B6-7B93CB71BB77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959574D2-3785-328A-EFD2-2EABF8B46890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129D14A5-4866-2CFF-6664-9183A2150C4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E7CA229D-6228-07EA-30EA-B190D33F2CCB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D9DAA381-6F36-CB64-BDD7-A042EB39C5A3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BB302A26-36BB-2E6A-333C-871BE930BB6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22F0E285-41AE-BF0F-5978-D0C780DF9C76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7004C0E-0F44-4DF7-7B8D-B9F256FD4388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1D9774BA-B446-3FE5-BA8B-14CFAD1A5CE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0304DC71-05E7-6790-7E2B-6AABF85A2B69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Data preprocessing pipeline and ALFRED Vision Integration 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A1B0705F-7CD7-8139-E2AD-6598EC50A7F4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7F7930FE-D1E5-ACC1-C507-D144B7313F30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9551F9AC-F380-BB1D-2651-FB7D20127117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B7ED513C-0716-431E-3678-5FC88E0B311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55CD185C-D12B-B0EB-DE99-3FF07DC790D4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1267FE76-2E05-C59D-00EB-53087DF5EB3D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8DFA29A6-D223-A1F5-3CAC-DA7F6D50E609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0F80A9D6-F72D-71EE-036F-3161BCD2969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B2B94331-E57B-BD42-9F89-49DDF382B7C6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37072276-96B5-91BF-0E76-900BA181D36A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26148FA5-AB7E-DF74-59C5-2E41CE07580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B8D6271F-A4FD-C676-9569-53B533EC12A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97D0188-A149-B42C-DBAC-8C53861DF104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1CB542DE-F239-B4E4-102F-12E1DD9D83FE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6DAC37F9-AC4D-29FE-1889-FA9940566D51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2D01DD77-873E-95DF-3D4E-E23AE75F24CE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2C371E41-FB7C-D417-9053-E791887D3282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AFCB7D76-FCCF-8122-3C53-7775A1E76F2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2B28FAD-4271-0FAE-F23A-55EF277FBD37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EBF40124-7953-7D6C-34FA-766E79C960D9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5B12CC66-79A0-C93A-FA84-54909907AA88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89FAE-CBB5-5091-938D-C5D00AE97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A7268621-8068-DD3C-3F30-D80299879F4C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E87B4771-3A0A-DA7B-3288-26B48D50107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44121B0C-62F3-DE6C-9899-D2198D585DA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ADF63FA-62DE-2392-C3B6-2386A03B8704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12A77988-D9C9-2904-034A-EE3CE6FE8229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405838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FB53-F1F7-64BF-952E-4A1E6091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D2AB-F36F-F3ED-78E4-58A27B0D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Data Preprocessing Pipeline</a:t>
            </a:r>
            <a:endParaRPr lang="en-US" sz="1800" noProof="0" dirty="0"/>
          </a:p>
        </p:txBody>
      </p:sp>
      <p:cxnSp>
        <p:nvCxnSpPr>
          <p:cNvPr id="200" name="cx"/>
          <p:cNvCxnSpPr/>
          <p:nvPr/>
        </p:nvCxnSpPr>
        <p:spPr>
          <a:xfrm>
            <a:off x="6637020" y="807720"/>
            <a:ext cx="4965192" cy="0"/>
          </a:xfrm>
          <a:prstGeom prst="straightConnector1">
            <a:avLst/>
          </a:prstGeom>
          <a:ln w="19050">
            <a:solidFill>
              <a:srgbClr val="CBD5E1"/>
            </a:solidFill>
            <a:prstDash val="solid"/>
            <a:round/>
          </a:ln>
        </p:spPr>
      </p:cxnSp>
      <p:sp>
        <p:nvSpPr>
          <p:cNvPr id="207" name="rr"/>
          <p:cNvSpPr/>
          <p:nvPr/>
        </p:nvSpPr>
        <p:spPr>
          <a:xfrm>
            <a:off x="274320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8" name="tb"/>
          <p:cNvSpPr>
            <a:spLocks noGrp="1"/>
          </p:cNvSpPr>
          <p:nvPr/>
        </p:nvSpPr>
        <p:spPr>
          <a:xfrm>
            <a:off x="301752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1</a:t>
            </a:r>
          </a:p>
        </p:txBody>
      </p:sp>
      <p:pic>
        <p:nvPicPr>
          <p:cNvPr id="46" name="ic" descr="preencoded.png">
            <a:extLst>
              <a:ext uri="{FF2B5EF4-FFF2-40B4-BE49-F238E27FC236}">
                <a16:creationId xmlns:a16="http://schemas.microsoft.com/office/drawing/2014/main" id="{8660898D-9D32-D198-50B5-ED064C05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536192"/>
            <a:ext cx="274320" cy="274320"/>
          </a:xfrm>
          <a:prstGeom prst="rect">
            <a:avLst/>
          </a:prstGeom>
        </p:spPr>
      </p:pic>
      <p:cxnSp>
        <p:nvCxnSpPr>
          <p:cNvPr id="209" name="cx"/>
          <p:cNvCxnSpPr/>
          <p:nvPr/>
        </p:nvCxnSpPr>
        <p:spPr>
          <a:xfrm>
            <a:off x="365760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10" name="tb"/>
          <p:cNvSpPr>
            <a:spLocks noGrp="1"/>
          </p:cNvSpPr>
          <p:nvPr/>
        </p:nvSpPr>
        <p:spPr>
          <a:xfrm>
            <a:off x="310896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Ingestion</a:t>
            </a:r>
          </a:p>
        </p:txBody>
      </p:sp>
      <p:sp>
        <p:nvSpPr>
          <p:cNvPr id="211" name="tb"/>
          <p:cNvSpPr>
            <a:spLocks noGrp="1"/>
          </p:cNvSpPr>
          <p:nvPr/>
        </p:nvSpPr>
        <p:spPr>
          <a:xfrm>
            <a:off x="320040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Download raw GitHub data</a:t>
            </a:r>
          </a:p>
        </p:txBody>
      </p:sp>
      <p:sp>
        <p:nvSpPr>
          <p:cNvPr id="212" name="rr"/>
          <p:cNvSpPr/>
          <p:nvPr/>
        </p:nvSpPr>
        <p:spPr>
          <a:xfrm>
            <a:off x="2289658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3" name="tb"/>
          <p:cNvSpPr>
            <a:spLocks noGrp="1"/>
          </p:cNvSpPr>
          <p:nvPr/>
        </p:nvSpPr>
        <p:spPr>
          <a:xfrm>
            <a:off x="2317090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2</a:t>
            </a:r>
          </a:p>
        </p:txBody>
      </p:sp>
      <p:pic>
        <p:nvPicPr>
          <p:cNvPr id="118" name="ic" descr="Eraser with solid fill">
            <a:extLst>
              <a:ext uri="{FF2B5EF4-FFF2-40B4-BE49-F238E27FC236}">
                <a16:creationId xmlns:a16="http://schemas.microsoft.com/office/drawing/2014/main" id="{2788313E-026B-A063-6842-2BDC6A468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9234" y="1536192"/>
            <a:ext cx="274320" cy="274320"/>
          </a:xfrm>
          <a:prstGeom prst="rect">
            <a:avLst/>
          </a:prstGeom>
        </p:spPr>
      </p:pic>
      <p:cxnSp>
        <p:nvCxnSpPr>
          <p:cNvPr id="214" name="cx"/>
          <p:cNvCxnSpPr/>
          <p:nvPr/>
        </p:nvCxnSpPr>
        <p:spPr>
          <a:xfrm>
            <a:off x="2381098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15" name="tb"/>
          <p:cNvSpPr>
            <a:spLocks noGrp="1"/>
          </p:cNvSpPr>
          <p:nvPr/>
        </p:nvSpPr>
        <p:spPr>
          <a:xfrm>
            <a:off x="2335378" y="1975104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 fontScale="85000" lnSpcReduction="10000"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Cleaning and structuring</a:t>
            </a:r>
          </a:p>
        </p:txBody>
      </p:sp>
      <p:sp>
        <p:nvSpPr>
          <p:cNvPr id="216" name="tb"/>
          <p:cNvSpPr>
            <a:spLocks noGrp="1"/>
          </p:cNvSpPr>
          <p:nvPr/>
        </p:nvSpPr>
        <p:spPr>
          <a:xfrm>
            <a:off x="2335378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Remove HTML and noise, then structure the documents.</a:t>
            </a:r>
          </a:p>
          <a:p>
            <a:pPr algn="ctr"/>
            <a:endParaRPr lang="en-US" sz="80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217" name="rr"/>
          <p:cNvSpPr/>
          <p:nvPr/>
        </p:nvSpPr>
        <p:spPr>
          <a:xfrm>
            <a:off x="4304995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8" name="tb"/>
          <p:cNvSpPr>
            <a:spLocks noGrp="1"/>
          </p:cNvSpPr>
          <p:nvPr/>
        </p:nvSpPr>
        <p:spPr>
          <a:xfrm>
            <a:off x="4332427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pic>
        <p:nvPicPr>
          <p:cNvPr id="55" name="ic" descr="preencoded.png">
            <a:extLst>
              <a:ext uri="{FF2B5EF4-FFF2-40B4-BE49-F238E27FC236}">
                <a16:creationId xmlns:a16="http://schemas.microsoft.com/office/drawing/2014/main" id="{25C9B30B-4990-A24E-BE33-879C4E889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571" y="1536192"/>
            <a:ext cx="274320" cy="274320"/>
          </a:xfrm>
          <a:prstGeom prst="rect">
            <a:avLst/>
          </a:prstGeom>
        </p:spPr>
      </p:pic>
      <p:cxnSp>
        <p:nvCxnSpPr>
          <p:cNvPr id="219" name="cx"/>
          <p:cNvCxnSpPr/>
          <p:nvPr/>
        </p:nvCxnSpPr>
        <p:spPr>
          <a:xfrm>
            <a:off x="4396435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20" name="tb"/>
          <p:cNvSpPr>
            <a:spLocks noGrp="1"/>
          </p:cNvSpPr>
          <p:nvPr/>
        </p:nvSpPr>
        <p:spPr>
          <a:xfrm>
            <a:off x="4341571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Enrichment</a:t>
            </a:r>
          </a:p>
        </p:txBody>
      </p:sp>
      <p:sp>
        <p:nvSpPr>
          <p:cNvPr id="221" name="tb"/>
          <p:cNvSpPr>
            <a:spLocks noGrp="1"/>
          </p:cNvSpPr>
          <p:nvPr/>
        </p:nvSpPr>
        <p:spPr>
          <a:xfrm>
            <a:off x="4350715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Add metadata &amp; features</a:t>
            </a:r>
          </a:p>
        </p:txBody>
      </p:sp>
      <p:sp>
        <p:nvSpPr>
          <p:cNvPr id="222" name="rr"/>
          <p:cNvSpPr/>
          <p:nvPr/>
        </p:nvSpPr>
        <p:spPr>
          <a:xfrm>
            <a:off x="6320333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3" name="tb"/>
          <p:cNvSpPr>
            <a:spLocks noGrp="1"/>
          </p:cNvSpPr>
          <p:nvPr/>
        </p:nvSpPr>
        <p:spPr>
          <a:xfrm>
            <a:off x="6347765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4</a:t>
            </a:r>
          </a:p>
        </p:txBody>
      </p:sp>
      <p:pic>
        <p:nvPicPr>
          <p:cNvPr id="100" name="ic" descr="Dice with solid fill">
            <a:extLst>
              <a:ext uri="{FF2B5EF4-FFF2-40B4-BE49-F238E27FC236}">
                <a16:creationId xmlns:a16="http://schemas.microsoft.com/office/drawing/2014/main" id="{3AE2B911-F364-0AD0-64EE-989F7808A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9909" y="1536192"/>
            <a:ext cx="274320" cy="274320"/>
          </a:xfrm>
          <a:prstGeom prst="rect">
            <a:avLst/>
          </a:prstGeom>
        </p:spPr>
      </p:pic>
      <p:cxnSp>
        <p:nvCxnSpPr>
          <p:cNvPr id="224" name="cx"/>
          <p:cNvCxnSpPr/>
          <p:nvPr/>
        </p:nvCxnSpPr>
        <p:spPr>
          <a:xfrm>
            <a:off x="6411773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25" name="tb"/>
          <p:cNvSpPr>
            <a:spLocks noGrp="1"/>
          </p:cNvSpPr>
          <p:nvPr/>
        </p:nvSpPr>
        <p:spPr>
          <a:xfrm>
            <a:off x="6356909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Similarity</a:t>
            </a:r>
          </a:p>
        </p:txBody>
      </p:sp>
      <p:sp>
        <p:nvSpPr>
          <p:cNvPr id="226" name="tb"/>
          <p:cNvSpPr>
            <a:spLocks noGrp="1"/>
          </p:cNvSpPr>
          <p:nvPr/>
        </p:nvSpPr>
        <p:spPr>
          <a:xfrm>
            <a:off x="6366053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Link duplicate issues</a:t>
            </a:r>
          </a:p>
        </p:txBody>
      </p:sp>
      <p:sp>
        <p:nvSpPr>
          <p:cNvPr id="227" name="rr"/>
          <p:cNvSpPr/>
          <p:nvPr/>
        </p:nvSpPr>
        <p:spPr>
          <a:xfrm>
            <a:off x="8335670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8" name="tb"/>
          <p:cNvSpPr>
            <a:spLocks noGrp="1"/>
          </p:cNvSpPr>
          <p:nvPr/>
        </p:nvSpPr>
        <p:spPr>
          <a:xfrm>
            <a:off x="8363102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5</a:t>
            </a:r>
          </a:p>
        </p:txBody>
      </p:sp>
      <p:pic>
        <p:nvPicPr>
          <p:cNvPr id="106" name="ic" descr="Database with solid fill">
            <a:extLst>
              <a:ext uri="{FF2B5EF4-FFF2-40B4-BE49-F238E27FC236}">
                <a16:creationId xmlns:a16="http://schemas.microsoft.com/office/drawing/2014/main" id="{2C514C09-5691-7149-709F-E5212AB6B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5246" y="1536192"/>
            <a:ext cx="274320" cy="274320"/>
          </a:xfrm>
          <a:prstGeom prst="rect">
            <a:avLst/>
          </a:prstGeom>
        </p:spPr>
      </p:pic>
      <p:cxnSp>
        <p:nvCxnSpPr>
          <p:cNvPr id="229" name="cx"/>
          <p:cNvCxnSpPr/>
          <p:nvPr/>
        </p:nvCxnSpPr>
        <p:spPr>
          <a:xfrm>
            <a:off x="8427110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30" name="tb"/>
          <p:cNvSpPr>
            <a:spLocks noGrp="1"/>
          </p:cNvSpPr>
          <p:nvPr/>
        </p:nvSpPr>
        <p:spPr>
          <a:xfrm>
            <a:off x="8372246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Data Generation</a:t>
            </a:r>
          </a:p>
        </p:txBody>
      </p:sp>
      <p:sp>
        <p:nvSpPr>
          <p:cNvPr id="231" name="tb"/>
          <p:cNvSpPr>
            <a:spLocks noGrp="1"/>
          </p:cNvSpPr>
          <p:nvPr/>
        </p:nvSpPr>
        <p:spPr>
          <a:xfrm>
            <a:off x="8381390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Build support artifacts</a:t>
            </a:r>
          </a:p>
        </p:txBody>
      </p:sp>
      <p:sp>
        <p:nvSpPr>
          <p:cNvPr id="232" name="rr"/>
          <p:cNvSpPr/>
          <p:nvPr/>
        </p:nvSpPr>
        <p:spPr>
          <a:xfrm>
            <a:off x="10351008" y="1481328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E8F7FE"/>
          </a:solidFill>
          <a:ln w="9525">
            <a:solidFill>
              <a:srgbClr val="7FCDEE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3" name="tb"/>
          <p:cNvSpPr>
            <a:spLocks noGrp="1"/>
          </p:cNvSpPr>
          <p:nvPr/>
        </p:nvSpPr>
        <p:spPr>
          <a:xfrm>
            <a:off x="10378440" y="1508760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6</a:t>
            </a:r>
          </a:p>
        </p:txBody>
      </p:sp>
      <p:pic>
        <p:nvPicPr>
          <p:cNvPr id="97" name="ic" descr="preencoded.png">
            <a:extLst>
              <a:ext uri="{FF2B5EF4-FFF2-40B4-BE49-F238E27FC236}">
                <a16:creationId xmlns:a16="http://schemas.microsoft.com/office/drawing/2014/main" id="{A8DB4F71-C036-3503-CD31-4BEB32E65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30584" y="1536192"/>
            <a:ext cx="274320" cy="274320"/>
          </a:xfrm>
          <a:prstGeom prst="rect">
            <a:avLst/>
          </a:prstGeom>
        </p:spPr>
      </p:pic>
      <p:cxnSp>
        <p:nvCxnSpPr>
          <p:cNvPr id="234" name="cx"/>
          <p:cNvCxnSpPr/>
          <p:nvPr/>
        </p:nvCxnSpPr>
        <p:spPr>
          <a:xfrm>
            <a:off x="10442448" y="1883664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35" name="tb"/>
          <p:cNvSpPr>
            <a:spLocks noGrp="1"/>
          </p:cNvSpPr>
          <p:nvPr/>
        </p:nvSpPr>
        <p:spPr>
          <a:xfrm>
            <a:off x="10387584" y="1911096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Delivery</a:t>
            </a:r>
          </a:p>
        </p:txBody>
      </p:sp>
      <p:sp>
        <p:nvSpPr>
          <p:cNvPr id="236" name="tb"/>
          <p:cNvSpPr>
            <a:spLocks noGrp="1"/>
          </p:cNvSpPr>
          <p:nvPr/>
        </p:nvSpPr>
        <p:spPr>
          <a:xfrm>
            <a:off x="10396728" y="2167128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Export ST-ready JSON</a:t>
            </a:r>
          </a:p>
        </p:txBody>
      </p:sp>
      <p:cxnSp>
        <p:nvCxnSpPr>
          <p:cNvPr id="237" name="cx"/>
          <p:cNvCxnSpPr/>
          <p:nvPr/>
        </p:nvCxnSpPr>
        <p:spPr>
          <a:xfrm>
            <a:off x="1847088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38" name="rr"/>
          <p:cNvSpPr/>
          <p:nvPr/>
        </p:nvSpPr>
        <p:spPr>
          <a:xfrm>
            <a:off x="1327709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tb"/>
          <p:cNvSpPr>
            <a:spLocks noGrp="1"/>
          </p:cNvSpPr>
          <p:nvPr/>
        </p:nvSpPr>
        <p:spPr>
          <a:xfrm>
            <a:off x="1345997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Raw GitHub Data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raw_issues/files/prs/commits.json</a:t>
            </a:r>
          </a:p>
        </p:txBody>
      </p:sp>
      <p:cxnSp>
        <p:nvCxnSpPr>
          <p:cNvPr id="240" name="cx"/>
          <p:cNvCxnSpPr/>
          <p:nvPr/>
        </p:nvCxnSpPr>
        <p:spPr>
          <a:xfrm>
            <a:off x="3862426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1" name="rr"/>
          <p:cNvSpPr/>
          <p:nvPr/>
        </p:nvSpPr>
        <p:spPr>
          <a:xfrm>
            <a:off x="3343046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b"/>
          <p:cNvSpPr>
            <a:spLocks noGrp="1"/>
          </p:cNvSpPr>
          <p:nvPr/>
        </p:nvSpPr>
        <p:spPr>
          <a:xfrm>
            <a:off x="3361334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Clean Documents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clean_issues · clean_files.json</a:t>
            </a:r>
          </a:p>
        </p:txBody>
      </p:sp>
      <p:cxnSp>
        <p:nvCxnSpPr>
          <p:cNvPr id="243" name="cx"/>
          <p:cNvCxnSpPr/>
          <p:nvPr/>
        </p:nvCxnSpPr>
        <p:spPr>
          <a:xfrm>
            <a:off x="5877763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4" name="rr"/>
          <p:cNvSpPr/>
          <p:nvPr/>
        </p:nvSpPr>
        <p:spPr>
          <a:xfrm>
            <a:off x="5358384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tb"/>
          <p:cNvSpPr>
            <a:spLocks noGrp="1"/>
          </p:cNvSpPr>
          <p:nvPr/>
        </p:nvSpPr>
        <p:spPr>
          <a:xfrm>
            <a:off x="5376672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Enriched Documents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docs_issues_v2 · docs_files_v2.json</a:t>
            </a:r>
          </a:p>
        </p:txBody>
      </p:sp>
      <p:cxnSp>
        <p:nvCxnSpPr>
          <p:cNvPr id="246" name="cx"/>
          <p:cNvCxnSpPr/>
          <p:nvPr/>
        </p:nvCxnSpPr>
        <p:spPr>
          <a:xfrm>
            <a:off x="7893101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47" name="rr"/>
          <p:cNvSpPr/>
          <p:nvPr/>
        </p:nvSpPr>
        <p:spPr>
          <a:xfrm>
            <a:off x="7373722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b"/>
          <p:cNvSpPr>
            <a:spLocks noGrp="1"/>
          </p:cNvSpPr>
          <p:nvPr/>
        </p:nvSpPr>
        <p:spPr>
          <a:xfrm>
            <a:off x="7392010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Linked Issues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related_issue_ids</a:t>
            </a:r>
          </a:p>
        </p:txBody>
      </p:sp>
      <p:cxnSp>
        <p:nvCxnSpPr>
          <p:cNvPr id="249" name="cx"/>
          <p:cNvCxnSpPr/>
          <p:nvPr/>
        </p:nvCxnSpPr>
        <p:spPr>
          <a:xfrm>
            <a:off x="9908438" y="1965960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50" name="rr"/>
          <p:cNvSpPr/>
          <p:nvPr/>
        </p:nvSpPr>
        <p:spPr>
          <a:xfrm>
            <a:off x="9389059" y="1051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tb"/>
          <p:cNvSpPr>
            <a:spLocks noGrp="1"/>
          </p:cNvSpPr>
          <p:nvPr/>
        </p:nvSpPr>
        <p:spPr>
          <a:xfrm>
            <a:off x="9407347" y="1069848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Support Artifacts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Resolver + Diagnostic Cards</a:t>
            </a:r>
          </a:p>
        </p:txBody>
      </p:sp>
      <p:sp>
        <p:nvSpPr>
          <p:cNvPr id="252" name="rr"/>
          <p:cNvSpPr/>
          <p:nvPr/>
        </p:nvSpPr>
        <p:spPr>
          <a:xfrm>
            <a:off x="274320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b"/>
          <p:cNvSpPr>
            <a:spLocks noGrp="1"/>
          </p:cNvSpPr>
          <p:nvPr/>
        </p:nvSpPr>
        <p:spPr>
          <a:xfrm>
            <a:off x="310896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r>
              <a:rPr lang="en-US" sz="650" b="1" dirty="0">
                <a:solidFill>
                  <a:srgbClr val="94A3B8"/>
                </a:solidFill>
              </a:rPr>
              <a:t>IN</a:t>
            </a:r>
            <a:r>
              <a:rPr lang="en-US" sz="650" b="1" dirty="0">
                <a:solidFill>
                  <a:srgbClr val="94A3B8"/>
                </a:solidFill>
                <a:latin typeface="Arial"/>
              </a:rPr>
              <a:t>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GitHub repositories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Raw JSON datasets</a:t>
            </a:r>
          </a:p>
        </p:txBody>
      </p:sp>
      <p:sp>
        <p:nvSpPr>
          <p:cNvPr id="254" name="rr"/>
          <p:cNvSpPr/>
          <p:nvPr/>
        </p:nvSpPr>
        <p:spPr>
          <a:xfrm>
            <a:off x="2289658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tb"/>
          <p:cNvSpPr>
            <a:spLocks noGrp="1"/>
          </p:cNvSpPr>
          <p:nvPr/>
        </p:nvSpPr>
        <p:spPr>
          <a:xfrm>
            <a:off x="2326234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Raw JSON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Clean documents</a:t>
            </a:r>
          </a:p>
        </p:txBody>
      </p:sp>
      <p:sp>
        <p:nvSpPr>
          <p:cNvPr id="256" name="rr"/>
          <p:cNvSpPr/>
          <p:nvPr/>
        </p:nvSpPr>
        <p:spPr>
          <a:xfrm>
            <a:off x="4304995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tb"/>
          <p:cNvSpPr>
            <a:spLocks noGrp="1"/>
          </p:cNvSpPr>
          <p:nvPr/>
        </p:nvSpPr>
        <p:spPr>
          <a:xfrm>
            <a:off x="4341571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Clean documents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Structured docs + metadata</a:t>
            </a:r>
          </a:p>
        </p:txBody>
      </p:sp>
      <p:sp>
        <p:nvSpPr>
          <p:cNvPr id="258" name="rr"/>
          <p:cNvSpPr/>
          <p:nvPr/>
        </p:nvSpPr>
        <p:spPr>
          <a:xfrm>
            <a:off x="6320333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tb"/>
          <p:cNvSpPr>
            <a:spLocks noGrp="1"/>
          </p:cNvSpPr>
          <p:nvPr/>
        </p:nvSpPr>
        <p:spPr>
          <a:xfrm>
            <a:off x="6356909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Enriched issues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Linked issues</a:t>
            </a:r>
          </a:p>
        </p:txBody>
      </p:sp>
      <p:sp>
        <p:nvSpPr>
          <p:cNvPr id="260" name="rr"/>
          <p:cNvSpPr/>
          <p:nvPr/>
        </p:nvSpPr>
        <p:spPr>
          <a:xfrm>
            <a:off x="8335670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tb"/>
          <p:cNvSpPr>
            <a:spLocks noGrp="1"/>
          </p:cNvSpPr>
          <p:nvPr/>
        </p:nvSpPr>
        <p:spPr>
          <a:xfrm>
            <a:off x="8372246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Issues·PRs·commits·files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Resolver &amp; Diagnostic cards</a:t>
            </a:r>
          </a:p>
        </p:txBody>
      </p:sp>
      <p:sp>
        <p:nvSpPr>
          <p:cNvPr id="262" name="rr"/>
          <p:cNvSpPr/>
          <p:nvPr/>
        </p:nvSpPr>
        <p:spPr>
          <a:xfrm>
            <a:off x="10351008" y="25146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tb"/>
          <p:cNvSpPr>
            <a:spLocks noGrp="1"/>
          </p:cNvSpPr>
          <p:nvPr/>
        </p:nvSpPr>
        <p:spPr>
          <a:xfrm>
            <a:off x="10387584" y="2532888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All generated artifacts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ST-ready JSON</a:t>
            </a:r>
          </a:p>
        </p:txBody>
      </p:sp>
      <p:sp>
        <p:nvSpPr>
          <p:cNvPr id="264" name="rr"/>
          <p:cNvSpPr/>
          <p:nvPr/>
        </p:nvSpPr>
        <p:spPr>
          <a:xfrm>
            <a:off x="1465982" y="265176"/>
            <a:ext cx="4590288" cy="438912"/>
          </a:xfrm>
          <a:prstGeom prst="roundRect">
            <a:avLst>
              <a:gd name="adj" fmla="val 10000"/>
            </a:avLst>
          </a:prstGeom>
          <a:solidFill>
            <a:srgbClr val="FFF3EB"/>
          </a:solidFill>
          <a:ln w="952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b"/>
          <p:cNvSpPr>
            <a:spLocks noGrp="1"/>
          </p:cNvSpPr>
          <p:nvPr/>
        </p:nvSpPr>
        <p:spPr>
          <a:xfrm>
            <a:off x="1557422" y="292608"/>
            <a:ext cx="4407408" cy="182880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50" b="1" dirty="0">
                <a:solidFill>
                  <a:srgbClr val="EA580C"/>
                </a:solidFill>
                <a:latin typeface="Arial"/>
              </a:rPr>
              <a:t>ALFRED · Path A — PDF figure pipeline  (injects Figure Descriptions)</a:t>
            </a:r>
          </a:p>
        </p:txBody>
      </p:sp>
      <p:sp>
        <p:nvSpPr>
          <p:cNvPr id="266" name="tb"/>
          <p:cNvSpPr>
            <a:spLocks noGrp="1"/>
          </p:cNvSpPr>
          <p:nvPr/>
        </p:nvSpPr>
        <p:spPr>
          <a:xfrm>
            <a:off x="1557422" y="466344"/>
            <a:ext cx="4407408" cy="219456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20" dirty="0">
                <a:solidFill>
                  <a:srgbClr val="9A3412"/>
                </a:solidFill>
                <a:latin typeface="Arial"/>
              </a:rPr>
              <a:t>PDF Documents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Render Pages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Figure Detection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b="1" dirty="0">
                <a:solidFill>
                  <a:srgbClr val="EA580C"/>
                </a:solidFill>
                <a:latin typeface="Arial"/>
              </a:rPr>
              <a:t>ALFRED Vision API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Figure Descriptions</a:t>
            </a:r>
          </a:p>
        </p:txBody>
      </p:sp>
      <p:cxnSp>
        <p:nvCxnSpPr>
          <p:cNvPr id="267" name="cx"/>
          <p:cNvCxnSpPr>
            <a:cxnSpLocks/>
          </p:cNvCxnSpPr>
          <p:nvPr/>
        </p:nvCxnSpPr>
        <p:spPr>
          <a:xfrm>
            <a:off x="5082235" y="704088"/>
            <a:ext cx="0" cy="768096"/>
          </a:xfrm>
          <a:prstGeom prst="straightConnector1">
            <a:avLst/>
          </a:prstGeom>
          <a:ln w="15875">
            <a:solidFill>
              <a:srgbClr val="EA580C"/>
            </a:solidFill>
            <a:prstDash val="solid"/>
            <a:round/>
            <a:tailEnd type="triangle" w="med" len="med"/>
          </a:ln>
        </p:spPr>
      </p:cxnSp>
      <p:sp>
        <p:nvSpPr>
          <p:cNvPr id="268" name="rr"/>
          <p:cNvSpPr/>
          <p:nvPr/>
        </p:nvSpPr>
        <p:spPr>
          <a:xfrm>
            <a:off x="10332720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>
            <a:spLocks noGrp="1"/>
          </p:cNvSpPr>
          <p:nvPr/>
        </p:nvSpPr>
        <p:spPr>
          <a:xfrm>
            <a:off x="10360152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7</a:t>
            </a:r>
          </a:p>
        </p:txBody>
      </p:sp>
      <p:pic>
        <p:nvPicPr>
          <p:cNvPr id="67" name="ic" descr="preencoded.png">
            <a:extLst>
              <a:ext uri="{FF2B5EF4-FFF2-40B4-BE49-F238E27FC236}">
                <a16:creationId xmlns:a16="http://schemas.microsoft.com/office/drawing/2014/main" id="{1E9BB13F-0395-4ECD-7A9A-8897575CBA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2296" y="4315968"/>
            <a:ext cx="274320" cy="274320"/>
          </a:xfrm>
          <a:prstGeom prst="rect">
            <a:avLst/>
          </a:prstGeom>
        </p:spPr>
      </p:pic>
      <p:cxnSp>
        <p:nvCxnSpPr>
          <p:cNvPr id="270" name="cx"/>
          <p:cNvCxnSpPr/>
          <p:nvPr/>
        </p:nvCxnSpPr>
        <p:spPr>
          <a:xfrm>
            <a:off x="10424160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71" name="tb"/>
          <p:cNvSpPr>
            <a:spLocks noGrp="1"/>
          </p:cNvSpPr>
          <p:nvPr/>
        </p:nvSpPr>
        <p:spPr>
          <a:xfrm>
            <a:off x="10369296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Chunking</a:t>
            </a:r>
          </a:p>
        </p:txBody>
      </p:sp>
      <p:sp>
        <p:nvSpPr>
          <p:cNvPr id="272" name="tb"/>
          <p:cNvSpPr>
            <a:spLocks noGrp="1"/>
          </p:cNvSpPr>
          <p:nvPr/>
        </p:nvSpPr>
        <p:spPr>
          <a:xfrm>
            <a:off x="10378440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Split into chunks</a:t>
            </a:r>
          </a:p>
        </p:txBody>
      </p:sp>
      <p:sp>
        <p:nvSpPr>
          <p:cNvPr id="273" name="rr"/>
          <p:cNvSpPr/>
          <p:nvPr/>
        </p:nvSpPr>
        <p:spPr>
          <a:xfrm>
            <a:off x="8317382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4" name="tb"/>
          <p:cNvSpPr>
            <a:spLocks noGrp="1"/>
          </p:cNvSpPr>
          <p:nvPr/>
        </p:nvSpPr>
        <p:spPr>
          <a:xfrm>
            <a:off x="8344814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8</a:t>
            </a:r>
          </a:p>
        </p:txBody>
      </p:sp>
      <p:pic>
        <p:nvPicPr>
          <p:cNvPr id="135" name="ic" descr="Binaire avec un remplissage uni">
            <a:extLst>
              <a:ext uri="{FF2B5EF4-FFF2-40B4-BE49-F238E27FC236}">
                <a16:creationId xmlns:a16="http://schemas.microsoft.com/office/drawing/2014/main" id="{D54E21EE-601C-CB10-7626-D2BB4D92E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96958" y="4315968"/>
            <a:ext cx="274320" cy="274320"/>
          </a:xfrm>
          <a:prstGeom prst="rect">
            <a:avLst/>
          </a:prstGeom>
        </p:spPr>
      </p:pic>
      <p:cxnSp>
        <p:nvCxnSpPr>
          <p:cNvPr id="275" name="cx"/>
          <p:cNvCxnSpPr/>
          <p:nvPr/>
        </p:nvCxnSpPr>
        <p:spPr>
          <a:xfrm>
            <a:off x="8408822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76" name="tb"/>
          <p:cNvSpPr>
            <a:spLocks noGrp="1"/>
          </p:cNvSpPr>
          <p:nvPr/>
        </p:nvSpPr>
        <p:spPr>
          <a:xfrm>
            <a:off x="8353958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Embeddings</a:t>
            </a:r>
          </a:p>
        </p:txBody>
      </p:sp>
      <p:sp>
        <p:nvSpPr>
          <p:cNvPr id="277" name="tb"/>
          <p:cNvSpPr>
            <a:spLocks noGrp="1"/>
          </p:cNvSpPr>
          <p:nvPr/>
        </p:nvSpPr>
        <p:spPr>
          <a:xfrm>
            <a:off x="8363102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Vectorize chunks</a:t>
            </a:r>
          </a:p>
        </p:txBody>
      </p:sp>
      <p:sp>
        <p:nvSpPr>
          <p:cNvPr id="278" name="rr"/>
          <p:cNvSpPr/>
          <p:nvPr/>
        </p:nvSpPr>
        <p:spPr>
          <a:xfrm>
            <a:off x="6302045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1FCF5"/>
          </a:solidFill>
          <a:ln w="9525">
            <a:solidFill>
              <a:srgbClr val="86D9A6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9" name="tb"/>
          <p:cNvSpPr>
            <a:spLocks noGrp="1"/>
          </p:cNvSpPr>
          <p:nvPr/>
        </p:nvSpPr>
        <p:spPr>
          <a:xfrm>
            <a:off x="6329477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9</a:t>
            </a:r>
          </a:p>
        </p:txBody>
      </p:sp>
      <p:pic>
        <p:nvPicPr>
          <p:cNvPr id="137" name="ic" descr="Formes simples avec un remplissage uni">
            <a:extLst>
              <a:ext uri="{FF2B5EF4-FFF2-40B4-BE49-F238E27FC236}">
                <a16:creationId xmlns:a16="http://schemas.microsoft.com/office/drawing/2014/main" id="{E2EF378E-076A-6585-F52F-020A9AD46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81621" y="4315968"/>
            <a:ext cx="274320" cy="274320"/>
          </a:xfrm>
          <a:prstGeom prst="rect">
            <a:avLst/>
          </a:prstGeom>
        </p:spPr>
      </p:pic>
      <p:cxnSp>
        <p:nvCxnSpPr>
          <p:cNvPr id="280" name="cx"/>
          <p:cNvCxnSpPr/>
          <p:nvPr/>
        </p:nvCxnSpPr>
        <p:spPr>
          <a:xfrm>
            <a:off x="6393485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81" name="tb"/>
          <p:cNvSpPr>
            <a:spLocks noGrp="1"/>
          </p:cNvSpPr>
          <p:nvPr/>
        </p:nvSpPr>
        <p:spPr>
          <a:xfrm>
            <a:off x="6338621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Indexing</a:t>
            </a:r>
          </a:p>
        </p:txBody>
      </p:sp>
      <p:sp>
        <p:nvSpPr>
          <p:cNvPr id="282" name="tb"/>
          <p:cNvSpPr>
            <a:spLocks noGrp="1"/>
          </p:cNvSpPr>
          <p:nvPr/>
        </p:nvSpPr>
        <p:spPr>
          <a:xfrm>
            <a:off x="6347765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Store in knowledge base</a:t>
            </a:r>
          </a:p>
        </p:txBody>
      </p:sp>
      <p:sp>
        <p:nvSpPr>
          <p:cNvPr id="283" name="rr"/>
          <p:cNvSpPr/>
          <p:nvPr/>
        </p:nvSpPr>
        <p:spPr>
          <a:xfrm>
            <a:off x="4286707" y="4261104"/>
            <a:ext cx="1554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" dist="19050" dir="5400000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4" name="tb"/>
          <p:cNvSpPr>
            <a:spLocks noGrp="1"/>
          </p:cNvSpPr>
          <p:nvPr/>
        </p:nvSpPr>
        <p:spPr>
          <a:xfrm>
            <a:off x="4314139" y="4288536"/>
            <a:ext cx="384048" cy="292608"/>
          </a:xfrm>
          <a:prstGeom prst="rect">
            <a:avLst/>
          </a:prstGeom>
          <a:noFill/>
        </p:spPr>
        <p:txBody>
          <a:bodyPr wrap="square" lIns="54864" tIns="18288" rIns="54864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0D9488"/>
                </a:solidFill>
                <a:latin typeface="Arial"/>
              </a:rPr>
              <a:t>10</a:t>
            </a:r>
          </a:p>
        </p:txBody>
      </p:sp>
      <p:pic>
        <p:nvPicPr>
          <p:cNvPr id="90" name="ic" descr="preencoded.png">
            <a:extLst>
              <a:ext uri="{FF2B5EF4-FFF2-40B4-BE49-F238E27FC236}">
                <a16:creationId xmlns:a16="http://schemas.microsoft.com/office/drawing/2014/main" id="{8B12F919-448C-CF12-2AE4-5FE8FA353F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6283" y="4315968"/>
            <a:ext cx="274320" cy="274320"/>
          </a:xfrm>
          <a:prstGeom prst="rect">
            <a:avLst/>
          </a:prstGeom>
        </p:spPr>
      </p:pic>
      <p:cxnSp>
        <p:nvCxnSpPr>
          <p:cNvPr id="285" name="cx"/>
          <p:cNvCxnSpPr/>
          <p:nvPr/>
        </p:nvCxnSpPr>
        <p:spPr>
          <a:xfrm>
            <a:off x="4378147" y="4663440"/>
            <a:ext cx="13716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  <a:round/>
          </a:ln>
        </p:spPr>
      </p:cxnSp>
      <p:sp>
        <p:nvSpPr>
          <p:cNvPr id="286" name="tb"/>
          <p:cNvSpPr>
            <a:spLocks noGrp="1"/>
          </p:cNvSpPr>
          <p:nvPr/>
        </p:nvSpPr>
        <p:spPr>
          <a:xfrm>
            <a:off x="4323283" y="4690872"/>
            <a:ext cx="1481328" cy="256032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1050" b="1" dirty="0">
                <a:solidFill>
                  <a:srgbClr val="1B2A3B"/>
                </a:solidFill>
                <a:latin typeface="Arial"/>
              </a:rPr>
              <a:t>Quality Index</a:t>
            </a:r>
          </a:p>
        </p:txBody>
      </p:sp>
      <p:sp>
        <p:nvSpPr>
          <p:cNvPr id="287" name="tb"/>
          <p:cNvSpPr>
            <a:spLocks noGrp="1"/>
          </p:cNvSpPr>
          <p:nvPr/>
        </p:nvSpPr>
        <p:spPr>
          <a:xfrm>
            <a:off x="4332427" y="4946904"/>
            <a:ext cx="1463040" cy="246888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800" dirty="0">
                <a:solidFill>
                  <a:srgbClr val="64748B"/>
                </a:solidFill>
                <a:latin typeface="Arial"/>
              </a:rPr>
              <a:t>Test · 50 ref. questions</a:t>
            </a:r>
          </a:p>
        </p:txBody>
      </p:sp>
      <p:cxnSp>
        <p:nvCxnSpPr>
          <p:cNvPr id="288" name="cx"/>
          <p:cNvCxnSpPr/>
          <p:nvPr/>
        </p:nvCxnSpPr>
        <p:spPr>
          <a:xfrm flipH="1">
            <a:off x="9890150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89" name="rr"/>
          <p:cNvSpPr/>
          <p:nvPr/>
        </p:nvSpPr>
        <p:spPr>
          <a:xfrm>
            <a:off x="9370771" y="392277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tb"/>
          <p:cNvSpPr>
            <a:spLocks noGrp="1"/>
          </p:cNvSpPr>
          <p:nvPr/>
        </p:nvSpPr>
        <p:spPr>
          <a:xfrm>
            <a:off x="9389059" y="3941064"/>
            <a:ext cx="1426464" cy="201168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Chunks</a:t>
            </a:r>
          </a:p>
        </p:txBody>
      </p:sp>
      <p:cxnSp>
        <p:nvCxnSpPr>
          <p:cNvPr id="291" name="cx"/>
          <p:cNvCxnSpPr/>
          <p:nvPr/>
        </p:nvCxnSpPr>
        <p:spPr>
          <a:xfrm flipH="1">
            <a:off x="7874813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92" name="rr"/>
          <p:cNvSpPr/>
          <p:nvPr/>
        </p:nvSpPr>
        <p:spPr>
          <a:xfrm>
            <a:off x="7355434" y="3849624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tb"/>
          <p:cNvSpPr>
            <a:spLocks noGrp="1"/>
          </p:cNvSpPr>
          <p:nvPr/>
        </p:nvSpPr>
        <p:spPr>
          <a:xfrm>
            <a:off x="7373722" y="3867912"/>
            <a:ext cx="1426464" cy="347472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1536-d embeddings</a:t>
            </a:r>
          </a:p>
          <a:p>
            <a:pPr algn="ctr">
              <a:spcBef>
                <a:spcPts val="90"/>
              </a:spcBef>
            </a:pPr>
            <a:r>
              <a:rPr lang="en-US" sz="600" dirty="0">
                <a:solidFill>
                  <a:srgbClr val="64748B"/>
                </a:solidFill>
                <a:latin typeface="Arial"/>
              </a:rPr>
              <a:t>Ada V2</a:t>
            </a:r>
          </a:p>
        </p:txBody>
      </p:sp>
      <p:cxnSp>
        <p:nvCxnSpPr>
          <p:cNvPr id="294" name="cx"/>
          <p:cNvCxnSpPr/>
          <p:nvPr/>
        </p:nvCxnSpPr>
        <p:spPr>
          <a:xfrm flipH="1">
            <a:off x="5859475" y="4745736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295" name="rr"/>
          <p:cNvSpPr/>
          <p:nvPr/>
        </p:nvSpPr>
        <p:spPr>
          <a:xfrm>
            <a:off x="5340096" y="3922776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tb"/>
          <p:cNvSpPr>
            <a:spLocks noGrp="1"/>
          </p:cNvSpPr>
          <p:nvPr/>
        </p:nvSpPr>
        <p:spPr>
          <a:xfrm>
            <a:off x="5358384" y="3941064"/>
            <a:ext cx="1426464" cy="201168"/>
          </a:xfrm>
          <a:prstGeom prst="rect">
            <a:avLst/>
          </a:prstGeom>
          <a:noFill/>
        </p:spPr>
        <p:txBody>
          <a:bodyPr wrap="square" lIns="18288" tIns="3657" rIns="18288" bIns="3657" rtlCol="0" anchor="ctr">
            <a:normAutofit/>
          </a:bodyPr>
          <a:lstStyle/>
          <a:p>
            <a:pPr algn="ctr"/>
            <a:r>
              <a:rPr lang="en-US" sz="730" b="1" dirty="0">
                <a:solidFill>
                  <a:srgbClr val="0D9488"/>
                </a:solidFill>
                <a:latin typeface="Arial"/>
              </a:rPr>
              <a:t>Indexed Knowledge Base</a:t>
            </a:r>
          </a:p>
        </p:txBody>
      </p:sp>
      <p:sp>
        <p:nvSpPr>
          <p:cNvPr id="297" name="rr"/>
          <p:cNvSpPr/>
          <p:nvPr/>
        </p:nvSpPr>
        <p:spPr>
          <a:xfrm>
            <a:off x="10332720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b"/>
          <p:cNvSpPr>
            <a:spLocks noGrp="1"/>
          </p:cNvSpPr>
          <p:nvPr/>
        </p:nvSpPr>
        <p:spPr>
          <a:xfrm>
            <a:off x="10369296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ST-ready JSON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Chunks</a:t>
            </a:r>
          </a:p>
        </p:txBody>
      </p:sp>
      <p:sp>
        <p:nvSpPr>
          <p:cNvPr id="299" name="rr"/>
          <p:cNvSpPr/>
          <p:nvPr/>
        </p:nvSpPr>
        <p:spPr>
          <a:xfrm>
            <a:off x="8317382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tb"/>
          <p:cNvSpPr>
            <a:spLocks noGrp="1"/>
          </p:cNvSpPr>
          <p:nvPr/>
        </p:nvSpPr>
        <p:spPr>
          <a:xfrm>
            <a:off x="8353958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Chunks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Embedding vectors</a:t>
            </a:r>
          </a:p>
        </p:txBody>
      </p:sp>
      <p:sp>
        <p:nvSpPr>
          <p:cNvPr id="301" name="rr"/>
          <p:cNvSpPr/>
          <p:nvPr/>
        </p:nvSpPr>
        <p:spPr>
          <a:xfrm>
            <a:off x="6302045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tb"/>
          <p:cNvSpPr>
            <a:spLocks noGrp="1"/>
          </p:cNvSpPr>
          <p:nvPr/>
        </p:nvSpPr>
        <p:spPr>
          <a:xfrm>
            <a:off x="6338621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Embeddings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0D9488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Knowledge Base</a:t>
            </a:r>
          </a:p>
        </p:txBody>
      </p:sp>
      <p:sp>
        <p:nvSpPr>
          <p:cNvPr id="303" name="rr"/>
          <p:cNvSpPr/>
          <p:nvPr/>
        </p:nvSpPr>
        <p:spPr>
          <a:xfrm>
            <a:off x="4286707" y="52943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tb"/>
          <p:cNvSpPr>
            <a:spLocks noGrp="1"/>
          </p:cNvSpPr>
          <p:nvPr/>
        </p:nvSpPr>
        <p:spPr>
          <a:xfrm>
            <a:off x="4323283" y="5312664"/>
            <a:ext cx="1481328" cy="420624"/>
          </a:xfrm>
          <a:prstGeom prst="rect">
            <a:avLst/>
          </a:prstGeom>
          <a:noFill/>
        </p:spPr>
        <p:txBody>
          <a:bodyPr wrap="square" lIns="27432" tIns="9144" rIns="27432" bIns="9144" rtlCol="0" anchor="ctr">
            <a:normAutofit/>
          </a:bodyPr>
          <a:lstStyle/>
          <a:p>
            <a:pPr algn="l"/>
            <a:r>
              <a:rPr lang="en-US" sz="650" b="1" dirty="0">
                <a:solidFill>
                  <a:srgbClr val="94A3B8"/>
                </a:solidFill>
                <a:latin typeface="Arial"/>
              </a:rPr>
              <a:t>IN  </a:t>
            </a:r>
            <a:r>
              <a:rPr lang="en-US" sz="730" dirty="0">
                <a:solidFill>
                  <a:srgbClr val="64748B"/>
                </a:solidFill>
                <a:latin typeface="Arial"/>
              </a:rPr>
              <a:t>Indexed KB + 50 Q</a:t>
            </a:r>
          </a:p>
          <a:p>
            <a:pPr algn="l">
              <a:spcBef>
                <a:spcPts val="200"/>
              </a:spcBef>
            </a:pPr>
            <a:r>
              <a:rPr lang="en-US" sz="650" b="1" dirty="0">
                <a:solidFill>
                  <a:srgbClr val="C00000"/>
                </a:solidFill>
                <a:latin typeface="Arial"/>
              </a:rPr>
              <a:t>OUT </a:t>
            </a:r>
            <a:r>
              <a:rPr lang="en-US" sz="730" b="1" dirty="0">
                <a:solidFill>
                  <a:srgbClr val="1B2A3B"/>
                </a:solidFill>
                <a:latin typeface="Arial"/>
              </a:rPr>
              <a:t>Quality score</a:t>
            </a:r>
          </a:p>
        </p:txBody>
      </p:sp>
      <p:cxnSp>
        <p:nvCxnSpPr>
          <p:cNvPr id="305" name="cx"/>
          <p:cNvCxnSpPr/>
          <p:nvPr/>
        </p:nvCxnSpPr>
        <p:spPr>
          <a:xfrm flipH="1">
            <a:off x="11109960" y="2990088"/>
            <a:ext cx="18288" cy="1261872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306" name="tb"/>
          <p:cNvSpPr>
            <a:spLocks noGrp="1"/>
          </p:cNvSpPr>
          <p:nvPr/>
        </p:nvSpPr>
        <p:spPr>
          <a:xfrm>
            <a:off x="9930384" y="2980944"/>
            <a:ext cx="1133856" cy="182880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r"/>
            <a:r>
              <a:rPr lang="en-US" sz="700" b="1" dirty="0">
                <a:solidFill>
                  <a:srgbClr val="C00000"/>
                </a:solidFill>
                <a:latin typeface="Arial"/>
              </a:rPr>
              <a:t>ST-ready JSON</a:t>
            </a:r>
          </a:p>
        </p:txBody>
      </p:sp>
      <p:sp>
        <p:nvSpPr>
          <p:cNvPr id="307" name="rr"/>
          <p:cNvSpPr/>
          <p:nvPr/>
        </p:nvSpPr>
        <p:spPr>
          <a:xfrm>
            <a:off x="4495190" y="3191256"/>
            <a:ext cx="5504688" cy="548640"/>
          </a:xfrm>
          <a:prstGeom prst="roundRect">
            <a:avLst>
              <a:gd name="adj" fmla="val 10000"/>
            </a:avLst>
          </a:prstGeom>
          <a:solidFill>
            <a:srgbClr val="FFF3EB"/>
          </a:solidFill>
          <a:ln w="952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tb"/>
          <p:cNvSpPr>
            <a:spLocks noGrp="1"/>
          </p:cNvSpPr>
          <p:nvPr/>
        </p:nvSpPr>
        <p:spPr>
          <a:xfrm>
            <a:off x="4586630" y="3218688"/>
            <a:ext cx="5321808" cy="182880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50" b="1" dirty="0">
                <a:solidFill>
                  <a:srgbClr val="EA580C"/>
                </a:solidFill>
                <a:latin typeface="Arial"/>
              </a:rPr>
              <a:t>ALFRED · Path B — issue screenshot pipeline</a:t>
            </a:r>
          </a:p>
        </p:txBody>
      </p:sp>
      <p:sp>
        <p:nvSpPr>
          <p:cNvPr id="309" name="tb"/>
          <p:cNvSpPr>
            <a:spLocks noGrp="1"/>
          </p:cNvSpPr>
          <p:nvPr/>
        </p:nvSpPr>
        <p:spPr>
          <a:xfrm>
            <a:off x="4586630" y="3392424"/>
            <a:ext cx="5321808" cy="329184"/>
          </a:xfrm>
          <a:prstGeom prst="rect">
            <a:avLst/>
          </a:prstGeom>
          <a:noFill/>
        </p:spPr>
        <p:txBody>
          <a:bodyPr wrap="square" lIns="18288" tIns="4572" rIns="18288" bIns="4572" rtlCol="0" anchor="t">
            <a:normAutofit/>
          </a:bodyPr>
          <a:lstStyle/>
          <a:p>
            <a:pPr algn="l"/>
            <a:r>
              <a:rPr lang="en-US" sz="720" dirty="0">
                <a:solidFill>
                  <a:srgbClr val="9A3412"/>
                </a:solidFill>
                <a:latin typeface="Arial"/>
              </a:rPr>
              <a:t>ST-ready Issues JSON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Download screenshots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b="1" dirty="0">
                <a:solidFill>
                  <a:srgbClr val="EA580C"/>
                </a:solidFill>
                <a:latin typeface="Arial"/>
              </a:rPr>
              <a:t>ALFRED Vision API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Image descriptions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Replace [IMAGE ATTACHED]</a:t>
            </a:r>
            <a:r>
              <a:rPr lang="en-US" sz="720" b="1" dirty="0">
                <a:solidFill>
                  <a:srgbClr val="F5A97A"/>
                </a:solidFill>
                <a:latin typeface="Arial"/>
              </a:rPr>
              <a:t>  ›  </a:t>
            </a:r>
            <a:r>
              <a:rPr lang="en-US" sz="720" dirty="0">
                <a:solidFill>
                  <a:srgbClr val="9A3412"/>
                </a:solidFill>
                <a:latin typeface="Arial"/>
              </a:rPr>
              <a:t>Updated ST-ready JSON</a:t>
            </a:r>
          </a:p>
        </p:txBody>
      </p:sp>
      <p:cxnSp>
        <p:nvCxnSpPr>
          <p:cNvPr id="310" name="cx"/>
          <p:cNvCxnSpPr>
            <a:cxnSpLocks/>
            <a:stCxn id="307" idx="3"/>
          </p:cNvCxnSpPr>
          <p:nvPr/>
        </p:nvCxnSpPr>
        <p:spPr>
          <a:xfrm>
            <a:off x="9999878" y="3465576"/>
            <a:ext cx="1128786" cy="0"/>
          </a:xfrm>
          <a:prstGeom prst="straightConnector1">
            <a:avLst/>
          </a:prstGeom>
          <a:ln w="15875">
            <a:solidFill>
              <a:srgbClr val="EA580C"/>
            </a:solidFill>
            <a:prstDash val="solid"/>
            <a:round/>
            <a:tailEnd type="triangle" w="med" len="med"/>
          </a:ln>
        </p:spPr>
      </p:cxnSp>
      <p:cxnSp>
        <p:nvCxnSpPr>
          <p:cNvPr id="314" name="cx"/>
          <p:cNvCxnSpPr>
            <a:cxnSpLocks/>
            <a:stCxn id="283" idx="1"/>
          </p:cNvCxnSpPr>
          <p:nvPr/>
        </p:nvCxnSpPr>
        <p:spPr>
          <a:xfrm flipH="1">
            <a:off x="460858" y="4745736"/>
            <a:ext cx="3825849" cy="30341"/>
          </a:xfrm>
          <a:prstGeom prst="straightConnector1">
            <a:avLst/>
          </a:prstGeom>
          <a:ln w="15875">
            <a:solidFill>
              <a:srgbClr val="0D9488"/>
            </a:solidFill>
            <a:prstDash val="dash"/>
            <a:round/>
          </a:ln>
        </p:spPr>
      </p:cxnSp>
      <p:cxnSp>
        <p:nvCxnSpPr>
          <p:cNvPr id="315" name="cx"/>
          <p:cNvCxnSpPr>
            <a:cxnSpLocks/>
          </p:cNvCxnSpPr>
          <p:nvPr/>
        </p:nvCxnSpPr>
        <p:spPr>
          <a:xfrm flipV="1">
            <a:off x="468007" y="2953512"/>
            <a:ext cx="0" cy="1792224"/>
          </a:xfrm>
          <a:prstGeom prst="straightConnector1">
            <a:avLst/>
          </a:prstGeom>
          <a:ln w="15875">
            <a:solidFill>
              <a:srgbClr val="0D9488"/>
            </a:solidFill>
            <a:prstDash val="dash"/>
            <a:round/>
            <a:tailEnd type="triangle" w="med" len="med"/>
          </a:ln>
        </p:spPr>
      </p:cxnSp>
      <p:sp>
        <p:nvSpPr>
          <p:cNvPr id="316" name="tb"/>
          <p:cNvSpPr>
            <a:spLocks noGrp="1"/>
          </p:cNvSpPr>
          <p:nvPr/>
        </p:nvSpPr>
        <p:spPr>
          <a:xfrm>
            <a:off x="-188366" y="4407409"/>
            <a:ext cx="36576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normAutofit/>
          </a:bodyPr>
          <a:lstStyle/>
          <a:p>
            <a:pPr algn="ctr"/>
            <a:r>
              <a:rPr lang="en-US" sz="760" b="1" dirty="0">
                <a:solidFill>
                  <a:srgbClr val="0D9488"/>
                </a:solidFill>
                <a:latin typeface="Arial"/>
              </a:rPr>
              <a:t>Continuous improvement</a:t>
            </a:r>
          </a:p>
          <a:p>
            <a:pPr algn="ctr">
              <a:spcBef>
                <a:spcPts val="60"/>
              </a:spcBef>
            </a:pPr>
            <a:r>
              <a:rPr lang="en-US" sz="640" dirty="0">
                <a:solidFill>
                  <a:srgbClr val="64748B"/>
                </a:solidFill>
                <a:latin typeface="Arial"/>
              </a:rPr>
              <a:t>↺ Cleaning · Enrichment · Similarity · Data Generation</a:t>
            </a:r>
          </a:p>
        </p:txBody>
      </p:sp>
      <p:pic>
        <p:nvPicPr>
          <p:cNvPr id="49" name="ic" descr="preencoded.png">
            <a:extLst>
              <a:ext uri="{FF2B5EF4-FFF2-40B4-BE49-F238E27FC236}">
                <a16:creationId xmlns:a16="http://schemas.microsoft.com/office/drawing/2014/main" id="{DF3252E8-C492-461F-5C8F-72A09F33AA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2768" y="6391656"/>
            <a:ext cx="173736" cy="173736"/>
          </a:xfrm>
          <a:prstGeom prst="rect">
            <a:avLst/>
          </a:prstGeom>
        </p:spPr>
      </p:pic>
      <p:sp>
        <p:nvSpPr>
          <p:cNvPr id="317" name="tb"/>
          <p:cNvSpPr>
            <a:spLocks noGrp="1"/>
          </p:cNvSpPr>
          <p:nvPr/>
        </p:nvSpPr>
        <p:spPr>
          <a:xfrm>
            <a:off x="625450" y="5495544"/>
            <a:ext cx="6766560" cy="292608"/>
          </a:xfrm>
          <a:prstGeom prst="rect">
            <a:avLst/>
          </a:prstGeom>
          <a:noFill/>
        </p:spPr>
        <p:txBody>
          <a:bodyPr wrap="square" lIns="36576" tIns="18288" rIns="36576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Each step is evaluated to ensure it produces valid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E3C92-FF2C-17A6-E867-95B3C853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13</a:t>
            </a:fld>
            <a:endParaRPr lang="en-US" noProof="0" dirty="0"/>
          </a:p>
        </p:txBody>
      </p:sp>
      <p:cxnSp>
        <p:nvCxnSpPr>
          <p:cNvPr id="3" name="cx">
            <a:extLst>
              <a:ext uri="{FF2B5EF4-FFF2-40B4-BE49-F238E27FC236}">
                <a16:creationId xmlns:a16="http://schemas.microsoft.com/office/drawing/2014/main" id="{904D50D2-1064-7B0D-D750-8BACFDD09219}"/>
              </a:ext>
            </a:extLst>
          </p:cNvPr>
          <p:cNvCxnSpPr/>
          <p:nvPr/>
        </p:nvCxnSpPr>
        <p:spPr>
          <a:xfrm>
            <a:off x="128223" y="5644051"/>
            <a:ext cx="424282" cy="0"/>
          </a:xfrm>
          <a:prstGeom prst="straightConnector1">
            <a:avLst/>
          </a:prstGeom>
          <a:ln w="15875">
            <a:solidFill>
              <a:srgbClr val="C00000"/>
            </a:solidFill>
            <a:prstDash val="solid"/>
            <a:round/>
            <a:tailEnd type="triangle" w="med" len="med"/>
          </a:ln>
        </p:spPr>
      </p:cxnSp>
      <p:sp>
        <p:nvSpPr>
          <p:cNvPr id="6" name="rr">
            <a:extLst>
              <a:ext uri="{FF2B5EF4-FFF2-40B4-BE49-F238E27FC236}">
                <a16:creationId xmlns:a16="http://schemas.microsoft.com/office/drawing/2014/main" id="{2ECDC647-29BC-0640-A1B4-18DCE076EF29}"/>
              </a:ext>
            </a:extLst>
          </p:cNvPr>
          <p:cNvSpPr/>
          <p:nvPr/>
        </p:nvSpPr>
        <p:spPr>
          <a:xfrm>
            <a:off x="2381098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b">
            <a:extLst>
              <a:ext uri="{FF2B5EF4-FFF2-40B4-BE49-F238E27FC236}">
                <a16:creationId xmlns:a16="http://schemas.microsoft.com/office/drawing/2014/main" id="{4BEE37F1-73A6-2F6E-19CE-ED43697C5DE2}"/>
              </a:ext>
            </a:extLst>
          </p:cNvPr>
          <p:cNvSpPr>
            <a:spLocks noGrp="1"/>
          </p:cNvSpPr>
          <p:nvPr/>
        </p:nvSpPr>
        <p:spPr>
          <a:xfrm>
            <a:off x="2655418" y="6281928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  <p:sp>
        <p:nvSpPr>
          <p:cNvPr id="10" name="rr">
            <a:extLst>
              <a:ext uri="{FF2B5EF4-FFF2-40B4-BE49-F238E27FC236}">
                <a16:creationId xmlns:a16="http://schemas.microsoft.com/office/drawing/2014/main" id="{42BBB890-76D2-CD0B-DA92-6EBABFE0706D}"/>
              </a:ext>
            </a:extLst>
          </p:cNvPr>
          <p:cNvSpPr/>
          <p:nvPr/>
        </p:nvSpPr>
        <p:spPr>
          <a:xfrm>
            <a:off x="4968850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1FCF5"/>
          </a:solidFill>
          <a:ln w="15875">
            <a:solidFill>
              <a:srgbClr val="86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b">
            <a:extLst>
              <a:ext uri="{FF2B5EF4-FFF2-40B4-BE49-F238E27FC236}">
                <a16:creationId xmlns:a16="http://schemas.microsoft.com/office/drawing/2014/main" id="{BCCDC1CB-1A1A-AB2C-403F-276B2EE07473}"/>
              </a:ext>
            </a:extLst>
          </p:cNvPr>
          <p:cNvSpPr>
            <a:spLocks noGrp="1"/>
          </p:cNvSpPr>
          <p:nvPr/>
        </p:nvSpPr>
        <p:spPr>
          <a:xfrm>
            <a:off x="5243170" y="6281928"/>
            <a:ext cx="27432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ST ChatGPT platform (RAG)</a:t>
            </a:r>
          </a:p>
        </p:txBody>
      </p:sp>
      <p:sp>
        <p:nvSpPr>
          <p:cNvPr id="14" name="rr">
            <a:extLst>
              <a:ext uri="{FF2B5EF4-FFF2-40B4-BE49-F238E27FC236}">
                <a16:creationId xmlns:a16="http://schemas.microsoft.com/office/drawing/2014/main" id="{B6283BBD-94B8-EC1C-1B8A-32922C54DDF7}"/>
              </a:ext>
            </a:extLst>
          </p:cNvPr>
          <p:cNvSpPr/>
          <p:nvPr/>
        </p:nvSpPr>
        <p:spPr>
          <a:xfrm>
            <a:off x="8077810" y="63276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587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b">
            <a:extLst>
              <a:ext uri="{FF2B5EF4-FFF2-40B4-BE49-F238E27FC236}">
                <a16:creationId xmlns:a16="http://schemas.microsoft.com/office/drawing/2014/main" id="{D921DCD5-CFAC-E6E6-4A52-32BF4A841764}"/>
              </a:ext>
            </a:extLst>
          </p:cNvPr>
          <p:cNvSpPr>
            <a:spLocks noGrp="1"/>
          </p:cNvSpPr>
          <p:nvPr/>
        </p:nvSpPr>
        <p:spPr>
          <a:xfrm>
            <a:off x="8352130" y="6281928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ALFRED Vision (image AI)</a:t>
            </a:r>
          </a:p>
        </p:txBody>
      </p:sp>
    </p:spTree>
    <p:extLst>
      <p:ext uri="{BB962C8B-B14F-4D97-AF65-F5344CB8AC3E}">
        <p14:creationId xmlns:p14="http://schemas.microsoft.com/office/powerpoint/2010/main" val="2043098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FDF2-39FE-4635-4AEC-8EFEA108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45C4-EE1F-2AAB-4396-CF592F9E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Quality Index Evolution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DCAB4E87-BF67-B839-B7C6-ECCE2C332B2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F46F1-974A-E561-B3B1-52E9AAD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3D0B436-4D60-4044-4C62-4A1579E61886}"/>
              </a:ext>
            </a:extLst>
          </p:cNvPr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1DCF035-C56D-3C6D-FA5F-02D49E62F046}"/>
              </a:ext>
            </a:extLst>
          </p:cNvPr>
          <p:cNvSpPr/>
          <p:nvPr/>
        </p:nvSpPr>
        <p:spPr>
          <a:xfrm>
            <a:off x="820341" y="94411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4346C626-EE0A-6EFB-1BE3-D9FC0E07D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4455219"/>
              </p:ext>
            </p:extLst>
          </p:nvPr>
        </p:nvGraphicFramePr>
        <p:xfrm>
          <a:off x="548640" y="141732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4">
            <a:extLst>
              <a:ext uri="{FF2B5EF4-FFF2-40B4-BE49-F238E27FC236}">
                <a16:creationId xmlns:a16="http://schemas.microsoft.com/office/drawing/2014/main" id="{4AAB8CB9-2C6E-7A26-F867-F2F4A13733D5}"/>
              </a:ext>
            </a:extLst>
          </p:cNvPr>
          <p:cNvSpPr/>
          <p:nvPr/>
        </p:nvSpPr>
        <p:spPr>
          <a:xfrm>
            <a:off x="8595360" y="19906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435F5FC-8F98-1BDF-4DD2-221F5B29D21C}"/>
              </a:ext>
            </a:extLst>
          </p:cNvPr>
          <p:cNvSpPr/>
          <p:nvPr/>
        </p:nvSpPr>
        <p:spPr>
          <a:xfrm>
            <a:off x="8732520" y="20363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 points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C11930C-8DFD-C9B1-4FB3-1FC8FE3960E1}"/>
              </a:ext>
            </a:extLst>
          </p:cNvPr>
          <p:cNvSpPr/>
          <p:nvPr/>
        </p:nvSpPr>
        <p:spPr>
          <a:xfrm>
            <a:off x="8732520" y="23564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Cards jump</a:t>
            </a: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CD2853E-7BB8-9438-BC35-CF40D30BEAD2}"/>
              </a:ext>
            </a:extLst>
          </p:cNvPr>
          <p:cNvSpPr/>
          <p:nvPr/>
        </p:nvSpPr>
        <p:spPr>
          <a:xfrm>
            <a:off x="8732520" y="26215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Hypotheses → Root cause → Fix, plus query aliases. Structure beat model tuning.</a:t>
            </a:r>
            <a:endParaRPr lang="en-US" sz="95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881C204-CF1C-E108-0B13-F844E1C095C3}"/>
              </a:ext>
            </a:extLst>
          </p:cNvPr>
          <p:cNvSpPr/>
          <p:nvPr/>
        </p:nvSpPr>
        <p:spPr>
          <a:xfrm>
            <a:off x="8595360" y="3362257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F9402689-7CCE-5A59-9B07-EEDD39024A23}"/>
              </a:ext>
            </a:extLst>
          </p:cNvPr>
          <p:cNvSpPr/>
          <p:nvPr/>
        </p:nvSpPr>
        <p:spPr>
          <a:xfrm>
            <a:off x="8732520" y="34079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 points</a:t>
            </a:r>
            <a:endParaRPr lang="en-US" sz="18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C585879-76D9-FF6E-58D0-7282C83460E3}"/>
              </a:ext>
            </a:extLst>
          </p:cNvPr>
          <p:cNvSpPr/>
          <p:nvPr/>
        </p:nvSpPr>
        <p:spPr>
          <a:xfrm>
            <a:off x="8732520" y="3728017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Multi-series dilution</a:t>
            </a:r>
            <a:endParaRPr lang="en-US" sz="1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2D69428-C64E-52D2-8400-A34B9A99CEC6}"/>
              </a:ext>
            </a:extLst>
          </p:cNvPr>
          <p:cNvSpPr/>
          <p:nvPr/>
        </p:nvSpPr>
        <p:spPr>
          <a:xfrm>
            <a:off x="8732520" y="3993193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grew from ~2k to ~14k docs. Same-name APIs across F4/H7 blur retrieval. Scaling ≠ adding data.</a:t>
            </a:r>
            <a:endParaRPr lang="en-US" sz="9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4C925F9-6CB9-4CD5-F586-524F4201B83B}"/>
              </a:ext>
            </a:extLst>
          </p:cNvPr>
          <p:cNvSpPr/>
          <p:nvPr/>
        </p:nvSpPr>
        <p:spPr>
          <a:xfrm>
            <a:off x="548640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3B"/>
                </a:solidFill>
                <a:ea typeface="Cambria" pitchFamily="34" charset="-122"/>
                <a:cs typeface="Cambria" pitchFamily="34" charset="-120"/>
              </a:rPr>
              <a:t>The biggest quality gain came from restructuring the knowledge , not from a bigger model, not from a bigger prompt.</a:t>
            </a:r>
            <a:endParaRPr lang="en-US" sz="1400" dirty="0"/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F53B4634-CDF2-5024-C859-E379C6526DDA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DED4064B-7866-2BA2-72BD-5BEF4A773D62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43346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35F5-4B85-1B49-A46F-94F92FD9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BA2C-9428-0411-A71C-BAA4E747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/>
              <a:t>Existing Platform Constraints</a:t>
            </a:r>
            <a:endParaRPr lang="en-US" sz="1800" b="1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B129508-EFA0-CD46-A001-C25BD1F438C6}"/>
              </a:ext>
            </a:extLst>
          </p:cNvPr>
          <p:cNvSpPr/>
          <p:nvPr/>
        </p:nvSpPr>
        <p:spPr>
          <a:xfrm>
            <a:off x="3380661" y="87078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47875-602D-0DAA-7991-F8B8E6F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C76AFA-37F2-C157-674A-501A8EE1889F}"/>
              </a:ext>
            </a:extLst>
          </p:cNvPr>
          <p:cNvSpPr txBox="1"/>
          <p:nvPr/>
        </p:nvSpPr>
        <p:spPr>
          <a:xfrm>
            <a:off x="674834" y="1030492"/>
            <a:ext cx="6272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 adapt to the platform,  we don't redesign it 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E4F0055-0392-3200-E383-6A319C36729D}"/>
              </a:ext>
            </a:extLst>
          </p:cNvPr>
          <p:cNvSpPr/>
          <p:nvPr/>
        </p:nvSpPr>
        <p:spPr>
          <a:xfrm>
            <a:off x="866714" y="1362751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ST ChatGPT's retrieval engine is a given. Its settings dictate what a 'good' document looks like.</a:t>
            </a:r>
            <a:endParaRPr lang="en-US" sz="13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526253-848C-2457-5D3A-B6A966D74560}"/>
              </a:ext>
            </a:extLst>
          </p:cNvPr>
          <p:cNvSpPr/>
          <p:nvPr/>
        </p:nvSpPr>
        <p:spPr>
          <a:xfrm>
            <a:off x="54602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A303DD4-6ABE-F70D-B5AF-904AFFE14E8C}"/>
              </a:ext>
            </a:extLst>
          </p:cNvPr>
          <p:cNvSpPr/>
          <p:nvPr/>
        </p:nvSpPr>
        <p:spPr>
          <a:xfrm>
            <a:off x="72890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6EC10DA-E248-7BC3-7735-0665D5A1F056}"/>
              </a:ext>
            </a:extLst>
          </p:cNvPr>
          <p:cNvSpPr/>
          <p:nvPr/>
        </p:nvSpPr>
        <p:spPr>
          <a:xfrm>
            <a:off x="72890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2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B15A9E2-CD12-7580-DFBD-5FEF2124F0F9}"/>
              </a:ext>
            </a:extLst>
          </p:cNvPr>
          <p:cNvSpPr/>
          <p:nvPr/>
        </p:nvSpPr>
        <p:spPr>
          <a:xfrm>
            <a:off x="72890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</a:t>
            </a:r>
            <a:endParaRPr lang="en-US" sz="10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D266485-5175-9450-4922-522F7369E0DA}"/>
              </a:ext>
            </a:extLst>
          </p:cNvPr>
          <p:cNvSpPr/>
          <p:nvPr/>
        </p:nvSpPr>
        <p:spPr>
          <a:xfrm>
            <a:off x="434078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3423DE2-C2A0-D33E-3144-1E95008F2CDD}"/>
              </a:ext>
            </a:extLst>
          </p:cNvPr>
          <p:cNvSpPr/>
          <p:nvPr/>
        </p:nvSpPr>
        <p:spPr>
          <a:xfrm>
            <a:off x="452366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0329AFC-6A2F-00EC-EB4D-D31667685915}"/>
              </a:ext>
            </a:extLst>
          </p:cNvPr>
          <p:cNvSpPr/>
          <p:nvPr/>
        </p:nvSpPr>
        <p:spPr>
          <a:xfrm>
            <a:off x="452366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1DC4538-02D7-373A-F95D-23C6E678DEA2}"/>
              </a:ext>
            </a:extLst>
          </p:cNvPr>
          <p:cNvSpPr/>
          <p:nvPr/>
        </p:nvSpPr>
        <p:spPr>
          <a:xfrm>
            <a:off x="452366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indexed</a:t>
            </a:r>
            <a:endParaRPr lang="en-US" sz="10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1B03158A-3F67-FB91-BC08-413466BF18C0}"/>
              </a:ext>
            </a:extLst>
          </p:cNvPr>
          <p:cNvSpPr/>
          <p:nvPr/>
        </p:nvSpPr>
        <p:spPr>
          <a:xfrm>
            <a:off x="8135541" y="184557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41636C9-E642-CCF8-DA62-09535BB83803}"/>
              </a:ext>
            </a:extLst>
          </p:cNvPr>
          <p:cNvSpPr/>
          <p:nvPr/>
        </p:nvSpPr>
        <p:spPr>
          <a:xfrm>
            <a:off x="8318421" y="198273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14CEA4EC-C2C7-4D48-C353-654A198D5837}"/>
              </a:ext>
            </a:extLst>
          </p:cNvPr>
          <p:cNvSpPr/>
          <p:nvPr/>
        </p:nvSpPr>
        <p:spPr>
          <a:xfrm>
            <a:off x="8318421" y="230277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</a:t>
            </a:r>
            <a:endParaRPr lang="en-US" sz="26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C71A5F-E07F-4D92-BF64-BF126DC2E6B7}"/>
              </a:ext>
            </a:extLst>
          </p:cNvPr>
          <p:cNvSpPr/>
          <p:nvPr/>
        </p:nvSpPr>
        <p:spPr>
          <a:xfrm>
            <a:off x="8318421" y="285141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· restored context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52AB0DF2-1010-EC3E-A588-ACA785BFA2F9}"/>
              </a:ext>
            </a:extLst>
          </p:cNvPr>
          <p:cNvSpPr/>
          <p:nvPr/>
        </p:nvSpPr>
        <p:spPr>
          <a:xfrm>
            <a:off x="54602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15EBD4C-7FAD-B79A-B0D5-DC267DBD11E3}"/>
              </a:ext>
            </a:extLst>
          </p:cNvPr>
          <p:cNvSpPr/>
          <p:nvPr/>
        </p:nvSpPr>
        <p:spPr>
          <a:xfrm>
            <a:off x="72890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477A12E-9ECE-2B98-F6C0-1D0EC1FE2086}"/>
              </a:ext>
            </a:extLst>
          </p:cNvPr>
          <p:cNvSpPr/>
          <p:nvPr/>
        </p:nvSpPr>
        <p:spPr>
          <a:xfrm>
            <a:off x="72890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2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33B993C-93AB-BBBA-435C-61089EAE11C8}"/>
              </a:ext>
            </a:extLst>
          </p:cNvPr>
          <p:cNvSpPr/>
          <p:nvPr/>
        </p:nvSpPr>
        <p:spPr>
          <a:xfrm>
            <a:off x="72890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vectors</a:t>
            </a:r>
            <a:endParaRPr lang="en-US" sz="10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905AE459-0FA9-19C1-97E7-3860FA91F6A6}"/>
              </a:ext>
            </a:extLst>
          </p:cNvPr>
          <p:cNvSpPr/>
          <p:nvPr/>
        </p:nvSpPr>
        <p:spPr>
          <a:xfrm>
            <a:off x="434078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2D4714D4-7117-DCE8-FAB2-A2C867A9E1DF}"/>
              </a:ext>
            </a:extLst>
          </p:cNvPr>
          <p:cNvSpPr/>
          <p:nvPr/>
        </p:nvSpPr>
        <p:spPr>
          <a:xfrm>
            <a:off x="452366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1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101B42EC-4E42-5813-308D-F6B27E3D618C}"/>
              </a:ext>
            </a:extLst>
          </p:cNvPr>
          <p:cNvSpPr/>
          <p:nvPr/>
        </p:nvSpPr>
        <p:spPr>
          <a:xfrm>
            <a:off x="452366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CFD8934-71E9-7428-95CD-A8ACE0B978BA}"/>
              </a:ext>
            </a:extLst>
          </p:cNvPr>
          <p:cNvSpPr/>
          <p:nvPr/>
        </p:nvSpPr>
        <p:spPr>
          <a:xfrm>
            <a:off x="452366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per indexing job</a:t>
            </a:r>
            <a:endParaRPr lang="en-US" sz="10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14FED882-8B02-6F92-3BC3-135349AF3B24}"/>
              </a:ext>
            </a:extLst>
          </p:cNvPr>
          <p:cNvSpPr/>
          <p:nvPr/>
        </p:nvSpPr>
        <p:spPr>
          <a:xfrm>
            <a:off x="8135541" y="3354333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0517FD7-DEDD-F99C-C47D-80474020F278}"/>
              </a:ext>
            </a:extLst>
          </p:cNvPr>
          <p:cNvSpPr/>
          <p:nvPr/>
        </p:nvSpPr>
        <p:spPr>
          <a:xfrm>
            <a:off x="8318421" y="3491493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C0C7414E-420A-800B-086A-2CBC2592067E}"/>
              </a:ext>
            </a:extLst>
          </p:cNvPr>
          <p:cNvSpPr/>
          <p:nvPr/>
        </p:nvSpPr>
        <p:spPr>
          <a:xfrm>
            <a:off x="8318421" y="3811533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1C66E1B-49D1-5C4C-96D2-D950DB29D6CA}"/>
              </a:ext>
            </a:extLst>
          </p:cNvPr>
          <p:cNvSpPr/>
          <p:nvPr/>
        </p:nvSpPr>
        <p:spPr>
          <a:xfrm>
            <a:off x="8318421" y="4360173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per API call</a:t>
            </a:r>
            <a:endParaRPr lang="en-US" sz="10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2890E7FE-4B8E-D63D-FD84-800B6FFBC0BF}"/>
              </a:ext>
            </a:extLst>
          </p:cNvPr>
          <p:cNvSpPr/>
          <p:nvPr/>
        </p:nvSpPr>
        <p:spPr>
          <a:xfrm>
            <a:off x="546021" y="4863093"/>
            <a:ext cx="11338560" cy="1143000"/>
          </a:xfrm>
          <a:prstGeom prst="roundRect">
            <a:avLst>
              <a:gd name="adj" fmla="val 421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80DEE4AC-6C79-7277-855D-26E75EA42FB1}"/>
              </a:ext>
            </a:extLst>
          </p:cNvPr>
          <p:cNvSpPr/>
          <p:nvPr/>
        </p:nvSpPr>
        <p:spPr>
          <a:xfrm>
            <a:off x="774621" y="500025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consequence</a:t>
            </a:r>
            <a:endParaRPr lang="en-US" sz="1500" dirty="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BF67BD94-2C84-F96A-F2D9-75B10EB0CCE9}"/>
              </a:ext>
            </a:extLst>
          </p:cNvPr>
          <p:cNvSpPr/>
          <p:nvPr/>
        </p:nvSpPr>
        <p:spPr>
          <a:xfrm>
            <a:off x="774621" y="5366013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exported document must be:  clean,  compact,  semantically dense,  traceable,  and stable under platform-side PARENT_CHILD chunking. These values are the project's input, not its output.</a:t>
            </a:r>
            <a:endParaRPr lang="en-US" sz="1250" dirty="0"/>
          </a:p>
        </p:txBody>
      </p:sp>
      <p:sp>
        <p:nvSpPr>
          <p:cNvPr id="8" name="rr">
            <a:extLst>
              <a:ext uri="{FF2B5EF4-FFF2-40B4-BE49-F238E27FC236}">
                <a16:creationId xmlns:a16="http://schemas.microsoft.com/office/drawing/2014/main" id="{8DF55C97-4102-C01C-D149-36D0AEED9661}"/>
              </a:ext>
            </a:extLst>
          </p:cNvPr>
          <p:cNvSpPr/>
          <p:nvPr/>
        </p:nvSpPr>
        <p:spPr>
          <a:xfrm>
            <a:off x="340364" y="4178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1FCF5"/>
          </a:solidFill>
          <a:ln w="15875">
            <a:solidFill>
              <a:srgbClr val="86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b">
            <a:extLst>
              <a:ext uri="{FF2B5EF4-FFF2-40B4-BE49-F238E27FC236}">
                <a16:creationId xmlns:a16="http://schemas.microsoft.com/office/drawing/2014/main" id="{1740D924-1FCF-6298-678B-C77432CA2A19}"/>
              </a:ext>
            </a:extLst>
          </p:cNvPr>
          <p:cNvSpPr>
            <a:spLocks noGrp="1"/>
          </p:cNvSpPr>
          <p:nvPr/>
        </p:nvSpPr>
        <p:spPr>
          <a:xfrm>
            <a:off x="614684" y="372124"/>
            <a:ext cx="27432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ST ChatGPT platform (RAG)</a:t>
            </a:r>
          </a:p>
        </p:txBody>
      </p:sp>
    </p:spTree>
    <p:extLst>
      <p:ext uri="{BB962C8B-B14F-4D97-AF65-F5344CB8AC3E}">
        <p14:creationId xmlns:p14="http://schemas.microsoft.com/office/powerpoint/2010/main" val="1096658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FD3E-4506-3A33-DE24-81E7F18D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E2BF-94AC-1FA3-9482-779C6CA2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910165"/>
          </a:xfrm>
        </p:spPr>
        <p:txBody>
          <a:bodyPr/>
          <a:lstStyle/>
          <a:p>
            <a:r>
              <a:rPr lang="en-US" sz="1800" b="1" noProof="0" dirty="0"/>
              <a:t>How the Pipeline Adapts to the Existing RAG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C850F99-C268-EDD5-8E10-AFC619BDDC8E}"/>
              </a:ext>
            </a:extLst>
          </p:cNvPr>
          <p:cNvSpPr/>
          <p:nvPr/>
        </p:nvSpPr>
        <p:spPr>
          <a:xfrm>
            <a:off x="3380661" y="747505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1A76-6C1D-5393-F465-1A06BE1C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F7F96F-B5B1-6065-999D-1398072680F9}"/>
              </a:ext>
            </a:extLst>
          </p:cNvPr>
          <p:cNvSpPr txBox="1"/>
          <p:nvPr/>
        </p:nvSpPr>
        <p:spPr>
          <a:xfrm>
            <a:off x="603397" y="895635"/>
            <a:ext cx="9983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Each platform constraint on the left maps to a concrete pipeline design decision on the right</a:t>
            </a: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6BA5337-FEF1-F2B3-AF3E-E56C95C9D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822887"/>
              </p:ext>
            </p:extLst>
          </p:nvPr>
        </p:nvGraphicFramePr>
        <p:xfrm>
          <a:off x="614684" y="1687847"/>
          <a:ext cx="10732258" cy="3621024"/>
        </p:xfrm>
        <a:graphic>
          <a:graphicData uri="http://schemas.openxmlformats.org/drawingml/2006/table">
            <a:tbl>
              <a:tblPr/>
              <a:tblGrid>
                <a:gridCol w="301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constraint (fixed)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design decision (our lever)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PARENT_CHILD chunking · 1 000-char 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Discriminating terms (HAL_UART, NUCLEO-H743ZI, error codes) placed at the top of every card, guaranteed to fall inside the first child.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(semantic + full-text)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carry both natural-language summaries (semantic) and exact API/board names (full-text) , feeding both retrieval branches.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jobBatchSize 60 · ~57 MB per upload 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delivery step splits the data into N smaller JSON files, and “Upload_All_Drivers.ps1” uploads them one by one in a fixed order, waiting 5 seconds between batches.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control over ranker or re-ranker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Restrictive NovaX tool description forces KB-first routing. The tool description is a configuration parameter as critical as the threshold.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is a black box , retrieval internals inaccessible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quality is measured OUTSIDE the platform: TF-IDF smoke tests + schema validation before every upload; QI campaigns after.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4">
            <a:extLst>
              <a:ext uri="{FF2B5EF4-FFF2-40B4-BE49-F238E27FC236}">
                <a16:creationId xmlns:a16="http://schemas.microsoft.com/office/drawing/2014/main" id="{DA27FA5F-5ED0-325C-BF5C-7E752D7E2EDE}"/>
              </a:ext>
            </a:extLst>
          </p:cNvPr>
          <p:cNvSpPr/>
          <p:nvPr/>
        </p:nvSpPr>
        <p:spPr>
          <a:xfrm>
            <a:off x="1751617" y="5824084"/>
            <a:ext cx="8978818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EF3DA21-8264-8010-D2CD-E629B3568964}"/>
              </a:ext>
            </a:extLst>
          </p:cNvPr>
          <p:cNvSpPr/>
          <p:nvPr/>
        </p:nvSpPr>
        <p:spPr>
          <a:xfrm>
            <a:off x="1751617" y="5824084"/>
            <a:ext cx="8978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not a workaround for the platform. It is a data-shaping layer built on top of measured platform behavior.</a:t>
            </a:r>
            <a:endParaRPr lang="en-US" sz="1300" dirty="0"/>
          </a:p>
        </p:txBody>
      </p:sp>
      <p:sp>
        <p:nvSpPr>
          <p:cNvPr id="5" name="rr">
            <a:extLst>
              <a:ext uri="{FF2B5EF4-FFF2-40B4-BE49-F238E27FC236}">
                <a16:creationId xmlns:a16="http://schemas.microsoft.com/office/drawing/2014/main" id="{AA133317-088D-5900-E6C7-B30D7DDBC85D}"/>
              </a:ext>
            </a:extLst>
          </p:cNvPr>
          <p:cNvSpPr/>
          <p:nvPr/>
        </p:nvSpPr>
        <p:spPr>
          <a:xfrm>
            <a:off x="340364" y="4178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1FCF5"/>
          </a:solidFill>
          <a:ln w="15875">
            <a:solidFill>
              <a:srgbClr val="86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2B8C3E08-8C2F-74E8-57B7-BBFA3611AE8F}"/>
              </a:ext>
            </a:extLst>
          </p:cNvPr>
          <p:cNvSpPr>
            <a:spLocks noGrp="1"/>
          </p:cNvSpPr>
          <p:nvPr/>
        </p:nvSpPr>
        <p:spPr>
          <a:xfrm>
            <a:off x="614684" y="372124"/>
            <a:ext cx="274320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ST ChatGPT platform (RAG)</a:t>
            </a:r>
          </a:p>
        </p:txBody>
      </p:sp>
    </p:spTree>
    <p:extLst>
      <p:ext uri="{BB962C8B-B14F-4D97-AF65-F5344CB8AC3E}">
        <p14:creationId xmlns:p14="http://schemas.microsoft.com/office/powerpoint/2010/main" val="1499904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94ED-BB26-2066-D5DC-8D837F18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EE9C-6E0B-1850-9334-C23A2E5C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Alfred Vision  ·  Two integration paths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52904-82EF-5F54-A308-D9816DE848D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CAD05C8-E69F-BC90-5681-713761E6DBAC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87C4-267F-F872-0155-AF610143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99B0A84-0E65-DEAA-5F59-B29F7B822E28}"/>
              </a:ext>
            </a:extLst>
          </p:cNvPr>
          <p:cNvSpPr/>
          <p:nvPr/>
        </p:nvSpPr>
        <p:spPr>
          <a:xfrm>
            <a:off x="390500" y="1469991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03A615-E681-B697-32DF-BE29E04EF378}"/>
              </a:ext>
            </a:extLst>
          </p:cNvPr>
          <p:cNvSpPr/>
          <p:nvPr/>
        </p:nvSpPr>
        <p:spPr>
          <a:xfrm>
            <a:off x="619100" y="1607151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AB3A6A2-F296-4E7D-96BE-D535E1B1F91A}"/>
              </a:ext>
            </a:extLst>
          </p:cNvPr>
          <p:cNvSpPr/>
          <p:nvPr/>
        </p:nvSpPr>
        <p:spPr>
          <a:xfrm>
            <a:off x="619100" y="1607151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3166CFB-E51F-02EF-C2D6-70B3386EE17E}"/>
              </a:ext>
            </a:extLst>
          </p:cNvPr>
          <p:cNvSpPr/>
          <p:nvPr/>
        </p:nvSpPr>
        <p:spPr>
          <a:xfrm>
            <a:off x="1899260" y="160715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  ·  BEFORE cleaning (Step 7)</a:t>
            </a:r>
            <a:endParaRPr lang="en-US" sz="12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A1A02A7-AED1-2C95-CEA4-DE0D2F3376DD}"/>
              </a:ext>
            </a:extLst>
          </p:cNvPr>
          <p:cNvSpPr/>
          <p:nvPr/>
        </p:nvSpPr>
        <p:spPr>
          <a:xfrm>
            <a:off x="619100" y="20643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D593E0F9-0106-C8AD-62CE-A95D59F925AA}"/>
              </a:ext>
            </a:extLst>
          </p:cNvPr>
          <p:cNvSpPr/>
          <p:nvPr/>
        </p:nvSpPr>
        <p:spPr>
          <a:xfrm>
            <a:off x="756260" y="216493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278AC13-DA15-685A-C1C3-AA143412AA34}"/>
              </a:ext>
            </a:extLst>
          </p:cNvPr>
          <p:cNvSpPr/>
          <p:nvPr/>
        </p:nvSpPr>
        <p:spPr>
          <a:xfrm>
            <a:off x="756260" y="21649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1A771780-8134-DFD2-3FE8-EFBF07F25D0A}"/>
              </a:ext>
            </a:extLst>
          </p:cNvPr>
          <p:cNvSpPr/>
          <p:nvPr/>
        </p:nvSpPr>
        <p:spPr>
          <a:xfrm>
            <a:off x="1122020" y="20643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docs in cloned repos</a:t>
            </a:r>
            <a:endParaRPr lang="en-US" sz="105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1CA57ADD-6AA7-B52B-A208-B77F820BFBC5}"/>
              </a:ext>
            </a:extLst>
          </p:cNvPr>
          <p:cNvSpPr/>
          <p:nvPr/>
        </p:nvSpPr>
        <p:spPr>
          <a:xfrm>
            <a:off x="619100" y="261299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0444552-9A86-15D7-E8DC-254C2CD14497}"/>
              </a:ext>
            </a:extLst>
          </p:cNvPr>
          <p:cNvSpPr/>
          <p:nvPr/>
        </p:nvSpPr>
        <p:spPr>
          <a:xfrm>
            <a:off x="756260" y="271357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87A7EE1-0695-5006-0C0B-781CB545284F}"/>
              </a:ext>
            </a:extLst>
          </p:cNvPr>
          <p:cNvSpPr/>
          <p:nvPr/>
        </p:nvSpPr>
        <p:spPr>
          <a:xfrm>
            <a:off x="756260" y="2713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57898DC-D3B5-EE14-1348-50163FB9052A}"/>
              </a:ext>
            </a:extLst>
          </p:cNvPr>
          <p:cNvSpPr/>
          <p:nvPr/>
        </p:nvSpPr>
        <p:spPr>
          <a:xfrm>
            <a:off x="1122020" y="261299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render pages @ 150 DPI</a:t>
            </a:r>
            <a:endParaRPr lang="en-US" sz="105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2996731-827E-C3D8-8881-3048A8F92553}"/>
              </a:ext>
            </a:extLst>
          </p:cNvPr>
          <p:cNvSpPr/>
          <p:nvPr/>
        </p:nvSpPr>
        <p:spPr>
          <a:xfrm>
            <a:off x="619100" y="316163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B0265486-6C41-1300-1A6D-C12A596E12F7}"/>
              </a:ext>
            </a:extLst>
          </p:cNvPr>
          <p:cNvSpPr/>
          <p:nvPr/>
        </p:nvSpPr>
        <p:spPr>
          <a:xfrm>
            <a:off x="756260" y="326221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D88795B5-2997-AB80-8F57-22E069CDD603}"/>
              </a:ext>
            </a:extLst>
          </p:cNvPr>
          <p:cNvSpPr/>
          <p:nvPr/>
        </p:nvSpPr>
        <p:spPr>
          <a:xfrm>
            <a:off x="756260" y="32622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ACDAF5B4-DA00-8C17-1CD4-7141DF0EDA55}"/>
              </a:ext>
            </a:extLst>
          </p:cNvPr>
          <p:cNvSpPr/>
          <p:nvPr/>
        </p:nvSpPr>
        <p:spPr>
          <a:xfrm>
            <a:off x="1122020" y="316163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detect + crop figures</a:t>
            </a:r>
            <a:endParaRPr lang="en-US" sz="105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1B03D08F-F6F4-ACB6-5CE3-B47DD933BF20}"/>
              </a:ext>
            </a:extLst>
          </p:cNvPr>
          <p:cNvSpPr/>
          <p:nvPr/>
        </p:nvSpPr>
        <p:spPr>
          <a:xfrm>
            <a:off x="619100" y="371027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15F089C3-87ED-ABB0-D14A-8FB780F44FC5}"/>
              </a:ext>
            </a:extLst>
          </p:cNvPr>
          <p:cNvSpPr/>
          <p:nvPr/>
        </p:nvSpPr>
        <p:spPr>
          <a:xfrm>
            <a:off x="756260" y="381085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030556F1-A7C9-C524-6718-9B362D65C83D}"/>
              </a:ext>
            </a:extLst>
          </p:cNvPr>
          <p:cNvSpPr/>
          <p:nvPr/>
        </p:nvSpPr>
        <p:spPr>
          <a:xfrm>
            <a:off x="756260" y="38108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93BC55A2-018B-17E7-8D8B-221EBA1AEDEF}"/>
              </a:ext>
            </a:extLst>
          </p:cNvPr>
          <p:cNvSpPr/>
          <p:nvPr/>
        </p:nvSpPr>
        <p:spPr>
          <a:xfrm>
            <a:off x="1122020" y="371027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each figure</a:t>
            </a:r>
            <a:endParaRPr lang="en-US" sz="105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8534C3F4-328A-ADC3-B95F-6C912B94E2CA}"/>
              </a:ext>
            </a:extLst>
          </p:cNvPr>
          <p:cNvSpPr/>
          <p:nvPr/>
        </p:nvSpPr>
        <p:spPr>
          <a:xfrm>
            <a:off x="619100" y="425891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A7217633-39C6-0424-68BA-6C39B36A7CA0}"/>
              </a:ext>
            </a:extLst>
          </p:cNvPr>
          <p:cNvSpPr/>
          <p:nvPr/>
        </p:nvSpPr>
        <p:spPr>
          <a:xfrm>
            <a:off x="756260" y="435949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A9484C56-55A0-F12F-88C2-E421D99B19A9}"/>
              </a:ext>
            </a:extLst>
          </p:cNvPr>
          <p:cNvSpPr/>
          <p:nvPr/>
        </p:nvSpPr>
        <p:spPr>
          <a:xfrm>
            <a:off x="756260" y="4359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722ABA84-547D-A2C9-7D65-BAF618BD984D}"/>
              </a:ext>
            </a:extLst>
          </p:cNvPr>
          <p:cNvSpPr/>
          <p:nvPr/>
        </p:nvSpPr>
        <p:spPr>
          <a:xfrm>
            <a:off x="1122020" y="425891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files_to_docs_v2</a:t>
            </a:r>
            <a:endParaRPr lang="en-US" sz="105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2B6E8A80-8D69-77B9-78D3-261255641A3D}"/>
              </a:ext>
            </a:extLst>
          </p:cNvPr>
          <p:cNvSpPr/>
          <p:nvPr/>
        </p:nvSpPr>
        <p:spPr>
          <a:xfrm>
            <a:off x="619100" y="48075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7D28ECCF-CDF8-6AF0-290B-DDA6CE15A8A0}"/>
              </a:ext>
            </a:extLst>
          </p:cNvPr>
          <p:cNvSpPr/>
          <p:nvPr/>
        </p:nvSpPr>
        <p:spPr>
          <a:xfrm>
            <a:off x="756260" y="4908135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2B7C8FE9-584B-1180-3998-BC01CB892899}"/>
              </a:ext>
            </a:extLst>
          </p:cNvPr>
          <p:cNvSpPr/>
          <p:nvPr/>
        </p:nvSpPr>
        <p:spPr>
          <a:xfrm>
            <a:off x="756260" y="4908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F4BBEF6C-139D-4CA9-D99C-6FA32BCFF989}"/>
              </a:ext>
            </a:extLst>
          </p:cNvPr>
          <p:cNvSpPr/>
          <p:nvPr/>
        </p:nvSpPr>
        <p:spPr>
          <a:xfrm>
            <a:off x="1122020" y="48075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st_ready_files_v3.json with descriptions</a:t>
            </a:r>
            <a:endParaRPr lang="en-US" sz="10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F4FFE43C-3EE9-772F-98DC-5DBEC144409C}"/>
              </a:ext>
            </a:extLst>
          </p:cNvPr>
          <p:cNvSpPr/>
          <p:nvPr/>
        </p:nvSpPr>
        <p:spPr>
          <a:xfrm>
            <a:off x="6196940" y="1469991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978554E6-73BF-8CF3-8E62-D365E7331B8A}"/>
              </a:ext>
            </a:extLst>
          </p:cNvPr>
          <p:cNvSpPr/>
          <p:nvPr/>
        </p:nvSpPr>
        <p:spPr>
          <a:xfrm>
            <a:off x="6425540" y="1607151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878BDD3B-AF13-DAA9-28C4-C1C081335F0D}"/>
              </a:ext>
            </a:extLst>
          </p:cNvPr>
          <p:cNvSpPr/>
          <p:nvPr/>
        </p:nvSpPr>
        <p:spPr>
          <a:xfrm>
            <a:off x="6425540" y="1607151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10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D73CDE94-EF63-49D5-5BCA-B7D5F7868AF2}"/>
              </a:ext>
            </a:extLst>
          </p:cNvPr>
          <p:cNvSpPr/>
          <p:nvPr/>
        </p:nvSpPr>
        <p:spPr>
          <a:xfrm>
            <a:off x="7705700" y="1607151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images  ·  AFTER delivery (Step 23)</a:t>
            </a:r>
            <a:endParaRPr lang="en-US" sz="12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07265223-5E47-6249-2109-72B63C76B6CA}"/>
              </a:ext>
            </a:extLst>
          </p:cNvPr>
          <p:cNvSpPr/>
          <p:nvPr/>
        </p:nvSpPr>
        <p:spPr>
          <a:xfrm>
            <a:off x="6425540" y="20643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772DFD53-50A6-95F7-BE6F-F5ADE6732C58}"/>
              </a:ext>
            </a:extLst>
          </p:cNvPr>
          <p:cNvSpPr/>
          <p:nvPr/>
        </p:nvSpPr>
        <p:spPr>
          <a:xfrm>
            <a:off x="6562700" y="216493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F33061F2-1650-60F9-A259-4D4F96B6812B}"/>
              </a:ext>
            </a:extLst>
          </p:cNvPr>
          <p:cNvSpPr/>
          <p:nvPr/>
        </p:nvSpPr>
        <p:spPr>
          <a:xfrm>
            <a:off x="6562700" y="21649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1C7AFB15-3839-1ACB-836C-82E6DDC77594}"/>
              </a:ext>
            </a:extLst>
          </p:cNvPr>
          <p:cNvSpPr/>
          <p:nvPr/>
        </p:nvSpPr>
        <p:spPr>
          <a:xfrm>
            <a:off x="6928460" y="20643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105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7D4FAEE5-162C-B233-A7C0-049F9C844ED9}"/>
              </a:ext>
            </a:extLst>
          </p:cNvPr>
          <p:cNvSpPr/>
          <p:nvPr/>
        </p:nvSpPr>
        <p:spPr>
          <a:xfrm>
            <a:off x="6425540" y="261299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68EBACBB-45E1-630A-D74D-34990A0E9F7F}"/>
              </a:ext>
            </a:extLst>
          </p:cNvPr>
          <p:cNvSpPr/>
          <p:nvPr/>
        </p:nvSpPr>
        <p:spPr>
          <a:xfrm>
            <a:off x="6562700" y="271357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3E098E30-ECCB-F7DF-7582-759228CE74A1}"/>
              </a:ext>
            </a:extLst>
          </p:cNvPr>
          <p:cNvSpPr/>
          <p:nvPr/>
        </p:nvSpPr>
        <p:spPr>
          <a:xfrm>
            <a:off x="6562700" y="2713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918B8BA1-4D76-4D9A-A599-741C66A88182}"/>
              </a:ext>
            </a:extLst>
          </p:cNvPr>
          <p:cNvSpPr/>
          <p:nvPr/>
        </p:nvSpPr>
        <p:spPr>
          <a:xfrm>
            <a:off x="6928460" y="261299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issue: download screenshot</a:t>
            </a:r>
            <a:endParaRPr lang="en-US" sz="105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865A7476-F2AD-90AB-011B-B57C7C6A327D}"/>
              </a:ext>
            </a:extLst>
          </p:cNvPr>
          <p:cNvSpPr/>
          <p:nvPr/>
        </p:nvSpPr>
        <p:spPr>
          <a:xfrm>
            <a:off x="6425540" y="316163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EAD6A365-2658-62F7-2ABB-184978DFBFCD}"/>
              </a:ext>
            </a:extLst>
          </p:cNvPr>
          <p:cNvSpPr/>
          <p:nvPr/>
        </p:nvSpPr>
        <p:spPr>
          <a:xfrm>
            <a:off x="6562700" y="326221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6C739F1E-3BC1-51C3-3239-6C88D6B093A2}"/>
              </a:ext>
            </a:extLst>
          </p:cNvPr>
          <p:cNvSpPr/>
          <p:nvPr/>
        </p:nvSpPr>
        <p:spPr>
          <a:xfrm>
            <a:off x="6562700" y="32622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AAEEB18D-7453-F92E-7A82-97A33A754FC5}"/>
              </a:ext>
            </a:extLst>
          </p:cNvPr>
          <p:cNvSpPr/>
          <p:nvPr/>
        </p:nvSpPr>
        <p:spPr>
          <a:xfrm>
            <a:off x="6928460" y="316163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API · describe screenshot</a:t>
            </a:r>
            <a:endParaRPr lang="en-US" sz="1050" dirty="0"/>
          </a:p>
        </p:txBody>
      </p:sp>
      <p:sp>
        <p:nvSpPr>
          <p:cNvPr id="99" name="Shape 48">
            <a:extLst>
              <a:ext uri="{FF2B5EF4-FFF2-40B4-BE49-F238E27FC236}">
                <a16:creationId xmlns:a16="http://schemas.microsoft.com/office/drawing/2014/main" id="{D4FE7733-F692-D63A-41DA-159CAB2282D5}"/>
              </a:ext>
            </a:extLst>
          </p:cNvPr>
          <p:cNvSpPr/>
          <p:nvPr/>
        </p:nvSpPr>
        <p:spPr>
          <a:xfrm>
            <a:off x="6425540" y="371027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67DCE154-3B8E-6F7D-D373-46D216C954C0}"/>
              </a:ext>
            </a:extLst>
          </p:cNvPr>
          <p:cNvSpPr/>
          <p:nvPr/>
        </p:nvSpPr>
        <p:spPr>
          <a:xfrm>
            <a:off x="6562700" y="381085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50">
            <a:extLst>
              <a:ext uri="{FF2B5EF4-FFF2-40B4-BE49-F238E27FC236}">
                <a16:creationId xmlns:a16="http://schemas.microsoft.com/office/drawing/2014/main" id="{ED684FA3-C9BB-89B5-A5BD-45063835FA84}"/>
              </a:ext>
            </a:extLst>
          </p:cNvPr>
          <p:cNvSpPr/>
          <p:nvPr/>
        </p:nvSpPr>
        <p:spPr>
          <a:xfrm>
            <a:off x="6562700" y="38108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2E15E008-6FB5-EBD0-4852-62FAC7B58C7D}"/>
              </a:ext>
            </a:extLst>
          </p:cNvPr>
          <p:cNvSpPr/>
          <p:nvPr/>
        </p:nvSpPr>
        <p:spPr>
          <a:xfrm>
            <a:off x="6928460" y="371027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1050" dirty="0"/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10F0B0D8-FC0B-CF9D-1CB7-3CBB9BEE9417}"/>
              </a:ext>
            </a:extLst>
          </p:cNvPr>
          <p:cNvSpPr/>
          <p:nvPr/>
        </p:nvSpPr>
        <p:spPr>
          <a:xfrm>
            <a:off x="6425540" y="425891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Shape 53">
            <a:extLst>
              <a:ext uri="{FF2B5EF4-FFF2-40B4-BE49-F238E27FC236}">
                <a16:creationId xmlns:a16="http://schemas.microsoft.com/office/drawing/2014/main" id="{7522278F-B37C-3257-9809-0817AEB6D737}"/>
              </a:ext>
            </a:extLst>
          </p:cNvPr>
          <p:cNvSpPr/>
          <p:nvPr/>
        </p:nvSpPr>
        <p:spPr>
          <a:xfrm>
            <a:off x="6562700" y="435949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E126004C-75B5-6789-F458-1FCF6FD69B5A}"/>
              </a:ext>
            </a:extLst>
          </p:cNvPr>
          <p:cNvSpPr/>
          <p:nvPr/>
        </p:nvSpPr>
        <p:spPr>
          <a:xfrm>
            <a:off x="6562700" y="4359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9F6134A9-DD1C-7C6E-9B61-D1308C2308AE}"/>
              </a:ext>
            </a:extLst>
          </p:cNvPr>
          <p:cNvSpPr/>
          <p:nvPr/>
        </p:nvSpPr>
        <p:spPr>
          <a:xfrm>
            <a:off x="6928460" y="425891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modification (no new file)</a:t>
            </a:r>
            <a:endParaRPr lang="en-US" sz="1050" dirty="0"/>
          </a:p>
        </p:txBody>
      </p:sp>
      <p:sp>
        <p:nvSpPr>
          <p:cNvPr id="116" name="Shape 56">
            <a:extLst>
              <a:ext uri="{FF2B5EF4-FFF2-40B4-BE49-F238E27FC236}">
                <a16:creationId xmlns:a16="http://schemas.microsoft.com/office/drawing/2014/main" id="{8D2D5A2E-F9B0-B68D-72AB-99C1EA7F6AE4}"/>
              </a:ext>
            </a:extLst>
          </p:cNvPr>
          <p:cNvSpPr/>
          <p:nvPr/>
        </p:nvSpPr>
        <p:spPr>
          <a:xfrm>
            <a:off x="6425540" y="4807551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8" name="Shape 57">
            <a:extLst>
              <a:ext uri="{FF2B5EF4-FFF2-40B4-BE49-F238E27FC236}">
                <a16:creationId xmlns:a16="http://schemas.microsoft.com/office/drawing/2014/main" id="{7E17AB2F-35FD-4FD5-B5E9-73BDAAF60ED5}"/>
              </a:ext>
            </a:extLst>
          </p:cNvPr>
          <p:cNvSpPr/>
          <p:nvPr/>
        </p:nvSpPr>
        <p:spPr>
          <a:xfrm>
            <a:off x="6562700" y="4908135"/>
            <a:ext cx="256032" cy="2560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8">
            <a:extLst>
              <a:ext uri="{FF2B5EF4-FFF2-40B4-BE49-F238E27FC236}">
                <a16:creationId xmlns:a16="http://schemas.microsoft.com/office/drawing/2014/main" id="{6493C5D7-1BCA-9C33-95C8-B8AA2B3C9BCA}"/>
              </a:ext>
            </a:extLst>
          </p:cNvPr>
          <p:cNvSpPr/>
          <p:nvPr/>
        </p:nvSpPr>
        <p:spPr>
          <a:xfrm>
            <a:off x="6562700" y="4908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1D7F082E-7D38-F7BE-4081-A5159EF3BEB8}"/>
              </a:ext>
            </a:extLst>
          </p:cNvPr>
          <p:cNvSpPr/>
          <p:nvPr/>
        </p:nvSpPr>
        <p:spPr>
          <a:xfrm>
            <a:off x="6928460" y="480755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gets uploaded to KB</a:t>
            </a:r>
            <a:endParaRPr lang="en-US" sz="1050" dirty="0"/>
          </a:p>
        </p:txBody>
      </p:sp>
      <p:sp>
        <p:nvSpPr>
          <p:cNvPr id="3" name="rr">
            <a:extLst>
              <a:ext uri="{FF2B5EF4-FFF2-40B4-BE49-F238E27FC236}">
                <a16:creationId xmlns:a16="http://schemas.microsoft.com/office/drawing/2014/main" id="{6532DB7B-FBE4-CB93-554B-8875590DF266}"/>
              </a:ext>
            </a:extLst>
          </p:cNvPr>
          <p:cNvSpPr/>
          <p:nvPr/>
        </p:nvSpPr>
        <p:spPr>
          <a:xfrm>
            <a:off x="390500" y="31387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5875">
            <a:solidFill>
              <a:srgbClr val="F5A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AC1738B3-131A-5A01-6454-97F82E88021D}"/>
              </a:ext>
            </a:extLst>
          </p:cNvPr>
          <p:cNvSpPr>
            <a:spLocks noGrp="1"/>
          </p:cNvSpPr>
          <p:nvPr/>
        </p:nvSpPr>
        <p:spPr>
          <a:xfrm>
            <a:off x="664820" y="268153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ALFRED Vision (image AI)</a:t>
            </a:r>
          </a:p>
        </p:txBody>
      </p:sp>
    </p:spTree>
    <p:extLst>
      <p:ext uri="{BB962C8B-B14F-4D97-AF65-F5344CB8AC3E}">
        <p14:creationId xmlns:p14="http://schemas.microsoft.com/office/powerpoint/2010/main" val="4131109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F07B-EF29-E1CC-FE69-37BEBA23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0C53FF0A-1EF1-4619-A3EE-75F518C6ECE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2D3F0F1A-81BD-548F-BE21-9D0F3E022874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F65AE5DE-4AA7-E603-9D14-4EC24684A82C}"/>
              </a:ext>
            </a:extLst>
          </p:cNvPr>
          <p:cNvSpPr/>
          <p:nvPr/>
        </p:nvSpPr>
        <p:spPr>
          <a:xfrm>
            <a:off x="9794781" y="37567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4E4D5E96-C6F1-8E9E-BF08-8A0D6E78BAA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AF61C39C-CB5E-0B2E-0517-F64C686810A6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95B550BE-5133-C484-C28B-D33C1BFEDB7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94849F92-A476-B8EF-6129-6C90E914700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51550F56-7A1B-41F2-90E3-1B8C9391E0C7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EEEAD75-F8D2-3C62-C0F3-E76E178E0723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DA8DA1D-985C-3C8D-44A8-302A731808A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99EEAA85-554E-CE9C-FC9A-3ED15240F479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F73852EF-4D3A-76CD-8E03-498FB4CE2226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677E32E6-9FD5-68A4-1156-FD99F91B617C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7191E897-51B7-40F6-3851-46B9A83F9B21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4B722B06-0A12-06A1-1574-BF9D3A52DFB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0DE31D5F-0A60-BDCE-EFCC-843046D25453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8E526631-D4EA-19F9-AF61-F211C68DA7C9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59B61035-7A45-710A-CDD9-5AE5CAE91876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D9D30DE6-A596-E5CF-187B-7E04A1B47E21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04C93ECE-29C9-F2B8-F6B6-C4A0E999BF6C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40FF8C-9394-EF0E-7F30-B674BF5EF9CB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15ED7BEB-CEE9-44DB-5379-EE8ECF267A0C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3B"/>
                </a:solidFill>
              </a:rPr>
              <a:t>Value Proposition &amp; Impact</a:t>
            </a:r>
            <a:endParaRPr lang="en-US" sz="1200" dirty="0"/>
          </a:p>
          <a:p>
            <a:r>
              <a:rPr lang="en-US" sz="1200" b="1" noProof="0" dirty="0">
                <a:solidFill>
                  <a:srgbClr val="1B2A3B"/>
                </a:solidFill>
              </a:rPr>
              <a:t> 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521351A6-7D91-34D1-1BEF-D5830EB410B8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95F62A2D-0975-72E1-433B-F8B0A7E64622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D6E318E3-1482-EEC5-D864-ED77B9A0E36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C82847D4-795C-9DF5-4F00-278B657DF5D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61BEE3C5-5304-F141-7CAF-BF26E3AAF5E6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E096ED05-36DF-640D-5A18-1686D2B140A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8AC07264-37AE-908C-A369-61F3EF0CB8F2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E1BB370E-2288-48DB-15CD-17F17653EC4F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D6C3C839-7A00-519A-3E27-9791F19E5A6E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0B903DE7-E363-AC0C-08CE-FC2ED9B9669E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2678749-C2A6-AF99-078C-7D51E9C78375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10CE558C-C50A-D139-BFF6-D4D4457A3F05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B02EE120-0993-22CC-7FA2-8C0FE8FC907E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639DF9B-9937-D7A6-27F9-996926424171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C31FD29F-0664-EAEA-E09E-A4276DEC1E1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0459EDDB-CAF7-7D8C-EC0F-6B96DC6851F7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7536D-07FC-9A64-60D7-754EE9FD3A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43187E9C-3C3A-25BA-8F0B-BC1A9C83702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F25569FE-AC5A-5FA0-7DD7-8A11765B20E8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040CFEB9-0EB3-58E1-7620-CA7E4D3F1619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9B0C9FA-165D-97AE-34B8-8EEA89FFCB94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FF9B816C-F3D3-96E3-8AB1-033E7C99FFDB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111866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57692-08DE-03FB-BB22-5E427B1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456-1C58-2A70-4B12-D7C67FC0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A  ·  PDF Figure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6235B2C3-367B-F11E-C61A-8F0CBCC8E71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E0AC9-C451-9B80-ACD3-1B304B73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412FCCA-C4E8-01EF-E75C-6BB6307F03EF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344A9072-F90A-504A-53A9-B0178B05D204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51BA63-02F2-7F23-2E28-C5674239DCE4}"/>
              </a:ext>
            </a:extLst>
          </p:cNvPr>
          <p:cNvSpPr/>
          <p:nvPr/>
        </p:nvSpPr>
        <p:spPr>
          <a:xfrm>
            <a:off x="459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9A1D375-0677-F161-749B-0C692C3E9869}"/>
              </a:ext>
            </a:extLst>
          </p:cNvPr>
          <p:cNvSpPr/>
          <p:nvPr/>
        </p:nvSpPr>
        <p:spPr>
          <a:xfrm>
            <a:off x="459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docs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DD99A52-9905-4DE2-0B15-F4A7A39A8E15}"/>
              </a:ext>
            </a:extLst>
          </p:cNvPr>
          <p:cNvSpPr/>
          <p:nvPr/>
        </p:nvSpPr>
        <p:spPr>
          <a:xfrm>
            <a:off x="551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GitHub_repos/&lt;repo&gt;/*.pdf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B661367-E2BF-5033-B6B6-20C0C918F238}"/>
              </a:ext>
            </a:extLst>
          </p:cNvPr>
          <p:cNvSpPr/>
          <p:nvPr/>
        </p:nvSpPr>
        <p:spPr>
          <a:xfrm>
            <a:off x="2613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8680081-7B6C-73E5-159C-FC11463D3E74}"/>
              </a:ext>
            </a:extLst>
          </p:cNvPr>
          <p:cNvSpPr/>
          <p:nvPr/>
        </p:nvSpPr>
        <p:spPr>
          <a:xfrm>
            <a:off x="2745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922F092-3785-4ACD-1F1F-D9A5433F9327}"/>
              </a:ext>
            </a:extLst>
          </p:cNvPr>
          <p:cNvSpPr/>
          <p:nvPr/>
        </p:nvSpPr>
        <p:spPr>
          <a:xfrm>
            <a:off x="2745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</a:t>
            </a:r>
            <a:endParaRPr lang="en-US" sz="14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4272E4B-DF09-803C-FB2B-F16CC2831FAF}"/>
              </a:ext>
            </a:extLst>
          </p:cNvPr>
          <p:cNvSpPr/>
          <p:nvPr/>
        </p:nvSpPr>
        <p:spPr>
          <a:xfrm>
            <a:off x="2837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pages @ 150 DPI</a:t>
            </a:r>
            <a:endParaRPr lang="en-US" sz="10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1EC590F7-1C4D-AF84-BCB3-5EB36869FC28}"/>
              </a:ext>
            </a:extLst>
          </p:cNvPr>
          <p:cNvSpPr/>
          <p:nvPr/>
        </p:nvSpPr>
        <p:spPr>
          <a:xfrm>
            <a:off x="4899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344A1C97-F3BA-CE06-6399-D2037E0424DA}"/>
              </a:ext>
            </a:extLst>
          </p:cNvPr>
          <p:cNvSpPr/>
          <p:nvPr/>
        </p:nvSpPr>
        <p:spPr>
          <a:xfrm>
            <a:off x="5031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5018040-10F5-F6DC-604E-3482E799726F}"/>
              </a:ext>
            </a:extLst>
          </p:cNvPr>
          <p:cNvSpPr/>
          <p:nvPr/>
        </p:nvSpPr>
        <p:spPr>
          <a:xfrm>
            <a:off x="5031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6E7384C6-A14B-DB1F-FDD9-BF00A13F9BBF}"/>
              </a:ext>
            </a:extLst>
          </p:cNvPr>
          <p:cNvSpPr/>
          <p:nvPr/>
        </p:nvSpPr>
        <p:spPr>
          <a:xfrm>
            <a:off x="5123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crop figures</a:t>
            </a:r>
            <a:endParaRPr lang="en-US" sz="10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D22D37AA-4DBF-5797-069B-7691A7E1D0A4}"/>
              </a:ext>
            </a:extLst>
          </p:cNvPr>
          <p:cNvSpPr/>
          <p:nvPr/>
        </p:nvSpPr>
        <p:spPr>
          <a:xfrm>
            <a:off x="7185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F76129E9-CB7E-0D19-DA40-E6C6FCD6B9A7}"/>
              </a:ext>
            </a:extLst>
          </p:cNvPr>
          <p:cNvSpPr/>
          <p:nvPr/>
        </p:nvSpPr>
        <p:spPr>
          <a:xfrm>
            <a:off x="7317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CE932A6B-BFCC-B1C0-50C1-102F6FB336CE}"/>
              </a:ext>
            </a:extLst>
          </p:cNvPr>
          <p:cNvSpPr/>
          <p:nvPr/>
        </p:nvSpPr>
        <p:spPr>
          <a:xfrm>
            <a:off x="7317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4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9AE0DC4-97F5-D30C-94A8-167C90D63AB5}"/>
              </a:ext>
            </a:extLst>
          </p:cNvPr>
          <p:cNvSpPr/>
          <p:nvPr/>
        </p:nvSpPr>
        <p:spPr>
          <a:xfrm>
            <a:off x="7409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figure</a:t>
            </a:r>
            <a:endParaRPr lang="en-US" sz="1000" dirty="0"/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C1A54CAF-8563-743C-4F09-AFFC6172A564}"/>
              </a:ext>
            </a:extLst>
          </p:cNvPr>
          <p:cNvSpPr/>
          <p:nvPr/>
        </p:nvSpPr>
        <p:spPr>
          <a:xfrm>
            <a:off x="9471047" y="1813455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EACCA6B9-424D-5DB1-3A47-6FD2B64BC273}"/>
              </a:ext>
            </a:extLst>
          </p:cNvPr>
          <p:cNvSpPr/>
          <p:nvPr/>
        </p:nvSpPr>
        <p:spPr>
          <a:xfrm>
            <a:off x="9603635" y="1200807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E60BB432-E3C7-49CA-EFC1-08CF24C56F9F}"/>
              </a:ext>
            </a:extLst>
          </p:cNvPr>
          <p:cNvSpPr/>
          <p:nvPr/>
        </p:nvSpPr>
        <p:spPr>
          <a:xfrm>
            <a:off x="9603635" y="129224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</a:t>
            </a:r>
            <a:endParaRPr lang="en-US" sz="1400" dirty="0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24EA5F75-61BE-3A3C-C054-CECE7C28A46B}"/>
              </a:ext>
            </a:extLst>
          </p:cNvPr>
          <p:cNvSpPr/>
          <p:nvPr/>
        </p:nvSpPr>
        <p:spPr>
          <a:xfrm>
            <a:off x="9695075" y="1703727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files_to_docs</a:t>
            </a:r>
            <a:endParaRPr lang="en-US" sz="1000" dirty="0"/>
          </a:p>
        </p:txBody>
      </p:sp>
      <p:sp>
        <p:nvSpPr>
          <p:cNvPr id="66" name="Shape 23">
            <a:extLst>
              <a:ext uri="{FF2B5EF4-FFF2-40B4-BE49-F238E27FC236}">
                <a16:creationId xmlns:a16="http://schemas.microsoft.com/office/drawing/2014/main" id="{5DEFEF3A-9920-2F1A-16E7-0C078BACCCF1}"/>
              </a:ext>
            </a:extLst>
          </p:cNvPr>
          <p:cNvSpPr/>
          <p:nvPr/>
        </p:nvSpPr>
        <p:spPr>
          <a:xfrm>
            <a:off x="459635" y="2618127"/>
            <a:ext cx="6858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51EA557E-76BC-B4A9-AEBB-362EC693E228}"/>
              </a:ext>
            </a:extLst>
          </p:cNvPr>
          <p:cNvSpPr/>
          <p:nvPr/>
        </p:nvSpPr>
        <p:spPr>
          <a:xfrm>
            <a:off x="688235" y="270956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pdf_figure_service.py  ·  functions called</a:t>
            </a:r>
            <a:endParaRPr lang="en-US" sz="1300" dirty="0"/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029FCE22-D561-1031-D21F-0AEFC993401F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3E5DEEB0-493C-66B5-79B3-A53ADAB6CB47}"/>
              </a:ext>
            </a:extLst>
          </p:cNvPr>
          <p:cNvSpPr/>
          <p:nvPr/>
        </p:nvSpPr>
        <p:spPr>
          <a:xfrm>
            <a:off x="688235" y="319419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D2C84E1A-AE57-ACF0-3CCF-5D5932907A06}"/>
              </a:ext>
            </a:extLst>
          </p:cNvPr>
          <p:cNvSpPr/>
          <p:nvPr/>
        </p:nvSpPr>
        <p:spPr>
          <a:xfrm>
            <a:off x="1008275" y="307532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extract_pdf_multimodal()</a:t>
            </a:r>
            <a:endParaRPr lang="en-US" sz="105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CB7A49E6-8998-DBFF-F809-6AB73A1C1A15}"/>
              </a:ext>
            </a:extLst>
          </p:cNvPr>
          <p:cNvSpPr/>
          <p:nvPr/>
        </p:nvSpPr>
        <p:spPr>
          <a:xfrm>
            <a:off x="4665875" y="307532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 repository</a:t>
            </a:r>
            <a:endParaRPr lang="en-US" sz="950" dirty="0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B5C1FD92-CFFF-47AC-C5E7-58480C1EF721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E2FAF4FB-D303-1436-ED7F-66C0C77D2E07}"/>
              </a:ext>
            </a:extLst>
          </p:cNvPr>
          <p:cNvSpPr/>
          <p:nvPr/>
        </p:nvSpPr>
        <p:spPr>
          <a:xfrm>
            <a:off x="688235" y="357824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CD3BF3DF-5A34-2BBB-6923-A94E4395EF7E}"/>
              </a:ext>
            </a:extLst>
          </p:cNvPr>
          <p:cNvSpPr/>
          <p:nvPr/>
        </p:nvSpPr>
        <p:spPr>
          <a:xfrm>
            <a:off x="1008275" y="345937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render_pdf_pages()</a:t>
            </a:r>
            <a:endParaRPr lang="en-US" sz="1050" dirty="0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DD0FE063-4FE1-B7D4-9BC2-13D28B5F9890}"/>
              </a:ext>
            </a:extLst>
          </p:cNvPr>
          <p:cNvSpPr/>
          <p:nvPr/>
        </p:nvSpPr>
        <p:spPr>
          <a:xfrm>
            <a:off x="4665875" y="3459375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converts each page → 150 DPI PNG</a:t>
            </a:r>
            <a:endParaRPr lang="en-US" sz="950" dirty="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BAC9B4E1-3C14-1641-59FD-5637A37D86A3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8" name="Text 34">
            <a:extLst>
              <a:ext uri="{FF2B5EF4-FFF2-40B4-BE49-F238E27FC236}">
                <a16:creationId xmlns:a16="http://schemas.microsoft.com/office/drawing/2014/main" id="{8636938D-E836-0E86-C892-EA8D75846D4A}"/>
              </a:ext>
            </a:extLst>
          </p:cNvPr>
          <p:cNvSpPr/>
          <p:nvPr/>
        </p:nvSpPr>
        <p:spPr>
          <a:xfrm>
            <a:off x="688235" y="396229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51B9570D-61FD-2F8C-2555-111A332A7CBB}"/>
              </a:ext>
            </a:extLst>
          </p:cNvPr>
          <p:cNvSpPr/>
          <p:nvPr/>
        </p:nvSpPr>
        <p:spPr>
          <a:xfrm>
            <a:off x="1008275" y="38434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detect_candidate_figure_regions()</a:t>
            </a:r>
            <a:endParaRPr lang="en-US" sz="105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7F69E2A9-B667-8172-83D2-31EFB989F699}"/>
              </a:ext>
            </a:extLst>
          </p:cNvPr>
          <p:cNvSpPr/>
          <p:nvPr/>
        </p:nvSpPr>
        <p:spPr>
          <a:xfrm>
            <a:off x="4665875" y="3843423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contour + area filter</a:t>
            </a:r>
            <a:endParaRPr lang="en-US" sz="950" dirty="0"/>
          </a:p>
        </p:txBody>
      </p:sp>
      <p:sp>
        <p:nvSpPr>
          <p:cNvPr id="94" name="Shape 37">
            <a:extLst>
              <a:ext uri="{FF2B5EF4-FFF2-40B4-BE49-F238E27FC236}">
                <a16:creationId xmlns:a16="http://schemas.microsoft.com/office/drawing/2014/main" id="{F459DD2A-4F56-B4B8-1163-CC0F97D7EC54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9FC58497-90FE-AF90-AF2F-CA5E6617A7AF}"/>
              </a:ext>
            </a:extLst>
          </p:cNvPr>
          <p:cNvSpPr/>
          <p:nvPr/>
        </p:nvSpPr>
        <p:spPr>
          <a:xfrm>
            <a:off x="688235" y="434634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56253D84-6C0A-849F-0A10-359E6DCFF19B}"/>
              </a:ext>
            </a:extLst>
          </p:cNvPr>
          <p:cNvSpPr/>
          <p:nvPr/>
        </p:nvSpPr>
        <p:spPr>
          <a:xfrm>
            <a:off x="1008275" y="4227471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crop_figures_from_page()</a:t>
            </a:r>
            <a:endParaRPr lang="en-US" sz="105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9E606CEB-F7BB-5D97-8EBC-B30BECEA176E}"/>
              </a:ext>
            </a:extLst>
          </p:cNvPr>
          <p:cNvSpPr/>
          <p:nvPr/>
        </p:nvSpPr>
        <p:spPr>
          <a:xfrm>
            <a:off x="4665875" y="4227471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individual figures as PNG</a:t>
            </a:r>
            <a:endParaRPr lang="en-US" sz="950" dirty="0"/>
          </a:p>
        </p:txBody>
      </p:sp>
      <p:sp>
        <p:nvSpPr>
          <p:cNvPr id="102" name="Shape 41">
            <a:extLst>
              <a:ext uri="{FF2B5EF4-FFF2-40B4-BE49-F238E27FC236}">
                <a16:creationId xmlns:a16="http://schemas.microsoft.com/office/drawing/2014/main" id="{51E6DD2D-BF9F-D586-359B-EF80A2F5D506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4" name="Text 42">
            <a:extLst>
              <a:ext uri="{FF2B5EF4-FFF2-40B4-BE49-F238E27FC236}">
                <a16:creationId xmlns:a16="http://schemas.microsoft.com/office/drawing/2014/main" id="{C45C8823-FF6E-4A31-FAB6-D223B152B3D5}"/>
              </a:ext>
            </a:extLst>
          </p:cNvPr>
          <p:cNvSpPr/>
          <p:nvPr/>
        </p:nvSpPr>
        <p:spPr>
          <a:xfrm>
            <a:off x="688235" y="473039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FAB61690-BE2A-8CBB-A610-6E0FAC702A93}"/>
              </a:ext>
            </a:extLst>
          </p:cNvPr>
          <p:cNvSpPr/>
          <p:nvPr/>
        </p:nvSpPr>
        <p:spPr>
          <a:xfrm>
            <a:off x="1008275" y="461151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build_pdf_figure_tasks()</a:t>
            </a:r>
            <a:endParaRPr lang="en-US" sz="1050" dirty="0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BAAEAD74-5063-2C54-6E3E-AF01135B0CA8}"/>
              </a:ext>
            </a:extLst>
          </p:cNvPr>
          <p:cNvSpPr/>
          <p:nvPr/>
        </p:nvSpPr>
        <p:spPr>
          <a:xfrm>
            <a:off x="4665875" y="4611519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JSONL task file for ALFRED</a:t>
            </a:r>
            <a:endParaRPr lang="en-US" sz="950" dirty="0"/>
          </a:p>
        </p:txBody>
      </p:sp>
      <p:sp>
        <p:nvSpPr>
          <p:cNvPr id="110" name="Shape 45">
            <a:extLst>
              <a:ext uri="{FF2B5EF4-FFF2-40B4-BE49-F238E27FC236}">
                <a16:creationId xmlns:a16="http://schemas.microsoft.com/office/drawing/2014/main" id="{54657310-5A54-D1BD-8688-D5F2094AA406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85715452-4087-FB17-A937-2E1ED8BCCE1C}"/>
              </a:ext>
            </a:extLst>
          </p:cNvPr>
          <p:cNvSpPr/>
          <p:nvPr/>
        </p:nvSpPr>
        <p:spPr>
          <a:xfrm>
            <a:off x="688235" y="511443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4" name="Text 47">
            <a:extLst>
              <a:ext uri="{FF2B5EF4-FFF2-40B4-BE49-F238E27FC236}">
                <a16:creationId xmlns:a16="http://schemas.microsoft.com/office/drawing/2014/main" id="{B1C21184-F0B1-A161-56C4-29AD298D685A}"/>
              </a:ext>
            </a:extLst>
          </p:cNvPr>
          <p:cNvSpPr/>
          <p:nvPr/>
        </p:nvSpPr>
        <p:spPr>
          <a:xfrm>
            <a:off x="1008275" y="499556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inject_figure_descriptions_into_pages()</a:t>
            </a:r>
            <a:endParaRPr lang="en-US" sz="1050" dirty="0"/>
          </a:p>
        </p:txBody>
      </p:sp>
      <p:sp>
        <p:nvSpPr>
          <p:cNvPr id="116" name="Text 48">
            <a:extLst>
              <a:ext uri="{FF2B5EF4-FFF2-40B4-BE49-F238E27FC236}">
                <a16:creationId xmlns:a16="http://schemas.microsoft.com/office/drawing/2014/main" id="{F14B3DC0-3B1D-4CCB-D7E1-8520F80AA78A}"/>
              </a:ext>
            </a:extLst>
          </p:cNvPr>
          <p:cNvSpPr/>
          <p:nvPr/>
        </p:nvSpPr>
        <p:spPr>
          <a:xfrm>
            <a:off x="4665875" y="499556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descriptions back into docs</a:t>
            </a:r>
            <a:endParaRPr lang="en-US" sz="95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53839B88-E168-ABA2-41C3-E1965CD1B9CE}"/>
              </a:ext>
            </a:extLst>
          </p:cNvPr>
          <p:cNvSpPr/>
          <p:nvPr/>
        </p:nvSpPr>
        <p:spPr>
          <a:xfrm>
            <a:off x="7500515" y="2618127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0" name="Text 50">
            <a:extLst>
              <a:ext uri="{FF2B5EF4-FFF2-40B4-BE49-F238E27FC236}">
                <a16:creationId xmlns:a16="http://schemas.microsoft.com/office/drawing/2014/main" id="{9F8DE760-A884-5A41-70F3-821F260CDB94}"/>
              </a:ext>
            </a:extLst>
          </p:cNvPr>
          <p:cNvSpPr/>
          <p:nvPr/>
        </p:nvSpPr>
        <p:spPr>
          <a:xfrm>
            <a:off x="7729115" y="2709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layout</a:t>
            </a:r>
            <a:endParaRPr lang="en-US" sz="1300" dirty="0"/>
          </a:p>
        </p:txBody>
      </p:sp>
      <p:sp>
        <p:nvSpPr>
          <p:cNvPr id="122" name="Text 51">
            <a:extLst>
              <a:ext uri="{FF2B5EF4-FFF2-40B4-BE49-F238E27FC236}">
                <a16:creationId xmlns:a16="http://schemas.microsoft.com/office/drawing/2014/main" id="{BC8611EC-2160-3B85-3437-BD75AADA6E6C}"/>
              </a:ext>
            </a:extLst>
          </p:cNvPr>
          <p:cNvSpPr/>
          <p:nvPr/>
        </p:nvSpPr>
        <p:spPr>
          <a:xfrm>
            <a:off x="7729115" y="302960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artifacts produced by the pipeline:</a:t>
            </a:r>
            <a:endParaRPr lang="en-US" sz="1000" dirty="0"/>
          </a:p>
        </p:txBody>
      </p:sp>
      <p:sp>
        <p:nvSpPr>
          <p:cNvPr id="124" name="Text 52">
            <a:extLst>
              <a:ext uri="{FF2B5EF4-FFF2-40B4-BE49-F238E27FC236}">
                <a16:creationId xmlns:a16="http://schemas.microsoft.com/office/drawing/2014/main" id="{9847EB63-6A88-8828-4B54-1749EB543209}"/>
              </a:ext>
            </a:extLst>
          </p:cNvPr>
          <p:cNvSpPr/>
          <p:nvPr/>
        </p:nvSpPr>
        <p:spPr>
          <a:xfrm>
            <a:off x="7729115" y="33039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data/pdf_pages/&lt;repo&gt;/*.png</a:t>
            </a:r>
            <a:endParaRPr lang="en-US" sz="1000" dirty="0"/>
          </a:p>
        </p:txBody>
      </p:sp>
      <p:sp>
        <p:nvSpPr>
          <p:cNvPr id="126" name="Text 53">
            <a:extLst>
              <a:ext uri="{FF2B5EF4-FFF2-40B4-BE49-F238E27FC236}">
                <a16:creationId xmlns:a16="http://schemas.microsoft.com/office/drawing/2014/main" id="{04D60A65-5AF4-4BF1-3B0B-2CD05F988A99}"/>
              </a:ext>
            </a:extLst>
          </p:cNvPr>
          <p:cNvSpPr/>
          <p:nvPr/>
        </p:nvSpPr>
        <p:spPr>
          <a:xfrm>
            <a:off x="7729115" y="35782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(rendered pages)</a:t>
            </a:r>
            <a:endParaRPr lang="en-US" sz="900" dirty="0"/>
          </a:p>
        </p:txBody>
      </p:sp>
      <p:sp>
        <p:nvSpPr>
          <p:cNvPr id="128" name="Text 54">
            <a:extLst>
              <a:ext uri="{FF2B5EF4-FFF2-40B4-BE49-F238E27FC236}">
                <a16:creationId xmlns:a16="http://schemas.microsoft.com/office/drawing/2014/main" id="{3C65A58F-24F0-CE10-ACA2-EB5DA9696AAB}"/>
              </a:ext>
            </a:extLst>
          </p:cNvPr>
          <p:cNvSpPr/>
          <p:nvPr/>
        </p:nvSpPr>
        <p:spPr>
          <a:xfrm>
            <a:off x="7729115" y="38525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data/pdf_figures/&lt;repo&gt;/*.png</a:t>
            </a:r>
            <a:endParaRPr lang="en-US" sz="1000" dirty="0"/>
          </a:p>
        </p:txBody>
      </p:sp>
      <p:sp>
        <p:nvSpPr>
          <p:cNvPr id="130" name="Text 55">
            <a:extLst>
              <a:ext uri="{FF2B5EF4-FFF2-40B4-BE49-F238E27FC236}">
                <a16:creationId xmlns:a16="http://schemas.microsoft.com/office/drawing/2014/main" id="{9716C6B7-AFB9-7476-777C-358B398D89B8}"/>
              </a:ext>
            </a:extLst>
          </p:cNvPr>
          <p:cNvSpPr/>
          <p:nvPr/>
        </p:nvSpPr>
        <p:spPr>
          <a:xfrm>
            <a:off x="7729115" y="412688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(cropped figures)</a:t>
            </a:r>
            <a:endParaRPr lang="en-US" sz="900" dirty="0"/>
          </a:p>
        </p:txBody>
      </p:sp>
      <p:sp>
        <p:nvSpPr>
          <p:cNvPr id="132" name="Text 56">
            <a:extLst>
              <a:ext uri="{FF2B5EF4-FFF2-40B4-BE49-F238E27FC236}">
                <a16:creationId xmlns:a16="http://schemas.microsoft.com/office/drawing/2014/main" id="{8EE5189D-13E3-2347-E472-FCE709E19750}"/>
              </a:ext>
            </a:extLst>
          </p:cNvPr>
          <p:cNvSpPr/>
          <p:nvPr/>
        </p:nvSpPr>
        <p:spPr>
          <a:xfrm>
            <a:off x="7729115" y="440120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data/pdf_image_tasks_&lt;repo&gt;.jsonl</a:t>
            </a:r>
            <a:endParaRPr lang="en-US" sz="1000" dirty="0"/>
          </a:p>
        </p:txBody>
      </p:sp>
      <p:sp>
        <p:nvSpPr>
          <p:cNvPr id="134" name="Text 57">
            <a:extLst>
              <a:ext uri="{FF2B5EF4-FFF2-40B4-BE49-F238E27FC236}">
                <a16:creationId xmlns:a16="http://schemas.microsoft.com/office/drawing/2014/main" id="{F1915569-B468-DFA5-10E6-38FD4EA7B8C5}"/>
              </a:ext>
            </a:extLst>
          </p:cNvPr>
          <p:cNvSpPr/>
          <p:nvPr/>
        </p:nvSpPr>
        <p:spPr>
          <a:xfrm>
            <a:off x="7729115" y="467552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(ALFRED task queue)</a:t>
            </a:r>
            <a:endParaRPr lang="en-US" sz="900" dirty="0"/>
          </a:p>
        </p:txBody>
      </p:sp>
      <p:sp>
        <p:nvSpPr>
          <p:cNvPr id="136" name="Text 58">
            <a:extLst>
              <a:ext uri="{FF2B5EF4-FFF2-40B4-BE49-F238E27FC236}">
                <a16:creationId xmlns:a16="http://schemas.microsoft.com/office/drawing/2014/main" id="{417F8C30-9FA3-60D1-B656-234E7B21F066}"/>
              </a:ext>
            </a:extLst>
          </p:cNvPr>
          <p:cNvSpPr/>
          <p:nvPr/>
        </p:nvSpPr>
        <p:spPr>
          <a:xfrm>
            <a:off x="7729115" y="49498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data/pdf_image_descriptions.json</a:t>
            </a:r>
            <a:endParaRPr lang="en-US" sz="1000" dirty="0"/>
          </a:p>
        </p:txBody>
      </p:sp>
      <p:sp>
        <p:nvSpPr>
          <p:cNvPr id="138" name="Text 59">
            <a:extLst>
              <a:ext uri="{FF2B5EF4-FFF2-40B4-BE49-F238E27FC236}">
                <a16:creationId xmlns:a16="http://schemas.microsoft.com/office/drawing/2014/main" id="{85B41DDD-4084-379A-F90C-1E22B2AEE0AA}"/>
              </a:ext>
            </a:extLst>
          </p:cNvPr>
          <p:cNvSpPr/>
          <p:nvPr/>
        </p:nvSpPr>
        <p:spPr>
          <a:xfrm>
            <a:off x="7729115" y="522416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(242 descriptions · 19 series)</a:t>
            </a:r>
            <a:endParaRPr lang="en-US" sz="900" dirty="0"/>
          </a:p>
        </p:txBody>
      </p:sp>
      <p:sp>
        <p:nvSpPr>
          <p:cNvPr id="140" name="Shape 60">
            <a:extLst>
              <a:ext uri="{FF2B5EF4-FFF2-40B4-BE49-F238E27FC236}">
                <a16:creationId xmlns:a16="http://schemas.microsoft.com/office/drawing/2014/main" id="{CC1A6527-ABA5-7434-15A0-B80CB8067B67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oundRect">
            <a:avLst>
              <a:gd name="adj" fmla="val 2285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Text 61">
            <a:extLst>
              <a:ext uri="{FF2B5EF4-FFF2-40B4-BE49-F238E27FC236}">
                <a16:creationId xmlns:a16="http://schemas.microsoft.com/office/drawing/2014/main" id="{E80BB0F0-FF75-7F8E-19F5-757E2852E0EA}"/>
              </a:ext>
            </a:extLst>
          </p:cNvPr>
          <p:cNvSpPr/>
          <p:nvPr/>
        </p:nvSpPr>
        <p:spPr>
          <a:xfrm>
            <a:off x="459635" y="5727087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cleaning? Descriptions must exist before Enrichment can inject them into files_to_docs_v2.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1185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9E3B-ACB1-7C88-01A1-B1A364AD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34F7-7791-6356-6E4C-0C635B6A1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Path B  ·  Issue Screenshot Pipeline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812E72B0-64BA-6DE3-B01E-775C735E55E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8FAD7-D623-3A9B-3C25-83E0F1CC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z="1200" noProof="0" smtClean="0"/>
              <a:t>20</a:t>
            </a:fld>
            <a:endParaRPr lang="en-US" sz="1200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B40580-D5CD-167E-5FAC-86D81BC788B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1E3885FF-4841-F539-D05A-2DBB0DE13590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412E713-A1CA-FB6B-6977-12F9CDEC5496}"/>
              </a:ext>
            </a:extLst>
          </p:cNvPr>
          <p:cNvSpPr/>
          <p:nvPr/>
        </p:nvSpPr>
        <p:spPr>
          <a:xfrm>
            <a:off x="548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B9C4C0D-43ED-2261-E08D-153C9DAD610E}"/>
              </a:ext>
            </a:extLst>
          </p:cNvPr>
          <p:cNvSpPr/>
          <p:nvPr/>
        </p:nvSpPr>
        <p:spPr>
          <a:xfrm>
            <a:off x="548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JSON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7B0969FF-BC72-1914-EFAE-5371C475FD82}"/>
              </a:ext>
            </a:extLst>
          </p:cNvPr>
          <p:cNvSpPr/>
          <p:nvPr/>
        </p:nvSpPr>
        <p:spPr>
          <a:xfrm>
            <a:off x="640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st_ready_issues_with_images_*.json</a:t>
            </a:r>
            <a:endParaRPr lang="en-US" sz="1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B8D5E55-A55E-65F1-35C5-96B5D9B6E452}"/>
              </a:ext>
            </a:extLst>
          </p:cNvPr>
          <p:cNvSpPr/>
          <p:nvPr/>
        </p:nvSpPr>
        <p:spPr>
          <a:xfrm>
            <a:off x="2702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7720A84-F3EF-2B11-D64C-7E5D2C9B89C2}"/>
              </a:ext>
            </a:extLst>
          </p:cNvPr>
          <p:cNvSpPr/>
          <p:nvPr/>
        </p:nvSpPr>
        <p:spPr>
          <a:xfrm>
            <a:off x="2834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15091D0-8ADD-4544-17D4-EDF36A73D0D6}"/>
              </a:ext>
            </a:extLst>
          </p:cNvPr>
          <p:cNvSpPr/>
          <p:nvPr/>
        </p:nvSpPr>
        <p:spPr>
          <a:xfrm>
            <a:off x="2834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0C5A169-C008-636E-D4CC-258E29EA185F}"/>
              </a:ext>
            </a:extLst>
          </p:cNvPr>
          <p:cNvSpPr/>
          <p:nvPr/>
        </p:nvSpPr>
        <p:spPr>
          <a:xfrm>
            <a:off x="2926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URLs from image_urls</a:t>
            </a:r>
            <a:endParaRPr lang="en-US" sz="12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60715D76-7060-005C-6301-76765E49378F}"/>
              </a:ext>
            </a:extLst>
          </p:cNvPr>
          <p:cNvSpPr/>
          <p:nvPr/>
        </p:nvSpPr>
        <p:spPr>
          <a:xfrm>
            <a:off x="4988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A7A246C-AB48-4026-EA64-1A98D980B7AA}"/>
              </a:ext>
            </a:extLst>
          </p:cNvPr>
          <p:cNvSpPr/>
          <p:nvPr/>
        </p:nvSpPr>
        <p:spPr>
          <a:xfrm>
            <a:off x="5120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2286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954090C3-B914-8FF2-FD7B-C9DBC370A33F}"/>
              </a:ext>
            </a:extLst>
          </p:cNvPr>
          <p:cNvSpPr/>
          <p:nvPr/>
        </p:nvSpPr>
        <p:spPr>
          <a:xfrm>
            <a:off x="5120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API</a:t>
            </a:r>
            <a:endParaRPr lang="en-US" sz="1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9090D36-0380-0B8D-B696-8848D4422DA0}"/>
              </a:ext>
            </a:extLst>
          </p:cNvPr>
          <p:cNvSpPr/>
          <p:nvPr/>
        </p:nvSpPr>
        <p:spPr>
          <a:xfrm>
            <a:off x="5212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screenshot</a:t>
            </a:r>
            <a:endParaRPr lang="en-US" sz="12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17DBEB3A-D3CF-A691-7B7D-AFBA6C1102AD}"/>
              </a:ext>
            </a:extLst>
          </p:cNvPr>
          <p:cNvSpPr/>
          <p:nvPr/>
        </p:nvSpPr>
        <p:spPr>
          <a:xfrm>
            <a:off x="7274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78EDAF16-980F-19B6-ADD6-12C665EE8E66}"/>
              </a:ext>
            </a:extLst>
          </p:cNvPr>
          <p:cNvSpPr/>
          <p:nvPr/>
        </p:nvSpPr>
        <p:spPr>
          <a:xfrm>
            <a:off x="7406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FCDC487-E115-A860-EDB5-0D6CF69E07CD}"/>
              </a:ext>
            </a:extLst>
          </p:cNvPr>
          <p:cNvSpPr/>
          <p:nvPr/>
        </p:nvSpPr>
        <p:spPr>
          <a:xfrm>
            <a:off x="7406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tag</a:t>
            </a:r>
            <a:endParaRPr lang="en-US" sz="12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E3396C49-A412-B494-61EC-7397D63D4A11}"/>
              </a:ext>
            </a:extLst>
          </p:cNvPr>
          <p:cNvSpPr/>
          <p:nvPr/>
        </p:nvSpPr>
        <p:spPr>
          <a:xfrm>
            <a:off x="7498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ATTACHED] → [IMAGE DESCRIPTION]</a:t>
            </a:r>
            <a:endParaRPr lang="en-US" sz="12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865F238-C2FD-BF9A-52D9-896DF9D24200}"/>
              </a:ext>
            </a:extLst>
          </p:cNvPr>
          <p:cNvSpPr/>
          <p:nvPr/>
        </p:nvSpPr>
        <p:spPr>
          <a:xfrm>
            <a:off x="9560052" y="2029968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D94B51E-3834-1C98-13DD-C7E94C8B19F8}"/>
              </a:ext>
            </a:extLst>
          </p:cNvPr>
          <p:cNvSpPr/>
          <p:nvPr/>
        </p:nvSpPr>
        <p:spPr>
          <a:xfrm>
            <a:off x="9692640" y="14173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B131A8FE-62E4-C74B-A3F5-160FE4E77D94}"/>
              </a:ext>
            </a:extLst>
          </p:cNvPr>
          <p:cNvSpPr/>
          <p:nvPr/>
        </p:nvSpPr>
        <p:spPr>
          <a:xfrm>
            <a:off x="969264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In-place save</a:t>
            </a:r>
            <a:endParaRPr lang="en-US" sz="12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D2A6DBEF-B13C-E4F3-D21F-9CDEBC375245}"/>
              </a:ext>
            </a:extLst>
          </p:cNvPr>
          <p:cNvSpPr/>
          <p:nvPr/>
        </p:nvSpPr>
        <p:spPr>
          <a:xfrm>
            <a:off x="97840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overwritten</a:t>
            </a:r>
            <a:endParaRPr lang="en-US" sz="1200" dirty="0"/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74FEF1BC-D9C5-5BB2-BD5E-AE5253F0D9E0}"/>
              </a:ext>
            </a:extLst>
          </p:cNvPr>
          <p:cNvSpPr/>
          <p:nvPr/>
        </p:nvSpPr>
        <p:spPr>
          <a:xfrm>
            <a:off x="548640" y="2834640"/>
            <a:ext cx="11338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25BABBE8-5D2E-798B-F2AC-CEAD2B9A5E4B}"/>
              </a:ext>
            </a:extLst>
          </p:cNvPr>
          <p:cNvSpPr/>
          <p:nvPr/>
        </p:nvSpPr>
        <p:spPr>
          <a:xfrm>
            <a:off x="777240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example  ·  STM32CubeH7 Issue #335</a:t>
            </a:r>
            <a:endParaRPr lang="en-US" sz="1200" dirty="0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54C8D5E8-E620-A2C1-9C39-1F799EB14DA8}"/>
              </a:ext>
            </a:extLst>
          </p:cNvPr>
          <p:cNvSpPr/>
          <p:nvPr/>
        </p:nvSpPr>
        <p:spPr>
          <a:xfrm>
            <a:off x="77724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Warning observed with -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Wcast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-align flag during compilation</a:t>
            </a:r>
            <a:endParaRPr lang="en-US" sz="1200" dirty="0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985CD36B-67BD-C5AF-BD66-78836346D038}"/>
              </a:ext>
            </a:extLst>
          </p:cNvPr>
          <p:cNvSpPr/>
          <p:nvPr/>
        </p:nvSpPr>
        <p:spPr>
          <a:xfrm>
            <a:off x="7772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81" name="Text 27">
            <a:extLst>
              <a:ext uri="{FF2B5EF4-FFF2-40B4-BE49-F238E27FC236}">
                <a16:creationId xmlns:a16="http://schemas.microsoft.com/office/drawing/2014/main" id="{36B612D2-97C1-D307-EECD-7A2D52BA986D}"/>
              </a:ext>
            </a:extLst>
          </p:cNvPr>
          <p:cNvSpPr/>
          <p:nvPr/>
        </p:nvSpPr>
        <p:spPr>
          <a:xfrm>
            <a:off x="9601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Alfred</a:t>
            </a:r>
            <a:endParaRPr lang="en-US" sz="1200" dirty="0"/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5A5AF2B2-351E-B0DF-6511-45E9240B25D9}"/>
              </a:ext>
            </a:extLst>
          </p:cNvPr>
          <p:cNvSpPr/>
          <p:nvPr/>
        </p:nvSpPr>
        <p:spPr>
          <a:xfrm>
            <a:off x="9601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 extract:</a:t>
            </a:r>
            <a:endParaRPr lang="en-US" sz="1200" dirty="0"/>
          </a:p>
        </p:txBody>
      </p:sp>
      <p:sp>
        <p:nvSpPr>
          <p:cNvPr id="89" name="Shape 29">
            <a:extLst>
              <a:ext uri="{FF2B5EF4-FFF2-40B4-BE49-F238E27FC236}">
                <a16:creationId xmlns:a16="http://schemas.microsoft.com/office/drawing/2014/main" id="{0ABB83F4-219C-CDE5-DF36-13A5B09BC6E7}"/>
              </a:ext>
            </a:extLst>
          </p:cNvPr>
          <p:cNvSpPr/>
          <p:nvPr/>
        </p:nvSpPr>
        <p:spPr>
          <a:xfrm>
            <a:off x="9601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C1F73756-B279-0296-9F33-079F91482793}"/>
              </a:ext>
            </a:extLst>
          </p:cNvPr>
          <p:cNvSpPr/>
          <p:nvPr/>
        </p:nvSpPr>
        <p:spPr>
          <a:xfrm>
            <a:off x="10515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ATTACHED]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warning at line ..."</a:t>
            </a:r>
            <a:endParaRPr lang="en-US" sz="120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AA91E2B4-B915-41D1-C147-F819E29650EA}"/>
              </a:ext>
            </a:extLst>
          </p:cNvPr>
          <p:cNvSpPr/>
          <p:nvPr/>
        </p:nvSpPr>
        <p:spPr>
          <a:xfrm>
            <a:off x="6263640" y="3611880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9DB86776-EF2A-00CA-3F32-7E2BC9378712}"/>
              </a:ext>
            </a:extLst>
          </p:cNvPr>
          <p:cNvSpPr/>
          <p:nvPr/>
        </p:nvSpPr>
        <p:spPr>
          <a:xfrm>
            <a:off x="64465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Alfred</a:t>
            </a:r>
            <a:endParaRPr lang="en-US" sz="1200" dirty="0"/>
          </a:p>
        </p:txBody>
      </p:sp>
      <p:sp>
        <p:nvSpPr>
          <p:cNvPr id="105" name="Text 33">
            <a:extLst>
              <a:ext uri="{FF2B5EF4-FFF2-40B4-BE49-F238E27FC236}">
                <a16:creationId xmlns:a16="http://schemas.microsoft.com/office/drawing/2014/main" id="{4DB81EFD-267A-D25E-959A-0891067C10A4}"/>
              </a:ext>
            </a:extLst>
          </p:cNvPr>
          <p:cNvSpPr/>
          <p:nvPr/>
        </p:nvSpPr>
        <p:spPr>
          <a:xfrm>
            <a:off x="6446520" y="3977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· in-place replacement:</a:t>
            </a:r>
            <a:endParaRPr lang="en-US" sz="1200" dirty="0"/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08FB6D1F-BC5A-2997-6511-D6ACC4F0B23E}"/>
              </a:ext>
            </a:extLst>
          </p:cNvPr>
          <p:cNvSpPr/>
          <p:nvPr/>
        </p:nvSpPr>
        <p:spPr>
          <a:xfrm>
            <a:off x="6446520" y="4251960"/>
            <a:ext cx="4892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2F90CAD9-8C62-4C3D-90B9-AAE4E07DBEF0}"/>
              </a:ext>
            </a:extLst>
          </p:cNvPr>
          <p:cNvSpPr/>
          <p:nvPr/>
        </p:nvSpPr>
        <p:spPr>
          <a:xfrm>
            <a:off x="6537960" y="42976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"Reproduce steps: see screenshot below.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DESCRIPTION] Eclipse Tool Settings panel showing GCC assembler flags including -Wcast-align enabled for arm-none-eabi-gcc.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Expected: no warning..."</a:t>
            </a:r>
            <a:endParaRPr lang="en-US" sz="1200" dirty="0"/>
          </a:p>
        </p:txBody>
      </p:sp>
      <p:sp>
        <p:nvSpPr>
          <p:cNvPr id="117" name="Shape 36">
            <a:extLst>
              <a:ext uri="{FF2B5EF4-FFF2-40B4-BE49-F238E27FC236}">
                <a16:creationId xmlns:a16="http://schemas.microsoft.com/office/drawing/2014/main" id="{D60710CF-8D1B-AB4A-4C1B-4AACF31DE30B}"/>
              </a:ext>
            </a:extLst>
          </p:cNvPr>
          <p:cNvSpPr/>
          <p:nvPr/>
        </p:nvSpPr>
        <p:spPr>
          <a:xfrm>
            <a:off x="1266825" y="6035040"/>
            <a:ext cx="10071736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21" name="Text 37">
            <a:extLst>
              <a:ext uri="{FF2B5EF4-FFF2-40B4-BE49-F238E27FC236}">
                <a16:creationId xmlns:a16="http://schemas.microsoft.com/office/drawing/2014/main" id="{8444ECBE-9B9A-53FF-2ACB-E0EB61C75A73}"/>
              </a:ext>
            </a:extLst>
          </p:cNvPr>
          <p:cNvSpPr/>
          <p:nvPr/>
        </p:nvSpPr>
        <p:spPr>
          <a:xfrm>
            <a:off x="548640" y="6035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AFTER delivery? Path B needs the final structured metadata; the enrichment for the LLM happens on the file the KB will actually see.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2993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3042-F908-EA4C-C67D-E3E38C00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B424-0613-1D81-1F5A-55177A17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KB-First Agent  ·  Persona, KB Tool, and the </a:t>
            </a:r>
            <a:r>
              <a:rPr lang="en-US" sz="1800" b="1" noProof="0" dirty="0" err="1"/>
              <a:t>NovaX</a:t>
            </a:r>
            <a:r>
              <a:rPr lang="en-US" sz="1800" b="1" noProof="0" dirty="0"/>
              <a:t> Fallback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62D1EA7-A3F7-5A18-0EFC-F11E53D8215F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7FAF3-35DD-D85E-8358-4BBA5CD3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465976"/>
            <a:ext cx="411004" cy="292554"/>
          </a:xfrm>
        </p:spPr>
        <p:txBody>
          <a:bodyPr/>
          <a:lstStyle/>
          <a:p>
            <a:fld id="{40A7B169-58CE-4E65-B1F9-ACF9E46440C2}" type="slidenum">
              <a:rPr lang="en-US" noProof="0" smtClean="0"/>
              <a:t>21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30B58CD-2AB1-9820-1A7D-E78C92144A95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6192973-499F-A3A6-2813-C3B7DE20FEC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72FB55E-CEA1-F0E2-76A9-19B9B6239EE6}"/>
              </a:ext>
            </a:extLst>
          </p:cNvPr>
          <p:cNvSpPr/>
          <p:nvPr/>
        </p:nvSpPr>
        <p:spPr>
          <a:xfrm>
            <a:off x="4939665" y="1079896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DA936A-0815-7D1A-77DB-4190F21E9103}"/>
              </a:ext>
            </a:extLst>
          </p:cNvPr>
          <p:cNvSpPr/>
          <p:nvPr/>
        </p:nvSpPr>
        <p:spPr>
          <a:xfrm>
            <a:off x="4939665" y="1171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GitHub Analyzer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D954C19-8529-439F-3C92-8BAD072A1755}"/>
              </a:ext>
            </a:extLst>
          </p:cNvPr>
          <p:cNvSpPr/>
          <p:nvPr/>
        </p:nvSpPr>
        <p:spPr>
          <a:xfrm>
            <a:off x="4939665" y="149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·  GPT-5.1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770C0A-EB8C-F232-1848-1282D083C69B}"/>
              </a:ext>
            </a:extLst>
          </p:cNvPr>
          <p:cNvSpPr/>
          <p:nvPr/>
        </p:nvSpPr>
        <p:spPr>
          <a:xfrm>
            <a:off x="4939665" y="176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queries</a:t>
            </a:r>
            <a:endParaRPr lang="en-US" sz="95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BB61664-F40C-D689-D76C-A495D7C2B36F}"/>
              </a:ext>
            </a:extLst>
          </p:cNvPr>
          <p:cNvSpPr/>
          <p:nvPr/>
        </p:nvSpPr>
        <p:spPr>
          <a:xfrm>
            <a:off x="550545" y="1217056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F6B4307-ECE0-DF7A-6A8D-2DFB8DB62374}"/>
              </a:ext>
            </a:extLst>
          </p:cNvPr>
          <p:cNvSpPr/>
          <p:nvPr/>
        </p:nvSpPr>
        <p:spPr>
          <a:xfrm>
            <a:off x="550545" y="121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1930AA6-32B8-B555-37B4-55E24C50D0E8}"/>
              </a:ext>
            </a:extLst>
          </p:cNvPr>
          <p:cNvSpPr/>
          <p:nvPr/>
        </p:nvSpPr>
        <p:spPr>
          <a:xfrm>
            <a:off x="550545" y="1628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question</a:t>
            </a:r>
            <a:endParaRPr lang="en-US" sz="10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7A69A054-D406-64AE-C499-8185C15450C1}"/>
              </a:ext>
            </a:extLst>
          </p:cNvPr>
          <p:cNvSpPr/>
          <p:nvPr/>
        </p:nvSpPr>
        <p:spPr>
          <a:xfrm>
            <a:off x="2607945" y="1601104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571E0F-86FC-7C22-006F-F0C0024AF8D7}"/>
              </a:ext>
            </a:extLst>
          </p:cNvPr>
          <p:cNvSpPr/>
          <p:nvPr/>
        </p:nvSpPr>
        <p:spPr>
          <a:xfrm>
            <a:off x="9603105" y="1217056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D6D853C0-6BFC-798A-B22B-F145782F3C5A}"/>
              </a:ext>
            </a:extLst>
          </p:cNvPr>
          <p:cNvSpPr/>
          <p:nvPr/>
        </p:nvSpPr>
        <p:spPr>
          <a:xfrm>
            <a:off x="9603105" y="121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Sourced answer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EDA935D-776C-6AFE-6365-91F2F5B1B887}"/>
              </a:ext>
            </a:extLst>
          </p:cNvPr>
          <p:cNvSpPr/>
          <p:nvPr/>
        </p:nvSpPr>
        <p:spPr>
          <a:xfrm>
            <a:off x="9603105" y="162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github_url citations</a:t>
            </a:r>
            <a:endParaRPr lang="en-US" sz="10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731DA11-83E6-2417-E7A0-8D608609EBCF}"/>
              </a:ext>
            </a:extLst>
          </p:cNvPr>
          <p:cNvSpPr/>
          <p:nvPr/>
        </p:nvSpPr>
        <p:spPr>
          <a:xfrm>
            <a:off x="7271385" y="1601104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5582E3C1-5EFE-F746-C9C6-FFE576A0D7BF}"/>
              </a:ext>
            </a:extLst>
          </p:cNvPr>
          <p:cNvSpPr/>
          <p:nvPr/>
        </p:nvSpPr>
        <p:spPr>
          <a:xfrm>
            <a:off x="1120645" y="2720464"/>
            <a:ext cx="3247584" cy="1813433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2C0211AA-0028-5E8E-BFBA-86F2842A0B2D}"/>
              </a:ext>
            </a:extLst>
          </p:cNvPr>
          <p:cNvSpPr/>
          <p:nvPr/>
        </p:nvSpPr>
        <p:spPr>
          <a:xfrm>
            <a:off x="1303525" y="2811905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6BD4CA40-08FE-B3AC-950A-9F9E4C6BF06F}"/>
              </a:ext>
            </a:extLst>
          </p:cNvPr>
          <p:cNvSpPr/>
          <p:nvPr/>
        </p:nvSpPr>
        <p:spPr>
          <a:xfrm>
            <a:off x="1281397" y="2811905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9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870237C9-5AE4-7626-4221-75A6BCECF10D}"/>
              </a:ext>
            </a:extLst>
          </p:cNvPr>
          <p:cNvSpPr/>
          <p:nvPr/>
        </p:nvSpPr>
        <p:spPr>
          <a:xfrm>
            <a:off x="1303525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Tool . KB as a Tool </a:t>
            </a:r>
            <a:endParaRPr lang="en-US" sz="14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A600032B-5CF1-D40C-637A-06E33ABA96B5}"/>
              </a:ext>
            </a:extLst>
          </p:cNvPr>
          <p:cNvSpPr/>
          <p:nvPr/>
        </p:nvSpPr>
        <p:spPr>
          <a:xfrm>
            <a:off x="1303525" y="3497705"/>
            <a:ext cx="29313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90 datasources — issues, files, resolver cases, diagnostic cards.</a:t>
            </a:r>
            <a:endParaRPr lang="en-US" sz="10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E6331B31-ADF0-B524-B0F9-1BC6348435C4}"/>
              </a:ext>
            </a:extLst>
          </p:cNvPr>
          <p:cNvSpPr/>
          <p:nvPr/>
        </p:nvSpPr>
        <p:spPr>
          <a:xfrm>
            <a:off x="4697440" y="2720464"/>
            <a:ext cx="3118043" cy="1813435"/>
          </a:xfrm>
          <a:prstGeom prst="roundRect">
            <a:avLst>
              <a:gd name="adj" fmla="val 5161"/>
            </a:avLst>
          </a:prstGeom>
          <a:solidFill>
            <a:srgbClr val="FEF3E1"/>
          </a:solidFill>
          <a:ln w="1905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1959C3B5-950C-54A4-709F-D68F8DCD2AE3}"/>
              </a:ext>
            </a:extLst>
          </p:cNvPr>
          <p:cNvSpPr/>
          <p:nvPr/>
        </p:nvSpPr>
        <p:spPr>
          <a:xfrm>
            <a:off x="4880319" y="2811905"/>
            <a:ext cx="2283577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6467BBAF-5098-BFBC-24FB-8DDD7E3CFDCA}"/>
              </a:ext>
            </a:extLst>
          </p:cNvPr>
          <p:cNvSpPr/>
          <p:nvPr/>
        </p:nvSpPr>
        <p:spPr>
          <a:xfrm>
            <a:off x="4939665" y="2802761"/>
            <a:ext cx="21700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knowledge source ONLY IF KB EMPTY</a:t>
            </a:r>
            <a:endParaRPr lang="en-US" sz="9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BB2B06EA-166D-A717-3EC8-89CB41952659}"/>
              </a:ext>
            </a:extLst>
          </p:cNvPr>
          <p:cNvSpPr/>
          <p:nvPr/>
        </p:nvSpPr>
        <p:spPr>
          <a:xfrm>
            <a:off x="4880320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NovaX</a:t>
            </a: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Tool . Persona as a Tool   </a:t>
            </a:r>
            <a:endParaRPr lang="en-US" sz="14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3B69B72B-D153-E1EF-F100-09AEF66CD990}"/>
              </a:ext>
            </a:extLst>
          </p:cNvPr>
          <p:cNvSpPr/>
          <p:nvPr/>
        </p:nvSpPr>
        <p:spPr>
          <a:xfrm>
            <a:off x="4880320" y="3497705"/>
            <a:ext cx="2935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Bugzilla tickets + ST Community forum — coverage for topics the KB does not have yet.</a:t>
            </a:r>
            <a:endParaRPr lang="en-US" sz="105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B766A9CA-C26A-3B04-36B0-65313C756B72}"/>
              </a:ext>
            </a:extLst>
          </p:cNvPr>
          <p:cNvSpPr/>
          <p:nvPr/>
        </p:nvSpPr>
        <p:spPr>
          <a:xfrm flipH="1">
            <a:off x="4060058" y="2131456"/>
            <a:ext cx="1336806" cy="585216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BF185965-3259-94E8-2529-CEA7D2EE6611}"/>
              </a:ext>
            </a:extLst>
          </p:cNvPr>
          <p:cNvSpPr/>
          <p:nvPr/>
        </p:nvSpPr>
        <p:spPr>
          <a:xfrm>
            <a:off x="6096000" y="2131456"/>
            <a:ext cx="180471" cy="592991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F447528A-3FAD-D68E-AE32-750DE6A92393}"/>
              </a:ext>
            </a:extLst>
          </p:cNvPr>
          <p:cNvSpPr/>
          <p:nvPr/>
        </p:nvSpPr>
        <p:spPr>
          <a:xfrm>
            <a:off x="3455198" y="4772235"/>
            <a:ext cx="5642546" cy="189006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2E836EE9-24AC-9E40-B706-A072422C5286}"/>
              </a:ext>
            </a:extLst>
          </p:cNvPr>
          <p:cNvSpPr/>
          <p:nvPr/>
        </p:nvSpPr>
        <p:spPr>
          <a:xfrm>
            <a:off x="3683798" y="48636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KB configuration</a:t>
            </a:r>
            <a:endParaRPr lang="en-US" sz="120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82C7BC85-BCE0-BF18-8BE3-631CBD86EC42}"/>
              </a:ext>
            </a:extLst>
          </p:cNvPr>
          <p:cNvSpPr/>
          <p:nvPr/>
        </p:nvSpPr>
        <p:spPr>
          <a:xfrm>
            <a:off x="3683798" y="52294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58528F6B-9E23-B6CA-B9BE-020631530037}"/>
              </a:ext>
            </a:extLst>
          </p:cNvPr>
          <p:cNvSpPr/>
          <p:nvPr/>
        </p:nvSpPr>
        <p:spPr>
          <a:xfrm>
            <a:off x="6244118" y="52294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1050" dirty="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F7C23D18-5EC2-9DB1-F417-807423F704E4}"/>
              </a:ext>
            </a:extLst>
          </p:cNvPr>
          <p:cNvSpPr/>
          <p:nvPr/>
        </p:nvSpPr>
        <p:spPr>
          <a:xfrm>
            <a:off x="3683798" y="54854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5EF68AD6-9FB5-178B-3842-CABD236C81A3}"/>
              </a:ext>
            </a:extLst>
          </p:cNvPr>
          <p:cNvSpPr/>
          <p:nvPr/>
        </p:nvSpPr>
        <p:spPr>
          <a:xfrm>
            <a:off x="6244118" y="54854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1050" dirty="0"/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323D18FD-39AB-A38E-4681-0A0698C4D438}"/>
              </a:ext>
            </a:extLst>
          </p:cNvPr>
          <p:cNvSpPr/>
          <p:nvPr/>
        </p:nvSpPr>
        <p:spPr>
          <a:xfrm>
            <a:off x="3683798" y="57415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 docs</a:t>
            </a:r>
            <a:endParaRPr lang="en-US" sz="100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68C6E005-AC70-DC38-B0ED-5D8AAD895B3D}"/>
              </a:ext>
            </a:extLst>
          </p:cNvPr>
          <p:cNvSpPr/>
          <p:nvPr/>
        </p:nvSpPr>
        <p:spPr>
          <a:xfrm>
            <a:off x="6244118" y="57415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A3AFEE31-9C51-A5E5-7FB0-EADA963F8B5A}"/>
              </a:ext>
            </a:extLst>
          </p:cNvPr>
          <p:cNvSpPr/>
          <p:nvPr/>
        </p:nvSpPr>
        <p:spPr>
          <a:xfrm>
            <a:off x="3683798" y="59975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 docs</a:t>
            </a:r>
            <a:endParaRPr lang="en-US" sz="1000" dirty="0"/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A1A90BAD-EA6F-348A-7E34-E694D3FE11CC}"/>
              </a:ext>
            </a:extLst>
          </p:cNvPr>
          <p:cNvSpPr/>
          <p:nvPr/>
        </p:nvSpPr>
        <p:spPr>
          <a:xfrm>
            <a:off x="6244118" y="59975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EBFF84A5-A4D1-06BC-2574-877DE1F008B5}"/>
              </a:ext>
            </a:extLst>
          </p:cNvPr>
          <p:cNvSpPr/>
          <p:nvPr/>
        </p:nvSpPr>
        <p:spPr>
          <a:xfrm>
            <a:off x="3683798" y="62535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Datasources</a:t>
            </a:r>
            <a:endParaRPr lang="en-US" sz="1000" dirty="0"/>
          </a:p>
        </p:txBody>
      </p:sp>
      <p:sp>
        <p:nvSpPr>
          <p:cNvPr id="93" name="Text 42">
            <a:extLst>
              <a:ext uri="{FF2B5EF4-FFF2-40B4-BE49-F238E27FC236}">
                <a16:creationId xmlns:a16="http://schemas.microsoft.com/office/drawing/2014/main" id="{2E498F73-243A-9391-5C57-253D9CEC173F}"/>
              </a:ext>
            </a:extLst>
          </p:cNvPr>
          <p:cNvSpPr/>
          <p:nvPr/>
        </p:nvSpPr>
        <p:spPr>
          <a:xfrm>
            <a:off x="6244117" y="6253564"/>
            <a:ext cx="26998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 (per series × artifact type)</a:t>
            </a:r>
            <a:endParaRPr lang="en-US" sz="1050" dirty="0"/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B90554A2-9DF7-F1D5-68C0-4281DB0A9021}"/>
              </a:ext>
            </a:extLst>
          </p:cNvPr>
          <p:cNvSpPr/>
          <p:nvPr/>
        </p:nvSpPr>
        <p:spPr>
          <a:xfrm>
            <a:off x="7998363" y="2720464"/>
            <a:ext cx="3422112" cy="1813436"/>
          </a:xfrm>
          <a:prstGeom prst="roundRect">
            <a:avLst>
              <a:gd name="adj" fmla="val 5161"/>
            </a:avLst>
          </a:prstGeom>
          <a:solidFill>
            <a:srgbClr val="FEF3E1"/>
          </a:solidFill>
          <a:ln w="1905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5472CAF-90CC-C770-5CE4-B5A98B895591}"/>
              </a:ext>
            </a:extLst>
          </p:cNvPr>
          <p:cNvSpPr/>
          <p:nvPr/>
        </p:nvSpPr>
        <p:spPr>
          <a:xfrm>
            <a:off x="8181243" y="313194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Tool . Persona as a Tool </a:t>
            </a:r>
            <a:endParaRPr lang="en-US" sz="140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22AF468B-52C5-624A-2AD1-91E2A0EDF560}"/>
              </a:ext>
            </a:extLst>
          </p:cNvPr>
          <p:cNvSpPr/>
          <p:nvPr/>
        </p:nvSpPr>
        <p:spPr>
          <a:xfrm>
            <a:off x="8181243" y="3497705"/>
            <a:ext cx="30677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TOOL ONLY WHEN ALL of the following hold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Knowledge Base was searched first and returned no relevant result, AND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50" dirty="0" err="1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NovaX</a:t>
            </a: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tried and did not provide a relevant answer</a:t>
            </a:r>
            <a:endParaRPr lang="en-US" sz="1050" dirty="0"/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4E6E29EA-61E8-3729-940F-38A6155CB5C1}"/>
              </a:ext>
            </a:extLst>
          </p:cNvPr>
          <p:cNvSpPr/>
          <p:nvPr/>
        </p:nvSpPr>
        <p:spPr>
          <a:xfrm>
            <a:off x="8181243" y="2802761"/>
            <a:ext cx="1920238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58697776-0AC1-07D4-7B5A-8E70718BB3D3}"/>
              </a:ext>
            </a:extLst>
          </p:cNvPr>
          <p:cNvSpPr/>
          <p:nvPr/>
        </p:nvSpPr>
        <p:spPr>
          <a:xfrm>
            <a:off x="8181242" y="2802761"/>
            <a:ext cx="19202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Third and LAST knowledge source</a:t>
            </a:r>
            <a:endParaRPr lang="en-US" sz="900" dirty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196A6A65-E93A-646D-0184-0DD31AF13133}"/>
              </a:ext>
            </a:extLst>
          </p:cNvPr>
          <p:cNvSpPr/>
          <p:nvPr/>
        </p:nvSpPr>
        <p:spPr>
          <a:xfrm>
            <a:off x="7225665" y="2095751"/>
            <a:ext cx="955577" cy="588138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2796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1561-D07B-838D-91B0-A7FD2EEF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19D25A2D-1C92-A3BB-FF09-3C5001750BDA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A753ABAE-8557-F79F-CA1C-A7B91DB95FEE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BB28EAB-7CFD-C78B-0308-E58B4049EF99}"/>
              </a:ext>
            </a:extLst>
          </p:cNvPr>
          <p:cNvSpPr/>
          <p:nvPr/>
        </p:nvSpPr>
        <p:spPr>
          <a:xfrm>
            <a:off x="9765598" y="38627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7841E7FF-EE39-FFA6-D266-5CDD60769D19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772C1501-4269-2DD9-4EFB-FD0A12B646FA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2682DD87-9070-2D9A-2A6D-8A8A515C7A8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BA292640-2863-190F-C05C-2DB48F543A42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B16F30B0-363D-E5B9-2DA0-92E6DFD7879F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F8F0395D-5D1C-2DC2-3AB1-6656CA5BF8D6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F9E6973C-6416-1940-5054-621501A8C42C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E2C24CFC-3B59-44CE-5093-1043F513B4E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60874892-2166-5B22-E33E-AD010F5AD448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ECDDB459-943F-7650-98F6-A249A1E94D19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3DA21ACA-1464-25C7-1B1D-6436CFFE5173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E798A532-F6B8-885C-F56C-6F7F763D1F84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B48494A-688E-8BDE-53B0-F35ED9B5C268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CD4CC681-1A6F-5113-8B1B-3E634A1C94BD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5C68B21D-F117-CD11-1E68-216DCA351881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01ECEC80-866C-4523-517C-959639DB9AC1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B607C8D3-6D4B-DB50-A411-35EA53B8D5D8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969D6E71-85C4-5825-B3B3-A5E9B6CE492E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FD5C157B-D3AC-9C13-E2F9-E9B55D144FD5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7983A496-E316-8952-8194-82B6C381ABD7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74529B74-014F-76C1-DD3D-8C5E09068CC7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AE6401C-A408-6B50-CD10-CBF5521EA153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AE5AF8AA-D8AF-70E2-1117-77DF8AA14DC8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E04B2FE-058F-0F0F-4E9D-9FA521D1D88A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Configuration &amp; Evaluation 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2F37AB78-0371-50A1-7BA1-50ACAB99788E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49AD5FF8-6E34-AB1D-3CE0-38FC541B85AC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3D7FB45F-11A1-746B-7A66-928292969E50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B3D455D2-D286-31C2-0B88-15B1F7341BEB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93C6661F-D037-8198-17E7-62F1EE99E6AD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E100F249-65AC-E22B-BB7C-10E89FF00F6F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9757C3AD-C22F-4AD0-875D-298BB74CA800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2BD22C24-B881-533F-B07D-86960722CC8E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5EFF6922-57C3-68BC-1F70-6A4B06F577C0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67CFF911-5DCC-FA31-6367-B960BE3780C0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3D490602-A96C-A3AF-5A97-9AD944FF2CB5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8F6CF-1F2E-381F-1220-BAC1D99B7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AB6B03D-78B3-209A-BF56-5E00D8D7EFA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81AEE371-6C5E-CDE1-77E5-6A5039792727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FA2409CD-C0EB-42A8-4D07-6AEB76B5F77C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A123E35-D245-91A5-F845-C2665DC01D35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2192E853-9978-2D1F-46D8-19D3E8671DFE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172256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DFBD-5780-07ED-B067-BDA9E5CE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D5FF-1B24-FF5C-E830-734DCD4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Per-Stage Quality Scores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ECB5663-ECA8-58DB-BD3F-9E07667BE878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61EBBEF-761C-87CB-9105-5FE90536141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5211C-F2F7-9BE0-7B28-2DF9B227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E34539B-132C-7E46-7C4D-E4D415D3AF0B}"/>
              </a:ext>
            </a:extLst>
          </p:cNvPr>
          <p:cNvSpPr/>
          <p:nvPr/>
        </p:nvSpPr>
        <p:spPr>
          <a:xfrm>
            <a:off x="204144" y="1198800"/>
            <a:ext cx="11783711" cy="651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Evaluation is not only the final chatbot score, but each stage is also measured, separating pipeline defects from source-data limits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Every stage of the pipeline has its own metric , the global score is a weighted average</a:t>
            </a: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8E5016-B992-60C9-33D1-D39826D4DDBF}"/>
              </a:ext>
            </a:extLst>
          </p:cNvPr>
          <p:cNvSpPr/>
          <p:nvPr/>
        </p:nvSpPr>
        <p:spPr>
          <a:xfrm>
            <a:off x="405547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504B0CB-DC9D-8B7A-6398-917291412A13}"/>
              </a:ext>
            </a:extLst>
          </p:cNvPr>
          <p:cNvSpPr/>
          <p:nvPr/>
        </p:nvSpPr>
        <p:spPr>
          <a:xfrm>
            <a:off x="405547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179F32-A756-BCD4-175B-5BA3DA371109}"/>
              </a:ext>
            </a:extLst>
          </p:cNvPr>
          <p:cNvSpPr/>
          <p:nvPr/>
        </p:nvSpPr>
        <p:spPr>
          <a:xfrm>
            <a:off x="405547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2D2D4-226F-E147-8D17-EF04AE910F7F}"/>
              </a:ext>
            </a:extLst>
          </p:cNvPr>
          <p:cNvSpPr/>
          <p:nvPr/>
        </p:nvSpPr>
        <p:spPr>
          <a:xfrm>
            <a:off x="405547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</a:t>
            </a:r>
            <a:endParaRPr lang="en-US" sz="9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FC5BEA3F-B61B-1A31-8817-8D0AC0FC374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D158AB8-91AB-99D1-B6FD-332E998D1BF0}"/>
              </a:ext>
            </a:extLst>
          </p:cNvPr>
          <p:cNvSpPr/>
          <p:nvPr/>
        </p:nvSpPr>
        <p:spPr>
          <a:xfrm>
            <a:off x="496987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5C9D74D9-E0A4-17CE-F746-BF8046B24740}"/>
              </a:ext>
            </a:extLst>
          </p:cNvPr>
          <p:cNvSpPr/>
          <p:nvPr/>
        </p:nvSpPr>
        <p:spPr>
          <a:xfrm>
            <a:off x="1039095" y="4509760"/>
            <a:ext cx="274320" cy="59257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0D27AA8C-69AD-53C7-01C6-3F2137D64B48}"/>
              </a:ext>
            </a:extLst>
          </p:cNvPr>
          <p:cNvSpPr/>
          <p:nvPr/>
        </p:nvSpPr>
        <p:spPr>
          <a:xfrm>
            <a:off x="2038404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9727AA0A-F1B8-70EB-C77F-8707D1DECE8D}"/>
              </a:ext>
            </a:extLst>
          </p:cNvPr>
          <p:cNvSpPr/>
          <p:nvPr/>
        </p:nvSpPr>
        <p:spPr>
          <a:xfrm>
            <a:off x="2038404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V3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DC717EBB-6C69-92AA-EA7E-673CCEF59894}"/>
              </a:ext>
            </a:extLst>
          </p:cNvPr>
          <p:cNvSpPr/>
          <p:nvPr/>
        </p:nvSpPr>
        <p:spPr>
          <a:xfrm>
            <a:off x="2038404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D1BB6175-B928-4B30-BFD1-F9C83462CBDB}"/>
              </a:ext>
            </a:extLst>
          </p:cNvPr>
          <p:cNvSpPr/>
          <p:nvPr/>
        </p:nvSpPr>
        <p:spPr>
          <a:xfrm>
            <a:off x="2038404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1.5</a:t>
            </a:r>
            <a:endParaRPr lang="en-US" sz="9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544A6D0-3230-1A40-C1EB-FEF808A47854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2317AD0-1810-88A1-323C-8FD790955209}"/>
              </a:ext>
            </a:extLst>
          </p:cNvPr>
          <p:cNvSpPr/>
          <p:nvPr/>
        </p:nvSpPr>
        <p:spPr>
          <a:xfrm>
            <a:off x="2129844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89F72CFD-1B7D-B188-F88E-C42C37AAEE7C}"/>
              </a:ext>
            </a:extLst>
          </p:cNvPr>
          <p:cNvSpPr/>
          <p:nvPr/>
        </p:nvSpPr>
        <p:spPr>
          <a:xfrm>
            <a:off x="2668307" y="4509760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3BAA5612-D6FF-E2DA-81D1-1F1486D3CCEF}"/>
              </a:ext>
            </a:extLst>
          </p:cNvPr>
          <p:cNvSpPr/>
          <p:nvPr/>
        </p:nvSpPr>
        <p:spPr>
          <a:xfrm>
            <a:off x="3671261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B1585A7-86DD-0FF6-1408-EEB0541A2409}"/>
              </a:ext>
            </a:extLst>
          </p:cNvPr>
          <p:cNvSpPr/>
          <p:nvPr/>
        </p:nvSpPr>
        <p:spPr>
          <a:xfrm>
            <a:off x="3671261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2620178E-53D8-01BE-4CDD-598DE8578328}"/>
              </a:ext>
            </a:extLst>
          </p:cNvPr>
          <p:cNvSpPr/>
          <p:nvPr/>
        </p:nvSpPr>
        <p:spPr>
          <a:xfrm>
            <a:off x="3671261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3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A1D13DE1-7B53-2E06-5AA2-E592473C5FB2}"/>
              </a:ext>
            </a:extLst>
          </p:cNvPr>
          <p:cNvSpPr/>
          <p:nvPr/>
        </p:nvSpPr>
        <p:spPr>
          <a:xfrm>
            <a:off x="3671261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1.4</a:t>
            </a:r>
            <a:endParaRPr lang="en-US" sz="950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4FF1A785-1528-E91E-573C-7B289A43EB25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3B91ECE8-18DF-2E1B-C791-61C1804BB0D9}"/>
              </a:ext>
            </a:extLst>
          </p:cNvPr>
          <p:cNvSpPr/>
          <p:nvPr/>
        </p:nvSpPr>
        <p:spPr>
          <a:xfrm>
            <a:off x="3762701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A1909313-1A92-1A72-0A63-B3CEC427E63B}"/>
              </a:ext>
            </a:extLst>
          </p:cNvPr>
          <p:cNvSpPr/>
          <p:nvPr/>
        </p:nvSpPr>
        <p:spPr>
          <a:xfrm>
            <a:off x="4304810" y="4669849"/>
            <a:ext cx="274320" cy="429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6E3D536A-FBE3-F161-9986-FC2B7D8BDFA9}"/>
              </a:ext>
            </a:extLst>
          </p:cNvPr>
          <p:cNvSpPr/>
          <p:nvPr/>
        </p:nvSpPr>
        <p:spPr>
          <a:xfrm>
            <a:off x="5304118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AA8D9813-7037-3238-8296-3ECB7C917797}"/>
              </a:ext>
            </a:extLst>
          </p:cNvPr>
          <p:cNvSpPr/>
          <p:nvPr/>
        </p:nvSpPr>
        <p:spPr>
          <a:xfrm>
            <a:off x="5304118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issues</a:t>
            </a:r>
            <a:endParaRPr lang="en-US" sz="1100" dirty="0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94A2545A-3444-5E9C-2AF5-723C1EEF0A41}"/>
              </a:ext>
            </a:extLst>
          </p:cNvPr>
          <p:cNvSpPr/>
          <p:nvPr/>
        </p:nvSpPr>
        <p:spPr>
          <a:xfrm>
            <a:off x="5304118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2300" dirty="0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41C15D80-3EBD-33CC-08CA-0CCBFE7237AC}"/>
              </a:ext>
            </a:extLst>
          </p:cNvPr>
          <p:cNvSpPr/>
          <p:nvPr/>
        </p:nvSpPr>
        <p:spPr>
          <a:xfrm>
            <a:off x="5304118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0.4</a:t>
            </a:r>
            <a:endParaRPr lang="en-US" sz="95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BB4B5FCE-E450-927D-C04D-A0F68D9E545D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9577AD50-22D3-2821-911F-1A5DA61A6003}"/>
              </a:ext>
            </a:extLst>
          </p:cNvPr>
          <p:cNvSpPr/>
          <p:nvPr/>
        </p:nvSpPr>
        <p:spPr>
          <a:xfrm>
            <a:off x="5395558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505B1791-B9B1-9C52-040F-F984B31FF896}"/>
              </a:ext>
            </a:extLst>
          </p:cNvPr>
          <p:cNvSpPr/>
          <p:nvPr/>
        </p:nvSpPr>
        <p:spPr>
          <a:xfrm>
            <a:off x="5937667" y="4532574"/>
            <a:ext cx="274320" cy="58544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0" name="Shape 32">
            <a:extLst>
              <a:ext uri="{FF2B5EF4-FFF2-40B4-BE49-F238E27FC236}">
                <a16:creationId xmlns:a16="http://schemas.microsoft.com/office/drawing/2014/main" id="{5B2F2D8E-117D-3181-756E-DFCC0707CB78}"/>
              </a:ext>
            </a:extLst>
          </p:cNvPr>
          <p:cNvSpPr/>
          <p:nvPr/>
        </p:nvSpPr>
        <p:spPr>
          <a:xfrm>
            <a:off x="6936976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A67CF182-D728-C4A3-08F3-35C0A55570DF}"/>
              </a:ext>
            </a:extLst>
          </p:cNvPr>
          <p:cNvSpPr/>
          <p:nvPr/>
        </p:nvSpPr>
        <p:spPr>
          <a:xfrm>
            <a:off x="6936976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Alfred PDF</a:t>
            </a:r>
            <a:endParaRPr lang="en-US" sz="1100" dirty="0"/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F95D294C-A83A-9703-06CC-BE797BFC0CE0}"/>
              </a:ext>
            </a:extLst>
          </p:cNvPr>
          <p:cNvSpPr/>
          <p:nvPr/>
        </p:nvSpPr>
        <p:spPr>
          <a:xfrm>
            <a:off x="6936976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2300" dirty="0"/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E3D7DF57-9BE1-E4F7-FBBD-BDDF7BBBCD6E}"/>
              </a:ext>
            </a:extLst>
          </p:cNvPr>
          <p:cNvSpPr/>
          <p:nvPr/>
        </p:nvSpPr>
        <p:spPr>
          <a:xfrm>
            <a:off x="6936976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0.2</a:t>
            </a:r>
            <a:endParaRPr lang="en-US" sz="950" dirty="0"/>
          </a:p>
        </p:txBody>
      </p:sp>
      <p:sp>
        <p:nvSpPr>
          <p:cNvPr id="108" name="Shape 36">
            <a:extLst>
              <a:ext uri="{FF2B5EF4-FFF2-40B4-BE49-F238E27FC236}">
                <a16:creationId xmlns:a16="http://schemas.microsoft.com/office/drawing/2014/main" id="{A6F79C87-828A-5659-EC44-C53201E27292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0" name="Text 37">
            <a:extLst>
              <a:ext uri="{FF2B5EF4-FFF2-40B4-BE49-F238E27FC236}">
                <a16:creationId xmlns:a16="http://schemas.microsoft.com/office/drawing/2014/main" id="{7AF24FF3-1834-C345-CFBF-C5B892DF7C9F}"/>
              </a:ext>
            </a:extLst>
          </p:cNvPr>
          <p:cNvSpPr/>
          <p:nvPr/>
        </p:nvSpPr>
        <p:spPr>
          <a:xfrm>
            <a:off x="7028416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3C16F668-1BAD-782B-196F-FD5C193A859F}"/>
              </a:ext>
            </a:extLst>
          </p:cNvPr>
          <p:cNvSpPr/>
          <p:nvPr/>
        </p:nvSpPr>
        <p:spPr>
          <a:xfrm>
            <a:off x="7570524" y="4851129"/>
            <a:ext cx="274320" cy="2478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4" name="Shape 39">
            <a:extLst>
              <a:ext uri="{FF2B5EF4-FFF2-40B4-BE49-F238E27FC236}">
                <a16:creationId xmlns:a16="http://schemas.microsoft.com/office/drawing/2014/main" id="{8F40DDB9-44A1-CE40-9D7A-59C11B702C33}"/>
              </a:ext>
            </a:extLst>
          </p:cNvPr>
          <p:cNvSpPr/>
          <p:nvPr/>
        </p:nvSpPr>
        <p:spPr>
          <a:xfrm>
            <a:off x="8569833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BB92CF94-BC91-7E84-617E-A25297B16935}"/>
              </a:ext>
            </a:extLst>
          </p:cNvPr>
          <p:cNvSpPr/>
          <p:nvPr/>
        </p:nvSpPr>
        <p:spPr>
          <a:xfrm>
            <a:off x="8569833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3528B07B-4CAA-AE32-FB40-0A601F095941}"/>
              </a:ext>
            </a:extLst>
          </p:cNvPr>
          <p:cNvSpPr/>
          <p:nvPr/>
        </p:nvSpPr>
        <p:spPr>
          <a:xfrm>
            <a:off x="8569833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300" dirty="0"/>
          </a:p>
        </p:txBody>
      </p:sp>
      <p:sp>
        <p:nvSpPr>
          <p:cNvPr id="120" name="Text 42">
            <a:extLst>
              <a:ext uri="{FF2B5EF4-FFF2-40B4-BE49-F238E27FC236}">
                <a16:creationId xmlns:a16="http://schemas.microsoft.com/office/drawing/2014/main" id="{9CC94628-0A0E-0595-3BE2-F6CDD0D061CC}"/>
              </a:ext>
            </a:extLst>
          </p:cNvPr>
          <p:cNvSpPr/>
          <p:nvPr/>
        </p:nvSpPr>
        <p:spPr>
          <a:xfrm>
            <a:off x="8569833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0.5</a:t>
            </a:r>
            <a:endParaRPr lang="en-US" sz="950" dirty="0"/>
          </a:p>
        </p:txBody>
      </p:sp>
      <p:sp>
        <p:nvSpPr>
          <p:cNvPr id="122" name="Shape 43">
            <a:extLst>
              <a:ext uri="{FF2B5EF4-FFF2-40B4-BE49-F238E27FC236}">
                <a16:creationId xmlns:a16="http://schemas.microsoft.com/office/drawing/2014/main" id="{7F055E3D-E24D-1743-7368-0CEE1E0AE750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4" name="Text 44">
            <a:extLst>
              <a:ext uri="{FF2B5EF4-FFF2-40B4-BE49-F238E27FC236}">
                <a16:creationId xmlns:a16="http://schemas.microsoft.com/office/drawing/2014/main" id="{23F935C7-7193-F38C-544A-41703B52B457}"/>
              </a:ext>
            </a:extLst>
          </p:cNvPr>
          <p:cNvSpPr/>
          <p:nvPr/>
        </p:nvSpPr>
        <p:spPr>
          <a:xfrm>
            <a:off x="8661273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800" dirty="0"/>
          </a:p>
        </p:txBody>
      </p:sp>
      <p:sp>
        <p:nvSpPr>
          <p:cNvPr id="126" name="Shape 45">
            <a:extLst>
              <a:ext uri="{FF2B5EF4-FFF2-40B4-BE49-F238E27FC236}">
                <a16:creationId xmlns:a16="http://schemas.microsoft.com/office/drawing/2014/main" id="{7257D0F2-69A3-92B7-0643-D720DEDA037A}"/>
              </a:ext>
            </a:extLst>
          </p:cNvPr>
          <p:cNvSpPr/>
          <p:nvPr/>
        </p:nvSpPr>
        <p:spPr>
          <a:xfrm>
            <a:off x="9203381" y="4975053"/>
            <a:ext cx="274320" cy="130759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8" name="Shape 46">
            <a:extLst>
              <a:ext uri="{FF2B5EF4-FFF2-40B4-BE49-F238E27FC236}">
                <a16:creationId xmlns:a16="http://schemas.microsoft.com/office/drawing/2014/main" id="{0FC79416-DF3B-274F-DADC-69E95D7D8728}"/>
              </a:ext>
            </a:extLst>
          </p:cNvPr>
          <p:cNvSpPr/>
          <p:nvPr/>
        </p:nvSpPr>
        <p:spPr>
          <a:xfrm>
            <a:off x="10202690" y="1990657"/>
            <a:ext cx="1541417" cy="32004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0" name="Text 47">
            <a:extLst>
              <a:ext uri="{FF2B5EF4-FFF2-40B4-BE49-F238E27FC236}">
                <a16:creationId xmlns:a16="http://schemas.microsoft.com/office/drawing/2014/main" id="{C8A94BB3-3EB6-C3C6-66A9-DD039E9042E9}"/>
              </a:ext>
            </a:extLst>
          </p:cNvPr>
          <p:cNvSpPr/>
          <p:nvPr/>
        </p:nvSpPr>
        <p:spPr>
          <a:xfrm>
            <a:off x="10202690" y="2127817"/>
            <a:ext cx="15414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32" name="Text 48">
            <a:extLst>
              <a:ext uri="{FF2B5EF4-FFF2-40B4-BE49-F238E27FC236}">
                <a16:creationId xmlns:a16="http://schemas.microsoft.com/office/drawing/2014/main" id="{3238BCC9-0FB3-579C-9463-F0F7EDB3B8E8}"/>
              </a:ext>
            </a:extLst>
          </p:cNvPr>
          <p:cNvSpPr/>
          <p:nvPr/>
        </p:nvSpPr>
        <p:spPr>
          <a:xfrm>
            <a:off x="10202690" y="2630737"/>
            <a:ext cx="15414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300" dirty="0"/>
          </a:p>
        </p:txBody>
      </p:sp>
      <p:sp>
        <p:nvSpPr>
          <p:cNvPr id="134" name="Text 49">
            <a:extLst>
              <a:ext uri="{FF2B5EF4-FFF2-40B4-BE49-F238E27FC236}">
                <a16:creationId xmlns:a16="http://schemas.microsoft.com/office/drawing/2014/main" id="{04DDFEFF-3AD3-D6D4-1591-423A7CE2418D}"/>
              </a:ext>
            </a:extLst>
          </p:cNvPr>
          <p:cNvSpPr/>
          <p:nvPr/>
        </p:nvSpPr>
        <p:spPr>
          <a:xfrm>
            <a:off x="10202690" y="3682297"/>
            <a:ext cx="15414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2</a:t>
            </a:r>
            <a:endParaRPr lang="en-US" sz="950" dirty="0"/>
          </a:p>
        </p:txBody>
      </p:sp>
      <p:sp>
        <p:nvSpPr>
          <p:cNvPr id="136" name="Shape 50">
            <a:extLst>
              <a:ext uri="{FF2B5EF4-FFF2-40B4-BE49-F238E27FC236}">
                <a16:creationId xmlns:a16="http://schemas.microsoft.com/office/drawing/2014/main" id="{40FD7D74-C57C-7540-4BC5-F6CF19D4E2F6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7C9B8248-1109-98F2-3497-3BFC66415C17}"/>
              </a:ext>
            </a:extLst>
          </p:cNvPr>
          <p:cNvSpPr/>
          <p:nvPr/>
        </p:nvSpPr>
        <p:spPr>
          <a:xfrm>
            <a:off x="10294130" y="4139497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00" dirty="0"/>
          </a:p>
        </p:txBody>
      </p:sp>
      <p:sp>
        <p:nvSpPr>
          <p:cNvPr id="140" name="Shape 52">
            <a:extLst>
              <a:ext uri="{FF2B5EF4-FFF2-40B4-BE49-F238E27FC236}">
                <a16:creationId xmlns:a16="http://schemas.microsoft.com/office/drawing/2014/main" id="{3C013659-EA39-BC5A-2B02-F3248FAD48FB}"/>
              </a:ext>
            </a:extLst>
          </p:cNvPr>
          <p:cNvSpPr/>
          <p:nvPr/>
        </p:nvSpPr>
        <p:spPr>
          <a:xfrm>
            <a:off x="10836238" y="4504617"/>
            <a:ext cx="2743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2" name="Shape 53">
            <a:extLst>
              <a:ext uri="{FF2B5EF4-FFF2-40B4-BE49-F238E27FC236}">
                <a16:creationId xmlns:a16="http://schemas.microsoft.com/office/drawing/2014/main" id="{598FEED4-44DC-F7FC-2AE2-456D36AA59DB}"/>
              </a:ext>
            </a:extLst>
          </p:cNvPr>
          <p:cNvSpPr/>
          <p:nvPr/>
        </p:nvSpPr>
        <p:spPr>
          <a:xfrm>
            <a:off x="379163" y="5659200"/>
            <a:ext cx="5532120" cy="1046400"/>
          </a:xfrm>
          <a:prstGeom prst="roundRect">
            <a:avLst>
              <a:gd name="adj" fmla="val 5926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4" name="Text 54">
            <a:extLst>
              <a:ext uri="{FF2B5EF4-FFF2-40B4-BE49-F238E27FC236}">
                <a16:creationId xmlns:a16="http://schemas.microsoft.com/office/drawing/2014/main" id="{6928EEE0-EB0B-4BD4-1B43-7A776EE7EC23}"/>
              </a:ext>
            </a:extLst>
          </p:cNvPr>
          <p:cNvSpPr/>
          <p:nvPr/>
        </p:nvSpPr>
        <p:spPr>
          <a:xfrm>
            <a:off x="607763" y="5768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weighted score</a:t>
            </a:r>
            <a:endParaRPr lang="en-US" sz="1100" dirty="0"/>
          </a:p>
        </p:txBody>
      </p:sp>
      <p:sp>
        <p:nvSpPr>
          <p:cNvPr id="146" name="Text 55">
            <a:extLst>
              <a:ext uri="{FF2B5EF4-FFF2-40B4-BE49-F238E27FC236}">
                <a16:creationId xmlns:a16="http://schemas.microsoft.com/office/drawing/2014/main" id="{E2278216-3967-5F17-B5D9-E4FFFD2F83D8}"/>
              </a:ext>
            </a:extLst>
          </p:cNvPr>
          <p:cNvSpPr/>
          <p:nvPr/>
        </p:nvSpPr>
        <p:spPr>
          <a:xfrm>
            <a:off x="599545" y="590608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87.1 / 100</a:t>
            </a:r>
            <a:endParaRPr lang="en-US" sz="3200" dirty="0"/>
          </a:p>
        </p:txBody>
      </p:sp>
      <p:sp>
        <p:nvSpPr>
          <p:cNvPr id="148" name="Text 56">
            <a:extLst>
              <a:ext uri="{FF2B5EF4-FFF2-40B4-BE49-F238E27FC236}">
                <a16:creationId xmlns:a16="http://schemas.microsoft.com/office/drawing/2014/main" id="{623F4213-0EE5-A218-6A5F-A45279E35729}"/>
              </a:ext>
            </a:extLst>
          </p:cNvPr>
          <p:cNvSpPr/>
          <p:nvPr/>
        </p:nvSpPr>
        <p:spPr>
          <a:xfrm>
            <a:off x="607763" y="66376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0" name="Shape 57">
            <a:extLst>
              <a:ext uri="{FF2B5EF4-FFF2-40B4-BE49-F238E27FC236}">
                <a16:creationId xmlns:a16="http://schemas.microsoft.com/office/drawing/2014/main" id="{97F55B48-2722-2213-D3F4-31F376A4886D}"/>
              </a:ext>
            </a:extLst>
          </p:cNvPr>
          <p:cNvSpPr/>
          <p:nvPr/>
        </p:nvSpPr>
        <p:spPr>
          <a:xfrm>
            <a:off x="6185603" y="5659200"/>
            <a:ext cx="5532120" cy="1046400"/>
          </a:xfrm>
          <a:prstGeom prst="roundRect">
            <a:avLst>
              <a:gd name="adj" fmla="val 5926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2" name="Text 58">
            <a:extLst>
              <a:ext uri="{FF2B5EF4-FFF2-40B4-BE49-F238E27FC236}">
                <a16:creationId xmlns:a16="http://schemas.microsoft.com/office/drawing/2014/main" id="{21091438-9529-2EC4-AD45-7B2DC39430B1}"/>
              </a:ext>
            </a:extLst>
          </p:cNvPr>
          <p:cNvSpPr/>
          <p:nvPr/>
        </p:nvSpPr>
        <p:spPr>
          <a:xfrm>
            <a:off x="6414203" y="5768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</a:t>
            </a:r>
            <a:endParaRPr lang="en-US" sz="1100" dirty="0"/>
          </a:p>
        </p:txBody>
      </p:sp>
      <p:sp>
        <p:nvSpPr>
          <p:cNvPr id="154" name="Text 59">
            <a:extLst>
              <a:ext uri="{FF2B5EF4-FFF2-40B4-BE49-F238E27FC236}">
                <a16:creationId xmlns:a16="http://schemas.microsoft.com/office/drawing/2014/main" id="{67DE39A5-F739-A821-7F0D-22FDC073A04D}"/>
              </a:ext>
            </a:extLst>
          </p:cNvPr>
          <p:cNvSpPr/>
          <p:nvPr/>
        </p:nvSpPr>
        <p:spPr>
          <a:xfrm>
            <a:off x="6414203" y="605497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PDF (41.7%) — page context too weak.  Similarity (22%) — real bug diversity, not a heuristic failure.  Impact on QI: negligible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97017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311D-75C8-7F1C-8378-FA444398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7964-FF32-A779-94C2-0CFD9899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Retrieval Strategy Benchmark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13650CE9-EC38-BCF2-86DA-91AF804B2296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259293-87DF-3784-ECE3-EB26BC75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24</a:t>
            </a:fld>
            <a:endParaRPr lang="en-US" noProof="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C6750E7-B978-86B8-7CF2-7466DC66E7BF}"/>
              </a:ext>
            </a:extLst>
          </p:cNvPr>
          <p:cNvGraphicFramePr/>
          <p:nvPr/>
        </p:nvGraphicFramePr>
        <p:xfrm>
          <a:off x="548640" y="14173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AC875588-C211-CA62-751F-883A88241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84667"/>
              </p:ext>
            </p:extLst>
          </p:nvPr>
        </p:nvGraphicFramePr>
        <p:xfrm>
          <a:off x="6675120" y="1417320"/>
          <a:ext cx="5212080" cy="256032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4">
            <a:extLst>
              <a:ext uri="{FF2B5EF4-FFF2-40B4-BE49-F238E27FC236}">
                <a16:creationId xmlns:a16="http://schemas.microsoft.com/office/drawing/2014/main" id="{12B38454-5D00-1D70-9467-AC09CC8B2335}"/>
              </a:ext>
            </a:extLst>
          </p:cNvPr>
          <p:cNvSpPr/>
          <p:nvPr/>
        </p:nvSpPr>
        <p:spPr>
          <a:xfrm>
            <a:off x="6675120" y="4206240"/>
            <a:ext cx="5212080" cy="2005802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04DBF0-A444-ED7B-1EE5-001E90079E0A}"/>
              </a:ext>
            </a:extLst>
          </p:cNvPr>
          <p:cNvSpPr/>
          <p:nvPr/>
        </p:nvSpPr>
        <p:spPr>
          <a:xfrm>
            <a:off x="681228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E172FFA-389C-C54D-E4B8-048F59DCD9A0}"/>
              </a:ext>
            </a:extLst>
          </p:cNvPr>
          <p:cNvSpPr/>
          <p:nvPr/>
        </p:nvSpPr>
        <p:spPr>
          <a:xfrm>
            <a:off x="6812280" y="4590288"/>
            <a:ext cx="4937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full-text branch (S5)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make the system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points worse.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STM32 questions need exact matches for APIs and boards.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semantic recall (S3)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make the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14 points worse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People often ask the same thing in different words, so simple keyword matching is not enough.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wins by 1 point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is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but real improvement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means the system is </a:t>
            </a: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very close to its best possible performance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current data.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5189CFB1-9181-D6EF-D299-0D6E1238897D}"/>
              </a:ext>
            </a:extLst>
          </p:cNvPr>
          <p:cNvSpPr/>
          <p:nvPr/>
        </p:nvSpPr>
        <p:spPr>
          <a:xfrm>
            <a:off x="548640" y="633096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adapts to the platform's fixed retrieval, it does not redesign it. Hybrid search is not preference, it's a measured requirement.</a:t>
            </a:r>
            <a:endParaRPr lang="en-US" sz="13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44A21CE-DE90-191B-C8A2-1C95B71D942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9829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FADA-38A3-A462-17A6-CE60E29E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5D0B-3BB4-3421-9F5C-07C49059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Vision — Contextual Trust, not just API success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7CEB8-63FC-F5E2-8314-673B4592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25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8B83A71-845B-A54A-B77C-C11C6850901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BB274DD-CC1A-2168-37E9-CF46E17D4707}"/>
              </a:ext>
            </a:extLst>
          </p:cNvPr>
          <p:cNvSpPr/>
          <p:nvPr/>
        </p:nvSpPr>
        <p:spPr>
          <a:xfrm>
            <a:off x="485245" y="1281161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ea typeface="Calibri" pitchFamily="34" charset="-122"/>
                <a:cs typeface="Calibri" pitchFamily="34" charset="-120"/>
              </a:rPr>
              <a:t>Measuring whether generated image descriptions are actually anchored in the source context</a:t>
            </a:r>
            <a:endParaRPr 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6C4C62D-7C5C-5E2D-529F-325368D517AC}"/>
              </a:ext>
            </a:extLst>
          </p:cNvPr>
          <p:cNvSpPr/>
          <p:nvPr/>
        </p:nvSpPr>
        <p:spPr>
          <a:xfrm>
            <a:off x="485245" y="1780615"/>
            <a:ext cx="5577840" cy="3429560"/>
          </a:xfrm>
          <a:prstGeom prst="roundRect">
            <a:avLst>
              <a:gd name="adj" fmla="val 1720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C33E456-C22F-1406-6418-3E39BF4874E4}"/>
              </a:ext>
            </a:extLst>
          </p:cNvPr>
          <p:cNvSpPr/>
          <p:nvPr/>
        </p:nvSpPr>
        <p:spPr>
          <a:xfrm>
            <a:off x="713845" y="19177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screenshots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76B2A1-740F-F6AD-3F64-3572FCD25782}"/>
              </a:ext>
            </a:extLst>
          </p:cNvPr>
          <p:cNvSpPr/>
          <p:nvPr/>
        </p:nvSpPr>
        <p:spPr>
          <a:xfrm>
            <a:off x="713845" y="226524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D25BA25C-8780-251E-212F-F7A88DA3AADD}"/>
              </a:ext>
            </a:extLst>
          </p:cNvPr>
          <p:cNvSpPr/>
          <p:nvPr/>
        </p:nvSpPr>
        <p:spPr>
          <a:xfrm>
            <a:off x="713845" y="2695015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6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6FE0AD8-10B6-821C-873C-A57EA56BC88C}"/>
              </a:ext>
            </a:extLst>
          </p:cNvPr>
          <p:cNvSpPr/>
          <p:nvPr/>
        </p:nvSpPr>
        <p:spPr>
          <a:xfrm>
            <a:off x="713845" y="3700855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(200 evaluated · 3 low coherence)</a:t>
            </a:r>
            <a:endParaRPr lang="en-US" sz="11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053FF30-5533-B9DA-C1A7-22C57AB37686}"/>
              </a:ext>
            </a:extLst>
          </p:cNvPr>
          <p:cNvSpPr/>
          <p:nvPr/>
        </p:nvSpPr>
        <p:spPr>
          <a:xfrm>
            <a:off x="566629" y="4259088"/>
            <a:ext cx="5369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L_OCR reinforces token overlap with the surrounding text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context: body + comments provide the anchor Alfred needs</a:t>
            </a:r>
            <a:endParaRPr lang="en-US" sz="120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01F52E0-6BE9-921F-ED6D-7520F63F623D}"/>
              </a:ext>
            </a:extLst>
          </p:cNvPr>
          <p:cNvSpPr/>
          <p:nvPr/>
        </p:nvSpPr>
        <p:spPr>
          <a:xfrm>
            <a:off x="6245965" y="1780615"/>
            <a:ext cx="5577840" cy="3429560"/>
          </a:xfrm>
          <a:prstGeom prst="roundRect">
            <a:avLst>
              <a:gd name="adj" fmla="val 1720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E1C1DB1-FE8E-7E9B-929A-CFBC822B805E}"/>
              </a:ext>
            </a:extLst>
          </p:cNvPr>
          <p:cNvSpPr/>
          <p:nvPr/>
        </p:nvSpPr>
        <p:spPr>
          <a:xfrm>
            <a:off x="6520285" y="1917775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figures</a:t>
            </a:r>
            <a:endParaRPr lang="en-US" sz="18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759CB2DC-4A06-A70F-A932-9947843645C3}"/>
              </a:ext>
            </a:extLst>
          </p:cNvPr>
          <p:cNvSpPr/>
          <p:nvPr/>
        </p:nvSpPr>
        <p:spPr>
          <a:xfrm>
            <a:off x="6520285" y="2265247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A3E6B34-3B26-01C0-BCE6-3D1199766C60}"/>
              </a:ext>
            </a:extLst>
          </p:cNvPr>
          <p:cNvSpPr/>
          <p:nvPr/>
        </p:nvSpPr>
        <p:spPr>
          <a:xfrm>
            <a:off x="6520285" y="2695015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60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9B2193C3-F524-EE3D-06DB-6FA94D8E2C54}"/>
              </a:ext>
            </a:extLst>
          </p:cNvPr>
          <p:cNvSpPr/>
          <p:nvPr/>
        </p:nvSpPr>
        <p:spPr>
          <a:xfrm>
            <a:off x="6520285" y="3700855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trust  (242 evaluated · 141 low coherence)</a:t>
            </a:r>
            <a:endParaRPr lang="en-US" sz="11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E85BF27-C0D5-BD28-094E-874658FB0FEC}"/>
              </a:ext>
            </a:extLst>
          </p:cNvPr>
          <p:cNvSpPr/>
          <p:nvPr/>
        </p:nvSpPr>
        <p:spPr>
          <a:xfrm>
            <a:off x="6505347" y="4244715"/>
            <a:ext cx="528563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OCR — validator has less overlap material to work with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enrich the prompt with section title and figure caption before validation</a:t>
            </a:r>
            <a:endParaRPr lang="en-US" sz="12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E2D4891B-0DCB-752A-F7A2-FAF6F7ECC89C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6627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07DB-6D56-5E38-AF2B-102E9A1F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B0E5-9627-ACEC-D3D3-23276B19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Comparative Study  ·  Generic LLM vs Persona KB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2EB16A4A-96D0-DCFE-C056-76F9193EA839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2A85A-6954-D875-F2FD-793DDE5B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8DD81E1-C305-B4CF-B070-855AA5420BA2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DE937306-759E-6A03-E24D-E0115B93A8A8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96F45F-D149-5428-7560-17CEC39635D6}"/>
              </a:ext>
            </a:extLst>
          </p:cNvPr>
          <p:cNvSpPr/>
          <p:nvPr/>
        </p:nvSpPr>
        <p:spPr>
          <a:xfrm>
            <a:off x="413915" y="1398375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A3C026-9441-649C-D8FF-E3462EE412F1}"/>
              </a:ext>
            </a:extLst>
          </p:cNvPr>
          <p:cNvSpPr/>
          <p:nvPr/>
        </p:nvSpPr>
        <p:spPr>
          <a:xfrm>
            <a:off x="413915" y="1581255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+39%</a:t>
            </a:r>
            <a:endParaRPr lang="en-US" sz="9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08CC9AB-9900-0954-F8AF-40178FD9885F}"/>
              </a:ext>
            </a:extLst>
          </p:cNvPr>
          <p:cNvSpPr/>
          <p:nvPr/>
        </p:nvSpPr>
        <p:spPr>
          <a:xfrm>
            <a:off x="413915" y="327289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gain vs generic LLM</a:t>
            </a:r>
            <a:endParaRPr lang="en-US" sz="15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E5B7E44-5291-CFA1-4453-43E2DFE80165}"/>
              </a:ext>
            </a:extLst>
          </p:cNvPr>
          <p:cNvSpPr/>
          <p:nvPr/>
        </p:nvSpPr>
        <p:spPr>
          <a:xfrm>
            <a:off x="413915" y="368437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/ 10  →  8.1 / 10  (average score per answer)</a:t>
            </a:r>
            <a:endParaRPr lang="en-US" sz="11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B919B7B1-B9ED-742A-3ED5-A2A58AC61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05438"/>
              </p:ext>
            </p:extLst>
          </p:nvPr>
        </p:nvGraphicFramePr>
        <p:xfrm>
          <a:off x="5717435" y="1398375"/>
          <a:ext cx="603504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/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answers (10/10)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8">
            <a:extLst>
              <a:ext uri="{FF2B5EF4-FFF2-40B4-BE49-F238E27FC236}">
                <a16:creationId xmlns:a16="http://schemas.microsoft.com/office/drawing/2014/main" id="{B556F771-E09E-E9AC-9C57-10833D1A53E9}"/>
              </a:ext>
            </a:extLst>
          </p:cNvPr>
          <p:cNvSpPr/>
          <p:nvPr/>
        </p:nvSpPr>
        <p:spPr>
          <a:xfrm>
            <a:off x="413915" y="4324455"/>
            <a:ext cx="11338560" cy="1645920"/>
          </a:xfrm>
          <a:prstGeom prst="roundRect">
            <a:avLst>
              <a:gd name="adj" fmla="val 4571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002D100-E26E-9C78-1620-BA45C4F47DCA}"/>
              </a:ext>
            </a:extLst>
          </p:cNvPr>
          <p:cNvSpPr/>
          <p:nvPr/>
        </p:nvSpPr>
        <p:spPr>
          <a:xfrm>
            <a:off x="642515" y="44158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 comes from</a:t>
            </a:r>
            <a:endParaRPr lang="en-US" sz="12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CDCAF46-650A-6C2E-7DC4-DA416C6094C2}"/>
              </a:ext>
            </a:extLst>
          </p:cNvPr>
          <p:cNvSpPr/>
          <p:nvPr/>
        </p:nvSpPr>
        <p:spPr>
          <a:xfrm>
            <a:off x="64251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A1677F0-36B0-958A-A358-5029E90D2138}"/>
              </a:ext>
            </a:extLst>
          </p:cNvPr>
          <p:cNvSpPr/>
          <p:nvPr/>
        </p:nvSpPr>
        <p:spPr>
          <a:xfrm>
            <a:off x="64251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Issue-specific</a:t>
            </a:r>
            <a:endParaRPr lang="en-US" sz="11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75AFF0C-A797-72D3-0A6D-602B6777EAEF}"/>
              </a:ext>
            </a:extLst>
          </p:cNvPr>
          <p:cNvSpPr/>
          <p:nvPr/>
        </p:nvSpPr>
        <p:spPr>
          <a:xfrm>
            <a:off x="64251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5.9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9.2</a:t>
            </a:r>
            <a:endParaRPr lang="en-US" sz="10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C96F3986-F55F-2BBE-4915-259841C92EB6}"/>
              </a:ext>
            </a:extLst>
          </p:cNvPr>
          <p:cNvSpPr/>
          <p:nvPr/>
        </p:nvSpPr>
        <p:spPr>
          <a:xfrm>
            <a:off x="343143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D23FCFE-7C2D-8178-9579-573771E0748B}"/>
              </a:ext>
            </a:extLst>
          </p:cNvPr>
          <p:cNvSpPr/>
          <p:nvPr/>
        </p:nvSpPr>
        <p:spPr>
          <a:xfrm>
            <a:off x="343143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/ Version</a:t>
            </a:r>
            <a:endParaRPr lang="en-US" sz="11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0FDE9743-791D-575C-090E-6BC6D9C118C0}"/>
              </a:ext>
            </a:extLst>
          </p:cNvPr>
          <p:cNvSpPr/>
          <p:nvPr/>
        </p:nvSpPr>
        <p:spPr>
          <a:xfrm>
            <a:off x="343143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3.7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9.7</a:t>
            </a:r>
            <a:endParaRPr lang="en-US" sz="10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612CAA04-3911-79F3-D8EE-456359F1C0B5}"/>
              </a:ext>
            </a:extLst>
          </p:cNvPr>
          <p:cNvSpPr/>
          <p:nvPr/>
        </p:nvSpPr>
        <p:spPr>
          <a:xfrm>
            <a:off x="622035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AC5D7F79-0D20-A2B3-E0EC-9BD808F8837A}"/>
              </a:ext>
            </a:extLst>
          </p:cNvPr>
          <p:cNvSpPr/>
          <p:nvPr/>
        </p:nvSpPr>
        <p:spPr>
          <a:xfrm>
            <a:off x="622035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knowledge</a:t>
            </a:r>
            <a:endParaRPr lang="en-US" sz="11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D909A79F-FF64-428E-48E8-54968A37583D}"/>
              </a:ext>
            </a:extLst>
          </p:cNvPr>
          <p:cNvSpPr/>
          <p:nvPr/>
        </p:nvSpPr>
        <p:spPr>
          <a:xfrm>
            <a:off x="622035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7.0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7.0</a:t>
            </a:r>
            <a:endParaRPr lang="en-US" sz="10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B94C7E27-CEFD-6D74-1968-1A239FDF78B1}"/>
              </a:ext>
            </a:extLst>
          </p:cNvPr>
          <p:cNvSpPr/>
          <p:nvPr/>
        </p:nvSpPr>
        <p:spPr>
          <a:xfrm>
            <a:off x="9009275" y="4781655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C2BF8152-7AB0-A21F-666B-9CD0582618AD}"/>
              </a:ext>
            </a:extLst>
          </p:cNvPr>
          <p:cNvSpPr/>
          <p:nvPr/>
        </p:nvSpPr>
        <p:spPr>
          <a:xfrm>
            <a:off x="9009275" y="487309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74F1C7C9-DC65-A3C6-55BB-0849FC856B4D}"/>
              </a:ext>
            </a:extLst>
          </p:cNvPr>
          <p:cNvSpPr/>
          <p:nvPr/>
        </p:nvSpPr>
        <p:spPr>
          <a:xfrm>
            <a:off x="9009275" y="528457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LLM </a:t>
            </a:r>
            <a:r>
              <a:rPr lang="en-US" sz="1200" b="1" dirty="0">
                <a:solidFill>
                  <a:srgbClr val="B91C1C"/>
                </a:solidFill>
              </a:rPr>
              <a:t>5.0</a:t>
            </a:r>
            <a:r>
              <a:rPr lang="en-US" sz="1000" dirty="0">
                <a:solidFill>
                  <a:srgbClr val="64748B"/>
                </a:solidFill>
              </a:rPr>
              <a:t>     KB </a:t>
            </a:r>
            <a:r>
              <a:rPr lang="en-US" sz="1200" b="1" dirty="0">
                <a:solidFill>
                  <a:srgbClr val="0D9488"/>
                </a:solidFill>
              </a:rPr>
              <a:t>4.0</a:t>
            </a:r>
            <a:endParaRPr lang="en-US" sz="10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8613780F-994E-0ED3-CA59-3ECD19F7A1ED}"/>
              </a:ext>
            </a:extLst>
          </p:cNvPr>
          <p:cNvSpPr/>
          <p:nvPr/>
        </p:nvSpPr>
        <p:spPr>
          <a:xfrm>
            <a:off x="413915" y="6061815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architecture:  KB-first  +  restrictive NovaX fallback  —  traceability protected, coverage extended.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51904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ACB1-DEC3-3B62-A9F2-55A3D8EF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4EDFDD60-E479-60D9-C0E9-125B00A7B6FF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60DD95DD-4A79-85D9-9DD4-3DEDAA374D08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77F0A040-E98E-A832-52AA-A04B4BB170AA}"/>
              </a:ext>
            </a:extLst>
          </p:cNvPr>
          <p:cNvSpPr/>
          <p:nvPr/>
        </p:nvSpPr>
        <p:spPr>
          <a:xfrm>
            <a:off x="9746143" y="34512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D6A223E7-2023-B370-BBCA-0DDB30723494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F4437CCC-4FE7-65E6-CE1A-166D2F5879E8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42F6CE3E-6CBC-B24F-B9A3-F1EA5A4BA17C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E6888F5B-7071-4911-96A7-6CCCFB65C21C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2E2C6124-F8C2-0C36-123C-9A8A0EE21B26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3DC774A7-5C53-221A-2962-1370692326B4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6E1E6FDB-360F-D2F3-686E-5FA828ED85DF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0D4FB88E-8176-F147-83D2-6ACD2A275312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6AA3C07C-C79B-17D8-4364-13D8529CFA02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7CF3C0B9-9D86-4AED-BA1F-ADA1CA6C2E10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BE6E7C22-9D8C-47FE-A957-70138330DE54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650741A7-364D-567F-CBF5-300CA6974C4F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3094D3A0-A690-0090-643E-A2D50CEFC19C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B8988A93-B266-42AC-2E6F-338FA3067C9C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18B3A1D6-23C3-B175-B607-22E1FC08471E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560DE98-D56D-4760-9890-ECFD1FA0D4E6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C7C3CB6F-F49C-9746-A9E8-FBB398B8C39A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E226FE74-7263-0B3F-E68E-1A5AF395D731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D6D98644-BC03-D37E-8C63-CD6440D000A0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8BFAF2B1-23D9-CB68-1929-4AFE794EE5EA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F36F1F13-58CC-F0E2-E640-5611C5823085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BBB0DDD0-9609-CFD2-AD5F-E818823F20EA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43B5F253-0B3B-1EEA-1AC5-5F41D6FA67C2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4825C7A6-2173-6BD0-623E-A2F492B835E8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1AB44F9-9EC2-4E19-B5F3-3D422DB853E0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378DD960-974B-3AE5-4B63-3E7039C9E659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AC83F97F-A4F8-7686-6EE5-861A5BFF0C7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4C48DDB1-B453-F4FA-1D2A-F15E19D297F3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27068156-2141-471D-8A3B-4EEFE03C7F90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C591155D-E1B5-99AB-BCD9-EE79BBB783A3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397346EF-265F-A0FE-1A7C-3CA46C5ED14F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63587738-2D14-2377-950E-5EFF14237945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681F0F6E-928C-8685-6491-89143BF2CB18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326DF3FB-1DA4-000C-AB70-44A810AAC189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892ACB29-8EB4-5CBA-D33A-40D04F2DDAEA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3CF60F-58D9-44F3-86A5-0609F2331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CC64E737-1814-3A37-8612-76E3B6F12D9B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A84902E1-4345-4918-68AA-D54C2699893E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A000A919-CDA6-C48F-4FF3-C0C8A4BD8674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64D8515-9FCB-67BB-9812-F9AAE8344D16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Ongoing work &amp; perspectives </a:t>
            </a:r>
            <a:endParaRPr lang="en-US" sz="1200" noProof="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60159625-8A2C-0BF9-33B0-6C1697E6D2CB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47075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C5D2-8988-9AF4-4A86-9A357DCC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2B307E-9A3F-6A66-AAB5-DC2A4D1D6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096" y="0"/>
            <a:ext cx="10294954" cy="6809461"/>
          </a:xfrm>
          <a:prstGeom prst="rect">
            <a:avLst/>
          </a:prstGeom>
        </p:spPr>
      </p:pic>
      <p:sp>
        <p:nvSpPr>
          <p:cNvPr id="43" name="Text 41">
            <a:extLst>
              <a:ext uri="{FF2B5EF4-FFF2-40B4-BE49-F238E27FC236}">
                <a16:creationId xmlns:a16="http://schemas.microsoft.com/office/drawing/2014/main" id="{6EAC7550-699A-0BF9-6691-57E9371AC7C6}"/>
              </a:ext>
            </a:extLst>
          </p:cNvPr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A759DE-281F-720F-BB56-9C942EF4CE05}"/>
              </a:ext>
            </a:extLst>
          </p:cNvPr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65880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F17F-2897-39E3-762A-2DEA3B9B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C4B1C8D-9B71-A383-9954-91EE86C3DC0C}"/>
              </a:ext>
            </a:extLst>
          </p:cNvPr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Second Pipeline?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4CC9C7-73FD-62D7-0D37-E2739C137C1F}"/>
              </a:ext>
            </a:extLst>
          </p:cNvPr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Pipeline for the Big PDFs (Reference Manuals)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023C0B-5364-7DFC-4266-14029001AE27}"/>
              </a:ext>
            </a:extLst>
          </p:cNvPr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F0DA10-B5FC-08D1-3D93-465B62AE0F6F}"/>
              </a:ext>
            </a:extLst>
          </p:cNvPr>
          <p:cNvSpPr/>
          <p:nvPr/>
        </p:nvSpPr>
        <p:spPr>
          <a:xfrm>
            <a:off x="426720" y="1248156"/>
            <a:ext cx="11338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61078EC-CBA4-ACAD-5178-68135D475F7E}"/>
              </a:ext>
            </a:extLst>
          </p:cNvPr>
          <p:cNvSpPr/>
          <p:nvPr/>
        </p:nvSpPr>
        <p:spPr>
          <a:xfrm>
            <a:off x="655320" y="133959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workshop pipeline cannot do this — four measured obstacles</a:t>
            </a:r>
            <a:endParaRPr lang="en-US" sz="13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7F72A28-80E4-ACFD-B505-F60C46FF8CFE}"/>
              </a:ext>
            </a:extLst>
          </p:cNvPr>
          <p:cNvSpPr/>
          <p:nvPr/>
        </p:nvSpPr>
        <p:spPr>
          <a:xfrm>
            <a:off x="65532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F35463-BCF8-9FE5-C0EB-CB636512A7E3}"/>
              </a:ext>
            </a:extLst>
          </p:cNvPr>
          <p:cNvSpPr/>
          <p:nvPr/>
        </p:nvSpPr>
        <p:spPr>
          <a:xfrm>
            <a:off x="79248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C5ABF60-DA3F-E83B-BA56-02F12D22DE78}"/>
              </a:ext>
            </a:extLst>
          </p:cNvPr>
          <p:cNvSpPr/>
          <p:nvPr/>
        </p:nvSpPr>
        <p:spPr>
          <a:xfrm>
            <a:off x="79248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2885488-4CF4-3703-7130-0F3767D4700E}"/>
              </a:ext>
            </a:extLst>
          </p:cNvPr>
          <p:cNvSpPr/>
          <p:nvPr/>
        </p:nvSpPr>
        <p:spPr>
          <a:xfrm>
            <a:off x="120396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PDFs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F9E9441-B3DE-17DE-4A1B-FB25EC5E6811}"/>
              </a:ext>
            </a:extLst>
          </p:cNvPr>
          <p:cNvSpPr/>
          <p:nvPr/>
        </p:nvSpPr>
        <p:spPr>
          <a:xfrm>
            <a:off x="79248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tables, bus diagrams, clock trees — no GitHub source, only massive PDF files.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E3DC7FF-D0F2-39D4-E951-12FB65316546}"/>
              </a:ext>
            </a:extLst>
          </p:cNvPr>
          <p:cNvSpPr/>
          <p:nvPr/>
        </p:nvSpPr>
        <p:spPr>
          <a:xfrm>
            <a:off x="344424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1A77C07-F4B8-A87E-1139-18715A5448B1}"/>
              </a:ext>
            </a:extLst>
          </p:cNvPr>
          <p:cNvSpPr/>
          <p:nvPr/>
        </p:nvSpPr>
        <p:spPr>
          <a:xfrm>
            <a:off x="358140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3A032DE-F4CF-B8AD-A579-9C2AB7A3EEC5}"/>
              </a:ext>
            </a:extLst>
          </p:cNvPr>
          <p:cNvSpPr/>
          <p:nvPr/>
        </p:nvSpPr>
        <p:spPr>
          <a:xfrm>
            <a:off x="358140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DA2F99F-7083-7CE6-A6B9-7CAFF3A4AB97}"/>
              </a:ext>
            </a:extLst>
          </p:cNvPr>
          <p:cNvSpPr/>
          <p:nvPr/>
        </p:nvSpPr>
        <p:spPr>
          <a:xfrm>
            <a:off x="399288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crashes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B0CC7A3-5BEE-A480-F13B-00C9D486D57E}"/>
              </a:ext>
            </a:extLst>
          </p:cNvPr>
          <p:cNvSpPr/>
          <p:nvPr/>
        </p:nvSpPr>
        <p:spPr>
          <a:xfrm>
            <a:off x="358140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PDF libraries hit std::bad_alloc ("out of memory") on 3 000+ page documents in one pass.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56F37D2-60D9-9D90-C1C1-29448488D4A0}"/>
              </a:ext>
            </a:extLst>
          </p:cNvPr>
          <p:cNvSpPr/>
          <p:nvPr/>
        </p:nvSpPr>
        <p:spPr>
          <a:xfrm>
            <a:off x="623316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DFAC9FB-9953-6332-EEBB-CCEF419B4B59}"/>
              </a:ext>
            </a:extLst>
          </p:cNvPr>
          <p:cNvSpPr/>
          <p:nvPr/>
        </p:nvSpPr>
        <p:spPr>
          <a:xfrm>
            <a:off x="637032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DD87D30-33CD-D076-069A-BDC50E63CD04}"/>
              </a:ext>
            </a:extLst>
          </p:cNvPr>
          <p:cNvSpPr/>
          <p:nvPr/>
        </p:nvSpPr>
        <p:spPr>
          <a:xfrm>
            <a:off x="637032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FA050B8-CB2F-F7E1-C8B4-4BBC74DB3405}"/>
              </a:ext>
            </a:extLst>
          </p:cNvPr>
          <p:cNvSpPr/>
          <p:nvPr/>
        </p:nvSpPr>
        <p:spPr>
          <a:xfrm>
            <a:off x="678180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figure AI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B852440-E5F2-941F-1DFC-79E5E8130391}"/>
              </a:ext>
            </a:extLst>
          </p:cNvPr>
          <p:cNvSpPr/>
          <p:nvPr/>
        </p:nvSpPr>
        <p:spPr>
          <a:xfrm>
            <a:off x="637032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takes ~100 seconds per figure → 33 hours estimated for a single PDF, unusable in production.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E78B005-03AC-2DC0-D34F-A733083AD19D}"/>
              </a:ext>
            </a:extLst>
          </p:cNvPr>
          <p:cNvSpPr/>
          <p:nvPr/>
        </p:nvSpPr>
        <p:spPr>
          <a:xfrm>
            <a:off x="9022080" y="1705356"/>
            <a:ext cx="2651760" cy="160020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C1253D4-833B-8609-7AF8-43A514ABE917}"/>
              </a:ext>
            </a:extLst>
          </p:cNvPr>
          <p:cNvSpPr/>
          <p:nvPr/>
        </p:nvSpPr>
        <p:spPr>
          <a:xfrm>
            <a:off x="9159240" y="1842516"/>
            <a:ext cx="320040" cy="3200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7FA5E85-32AB-F952-F451-81F0E587FEBB}"/>
              </a:ext>
            </a:extLst>
          </p:cNvPr>
          <p:cNvSpPr/>
          <p:nvPr/>
        </p:nvSpPr>
        <p:spPr>
          <a:xfrm>
            <a:off x="9159240" y="18425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D0A7D06-F3ED-DD6D-D9AD-0D3B267F2443}"/>
              </a:ext>
            </a:extLst>
          </p:cNvPr>
          <p:cNvSpPr/>
          <p:nvPr/>
        </p:nvSpPr>
        <p:spPr>
          <a:xfrm>
            <a:off x="9570720" y="18425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context limit</a:t>
            </a:r>
            <a:endParaRPr lang="en-US" sz="12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BAC9060-C548-D01A-EFB7-C9DC0EB51916}"/>
              </a:ext>
            </a:extLst>
          </p:cNvPr>
          <p:cNvSpPr/>
          <p:nvPr/>
        </p:nvSpPr>
        <p:spPr>
          <a:xfrm>
            <a:off x="9159240" y="22539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AI can only read ~8 000 characters at a time — but one PDF produces 7 600 000 characters.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2C997F-32EC-C609-6841-0E8EBD66DF93}"/>
              </a:ext>
            </a:extLst>
          </p:cNvPr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F506915-474A-CEC3-C54A-FBA25077FB43}"/>
              </a:ext>
            </a:extLst>
          </p:cNvPr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DD8A899B-BD09-0DA8-1821-FFE78CCE3962}"/>
              </a:ext>
            </a:extLst>
          </p:cNvPr>
          <p:cNvSpPr/>
          <p:nvPr/>
        </p:nvSpPr>
        <p:spPr>
          <a:xfrm>
            <a:off x="487680" y="3575303"/>
            <a:ext cx="212750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E103292D-52A8-122A-6C69-B79C93CF343C}"/>
              </a:ext>
            </a:extLst>
          </p:cNvPr>
          <p:cNvSpPr/>
          <p:nvPr/>
        </p:nvSpPr>
        <p:spPr>
          <a:xfrm>
            <a:off x="1261872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1D93BEF-BE38-E1D4-E637-88E3C4AEF701}"/>
              </a:ext>
            </a:extLst>
          </p:cNvPr>
          <p:cNvSpPr/>
          <p:nvPr/>
        </p:nvSpPr>
        <p:spPr>
          <a:xfrm>
            <a:off x="1261872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C3093278-FC9B-5BB4-C323-032381C7AE68}"/>
              </a:ext>
            </a:extLst>
          </p:cNvPr>
          <p:cNvSpPr/>
          <p:nvPr/>
        </p:nvSpPr>
        <p:spPr>
          <a:xfrm>
            <a:off x="457200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60478CE8-F3FB-5DF1-8DD7-00B947D706A5}"/>
              </a:ext>
            </a:extLst>
          </p:cNvPr>
          <p:cNvSpPr/>
          <p:nvPr/>
        </p:nvSpPr>
        <p:spPr>
          <a:xfrm>
            <a:off x="548640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· pypdfium2</a:t>
            </a:r>
            <a:endParaRPr lang="en-US" sz="95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7383FE0-DA5D-1629-FB5F-44262A618B22}"/>
              </a:ext>
            </a:extLst>
          </p:cNvPr>
          <p:cNvSpPr/>
          <p:nvPr/>
        </p:nvSpPr>
        <p:spPr>
          <a:xfrm>
            <a:off x="777240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28C6D106-49D1-16A6-2920-F68294571CC6}"/>
              </a:ext>
            </a:extLst>
          </p:cNvPr>
          <p:cNvSpPr/>
          <p:nvPr/>
        </p:nvSpPr>
        <p:spPr>
          <a:xfrm>
            <a:off x="594360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PDF. Extract every page's text and every figure as an image.</a:t>
            </a:r>
            <a:endParaRPr lang="en-US" sz="12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13F37015-606F-50A8-B1A5-982E51873E60}"/>
              </a:ext>
            </a:extLst>
          </p:cNvPr>
          <p:cNvSpPr/>
          <p:nvPr/>
        </p:nvSpPr>
        <p:spPr>
          <a:xfrm>
            <a:off x="2752344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B48EA141-BC8D-FF67-D52F-F2B08D7D91CF}"/>
              </a:ext>
            </a:extLst>
          </p:cNvPr>
          <p:cNvSpPr/>
          <p:nvPr/>
        </p:nvSpPr>
        <p:spPr>
          <a:xfrm>
            <a:off x="3557016" y="3758183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8E19CE5-F0BD-8BF9-5686-3349C87FBD33}"/>
              </a:ext>
            </a:extLst>
          </p:cNvPr>
          <p:cNvSpPr/>
          <p:nvPr/>
        </p:nvSpPr>
        <p:spPr>
          <a:xfrm>
            <a:off x="3557016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B922A70C-9869-16C5-4299-0B6017C2A6DA}"/>
              </a:ext>
            </a:extLst>
          </p:cNvPr>
          <p:cNvSpPr/>
          <p:nvPr/>
        </p:nvSpPr>
        <p:spPr>
          <a:xfrm>
            <a:off x="2752344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</a:t>
            </a:r>
            <a:endParaRPr lang="en-US" sz="15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F312D5BA-6704-5FDD-E113-1C24BE1807EA}"/>
              </a:ext>
            </a:extLst>
          </p:cNvPr>
          <p:cNvSpPr/>
          <p:nvPr/>
        </p:nvSpPr>
        <p:spPr>
          <a:xfrm>
            <a:off x="2843784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via Ollama</a:t>
            </a:r>
            <a:endParaRPr lang="en-US" sz="95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C9EA38B0-22B7-8ADC-C544-44142706B31F}"/>
              </a:ext>
            </a:extLst>
          </p:cNvPr>
          <p:cNvSpPr/>
          <p:nvPr/>
        </p:nvSpPr>
        <p:spPr>
          <a:xfrm>
            <a:off x="3072384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517C9518-06D1-15C8-09C8-75A65493A121}"/>
              </a:ext>
            </a:extLst>
          </p:cNvPr>
          <p:cNvSpPr/>
          <p:nvPr/>
        </p:nvSpPr>
        <p:spPr>
          <a:xfrm>
            <a:off x="2889504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"looks" at each figure and writes a text description of what's in it.</a:t>
            </a:r>
            <a:endParaRPr lang="en-US" sz="12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96CBAB14-58F7-2CBA-74FD-087B1D19BBC2}"/>
              </a:ext>
            </a:extLst>
          </p:cNvPr>
          <p:cNvSpPr/>
          <p:nvPr/>
        </p:nvSpPr>
        <p:spPr>
          <a:xfrm>
            <a:off x="5047488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E2EB28B5-3706-FE64-4C44-EBC8EE0A98F4}"/>
              </a:ext>
            </a:extLst>
          </p:cNvPr>
          <p:cNvSpPr/>
          <p:nvPr/>
        </p:nvSpPr>
        <p:spPr>
          <a:xfrm>
            <a:off x="5852160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3C9F68AD-7039-1DEC-FBCC-B802AE481286}"/>
              </a:ext>
            </a:extLst>
          </p:cNvPr>
          <p:cNvSpPr/>
          <p:nvPr/>
        </p:nvSpPr>
        <p:spPr>
          <a:xfrm>
            <a:off x="5852160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34BAD228-512D-B912-FD78-BDBF8A638E1D}"/>
              </a:ext>
            </a:extLst>
          </p:cNvPr>
          <p:cNvSpPr/>
          <p:nvPr/>
        </p:nvSpPr>
        <p:spPr>
          <a:xfrm>
            <a:off x="5047488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5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257B5137-381E-033C-C951-3E8CBC0E5B18}"/>
              </a:ext>
            </a:extLst>
          </p:cNvPr>
          <p:cNvSpPr/>
          <p:nvPr/>
        </p:nvSpPr>
        <p:spPr>
          <a:xfrm>
            <a:off x="5138928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merge</a:t>
            </a:r>
            <a:endParaRPr lang="en-US" sz="950" dirty="0"/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AF0B5DB7-69F3-8D97-B508-4A857C511282}"/>
              </a:ext>
            </a:extLst>
          </p:cNvPr>
          <p:cNvSpPr/>
          <p:nvPr/>
        </p:nvSpPr>
        <p:spPr>
          <a:xfrm>
            <a:off x="5367528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B718948F-8528-EFE6-37A3-F891AFA7EAA3}"/>
              </a:ext>
            </a:extLst>
          </p:cNvPr>
          <p:cNvSpPr/>
          <p:nvPr/>
        </p:nvSpPr>
        <p:spPr>
          <a:xfrm>
            <a:off x="5184648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every figure's description into the text at the exact place where the figure was.</a:t>
            </a:r>
            <a:endParaRPr lang="en-US" sz="120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E6662D82-411F-BE47-F74A-26A1F60393C1}"/>
              </a:ext>
            </a:extLst>
          </p:cNvPr>
          <p:cNvSpPr/>
          <p:nvPr/>
        </p:nvSpPr>
        <p:spPr>
          <a:xfrm>
            <a:off x="7342632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6F4F2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CD0F2F35-851E-CEFA-1911-0F1CC6AC7F5E}"/>
              </a:ext>
            </a:extLst>
          </p:cNvPr>
          <p:cNvSpPr/>
          <p:nvPr/>
        </p:nvSpPr>
        <p:spPr>
          <a:xfrm>
            <a:off x="8147304" y="3758183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2822ED83-CFC7-4D2F-CC7F-ECE43C49F00A}"/>
              </a:ext>
            </a:extLst>
          </p:cNvPr>
          <p:cNvSpPr/>
          <p:nvPr/>
        </p:nvSpPr>
        <p:spPr>
          <a:xfrm>
            <a:off x="8147304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BD1C276B-982F-A37F-D775-5D6BE79E7CCC}"/>
              </a:ext>
            </a:extLst>
          </p:cNvPr>
          <p:cNvSpPr/>
          <p:nvPr/>
        </p:nvSpPr>
        <p:spPr>
          <a:xfrm>
            <a:off x="7342632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767D6C96-3BFC-744C-8018-CB39D2A8DE83}"/>
              </a:ext>
            </a:extLst>
          </p:cNvPr>
          <p:cNvSpPr/>
          <p:nvPr/>
        </p:nvSpPr>
        <p:spPr>
          <a:xfrm>
            <a:off x="7434072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95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01DE1A83-953B-E131-0C59-42F9D60BAA82}"/>
              </a:ext>
            </a:extLst>
          </p:cNvPr>
          <p:cNvSpPr/>
          <p:nvPr/>
        </p:nvSpPr>
        <p:spPr>
          <a:xfrm>
            <a:off x="7662672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67893E96-9376-15AB-38CC-1FBD6B9884EE}"/>
              </a:ext>
            </a:extLst>
          </p:cNvPr>
          <p:cNvSpPr/>
          <p:nvPr/>
        </p:nvSpPr>
        <p:spPr>
          <a:xfrm>
            <a:off x="7479792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combined text and outputs structured data: registers, peripherals, tables.</a:t>
            </a:r>
            <a:endParaRPr lang="en-US" sz="1200" dirty="0"/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F583BAEC-870A-60FC-D496-368D8F591472}"/>
              </a:ext>
            </a:extLst>
          </p:cNvPr>
          <p:cNvSpPr/>
          <p:nvPr/>
        </p:nvSpPr>
        <p:spPr>
          <a:xfrm>
            <a:off x="9637776" y="3575303"/>
            <a:ext cx="2157984" cy="2569465"/>
          </a:xfrm>
          <a:prstGeom prst="roundRect">
            <a:avLst>
              <a:gd name="adj" fmla="val 3390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77D9A102-F06F-2318-902C-EE458C46A457}"/>
              </a:ext>
            </a:extLst>
          </p:cNvPr>
          <p:cNvSpPr/>
          <p:nvPr/>
        </p:nvSpPr>
        <p:spPr>
          <a:xfrm>
            <a:off x="10442448" y="3758183"/>
            <a:ext cx="548640" cy="548640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E2CBF923-D4FA-D104-8D0B-46033924C925}"/>
              </a:ext>
            </a:extLst>
          </p:cNvPr>
          <p:cNvSpPr/>
          <p:nvPr/>
        </p:nvSpPr>
        <p:spPr>
          <a:xfrm>
            <a:off x="10442448" y="3758183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018E0DFB-EFC6-CA47-FB7E-576EC581BA36}"/>
              </a:ext>
            </a:extLst>
          </p:cNvPr>
          <p:cNvSpPr/>
          <p:nvPr/>
        </p:nvSpPr>
        <p:spPr>
          <a:xfrm>
            <a:off x="9637776" y="439826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507CCE50-AD54-3CBA-9ECD-86ACAA5B9080}"/>
              </a:ext>
            </a:extLst>
          </p:cNvPr>
          <p:cNvSpPr/>
          <p:nvPr/>
        </p:nvSpPr>
        <p:spPr>
          <a:xfrm>
            <a:off x="9729216" y="4782311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renderer</a:t>
            </a:r>
            <a:endParaRPr lang="en-US" sz="950" dirty="0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3FCC5C11-4D98-1185-935A-3ABDF9DC84AE}"/>
              </a:ext>
            </a:extLst>
          </p:cNvPr>
          <p:cNvSpPr/>
          <p:nvPr/>
        </p:nvSpPr>
        <p:spPr>
          <a:xfrm>
            <a:off x="9957816" y="5129783"/>
            <a:ext cx="151790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ED408D8F-1439-DEC4-13BF-51AF7E482B24}"/>
              </a:ext>
            </a:extLst>
          </p:cNvPr>
          <p:cNvSpPr/>
          <p:nvPr/>
        </p:nvSpPr>
        <p:spPr>
          <a:xfrm>
            <a:off x="9774936" y="5221223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structured result to disk, ready for indexing in a Knowledge Base.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19782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3E87-54A3-0DCE-C7ED-51ABB5F8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5201209F-477C-47BA-2EB9-8002B8E4F207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E974F4C3-38CB-D746-DA5E-EAE32167A116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FE9E2C0-0F59-5D4F-9EF3-17013DD6EF19}"/>
              </a:ext>
            </a:extLst>
          </p:cNvPr>
          <p:cNvSpPr/>
          <p:nvPr/>
        </p:nvSpPr>
        <p:spPr>
          <a:xfrm>
            <a:off x="9794782" y="37499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62A78587-0F4F-4D52-7A22-F33623B86B4E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B817DD0-0933-DA9E-233A-D5AD8F8EB34D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F419D6D6-B490-7F72-E17D-E2DCC654818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13036948-1A3D-1A5E-5CEF-863CF24FA404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07B10682-23F7-5916-F280-455B3ED1A7A2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8E22D36B-78D5-7070-8124-6D65CE051C6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0B8C83AA-8520-B617-828A-5106EA946A11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1FFA9EF3-B315-B367-2983-FA47B00F3300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2610019D-1DE5-3785-A5DD-3BB8EC5B6504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8CB8F0CD-B31D-9E40-D2EC-1012A07D2812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5ECCEB2B-DC2E-37EE-2C72-70B46488AAB2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D7C5398A-522A-272A-E482-AC454A51D2F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03DA248D-789B-808B-2539-67C15B41B1EE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301C3C87-1A47-9327-C2D9-BED2AA8543CE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4BAB2FB3-A654-30E1-D52E-0A4423E2CC02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10597957-A046-35C0-3DD8-C905AB5302FA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409A207C-204F-FF8F-3A8F-3FF3A47A7F73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BEDA8882-03B0-0B61-2479-DEA2B3D7DCD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4AE1B17B-10E4-1A70-5203-AAB93271DC48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2BB712D7-18BF-6208-AEBA-C6BCF19931DD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467F4470-1099-5562-3D64-AD7FE5BC855D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1D1DC59-F585-FED6-6019-356B6B46699C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2E29EC2D-654F-A0F9-2A63-64ADC6AAC447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78D5ABCC-4DE9-9687-F728-BA2627F0E570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8316FA9C-CC63-A441-34D8-B49F52E0F815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811449C7-0A35-88F2-1F83-B8C3B385E2A3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274B32CA-B702-C0E0-50A2-ED3D72C63B23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5EB6637-2F04-BE52-9A3A-87D3BFEFB95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A47E7705-0FD9-8B3A-532A-50DCACE87E92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Live Demo &amp; Hands-On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37CD4B31-B140-6AA2-BAA0-0EC0DE5049EB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E40545CA-903C-5CB6-1185-E2043A861D5D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6D1199D-C1CB-6F17-F530-FE7A6BC87F8C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E44B1817-2114-A397-764B-A2A8B01D5D06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2C488CF9-BBC7-A73D-3F18-B4CD7B415DB6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Q&amp;A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A36EC5D7-EB84-7340-52C8-47459B8982A8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B7844-B16C-C56A-7A95-3B8E85F73D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30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F4CA7A3-7275-33EA-7A3E-69499D68EFD2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6B04FD79-3746-13BA-3599-2220D8A054D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94CE8819-3F6E-011C-8720-BF439FD56BD6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3E4A1C5E-7D70-6516-8560-23926D7467F0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FD9D184A-F244-6AFD-777C-D99955DDDEB8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2043889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1479-BF41-5F72-010C-F3AE7D69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45275874-672D-9AE0-9C90-B630FAB377FE}"/>
              </a:ext>
            </a:extLst>
          </p:cNvPr>
          <p:cNvSpPr/>
          <p:nvPr/>
        </p:nvSpPr>
        <p:spPr>
          <a:xfrm>
            <a:off x="175829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44149695-79EB-8254-B426-9F94F414B506}"/>
              </a:ext>
            </a:extLst>
          </p:cNvPr>
          <p:cNvSpPr/>
          <p:nvPr/>
        </p:nvSpPr>
        <p:spPr>
          <a:xfrm>
            <a:off x="175829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55633114-DC0F-BC82-8AB4-24CE6B7DBD7A}"/>
              </a:ext>
            </a:extLst>
          </p:cNvPr>
          <p:cNvSpPr/>
          <p:nvPr/>
        </p:nvSpPr>
        <p:spPr>
          <a:xfrm>
            <a:off x="9678050" y="37567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1B2A3B"/>
                </a:solidFill>
              </a:rPr>
              <a:t>Plan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EAFD21F1-D590-00D6-6F16-377313122C83}"/>
              </a:ext>
            </a:extLst>
          </p:cNvPr>
          <p:cNvSpPr/>
          <p:nvPr/>
        </p:nvSpPr>
        <p:spPr>
          <a:xfrm>
            <a:off x="8715011" y="7844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CFF4E53B-6657-14CB-F596-FB80F6C0BC50}"/>
              </a:ext>
            </a:extLst>
          </p:cNvPr>
          <p:cNvSpPr/>
          <p:nvPr/>
        </p:nvSpPr>
        <p:spPr>
          <a:xfrm>
            <a:off x="2541212" y="104921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DA53003B-E4A2-414E-489A-3CA45DFB97FD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DB0B2D0C-EB75-8807-4CCC-DB2E0B3A109F}"/>
              </a:ext>
            </a:extLst>
          </p:cNvPr>
          <p:cNvSpPr/>
          <p:nvPr/>
        </p:nvSpPr>
        <p:spPr>
          <a:xfrm>
            <a:off x="1758295" y="1777097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DADB7444-3018-708A-746C-C430B9A8370C}"/>
              </a:ext>
            </a:extLst>
          </p:cNvPr>
          <p:cNvSpPr/>
          <p:nvPr/>
        </p:nvSpPr>
        <p:spPr>
          <a:xfrm>
            <a:off x="2269264" y="286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Architecture Overview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E6FE1082-BB50-2075-2066-78B9146E1CB9}"/>
              </a:ext>
            </a:extLst>
          </p:cNvPr>
          <p:cNvSpPr/>
          <p:nvPr/>
        </p:nvSpPr>
        <p:spPr>
          <a:xfrm>
            <a:off x="2233783" y="312079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5D7A8064-DC71-D420-C777-C133B63A3C30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860A21C5-4AC2-7E5B-BB66-41EE10EA06AA}"/>
              </a:ext>
            </a:extLst>
          </p:cNvPr>
          <p:cNvSpPr/>
          <p:nvPr/>
        </p:nvSpPr>
        <p:spPr>
          <a:xfrm>
            <a:off x="1758295" y="2673209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4FC3D1FA-423A-81E7-A95F-73AA1BC6E601}"/>
              </a:ext>
            </a:extLst>
          </p:cNvPr>
          <p:cNvSpPr/>
          <p:nvPr/>
        </p:nvSpPr>
        <p:spPr>
          <a:xfrm>
            <a:off x="2249695" y="1996553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Project Context </a:t>
            </a:r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F66E529-7641-D0F0-4B12-C9EC9D5C96C6}"/>
              </a:ext>
            </a:extLst>
          </p:cNvPr>
          <p:cNvSpPr/>
          <p:nvPr/>
        </p:nvSpPr>
        <p:spPr>
          <a:xfrm>
            <a:off x="2233783" y="221792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F6A319D1-1B1D-F6D4-5A4F-FF9D98B7A6D2}"/>
              </a:ext>
            </a:extLst>
          </p:cNvPr>
          <p:cNvSpPr/>
          <p:nvPr/>
        </p:nvSpPr>
        <p:spPr>
          <a:xfrm>
            <a:off x="1758295" y="3569321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2361FBF9-000E-4BA9-5B40-22CD266BDE90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665FA19A-7A38-A971-9924-13869521C6A2}"/>
              </a:ext>
            </a:extLst>
          </p:cNvPr>
          <p:cNvSpPr/>
          <p:nvPr/>
        </p:nvSpPr>
        <p:spPr>
          <a:xfrm>
            <a:off x="1758295" y="3569321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369453DE-BDC5-C194-E684-F4EA59E3B775}"/>
              </a:ext>
            </a:extLst>
          </p:cNvPr>
          <p:cNvSpPr/>
          <p:nvPr/>
        </p:nvSpPr>
        <p:spPr>
          <a:xfrm>
            <a:off x="2269264" y="37979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The Data preprocessing pipeline and ALFRED Vision Integration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96904BE1-D2EB-9C81-3910-ECC7E1F9269B}"/>
              </a:ext>
            </a:extLst>
          </p:cNvPr>
          <p:cNvSpPr/>
          <p:nvPr/>
        </p:nvSpPr>
        <p:spPr>
          <a:xfrm>
            <a:off x="2233783" y="39716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400420C1-30B2-9F50-FFB2-CF9A3468600E}"/>
              </a:ext>
            </a:extLst>
          </p:cNvPr>
          <p:cNvSpPr/>
          <p:nvPr/>
        </p:nvSpPr>
        <p:spPr>
          <a:xfrm>
            <a:off x="1746775" y="4492865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7E9DFC43-3E48-3803-1131-9A64C43F1E03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673936FD-B9A8-A063-972A-6E1DADE0C3C9}"/>
              </a:ext>
            </a:extLst>
          </p:cNvPr>
          <p:cNvSpPr/>
          <p:nvPr/>
        </p:nvSpPr>
        <p:spPr>
          <a:xfrm>
            <a:off x="1746775" y="4492865"/>
            <a:ext cx="384048" cy="749808"/>
          </a:xfrm>
          <a:prstGeom prst="rect">
            <a:avLst/>
          </a:prstGeom>
          <a:solidFill>
            <a:srgbClr val="EEEFF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E7DBFA4B-7252-9475-1F32-AF3FFC3A1061}"/>
              </a:ext>
            </a:extLst>
          </p:cNvPr>
          <p:cNvSpPr/>
          <p:nvPr/>
        </p:nvSpPr>
        <p:spPr>
          <a:xfrm>
            <a:off x="2233783" y="47789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EA8B7"/>
                </a:solidFill>
              </a:rPr>
              <a:t>Value Proposition &amp; Impact</a:t>
            </a:r>
            <a:endParaRPr lang="en-US" sz="1200" dirty="0">
              <a:solidFill>
                <a:srgbClr val="9EA8B7"/>
              </a:solidFill>
            </a:endParaRPr>
          </a:p>
          <a:p>
            <a:r>
              <a:rPr lang="en-US" sz="1200" b="1" noProof="0" dirty="0">
                <a:solidFill>
                  <a:srgbClr val="9EA8B7"/>
                </a:solidFill>
              </a:rPr>
              <a:t>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9757CD8D-6C0A-59F0-EE75-330FD699128E}"/>
              </a:ext>
            </a:extLst>
          </p:cNvPr>
          <p:cNvSpPr/>
          <p:nvPr/>
        </p:nvSpPr>
        <p:spPr>
          <a:xfrm>
            <a:off x="2222263" y="48952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99D79F8E-A9F3-F6BB-445B-551472AB73C9}"/>
              </a:ext>
            </a:extLst>
          </p:cNvPr>
          <p:cNvSpPr/>
          <p:nvPr/>
        </p:nvSpPr>
        <p:spPr>
          <a:xfrm>
            <a:off x="6753365" y="1777097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721A9E23-8B2F-C96A-6C89-80692E2B63B8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EE398CAC-8F72-BE13-B3E0-E838728E4910}"/>
              </a:ext>
            </a:extLst>
          </p:cNvPr>
          <p:cNvSpPr/>
          <p:nvPr/>
        </p:nvSpPr>
        <p:spPr>
          <a:xfrm>
            <a:off x="6753365" y="1777097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E1A8463D-7B4A-C10E-51D8-19610F30AD5F}"/>
              </a:ext>
            </a:extLst>
          </p:cNvPr>
          <p:cNvSpPr/>
          <p:nvPr/>
        </p:nvSpPr>
        <p:spPr>
          <a:xfrm>
            <a:off x="7228853" y="198740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Configuration &amp; Evaluation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7893088F-2C26-8CD2-88FA-CA5FD1AEABD6}"/>
              </a:ext>
            </a:extLst>
          </p:cNvPr>
          <p:cNvSpPr/>
          <p:nvPr/>
        </p:nvSpPr>
        <p:spPr>
          <a:xfrm>
            <a:off x="7228853" y="217943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29C866F1-9720-4342-28F5-DD9CBF3A22E7}"/>
              </a:ext>
            </a:extLst>
          </p:cNvPr>
          <p:cNvSpPr/>
          <p:nvPr/>
        </p:nvSpPr>
        <p:spPr>
          <a:xfrm>
            <a:off x="6753365" y="3580264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1CCF95C0-1618-9992-C079-3FFDA445EC82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4773EC06-21C1-187B-4F5B-740C21109E9D}"/>
              </a:ext>
            </a:extLst>
          </p:cNvPr>
          <p:cNvSpPr/>
          <p:nvPr/>
        </p:nvSpPr>
        <p:spPr>
          <a:xfrm>
            <a:off x="6753365" y="358026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6D515D8F-D5DA-0530-85CA-C21FBC550790}"/>
              </a:ext>
            </a:extLst>
          </p:cNvPr>
          <p:cNvSpPr/>
          <p:nvPr/>
        </p:nvSpPr>
        <p:spPr>
          <a:xfrm>
            <a:off x="7228853" y="377531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Live Demo &amp; Hands-On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F4B83C50-5CF5-5CCF-E1F4-07111882D8A8}"/>
              </a:ext>
            </a:extLst>
          </p:cNvPr>
          <p:cNvSpPr/>
          <p:nvPr/>
        </p:nvSpPr>
        <p:spPr>
          <a:xfrm>
            <a:off x="7228853" y="3982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15F3119B-4A9A-78DA-1E47-100D5B419D45}"/>
              </a:ext>
            </a:extLst>
          </p:cNvPr>
          <p:cNvSpPr/>
          <p:nvPr/>
        </p:nvSpPr>
        <p:spPr>
          <a:xfrm>
            <a:off x="6753365" y="447637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88774F2A-F47D-7040-A72B-E8315E0AE1F0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BFF65A5F-EEEB-F7CF-8A47-4FE4B4247571}"/>
              </a:ext>
            </a:extLst>
          </p:cNvPr>
          <p:cNvSpPr/>
          <p:nvPr/>
        </p:nvSpPr>
        <p:spPr>
          <a:xfrm>
            <a:off x="6753365" y="4476376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6C3E4774-65DE-FE15-5491-326D94E71582}"/>
              </a:ext>
            </a:extLst>
          </p:cNvPr>
          <p:cNvSpPr/>
          <p:nvPr/>
        </p:nvSpPr>
        <p:spPr>
          <a:xfrm>
            <a:off x="7241907" y="46958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50AB9165-AD17-7481-02A9-CC9BAB5BFF3C}"/>
              </a:ext>
            </a:extLst>
          </p:cNvPr>
          <p:cNvSpPr/>
          <p:nvPr/>
        </p:nvSpPr>
        <p:spPr>
          <a:xfrm>
            <a:off x="7228853" y="4878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F30CE-9FDC-7137-DB25-C21882FBF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31</a:t>
            </a:fld>
            <a:endParaRPr lang="en-US" noProof="0" dirty="0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1EE817D-93AC-8E60-5C0D-7AA2619E0CA4}"/>
              </a:ext>
            </a:extLst>
          </p:cNvPr>
          <p:cNvSpPr/>
          <p:nvPr/>
        </p:nvSpPr>
        <p:spPr>
          <a:xfrm>
            <a:off x="6753365" y="2673209"/>
            <a:ext cx="4206240" cy="749808"/>
          </a:xfrm>
          <a:prstGeom prst="rect">
            <a:avLst/>
          </a:prstGeom>
          <a:solidFill>
            <a:srgbClr val="EEEFF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94006489-B336-7C46-3B51-458D01180C9B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solidFill>
            <a:srgbClr val="EEEFF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0">
            <a:extLst>
              <a:ext uri="{FF2B5EF4-FFF2-40B4-BE49-F238E27FC236}">
                <a16:creationId xmlns:a16="http://schemas.microsoft.com/office/drawing/2014/main" id="{89FF7281-EA63-0D79-9475-58A93E17EBD6}"/>
              </a:ext>
            </a:extLst>
          </p:cNvPr>
          <p:cNvSpPr/>
          <p:nvPr/>
        </p:nvSpPr>
        <p:spPr>
          <a:xfrm>
            <a:off x="6753365" y="267320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2095A872-DD5F-6D6D-55A2-FB689118D83E}"/>
              </a:ext>
            </a:extLst>
          </p:cNvPr>
          <p:cNvSpPr/>
          <p:nvPr/>
        </p:nvSpPr>
        <p:spPr>
          <a:xfrm>
            <a:off x="7228853" y="288352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9EA8B7"/>
                </a:solidFill>
              </a:rPr>
              <a:t>Ongoing work &amp; perspectives </a:t>
            </a:r>
            <a:endParaRPr lang="en-US" sz="1200" noProof="0" dirty="0">
              <a:solidFill>
                <a:srgbClr val="9EA8B7"/>
              </a:solidFill>
            </a:endParaRPr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96704130-CBF1-23AE-3DCF-8C42459C91B1}"/>
              </a:ext>
            </a:extLst>
          </p:cNvPr>
          <p:cNvSpPr/>
          <p:nvPr/>
        </p:nvSpPr>
        <p:spPr>
          <a:xfrm>
            <a:off x="7228853" y="307554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611348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2819399" y="419894"/>
            <a:ext cx="9372601" cy="1484312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288000" bIns="45720" rtlCol="0" anchor="ctr">
            <a:normAutofit/>
          </a:bodyPr>
          <a:lstStyle/>
          <a:p>
            <a:pPr marL="26352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baseline="0" noProof="0" dirty="0">
                <a:latin typeface="+mj-lt"/>
                <a:ea typeface="+mj-ea"/>
                <a:cs typeface="+mj-cs"/>
              </a:rPr>
              <a:t>Thank you for your attention 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1266937" y="1650206"/>
            <a:ext cx="5238526" cy="47879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027C7873-4FAC-CF0A-C8B0-66962E706F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10261" y="6330968"/>
            <a:ext cx="411004" cy="292554"/>
          </a:xfrm>
        </p:spPr>
        <p:txBody>
          <a:bodyPr/>
          <a:lstStyle/>
          <a:p>
            <a:pPr>
              <a:spcAft>
                <a:spcPts val="600"/>
              </a:spcAft>
            </a:pPr>
            <a:fld id="{40A7B169-58CE-4E65-B1F9-ACF9E46440C2}" type="slidenum">
              <a:rPr lang="en-US" noProof="0" smtClean="0"/>
              <a:pPr>
                <a:spcAft>
                  <a:spcPts val="600"/>
                </a:spcAft>
              </a:pPr>
              <a:t>32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046688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fr-FR" sz="2000" dirty="0"/>
              <a:t>   </a:t>
            </a:r>
            <a:r>
              <a:rPr sz="2000" dirty="0"/>
              <a:t>Value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88936"/>
              </p:ext>
            </p:extLst>
          </p:nvPr>
        </p:nvGraphicFramePr>
        <p:xfrm>
          <a:off x="1280868" y="1409877"/>
          <a:ext cx="9387132" cy="38319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129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4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One-command processing for entire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 steps automated, batch multi-series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Every answer links to 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github_url, evidence_refs in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gates prevent bad data reaching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 + placeholder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Config-driven, no code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series configured, 200+ sub-repos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stages, clear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Each stage independently testable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4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b="1" dirty="0"/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 explain cause+resolution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QI = 94/100 on 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EADF-2407-CD99-5BB4-62446B16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EE32CF-45A7-EEE6-3DE2-35684C5AF764}"/>
              </a:ext>
            </a:extLst>
          </p:cNvPr>
          <p:cNvSpPr txBox="1"/>
          <p:nvPr/>
        </p:nvSpPr>
        <p:spPr>
          <a:xfrm>
            <a:off x="3009354" y="2743201"/>
            <a:ext cx="6173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3200"/>
              <a:t>10. Value Proposition &amp; Impact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850583-5900-6F52-F993-60D60E98C189}"/>
              </a:ext>
            </a:extLst>
          </p:cNvPr>
          <p:cNvSpPr txBox="1"/>
          <p:nvPr/>
        </p:nvSpPr>
        <p:spPr>
          <a:xfrm>
            <a:off x="3009354" y="2681645"/>
            <a:ext cx="62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1B2A3B"/>
                </a:solidFill>
              </a:rPr>
              <a:t>Annexe</a:t>
            </a:r>
            <a:r>
              <a:rPr lang="en-US" sz="3600" b="1" dirty="0">
                <a:solidFill>
                  <a:srgbClr val="1B2A3B"/>
                </a:solidFill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2293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1977-5E3A-3D7B-168D-775BCEBD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56B-9296-1B8A-D3BE-E03A72CE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2A24286-315A-4242-1591-FC9A9D9B4E8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610177B-EC72-CCC5-4CF8-73641B7FD799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F416DC3-3731-3D0C-27EE-81CF7BBFD20E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1CA3093-8C79-1619-0334-3C9D2E425CA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8496A07-834E-6831-0433-3FAB6073ABC6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F4A7677-7151-CD32-4270-9896E805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1FB3D1EB-9A7A-17CF-DDD9-64DBC442A60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458A78E-0C1B-538F-0A1D-A5CE02306D21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2D7E64E0-D8E6-29F0-B199-0C3741702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B25B85D1-5470-A83F-26D0-CB889CC1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2FE6FC93-D399-2083-DC86-522820709509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4455A9D-5EEF-3FF1-1219-2734C269F92B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633AEE-BB70-510B-D087-F8AFFA9A090F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B3FA906-34FD-D508-C20F-ED5F8B3D1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AEE5053F-DF5D-5079-2A04-E4071968BEF8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B214949-0C47-EA3D-648F-8F6FB702FD6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89F1E30B-428B-0147-8ECA-749C8AB49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2F3A6459-29B4-22DF-9860-86224F56465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7409F07-2A53-C1DF-0A8E-078493DC072C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07EB61D-FD60-2228-5DFA-622F45B4E6A1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ACA786-1549-E416-2268-5D14564CA04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D201729A-DA70-A526-5251-B96B62616F3D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C8CF8AB3-F125-9F59-367A-CAD4DDDE7FFE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C6DAAB17-149E-F008-AD5E-42FC577B33D0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D74ECAE5-A852-503B-65C2-01CC4710E780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962913B5-1B5D-7DED-CCA7-8B03AF101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B65621C4-695B-A15E-A2E5-CE5298B01E35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04023813-FF80-5743-C039-7BB817F1760E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C4C70C4-E622-7168-F050-D08768D19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C4DAFAF8-6179-2426-3DD0-79A1BF7A4EBC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5B0A146C-6FCC-47EB-BB4B-586B950BD98A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E21EF90-1137-28BB-0751-25DE0D866B01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19565E7-4708-F699-14F5-D58BE6458FA2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D3A83ED7-1978-3DE0-96F6-234CE78638E3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D36EBC02-8F2C-1ECA-9D69-A1F1F4693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993516E-D1B3-551E-C61A-ADE6152B3A83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2F6F475-3B87-D01A-F607-575F7F10ABA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C7F691D-4AFE-3F43-5FF9-8F15091A462E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712708E2-8CA6-BD44-451C-26773257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317939F3-0BB5-1D09-27AE-EDB2946FE325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FA5594DE-4F8F-EC70-F18C-1EDC5EBE2D89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909CA357-6727-9A8D-6100-19A18F1BC688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73C64F8-C07B-96C1-3E84-FD81D02B309D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B0EC1F1F-FE6D-6B2D-4B1A-6E12E3F72CE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05BA08FF-ED90-649F-A612-8137C50AC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F0244F9-6087-8FC8-A2AA-EFB5A534B829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D8FAA7-9CB5-AAA0-2EE9-D6DE4353B77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B8841FD3-B31E-ABF3-D8CA-C8CA58725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5EE03D-B7CD-0A28-B93B-3C60AA62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35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7FD885BF-138B-E912-1620-6F4BA4312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569B3B54-B1A2-D17E-7323-37A48D549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34019999-94DF-D435-03A1-9E3869867F8F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62A47885-175D-4958-6DEE-C221CEEA790E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71AD6433-B0AB-DF7F-ECC0-CBC971814018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788D4DB2-B08B-D981-6C62-8E1F855AE4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3BB420B1-2F9F-323C-C976-8D207E9955F4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6343164-4477-7481-0F08-7370B4EADFAF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964A4C72-CC85-CAFC-2AA9-D1575E7A0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842B37AB-88EB-AFC0-C7E9-EB378800A6EE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40">
            <a:extLst>
              <a:ext uri="{FF2B5EF4-FFF2-40B4-BE49-F238E27FC236}">
                <a16:creationId xmlns:a16="http://schemas.microsoft.com/office/drawing/2014/main" id="{EDFF8531-95B2-E445-15D0-DC76431886AA}"/>
              </a:ext>
            </a:extLst>
          </p:cNvPr>
          <p:cNvSpPr/>
          <p:nvPr/>
        </p:nvSpPr>
        <p:spPr>
          <a:xfrm>
            <a:off x="3242781" y="440478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7B526CE1-7E12-4C25-E0C8-2AACBDCA1203}"/>
              </a:ext>
            </a:extLst>
          </p:cNvPr>
          <p:cNvSpPr/>
          <p:nvPr/>
        </p:nvSpPr>
        <p:spPr>
          <a:xfrm>
            <a:off x="3242781" y="440478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D05EDD72-A4B5-3076-64AC-E747E8DC0E08}"/>
              </a:ext>
            </a:extLst>
          </p:cNvPr>
          <p:cNvSpPr/>
          <p:nvPr/>
        </p:nvSpPr>
        <p:spPr>
          <a:xfrm>
            <a:off x="3443949" y="449622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Gets Collected ?</a:t>
            </a:r>
            <a:endParaRPr lang="en-US" sz="1050" noProof="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13993EB8-4095-E041-9632-E0C4D6EFB6F5}"/>
              </a:ext>
            </a:extLst>
          </p:cNvPr>
          <p:cNvSpPr/>
          <p:nvPr/>
        </p:nvSpPr>
        <p:spPr>
          <a:xfrm>
            <a:off x="3443949" y="4931667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GitHub API (token required, 5000 req/h)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Local clone (</a:t>
            </a:r>
            <a:r>
              <a:rPr lang="fr-FR" sz="1000" dirty="0" err="1"/>
              <a:t>repo_sync_service</a:t>
            </a:r>
            <a:r>
              <a:rPr lang="fr-FR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File collection (</a:t>
            </a:r>
            <a:r>
              <a:rPr lang="fr-FR" sz="1000" dirty="0" err="1"/>
              <a:t>file_collect_service</a:t>
            </a:r>
            <a:r>
              <a:rPr lang="fr-FR" sz="1000" dirty="0"/>
              <a:t>)</a:t>
            </a:r>
          </a:p>
          <a:p>
            <a:endParaRPr lang="fr-FR" sz="1000" dirty="0"/>
          </a:p>
          <a:p>
            <a:endParaRPr lang="en-US" sz="1000" noProof="0" dirty="0"/>
          </a:p>
        </p:txBody>
      </p:sp>
      <p:sp>
        <p:nvSpPr>
          <p:cNvPr id="12" name="rr">
            <a:extLst>
              <a:ext uri="{FF2B5EF4-FFF2-40B4-BE49-F238E27FC236}">
                <a16:creationId xmlns:a16="http://schemas.microsoft.com/office/drawing/2014/main" id="{FBC2D625-FF2C-4C94-7BEB-B0295912CD20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b">
            <a:extLst>
              <a:ext uri="{FF2B5EF4-FFF2-40B4-BE49-F238E27FC236}">
                <a16:creationId xmlns:a16="http://schemas.microsoft.com/office/drawing/2014/main" id="{379F9025-12A3-7DD6-9151-D5AB0FA28976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026590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60E8-2D94-9B16-01C7-5E6B6C65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BF7B-F919-76EA-AB4B-D913C350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AC02E11-B3C1-3FC5-D8B4-606EE223A42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8CDE13A-1F21-25DC-35B5-1AC9A57255D3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5497D79-834C-EECB-9FBF-4391F8B9E6E8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C3E6E89-CD85-0CB9-9492-796A29966B34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107F2CC-29A0-83EE-D390-1C024535AB68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2E38C-34DC-201D-24E0-DDAA76D8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FDEB01C-8634-82CE-9EE6-4E969EFE28E2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59AE8BF-B84B-8485-401D-59758917D624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B441DE6-57BF-670B-94A3-97D15DBE4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04488502-A9D3-B94F-0504-1991626D9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A8DCA462-0EB8-5BA1-89FA-484AF30D1ACB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B1B4446-8F10-CFF9-5043-BAE43AB0AE4E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26963C-61D7-6431-68C5-A59A7700C7BA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FFA93A81-2311-B483-B52A-9041863F2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6610FF39-ED4A-DA3F-1470-767AF6CE373C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74B79F-BDD8-60E6-6E17-0188E3D6A8FF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D06A1E9A-729D-2681-0761-0D718AF3A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DFB53AB9-A2AF-AE6F-12EC-84E9708325C3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EA27A20-D799-D28F-66A3-027FA9FA3FC0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AAB8FEC-343A-E63B-8418-AF1CAC8291AD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6D5F44F-4081-409D-9320-207FE3A4B723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EB17023-D508-6AF9-5DC3-E95926F5B578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4C9C1BB7-7E5E-5202-760B-1FF950F26D93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630D55E3-DDB1-39EC-8E7B-B53F70B071A8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0C6943C5-1E7E-D061-A6A7-8A327C3A1358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1C92ADEC-02D9-54CE-BD68-423B748C4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A976DCD-DBF5-C3CE-CC5F-0EC449A0D9F0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37E0482-E035-84EB-E163-00D6158ED81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2A2D3673-FC5B-D471-9BC5-43194B08D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A6F6622B-C0D0-16C7-01FB-DA744695DFDB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B51FDEB5-C676-68C5-09E8-19366EC27C7B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19341BF-9848-3CF1-923A-9D7429CB7CDD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E261B9A0-1862-6C3E-ED29-09105E0B3965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9CD1037-E31F-BF65-59B8-D2EEC85BDD5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A43BCAA5-BE37-C6BB-EB48-37FE80DDA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AC5B7D-2BB7-6441-350D-FB8868A52920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844306A-1F05-E924-44F8-095A9B7A958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C23BA4C-93F2-F4E9-83E8-5E91E48E4F2F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D84B6933-11C2-4E10-12EE-F88B6EC19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F8C46C3-C705-A29E-7FF9-D4FA79E2E9A3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E484EF93-16E9-394D-46D5-D19748679185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1D65C95F-9BF0-0BD6-8444-4CCE2DEED6E0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2FDDD65-19B5-CDFC-318F-4DE412CCD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585A4B2-B258-02F6-0A17-7734F14433B2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58964A3-CB21-E528-EE43-53EB59BC9817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0FB0056B-8485-E07E-710B-F7BF9A6FB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1383920" y="3965363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6618F4-B096-D983-6FA5-952F47D2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36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05CA4885-8486-8A2C-51E4-7601A4BEB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604E9755-CC10-9A94-75F7-107479722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5ACD1C53-A766-6100-D111-3D27D0CCDAB7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41F76B61-8E6B-52D8-C797-244AB83B9F9F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0AFCACC6-1138-C757-7E5C-88B24FB449BF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0D67AC4D-9D43-0FD1-A4BD-D7B56278A3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62E5C9FD-2C0F-E83F-7F08-E0167CAD6A4C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BD9D86B5-D0B3-1E67-48CC-3A1D948F05AA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84BBF3A9-B27F-6D4B-8987-02440EB83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D4DE3332-2516-35A2-9937-E73AB15E1E2A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32">
            <a:extLst>
              <a:ext uri="{FF2B5EF4-FFF2-40B4-BE49-F238E27FC236}">
                <a16:creationId xmlns:a16="http://schemas.microsoft.com/office/drawing/2014/main" id="{48547423-AD1D-C081-EB07-752466302E59}"/>
              </a:ext>
            </a:extLst>
          </p:cNvPr>
          <p:cNvSpPr/>
          <p:nvPr/>
        </p:nvSpPr>
        <p:spPr>
          <a:xfrm>
            <a:off x="3065891" y="4526215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fabricated , everything comes from public STM32Cube GitHub repos</a:t>
            </a:r>
            <a:endParaRPr lang="en-US" sz="125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1B65A8D0-D68D-400D-CA60-036F81C60E3B}"/>
              </a:ext>
            </a:extLst>
          </p:cNvPr>
          <p:cNvSpPr/>
          <p:nvPr/>
        </p:nvSpPr>
        <p:spPr>
          <a:xfrm>
            <a:off x="3163062" y="4899963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D3383FDD-7FAC-DE96-AADE-8FE982ACCD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0541" y="4977955"/>
            <a:ext cx="365760" cy="365760"/>
          </a:xfrm>
          <a:prstGeom prst="rect">
            <a:avLst/>
          </a:prstGeom>
        </p:spPr>
      </p:pic>
      <p:sp>
        <p:nvSpPr>
          <p:cNvPr id="36" name="Text 34">
            <a:extLst>
              <a:ext uri="{FF2B5EF4-FFF2-40B4-BE49-F238E27FC236}">
                <a16:creationId xmlns:a16="http://schemas.microsoft.com/office/drawing/2014/main" id="{2EF0AFF4-78F7-8FD0-38B6-EF9272A2ADD3}"/>
              </a:ext>
            </a:extLst>
          </p:cNvPr>
          <p:cNvSpPr/>
          <p:nvPr/>
        </p:nvSpPr>
        <p:spPr>
          <a:xfrm>
            <a:off x="3701702" y="496785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8DA71E96-BB4F-BA5A-779C-8C5BB74B22C2}"/>
              </a:ext>
            </a:extLst>
          </p:cNvPr>
          <p:cNvSpPr/>
          <p:nvPr/>
        </p:nvSpPr>
        <p:spPr>
          <a:xfrm>
            <a:off x="3701702" y="5196611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B5135F5-6F6A-C75A-D7B9-17FD08BEC1AF}"/>
              </a:ext>
            </a:extLst>
          </p:cNvPr>
          <p:cNvSpPr/>
          <p:nvPr/>
        </p:nvSpPr>
        <p:spPr>
          <a:xfrm>
            <a:off x="3238665" y="5451023"/>
            <a:ext cx="261273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 bugs: title, body, comments, labels, state, URL, timestamps</a:t>
            </a:r>
            <a:endParaRPr lang="en-US" sz="95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FFD81933-FC32-50DF-7C00-6BB7CFB4113C}"/>
              </a:ext>
            </a:extLst>
          </p:cNvPr>
          <p:cNvSpPr/>
          <p:nvPr/>
        </p:nvSpPr>
        <p:spPr>
          <a:xfrm>
            <a:off x="5851398" y="4899963"/>
            <a:ext cx="2542032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D75ADCCE-C6F7-9231-C31C-BAADAFFABF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3576" y="4977955"/>
            <a:ext cx="365760" cy="365760"/>
          </a:xfrm>
          <a:prstGeom prst="rect">
            <a:avLst/>
          </a:prstGeom>
        </p:spPr>
      </p:pic>
      <p:sp>
        <p:nvSpPr>
          <p:cNvPr id="56" name="Text 38">
            <a:extLst>
              <a:ext uri="{FF2B5EF4-FFF2-40B4-BE49-F238E27FC236}">
                <a16:creationId xmlns:a16="http://schemas.microsoft.com/office/drawing/2014/main" id="{FF569855-7B35-8FCD-F279-91821DC2F0CD}"/>
              </a:ext>
            </a:extLst>
          </p:cNvPr>
          <p:cNvSpPr/>
          <p:nvPr/>
        </p:nvSpPr>
        <p:spPr>
          <a:xfrm>
            <a:off x="6361013" y="4955054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files</a:t>
            </a:r>
            <a:endParaRPr lang="en-US" sz="135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5068DD5C-069B-638C-427D-331C4A0CB55A}"/>
              </a:ext>
            </a:extLst>
          </p:cNvPr>
          <p:cNvSpPr/>
          <p:nvPr/>
        </p:nvSpPr>
        <p:spPr>
          <a:xfrm>
            <a:off x="6375430" y="5183427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858578EB-E5B5-8036-C044-8190000B10F1}"/>
              </a:ext>
            </a:extLst>
          </p:cNvPr>
          <p:cNvSpPr/>
          <p:nvPr/>
        </p:nvSpPr>
        <p:spPr>
          <a:xfrm>
            <a:off x="5905740" y="5416639"/>
            <a:ext cx="2370056" cy="330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HAL/LL drivers, middleware, BSP, README, release notes, PDF docs</a:t>
            </a:r>
            <a:endParaRPr lang="en-US" sz="950" dirty="0"/>
          </a:p>
        </p:txBody>
      </p:sp>
      <p:sp>
        <p:nvSpPr>
          <p:cNvPr id="75" name="Shape 41">
            <a:extLst>
              <a:ext uri="{FF2B5EF4-FFF2-40B4-BE49-F238E27FC236}">
                <a16:creationId xmlns:a16="http://schemas.microsoft.com/office/drawing/2014/main" id="{B818DA4F-1A81-1CD6-552C-8BEF95E1E4AC}"/>
              </a:ext>
            </a:extLst>
          </p:cNvPr>
          <p:cNvSpPr/>
          <p:nvPr/>
        </p:nvSpPr>
        <p:spPr>
          <a:xfrm>
            <a:off x="8539733" y="4899963"/>
            <a:ext cx="2677769" cy="932688"/>
          </a:xfrm>
          <a:prstGeom prst="roundRect">
            <a:avLst>
              <a:gd name="adj" fmla="val 882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0" name="Image 2" descr="preencoded.png">
            <a:extLst>
              <a:ext uri="{FF2B5EF4-FFF2-40B4-BE49-F238E27FC236}">
                <a16:creationId xmlns:a16="http://schemas.microsoft.com/office/drawing/2014/main" id="{25B1B11E-03A1-29F0-3ED8-C0BD92C615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5420" y="4978343"/>
            <a:ext cx="365760" cy="365760"/>
          </a:xfrm>
          <a:prstGeom prst="rect">
            <a:avLst/>
          </a:prstGeom>
        </p:spPr>
      </p:pic>
      <p:sp>
        <p:nvSpPr>
          <p:cNvPr id="86" name="Text 42">
            <a:extLst>
              <a:ext uri="{FF2B5EF4-FFF2-40B4-BE49-F238E27FC236}">
                <a16:creationId xmlns:a16="http://schemas.microsoft.com/office/drawing/2014/main" id="{8E47E97F-B730-6106-0DE9-4E9EEA5A0094}"/>
              </a:ext>
            </a:extLst>
          </p:cNvPr>
          <p:cNvSpPr/>
          <p:nvPr/>
        </p:nvSpPr>
        <p:spPr>
          <a:xfrm>
            <a:off x="9006383" y="4977955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&amp; commits</a:t>
            </a:r>
            <a:endParaRPr lang="en-US" sz="1350" dirty="0"/>
          </a:p>
        </p:txBody>
      </p:sp>
      <p:sp>
        <p:nvSpPr>
          <p:cNvPr id="88" name="Text 43">
            <a:extLst>
              <a:ext uri="{FF2B5EF4-FFF2-40B4-BE49-F238E27FC236}">
                <a16:creationId xmlns:a16="http://schemas.microsoft.com/office/drawing/2014/main" id="{19360981-04D1-ED11-6B03-77FB5A51F44A}"/>
              </a:ext>
            </a:extLst>
          </p:cNvPr>
          <p:cNvSpPr/>
          <p:nvPr/>
        </p:nvSpPr>
        <p:spPr>
          <a:xfrm>
            <a:off x="9006383" y="5226805"/>
            <a:ext cx="1764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00" dirty="0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9ACA9C4D-1E3D-1963-1359-1B8A52308994}"/>
              </a:ext>
            </a:extLst>
          </p:cNvPr>
          <p:cNvSpPr/>
          <p:nvPr/>
        </p:nvSpPr>
        <p:spPr>
          <a:xfrm>
            <a:off x="8630088" y="5399098"/>
            <a:ext cx="2451677" cy="332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changes that confirm how a bug was fixed</a:t>
            </a:r>
            <a:endParaRPr lang="en-US" sz="95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8E6AEFAB-EEA2-C211-E58D-67140983081C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BE87C240-B1EF-596F-70DF-007A6EBE6CD0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33" name="rr">
            <a:extLst>
              <a:ext uri="{FF2B5EF4-FFF2-40B4-BE49-F238E27FC236}">
                <a16:creationId xmlns:a16="http://schemas.microsoft.com/office/drawing/2014/main" id="{5D18439E-1A0B-A9F0-DB84-5A830B20704F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b">
            <a:extLst>
              <a:ext uri="{FF2B5EF4-FFF2-40B4-BE49-F238E27FC236}">
                <a16:creationId xmlns:a16="http://schemas.microsoft.com/office/drawing/2014/main" id="{342D22A8-FF4C-4F38-0D9A-AC21880F65DA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4207921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3299-97E0-1085-2B73-3A71641C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DE25-6803-9FCC-D532-921205B3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813D1DE-9657-87E1-3A75-CF83CAFE9D4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D6C9136-5E24-D98A-57E8-0708399D329F}"/>
              </a:ext>
            </a:extLst>
          </p:cNvPr>
          <p:cNvSpPr/>
          <p:nvPr/>
        </p:nvSpPr>
        <p:spPr>
          <a:xfrm>
            <a:off x="1383920" y="10512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8CE4D69-ABEC-7639-667C-ADE32FD0BE3B}"/>
              </a:ext>
            </a:extLst>
          </p:cNvPr>
          <p:cNvSpPr/>
          <p:nvPr/>
        </p:nvSpPr>
        <p:spPr>
          <a:xfrm>
            <a:off x="904685" y="184201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0AC0DEF-B680-1C1E-EB00-A4AEC794A0C5}"/>
              </a:ext>
            </a:extLst>
          </p:cNvPr>
          <p:cNvSpPr/>
          <p:nvPr/>
        </p:nvSpPr>
        <p:spPr>
          <a:xfrm>
            <a:off x="904685" y="184201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FE31FEA7-6196-60A6-99AB-98E85DAE850A}"/>
              </a:ext>
            </a:extLst>
          </p:cNvPr>
          <p:cNvSpPr/>
          <p:nvPr/>
        </p:nvSpPr>
        <p:spPr>
          <a:xfrm>
            <a:off x="904685" y="184201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1EBF849-00DE-2729-D6B8-E79FA119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897" y="1910355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935A9862-196A-DD76-EC6E-4E54C89AC633}"/>
              </a:ext>
            </a:extLst>
          </p:cNvPr>
          <p:cNvSpPr/>
          <p:nvPr/>
        </p:nvSpPr>
        <p:spPr>
          <a:xfrm>
            <a:off x="1110425" y="23585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9C41763-F20D-9CC2-F99F-6AECA8CE915A}"/>
              </a:ext>
            </a:extLst>
          </p:cNvPr>
          <p:cNvSpPr/>
          <p:nvPr/>
        </p:nvSpPr>
        <p:spPr>
          <a:xfrm>
            <a:off x="1068387" y="281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425984E-F91D-55D6-279B-20FE97FC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27" y="2882285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A1872E77-CF60-D8BB-8C63-4BE0AB380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56" y="2870710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926C5B6-462F-C703-5241-3CDFFDD5F084}"/>
              </a:ext>
            </a:extLst>
          </p:cNvPr>
          <p:cNvSpPr/>
          <p:nvPr/>
        </p:nvSpPr>
        <p:spPr>
          <a:xfrm>
            <a:off x="3883700" y="183743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A4FBCC1-DC9D-343E-BCE0-B3077A61FD97}"/>
              </a:ext>
            </a:extLst>
          </p:cNvPr>
          <p:cNvSpPr/>
          <p:nvPr/>
        </p:nvSpPr>
        <p:spPr>
          <a:xfrm>
            <a:off x="3889565" y="184801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EFFFAC-F747-A604-D7A8-5E4D1A462974}"/>
              </a:ext>
            </a:extLst>
          </p:cNvPr>
          <p:cNvSpPr/>
          <p:nvPr/>
        </p:nvSpPr>
        <p:spPr>
          <a:xfrm>
            <a:off x="3954240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2DB7DBA4-B1ED-C307-D3EF-788CF2A38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62" y="1914672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5F2D0D7-D289-54D6-9217-4076069CAB04}"/>
              </a:ext>
            </a:extLst>
          </p:cNvPr>
          <p:cNvSpPr/>
          <p:nvPr/>
        </p:nvSpPr>
        <p:spPr>
          <a:xfrm>
            <a:off x="3970606" y="2473203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D707CB-AB1C-D3BC-9601-EA719A43568D}"/>
              </a:ext>
            </a:extLst>
          </p:cNvPr>
          <p:cNvSpPr/>
          <p:nvPr/>
        </p:nvSpPr>
        <p:spPr>
          <a:xfrm>
            <a:off x="4064784" y="2920413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EA51646-FC94-CB95-1F9D-A8690C9D3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136" y="2865890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37E4E8D9-D06E-8C62-FA2A-9D51441BF2AB}"/>
              </a:ext>
            </a:extLst>
          </p:cNvPr>
          <p:cNvSpPr/>
          <p:nvPr/>
        </p:nvSpPr>
        <p:spPr>
          <a:xfrm>
            <a:off x="5485265" y="18480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0A5CA7B4-D04D-E637-BDEC-4BEC938E25F7}"/>
              </a:ext>
            </a:extLst>
          </p:cNvPr>
          <p:cNvSpPr/>
          <p:nvPr/>
        </p:nvSpPr>
        <p:spPr>
          <a:xfrm>
            <a:off x="5498720" y="183261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E8C87F3-D932-C845-FE0B-EB6956181EBF}"/>
              </a:ext>
            </a:extLst>
          </p:cNvPr>
          <p:cNvSpPr/>
          <p:nvPr/>
        </p:nvSpPr>
        <p:spPr>
          <a:xfrm>
            <a:off x="5498720" y="18326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1A4EA9C-E98A-DDA9-789F-ADB81C748162}"/>
              </a:ext>
            </a:extLst>
          </p:cNvPr>
          <p:cNvSpPr/>
          <p:nvPr/>
        </p:nvSpPr>
        <p:spPr>
          <a:xfrm>
            <a:off x="5685038" y="235614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92CEA30-CD0F-8C5E-1527-0F0D86BC1F73}"/>
              </a:ext>
            </a:extLst>
          </p:cNvPr>
          <p:cNvSpPr/>
          <p:nvPr/>
        </p:nvSpPr>
        <p:spPr>
          <a:xfrm>
            <a:off x="5694519" y="273336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761DF520-E42E-90AD-640D-DDE747A3E844}"/>
              </a:ext>
            </a:extLst>
          </p:cNvPr>
          <p:cNvSpPr/>
          <p:nvPr/>
        </p:nvSpPr>
        <p:spPr>
          <a:xfrm>
            <a:off x="8676300" y="183261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1CAD5B80-AF29-7222-4499-79F3BB3A8844}"/>
              </a:ext>
            </a:extLst>
          </p:cNvPr>
          <p:cNvSpPr/>
          <p:nvPr/>
        </p:nvSpPr>
        <p:spPr>
          <a:xfrm>
            <a:off x="8676300" y="183261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A24470F-4CF3-2912-4F85-35777DC5BF23}"/>
              </a:ext>
            </a:extLst>
          </p:cNvPr>
          <p:cNvSpPr/>
          <p:nvPr/>
        </p:nvSpPr>
        <p:spPr>
          <a:xfrm>
            <a:off x="8676300" y="18326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2DD4BD47-E63A-A704-707A-10F06D922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67" y="1917688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357AAC2C-5483-B893-BB04-AD7919A5476D}"/>
              </a:ext>
            </a:extLst>
          </p:cNvPr>
          <p:cNvSpPr/>
          <p:nvPr/>
        </p:nvSpPr>
        <p:spPr>
          <a:xfrm>
            <a:off x="8613886" y="245176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4F00C85F-64D6-0454-D87F-C20892B85FB1}"/>
              </a:ext>
            </a:extLst>
          </p:cNvPr>
          <p:cNvSpPr/>
          <p:nvPr/>
        </p:nvSpPr>
        <p:spPr>
          <a:xfrm>
            <a:off x="8775290" y="27944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6A78B34B-80CB-0F2E-14F4-13808FFD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901" y="1860049"/>
            <a:ext cx="402338" cy="402338"/>
          </a:xfrm>
          <a:prstGeom prst="rect">
            <a:avLst/>
          </a:prstGeom>
        </p:spPr>
      </p:pic>
      <p:sp>
        <p:nvSpPr>
          <p:cNvPr id="3" name="Shape 20">
            <a:extLst>
              <a:ext uri="{FF2B5EF4-FFF2-40B4-BE49-F238E27FC236}">
                <a16:creationId xmlns:a16="http://schemas.microsoft.com/office/drawing/2014/main" id="{F2ED6B96-3E23-8D0A-3F77-72F711498A5F}"/>
              </a:ext>
            </a:extLst>
          </p:cNvPr>
          <p:cNvSpPr/>
          <p:nvPr/>
        </p:nvSpPr>
        <p:spPr>
          <a:xfrm>
            <a:off x="7041223" y="184201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A0802910-9546-0182-BF47-8591A99DE748}"/>
              </a:ext>
            </a:extLst>
          </p:cNvPr>
          <p:cNvSpPr/>
          <p:nvPr/>
        </p:nvSpPr>
        <p:spPr>
          <a:xfrm>
            <a:off x="7041222" y="183743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0C116A9-0629-5BED-5739-7C175C4C35A4}"/>
              </a:ext>
            </a:extLst>
          </p:cNvPr>
          <p:cNvSpPr/>
          <p:nvPr/>
        </p:nvSpPr>
        <p:spPr>
          <a:xfrm>
            <a:off x="7115864" y="183743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81AA0DF-57C3-4067-A2EB-55320AC5BDE9}"/>
              </a:ext>
            </a:extLst>
          </p:cNvPr>
          <p:cNvSpPr/>
          <p:nvPr/>
        </p:nvSpPr>
        <p:spPr>
          <a:xfrm>
            <a:off x="7302182" y="236096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3D6DAA56-5884-81EF-E36D-BA90F362BD89}"/>
              </a:ext>
            </a:extLst>
          </p:cNvPr>
          <p:cNvSpPr/>
          <p:nvPr/>
        </p:nvSpPr>
        <p:spPr>
          <a:xfrm>
            <a:off x="7302182" y="287071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59" name="Graphic 58" descr="Database with solid fill">
            <a:extLst>
              <a:ext uri="{FF2B5EF4-FFF2-40B4-BE49-F238E27FC236}">
                <a16:creationId xmlns:a16="http://schemas.microsoft.com/office/drawing/2014/main" id="{5B2DE1F4-3DB4-5C94-176E-439E671DF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447" y="1861758"/>
            <a:ext cx="390272" cy="390272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DC934E-17A1-C5EE-170C-F24EF98210BE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>
            <a:off x="5290428" y="282800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BF28FFB-B949-C98E-395A-B51C68E3B503}"/>
              </a:ext>
            </a:extLst>
          </p:cNvPr>
          <p:cNvCxnSpPr>
            <a:stCxn id="25" idx="3"/>
            <a:endCxn id="3" idx="1"/>
          </p:cNvCxnSpPr>
          <p:nvPr/>
        </p:nvCxnSpPr>
        <p:spPr>
          <a:xfrm flipV="1">
            <a:off x="6882703" y="283258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D0728D0-C865-3DBC-2082-61F3A5B94692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513302" y="282776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1" descr="preencoded.png">
            <a:extLst>
              <a:ext uri="{FF2B5EF4-FFF2-40B4-BE49-F238E27FC236}">
                <a16:creationId xmlns:a16="http://schemas.microsoft.com/office/drawing/2014/main" id="{9BB4CDE5-1130-57CD-20A6-BF82A3D32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568" y="2895030"/>
            <a:ext cx="237744" cy="237744"/>
          </a:xfrm>
          <a:prstGeom prst="rect">
            <a:avLst/>
          </a:prstGeom>
        </p:spPr>
      </p:pic>
      <p:sp>
        <p:nvSpPr>
          <p:cNvPr id="55" name="Shape 10">
            <a:extLst>
              <a:ext uri="{FF2B5EF4-FFF2-40B4-BE49-F238E27FC236}">
                <a16:creationId xmlns:a16="http://schemas.microsoft.com/office/drawing/2014/main" id="{F797D84F-E829-4D92-026D-E9107C97D49A}"/>
              </a:ext>
            </a:extLst>
          </p:cNvPr>
          <p:cNvSpPr/>
          <p:nvPr/>
        </p:nvSpPr>
        <p:spPr>
          <a:xfrm>
            <a:off x="2345085" y="183940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60BC27E8-4F82-E433-3288-32F8AA5E527A}"/>
              </a:ext>
            </a:extLst>
          </p:cNvPr>
          <p:cNvSpPr/>
          <p:nvPr/>
        </p:nvSpPr>
        <p:spPr>
          <a:xfrm>
            <a:off x="2345085" y="1839406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7B725155-9ADE-1605-469B-E6AEE1C4B6FE}"/>
              </a:ext>
            </a:extLst>
          </p:cNvPr>
          <p:cNvSpPr/>
          <p:nvPr/>
        </p:nvSpPr>
        <p:spPr>
          <a:xfrm>
            <a:off x="2345085" y="183940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6" name="Graphic 65" descr="Eraser with solid fill">
            <a:extLst>
              <a:ext uri="{FF2B5EF4-FFF2-40B4-BE49-F238E27FC236}">
                <a16:creationId xmlns:a16="http://schemas.microsoft.com/office/drawing/2014/main" id="{49649D38-B0C8-88C8-A2ED-CB479F4C7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219" y="1905066"/>
            <a:ext cx="329184" cy="329184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401DD77-FFD0-DCF4-68AA-EAB0DF8A80E6}"/>
              </a:ext>
            </a:extLst>
          </p:cNvPr>
          <p:cNvCxnSpPr>
            <a:stCxn id="4" idx="3"/>
            <a:endCxn id="55" idx="1"/>
          </p:cNvCxnSpPr>
          <p:nvPr/>
        </p:nvCxnSpPr>
        <p:spPr>
          <a:xfrm flipV="1">
            <a:off x="2209467" y="282647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74A3A5-9357-DD18-7A2B-E2AA392AF453}"/>
              </a:ext>
            </a:extLst>
          </p:cNvPr>
          <p:cNvCxnSpPr>
            <a:stCxn id="55" idx="3"/>
            <a:endCxn id="18" idx="1"/>
          </p:cNvCxnSpPr>
          <p:nvPr/>
        </p:nvCxnSpPr>
        <p:spPr>
          <a:xfrm>
            <a:off x="3757833" y="282647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27874" y="4298773"/>
            <a:ext cx="4503872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27874" y="429877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29042" y="439021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does Cleaning do?</a:t>
            </a:r>
            <a:endParaRPr lang="en-US" sz="1050" noProof="0" dirty="0"/>
          </a:p>
        </p:txBody>
      </p:sp>
      <p:sp>
        <p:nvSpPr>
          <p:cNvPr id="116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29041" y="4682821"/>
            <a:ext cx="430270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Normalizes text (line breaks, backticks, whitespace).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Detects embedded images → marks them as [IMAGE ATTACHED].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Collects image URLs into </a:t>
            </a:r>
            <a:r>
              <a:rPr lang="en-US" sz="1000" noProof="0" dirty="0" err="1">
                <a:solidFill>
                  <a:srgbClr val="1B2A3B"/>
                </a:solidFill>
              </a:rPr>
              <a:t>image_urls</a:t>
            </a:r>
            <a:r>
              <a:rPr lang="en-US" sz="1000" noProof="0" dirty="0">
                <a:solidFill>
                  <a:srgbClr val="1B2A3B"/>
                </a:solidFill>
              </a:rPr>
              <a:t> array.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Structures content: Title + Body + Comments → </a:t>
            </a:r>
            <a:r>
              <a:rPr lang="en-US" sz="1000" noProof="0" dirty="0" err="1">
                <a:solidFill>
                  <a:srgbClr val="1B2A3B"/>
                </a:solidFill>
              </a:rPr>
              <a:t>clean_text</a:t>
            </a:r>
            <a:r>
              <a:rPr lang="en-US" sz="1000" noProof="0" dirty="0">
                <a:solidFill>
                  <a:srgbClr val="1B2A3B"/>
                </a:solidFill>
              </a:rPr>
              <a:t> field.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• Preserves raw metadata (labels, dates, state).</a:t>
            </a:r>
          </a:p>
        </p:txBody>
      </p:sp>
      <p:pic>
        <p:nvPicPr>
          <p:cNvPr id="117" name="Graphic 116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57692" y="4279791"/>
            <a:ext cx="1481109" cy="148110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8E6EF9-6CFF-6351-24F8-DD63D829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37</a:t>
            </a:fld>
            <a:endParaRPr lang="en-US" noProof="0" dirty="0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945604C7-8078-0509-698D-0FB2E28F4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87" y="1967889"/>
            <a:ext cx="237744" cy="237744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81CA70B2-1F58-49C3-67AF-C90C08C53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07" y="2853123"/>
            <a:ext cx="237744" cy="237744"/>
          </a:xfrm>
          <a:prstGeom prst="rect">
            <a:avLst/>
          </a:prstGeom>
        </p:spPr>
      </p:pic>
      <p:sp>
        <p:nvSpPr>
          <p:cNvPr id="65" name="Shape 30">
            <a:extLst>
              <a:ext uri="{FF2B5EF4-FFF2-40B4-BE49-F238E27FC236}">
                <a16:creationId xmlns:a16="http://schemas.microsoft.com/office/drawing/2014/main" id="{16BF3DF9-B225-43F8-6D82-5D394A1C466D}"/>
              </a:ext>
            </a:extLst>
          </p:cNvPr>
          <p:cNvSpPr/>
          <p:nvPr/>
        </p:nvSpPr>
        <p:spPr>
          <a:xfrm>
            <a:off x="10048090" y="183940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0E864898-35F4-00FB-2027-951259476A29}"/>
              </a:ext>
            </a:extLst>
          </p:cNvPr>
          <p:cNvSpPr/>
          <p:nvPr/>
        </p:nvSpPr>
        <p:spPr>
          <a:xfrm>
            <a:off x="10048090" y="183940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41FB4CEA-7ED4-973C-FE97-47873762DF8C}"/>
              </a:ext>
            </a:extLst>
          </p:cNvPr>
          <p:cNvSpPr/>
          <p:nvPr/>
        </p:nvSpPr>
        <p:spPr>
          <a:xfrm>
            <a:off x="10048090" y="183940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3397CC25-2049-38EB-17C3-CFB60DC315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1248" y="1932394"/>
            <a:ext cx="263059" cy="263059"/>
          </a:xfrm>
          <a:prstGeom prst="rect">
            <a:avLst/>
          </a:prstGeom>
        </p:spPr>
      </p:pic>
      <p:sp>
        <p:nvSpPr>
          <p:cNvPr id="79" name="Text 33">
            <a:extLst>
              <a:ext uri="{FF2B5EF4-FFF2-40B4-BE49-F238E27FC236}">
                <a16:creationId xmlns:a16="http://schemas.microsoft.com/office/drawing/2014/main" id="{131C872B-C7AE-2801-03D3-5E06A1DF7E51}"/>
              </a:ext>
            </a:extLst>
          </p:cNvPr>
          <p:cNvSpPr/>
          <p:nvPr/>
        </p:nvSpPr>
        <p:spPr>
          <a:xfrm>
            <a:off x="10243889" y="24175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9251E002-AF01-0797-9400-A193CA6E8C85}"/>
              </a:ext>
            </a:extLst>
          </p:cNvPr>
          <p:cNvSpPr/>
          <p:nvPr/>
        </p:nvSpPr>
        <p:spPr>
          <a:xfrm>
            <a:off x="10262892" y="293876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18D3C36A-3C50-0184-0AC5-38FAA02E1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090" y="2872679"/>
            <a:ext cx="237744" cy="237744"/>
          </a:xfrm>
          <a:prstGeom prst="rect">
            <a:avLst/>
          </a:prstGeom>
        </p:spPr>
      </p:pic>
      <p:cxnSp>
        <p:nvCxnSpPr>
          <p:cNvPr id="85" name="Straight Arrow Connector 76">
            <a:extLst>
              <a:ext uri="{FF2B5EF4-FFF2-40B4-BE49-F238E27FC236}">
                <a16:creationId xmlns:a16="http://schemas.microsoft.com/office/drawing/2014/main" id="{FE7F9C02-B49C-B040-5BBF-CBD007989848}"/>
              </a:ext>
            </a:extLst>
          </p:cNvPr>
          <p:cNvCxnSpPr>
            <a:cxnSpLocks/>
          </p:cNvCxnSpPr>
          <p:nvPr/>
        </p:nvCxnSpPr>
        <p:spPr>
          <a:xfrm>
            <a:off x="9918242" y="283477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13">
            <a:extLst>
              <a:ext uri="{FF2B5EF4-FFF2-40B4-BE49-F238E27FC236}">
                <a16:creationId xmlns:a16="http://schemas.microsoft.com/office/drawing/2014/main" id="{4ED33089-62DD-EAFC-F664-17E109384F8B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50B477C-AD80-EED9-C6B6-9744109E201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31" name="rr">
            <a:extLst>
              <a:ext uri="{FF2B5EF4-FFF2-40B4-BE49-F238E27FC236}">
                <a16:creationId xmlns:a16="http://schemas.microsoft.com/office/drawing/2014/main" id="{CEE85904-80B7-FE7F-AFED-B871AC548043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b">
            <a:extLst>
              <a:ext uri="{FF2B5EF4-FFF2-40B4-BE49-F238E27FC236}">
                <a16:creationId xmlns:a16="http://schemas.microsoft.com/office/drawing/2014/main" id="{AF7D775A-A0D1-4681-CC46-D792E47BF9C6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2132932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5683-1433-C7AD-77C3-CBBE8C45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0D5F-C56A-5274-6D6B-5E5D1114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V1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5FB9C07-DD35-3D29-F96E-772C8C4519C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B8F0167-E210-ED0D-5F08-5C6045A1AAC3}"/>
              </a:ext>
            </a:extLst>
          </p:cNvPr>
          <p:cNvSpPr/>
          <p:nvPr/>
        </p:nvSpPr>
        <p:spPr>
          <a:xfrm>
            <a:off x="1739956" y="99427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E7CD0D5-CF76-C3B6-1DE7-63A1575992E7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00576E2-E7D7-4BC4-8785-307E36E2E99C}"/>
              </a:ext>
            </a:extLst>
          </p:cNvPr>
          <p:cNvSpPr/>
          <p:nvPr/>
        </p:nvSpPr>
        <p:spPr>
          <a:xfrm>
            <a:off x="1268178" y="166434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❌  Raw data (before)</a:t>
            </a:r>
            <a:endParaRPr lang="en-US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EC45AEA1-F3D8-AA5F-D4D5-2342E71B6CF2}"/>
              </a:ext>
            </a:extLst>
          </p:cNvPr>
          <p:cNvSpPr/>
          <p:nvPr/>
        </p:nvSpPr>
        <p:spPr>
          <a:xfrm>
            <a:off x="1268178" y="2030102"/>
            <a:ext cx="4069080" cy="40754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BB07944-4D92-5BB6-0DEC-DD3140271164}"/>
              </a:ext>
            </a:extLst>
          </p:cNvPr>
          <p:cNvSpPr/>
          <p:nvPr/>
        </p:nvSpPr>
        <p:spPr>
          <a:xfrm>
            <a:off x="1370278" y="2688470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STM32CubeIDE throws error when compile line option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is enabled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Hi,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enabling 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 below error is observed: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arm-none-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eabi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error: unrecognized command-line option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-align'; did you mean '-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Wstrict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-aliasing'?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width="1475" height="1702"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="https://github.com/user-attachments/assets/ef04062d-f370-4a59-b26d-e05fc91a3020" /&gt;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suggest a fix.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Thanks,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Rajeev</a:t>
            </a:r>
          </a:p>
          <a:p>
            <a:pPr marL="0" indent="0">
              <a:buNone/>
            </a:pPr>
            <a:endParaRPr lang="en-US" sz="800" noProof="0" dirty="0">
              <a:solidFill>
                <a:srgbClr val="64748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Comment:</a:t>
            </a:r>
          </a:p>
          <a:p>
            <a:pPr marL="0" indent="0">
              <a:buNone/>
            </a:pP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width="663" height="50" alt="Image" </a:t>
            </a:r>
            <a:r>
              <a:rPr lang="en-US" sz="8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8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="https://github.com/user-attachments/assets/57b08795-01df-4541-ad2f-33fe6b6811c1" /&gt;</a:t>
            </a:r>
            <a:endParaRPr lang="en-US" sz="8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F94983BE-1EAD-224A-EAC8-A878D56F85FE}"/>
              </a:ext>
            </a:extLst>
          </p:cNvPr>
          <p:cNvSpPr/>
          <p:nvPr/>
        </p:nvSpPr>
        <p:spPr>
          <a:xfrm>
            <a:off x="1268178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924FC4C9-B03E-326B-BB71-29871F55E551}"/>
              </a:ext>
            </a:extLst>
          </p:cNvPr>
          <p:cNvSpPr/>
          <p:nvPr/>
        </p:nvSpPr>
        <p:spPr>
          <a:xfrm>
            <a:off x="1370278" y="493789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F4444"/>
                </a:solidFill>
              </a:rPr>
              <a:t>Issues:</a:t>
            </a:r>
            <a:endParaRPr lang="en-US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01A61821-B6A5-C678-C6CB-1C5631A1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230502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C5614762-F461-7974-86AA-EE0E429460FE}"/>
              </a:ext>
            </a:extLst>
          </p:cNvPr>
          <p:cNvSpPr/>
          <p:nvPr/>
        </p:nvSpPr>
        <p:spPr>
          <a:xfrm>
            <a:off x="1653742" y="52487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tags unreadable by RAG </a:t>
            </a:r>
            <a:endParaRPr lang="en-US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A0C102B6-7152-6693-C400-FF70F835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78" y="5577974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3C771A64-8088-71FA-34A8-C1847415A6E3}"/>
              </a:ext>
            </a:extLst>
          </p:cNvPr>
          <p:cNvSpPr/>
          <p:nvPr/>
        </p:nvSpPr>
        <p:spPr>
          <a:xfrm>
            <a:off x="1653742" y="559626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 content lost (no text)</a:t>
            </a:r>
            <a:endParaRPr lang="en-US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D08BFD83-5F41-4547-7205-291EEC97982C}"/>
              </a:ext>
            </a:extLst>
          </p:cNvPr>
          <p:cNvSpPr/>
          <p:nvPr/>
        </p:nvSpPr>
        <p:spPr>
          <a:xfrm>
            <a:off x="6622298" y="1626928"/>
            <a:ext cx="4108477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0BA0B732-1C68-F8F1-CD40-75831066A51E}"/>
              </a:ext>
            </a:extLst>
          </p:cNvPr>
          <p:cNvSpPr/>
          <p:nvPr/>
        </p:nvSpPr>
        <p:spPr>
          <a:xfrm>
            <a:off x="6622299" y="1626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✅  Cleaned data (after)</a:t>
            </a:r>
            <a:endParaRPr lang="en-US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51E5178E-AAF8-D8E2-7110-2C798894DAE0}"/>
              </a:ext>
            </a:extLst>
          </p:cNvPr>
          <p:cNvSpPr/>
          <p:nvPr/>
        </p:nvSpPr>
        <p:spPr>
          <a:xfrm>
            <a:off x="6633712" y="1992688"/>
            <a:ext cx="4097063" cy="41128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E70EA3A9-4E1C-5DA9-7159-1CA8A7EBE8A5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C16FDBB7-E031-3BFA-0D7C-0B7D0EC64830}"/>
              </a:ext>
            </a:extLst>
          </p:cNvPr>
          <p:cNvSpPr/>
          <p:nvPr/>
        </p:nvSpPr>
        <p:spPr>
          <a:xfrm>
            <a:off x="6768603" y="499275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Improvements: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4E27F9D6-6506-5C52-DEC4-7B3BFD6D9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285366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BA734CC-D774-D801-8B9F-95D4149925A4}"/>
              </a:ext>
            </a:extLst>
          </p:cNvPr>
          <p:cNvSpPr/>
          <p:nvPr/>
        </p:nvSpPr>
        <p:spPr>
          <a:xfrm>
            <a:off x="7061211" y="530365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stripped, pure text</a:t>
            </a:r>
            <a:endParaRPr lang="en-US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981AA2D5-13D7-0D59-34E2-2699B75CA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03" y="5632838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28B49BA5-7B65-8CC2-648D-E0F73122F0D7}"/>
              </a:ext>
            </a:extLst>
          </p:cNvPr>
          <p:cNvSpPr/>
          <p:nvPr/>
        </p:nvSpPr>
        <p:spPr>
          <a:xfrm>
            <a:off x="7061210" y="5651126"/>
            <a:ext cx="38626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Images replaced by [IMAGE ATTACHED] tag + description</a:t>
            </a:r>
            <a:endParaRPr lang="en-US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109278D6-3881-0395-672E-2EC8294609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2E141-C93E-9629-3965-4C375026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38</a:t>
            </a:fld>
            <a:endParaRPr lang="en-US" noProof="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A379A931-13D9-9318-B67C-5D4E92737D4E}"/>
              </a:ext>
            </a:extLst>
          </p:cNvPr>
          <p:cNvSpPr/>
          <p:nvPr/>
        </p:nvSpPr>
        <p:spPr>
          <a:xfrm>
            <a:off x="6661695" y="494564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4EB22-55C9-3394-2397-A91E351EFFDC}"/>
              </a:ext>
            </a:extLst>
          </p:cNvPr>
          <p:cNvSpPr txBox="1"/>
          <p:nvPr/>
        </p:nvSpPr>
        <p:spPr>
          <a:xfrm>
            <a:off x="6715149" y="2229371"/>
            <a:ext cx="3962172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Title: STM32CubeIDE throws error when compile line option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is enabled</a:t>
            </a:r>
          </a:p>
          <a:p>
            <a:endParaRPr lang="en-US" sz="900" noProof="0" dirty="0"/>
          </a:p>
          <a:p>
            <a:r>
              <a:rPr lang="en-US" sz="900" noProof="0" dirty="0" err="1"/>
              <a:t>Body:Hi,When</a:t>
            </a:r>
            <a:r>
              <a:rPr lang="en-US" sz="900" noProof="0" dirty="0"/>
              <a:t> enabling 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 below error is observed:</a:t>
            </a:r>
          </a:p>
          <a:p>
            <a:endParaRPr lang="en-US" sz="900" noProof="0" dirty="0"/>
          </a:p>
          <a:p>
            <a:r>
              <a:rPr lang="en-US" sz="900" noProof="0" dirty="0"/>
              <a:t>arm-none-</a:t>
            </a:r>
            <a:r>
              <a:rPr lang="en-US" sz="900" noProof="0" dirty="0" err="1"/>
              <a:t>eabi</a:t>
            </a:r>
            <a:r>
              <a:rPr lang="en-US" sz="900" noProof="0" dirty="0"/>
              <a:t>-</a:t>
            </a:r>
            <a:r>
              <a:rPr lang="en-US" sz="900" noProof="0" dirty="0" err="1"/>
              <a:t>gcc</a:t>
            </a:r>
            <a:r>
              <a:rPr lang="en-US" sz="900" noProof="0" dirty="0"/>
              <a:t>: error: unrecognized command-line option '-</a:t>
            </a:r>
            <a:r>
              <a:rPr lang="en-US" sz="900" noProof="0" dirty="0" err="1"/>
              <a:t>mstrict</a:t>
            </a:r>
            <a:r>
              <a:rPr lang="en-US" sz="900" noProof="0" dirty="0"/>
              <a:t>-align'; did you mean '-</a:t>
            </a:r>
            <a:r>
              <a:rPr lang="en-US" sz="900" noProof="0" dirty="0" err="1"/>
              <a:t>Wstrict</a:t>
            </a:r>
            <a:r>
              <a:rPr lang="en-US" sz="900" noProof="0" dirty="0"/>
              <a:t>-aliasing’?</a:t>
            </a:r>
          </a:p>
          <a:p>
            <a:endParaRPr lang="en-US" sz="900" noProof="0" dirty="0"/>
          </a:p>
          <a:p>
            <a:r>
              <a:rPr lang="en-US" sz="900" b="1" noProof="0" dirty="0"/>
              <a:t>[IMAGE ATTACHED]</a:t>
            </a:r>
          </a:p>
          <a:p>
            <a:r>
              <a:rPr lang="en-US" sz="900" noProof="0" dirty="0"/>
              <a:t>Please suggest a fix.</a:t>
            </a:r>
          </a:p>
          <a:p>
            <a:endParaRPr lang="en-US" sz="900" noProof="0" dirty="0"/>
          </a:p>
          <a:p>
            <a:r>
              <a:rPr lang="en-US" sz="900" noProof="0" dirty="0"/>
              <a:t>Thanks,</a:t>
            </a:r>
          </a:p>
          <a:p>
            <a:r>
              <a:rPr lang="en-US" sz="900" noProof="0" dirty="0"/>
              <a:t>Rajeev</a:t>
            </a:r>
          </a:p>
          <a:p>
            <a:endParaRPr lang="en-US" sz="900" noProof="0" dirty="0"/>
          </a:p>
          <a:p>
            <a:r>
              <a:rPr lang="en-US" sz="900" noProof="0" dirty="0"/>
              <a:t>Comments:</a:t>
            </a:r>
          </a:p>
          <a:p>
            <a:r>
              <a:rPr lang="en-US" sz="900" noProof="0" dirty="0"/>
              <a:t>[rxa1031 - 2026-02-11T13:13:48Z]</a:t>
            </a:r>
          </a:p>
          <a:p>
            <a:r>
              <a:rPr lang="en-US" sz="900" b="1" noProof="0" dirty="0"/>
              <a:t>[IMAGE ATTACHED]</a:t>
            </a:r>
          </a:p>
        </p:txBody>
      </p:sp>
      <p:sp>
        <p:nvSpPr>
          <p:cNvPr id="5" name="rr">
            <a:extLst>
              <a:ext uri="{FF2B5EF4-FFF2-40B4-BE49-F238E27FC236}">
                <a16:creationId xmlns:a16="http://schemas.microsoft.com/office/drawing/2014/main" id="{9CB203A8-654D-19F3-9D05-168607FC051E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76EAD099-A772-AC6E-DA6E-5B83098D3499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434634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7135-4F56-3687-23F7-87102A06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BEFD-2DC9-D76B-A666-E8DFBC45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cleaning V2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08A14F-2F9E-63A9-AAFC-7ACCE443F17E}"/>
              </a:ext>
            </a:extLst>
          </p:cNvPr>
          <p:cNvSpPr/>
          <p:nvPr/>
        </p:nvSpPr>
        <p:spPr>
          <a:xfrm>
            <a:off x="242477" y="167511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3DB050F-94CB-D46A-92BD-E6702C8131E1}"/>
              </a:ext>
            </a:extLst>
          </p:cNvPr>
          <p:cNvSpPr/>
          <p:nvPr/>
        </p:nvSpPr>
        <p:spPr>
          <a:xfrm>
            <a:off x="1918367" y="81083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D9868-D1FE-914A-46E8-6B220F74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39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676CF1-1BEE-8275-E1B7-CEC4788338F4}"/>
              </a:ext>
            </a:extLst>
          </p:cNvPr>
          <p:cNvSpPr txBox="1"/>
          <p:nvPr/>
        </p:nvSpPr>
        <p:spPr>
          <a:xfrm>
            <a:off x="242477" y="1234031"/>
            <a:ext cx="1013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Type-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Aware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fr-FR" sz="1400" b="1" dirty="0" err="1">
                <a:solidFill>
                  <a:schemeClr val="bg2">
                    <a:lumMod val="10000"/>
                  </a:schemeClr>
                </a:solidFill>
              </a:rPr>
              <a:t>Cleaning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: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One noise-reduction strategy per file type , not one strategy for all</a:t>
            </a:r>
            <a:r>
              <a:rPr lang="fr-FR" sz="14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fr-TN" sz="1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09ECFE8-96FE-7787-CD7F-67937392D051}"/>
              </a:ext>
            </a:extLst>
          </p:cNvPr>
          <p:cNvSpPr/>
          <p:nvPr/>
        </p:nvSpPr>
        <p:spPr>
          <a:xfrm>
            <a:off x="1282505" y="2114191"/>
            <a:ext cx="1440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rPr dirty="0" err="1"/>
              <a:t>raw_files</a:t>
            </a:r>
            <a:r>
              <a:rPr dirty="0"/>
              <a:t>_*.</a:t>
            </a:r>
            <a:r>
              <a:rPr dirty="0" err="1"/>
              <a:t>json</a:t>
            </a:r>
            <a:endParaRPr dirty="0"/>
          </a:p>
        </p:txBody>
      </p:sp>
      <p:sp>
        <p:nvSpPr>
          <p:cNvPr id="131" name="Shape 4">
            <a:extLst>
              <a:ext uri="{FF2B5EF4-FFF2-40B4-BE49-F238E27FC236}">
                <a16:creationId xmlns:a16="http://schemas.microsoft.com/office/drawing/2014/main" id="{8902DE0C-E9C3-4040-0CC9-E795925ECB45}"/>
              </a:ext>
            </a:extLst>
          </p:cNvPr>
          <p:cNvSpPr/>
          <p:nvPr/>
        </p:nvSpPr>
        <p:spPr>
          <a:xfrm>
            <a:off x="615363" y="2757731"/>
            <a:ext cx="2743200" cy="485999"/>
          </a:xfrm>
          <a:prstGeom prst="roundRect">
            <a:avLst>
              <a:gd name="adj" fmla="val 888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3" name="Text 5">
            <a:extLst>
              <a:ext uri="{FF2B5EF4-FFF2-40B4-BE49-F238E27FC236}">
                <a16:creationId xmlns:a16="http://schemas.microsoft.com/office/drawing/2014/main" id="{990B578C-E59A-8721-EEAD-ED3512213827}"/>
              </a:ext>
            </a:extLst>
          </p:cNvPr>
          <p:cNvSpPr/>
          <p:nvPr/>
        </p:nvSpPr>
        <p:spPr>
          <a:xfrm>
            <a:off x="615363" y="274081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detect_file_type()</a:t>
            </a:r>
            <a:endParaRPr lang="en-US" sz="1300" dirty="0"/>
          </a:p>
        </p:txBody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BC81CA28-B0FE-63BA-5366-EB0E2ACAFE7A}"/>
              </a:ext>
            </a:extLst>
          </p:cNvPr>
          <p:cNvSpPr/>
          <p:nvPr/>
        </p:nvSpPr>
        <p:spPr>
          <a:xfrm>
            <a:off x="3358563" y="3054353"/>
            <a:ext cx="82296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9" name="Shape 8">
            <a:extLst>
              <a:ext uri="{FF2B5EF4-FFF2-40B4-BE49-F238E27FC236}">
                <a16:creationId xmlns:a16="http://schemas.microsoft.com/office/drawing/2014/main" id="{68B45CE9-2EE2-DB25-FA9D-C1067406FEE6}"/>
              </a:ext>
            </a:extLst>
          </p:cNvPr>
          <p:cNvSpPr/>
          <p:nvPr/>
        </p:nvSpPr>
        <p:spPr>
          <a:xfrm>
            <a:off x="4181523" y="264287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1" name="Text 9">
            <a:extLst>
              <a:ext uri="{FF2B5EF4-FFF2-40B4-BE49-F238E27FC236}">
                <a16:creationId xmlns:a16="http://schemas.microsoft.com/office/drawing/2014/main" id="{92B1F6DE-E977-9D2C-854A-B402F3BE87BD}"/>
              </a:ext>
            </a:extLst>
          </p:cNvPr>
          <p:cNvSpPr/>
          <p:nvPr/>
        </p:nvSpPr>
        <p:spPr>
          <a:xfrm>
            <a:off x="4318683" y="273431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(HTML)</a:t>
            </a:r>
            <a:endParaRPr lang="en-US" sz="1100" dirty="0"/>
          </a:p>
        </p:txBody>
      </p:sp>
      <p:sp>
        <p:nvSpPr>
          <p:cNvPr id="143" name="Text 10">
            <a:extLst>
              <a:ext uri="{FF2B5EF4-FFF2-40B4-BE49-F238E27FC236}">
                <a16:creationId xmlns:a16="http://schemas.microsoft.com/office/drawing/2014/main" id="{A89020E7-FC55-973D-4FA7-871EF10CBA44}"/>
              </a:ext>
            </a:extLst>
          </p:cNvPr>
          <p:cNvSpPr/>
          <p:nvPr/>
        </p:nvSpPr>
        <p:spPr>
          <a:xfrm>
            <a:off x="7199043" y="273431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strip_html()</a:t>
            </a:r>
            <a:endParaRPr lang="en-US" sz="1050" dirty="0"/>
          </a:p>
        </p:txBody>
      </p:sp>
      <p:sp>
        <p:nvSpPr>
          <p:cNvPr id="145" name="Shape 11">
            <a:extLst>
              <a:ext uri="{FF2B5EF4-FFF2-40B4-BE49-F238E27FC236}">
                <a16:creationId xmlns:a16="http://schemas.microsoft.com/office/drawing/2014/main" id="{AE9367A1-DC64-78BF-DCA5-96FC01F7719F}"/>
              </a:ext>
            </a:extLst>
          </p:cNvPr>
          <p:cNvSpPr/>
          <p:nvPr/>
        </p:nvSpPr>
        <p:spPr>
          <a:xfrm>
            <a:off x="10033683" y="278003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7" name="Text 12">
            <a:extLst>
              <a:ext uri="{FF2B5EF4-FFF2-40B4-BE49-F238E27FC236}">
                <a16:creationId xmlns:a16="http://schemas.microsoft.com/office/drawing/2014/main" id="{A924D7D2-B94B-B17F-3868-E586EC79E03E}"/>
              </a:ext>
            </a:extLst>
          </p:cNvPr>
          <p:cNvSpPr/>
          <p:nvPr/>
        </p:nvSpPr>
        <p:spPr>
          <a:xfrm>
            <a:off x="10033683" y="278003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1300" dirty="0"/>
          </a:p>
        </p:txBody>
      </p:sp>
      <p:sp>
        <p:nvSpPr>
          <p:cNvPr id="149" name="Shape 13">
            <a:extLst>
              <a:ext uri="{FF2B5EF4-FFF2-40B4-BE49-F238E27FC236}">
                <a16:creationId xmlns:a16="http://schemas.microsoft.com/office/drawing/2014/main" id="{FCAB2268-0945-7EC6-9486-E434CFB9CD06}"/>
              </a:ext>
            </a:extLst>
          </p:cNvPr>
          <p:cNvSpPr/>
          <p:nvPr/>
        </p:nvSpPr>
        <p:spPr>
          <a:xfrm>
            <a:off x="3358563" y="3054353"/>
            <a:ext cx="822960" cy="64008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1" name="Shape 14">
            <a:extLst>
              <a:ext uri="{FF2B5EF4-FFF2-40B4-BE49-F238E27FC236}">
                <a16:creationId xmlns:a16="http://schemas.microsoft.com/office/drawing/2014/main" id="{865CA226-98FC-91E9-A31F-29E2ED1C8B4E}"/>
              </a:ext>
            </a:extLst>
          </p:cNvPr>
          <p:cNvSpPr/>
          <p:nvPr/>
        </p:nvSpPr>
        <p:spPr>
          <a:xfrm>
            <a:off x="4181523" y="342011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99D171D3-7AC9-6697-0B25-644B8C7EAE36}"/>
              </a:ext>
            </a:extLst>
          </p:cNvPr>
          <p:cNvSpPr/>
          <p:nvPr/>
        </p:nvSpPr>
        <p:spPr>
          <a:xfrm>
            <a:off x="4318683" y="351155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(Markdown)</a:t>
            </a:r>
            <a:endParaRPr lang="en-US" sz="11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75336218-BE86-9464-4CEF-77E51A3B7BCF}"/>
              </a:ext>
            </a:extLst>
          </p:cNvPr>
          <p:cNvSpPr/>
          <p:nvPr/>
        </p:nvSpPr>
        <p:spPr>
          <a:xfrm>
            <a:off x="7199043" y="351155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clean_markdown()</a:t>
            </a:r>
            <a:endParaRPr lang="en-US" sz="1050" dirty="0"/>
          </a:p>
        </p:txBody>
      </p:sp>
      <p:sp>
        <p:nvSpPr>
          <p:cNvPr id="157" name="Shape 17">
            <a:extLst>
              <a:ext uri="{FF2B5EF4-FFF2-40B4-BE49-F238E27FC236}">
                <a16:creationId xmlns:a16="http://schemas.microsoft.com/office/drawing/2014/main" id="{40E6E87A-5420-5FD9-B7CC-4AE27578EB84}"/>
              </a:ext>
            </a:extLst>
          </p:cNvPr>
          <p:cNvSpPr/>
          <p:nvPr/>
        </p:nvSpPr>
        <p:spPr>
          <a:xfrm>
            <a:off x="10033683" y="355727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9" name="Text 18">
            <a:extLst>
              <a:ext uri="{FF2B5EF4-FFF2-40B4-BE49-F238E27FC236}">
                <a16:creationId xmlns:a16="http://schemas.microsoft.com/office/drawing/2014/main" id="{E5A8FDCB-42BB-4DCA-4646-2214B77B3FC1}"/>
              </a:ext>
            </a:extLst>
          </p:cNvPr>
          <p:cNvSpPr/>
          <p:nvPr/>
        </p:nvSpPr>
        <p:spPr>
          <a:xfrm>
            <a:off x="10033683" y="355727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300" dirty="0"/>
          </a:p>
        </p:txBody>
      </p:sp>
      <p:sp>
        <p:nvSpPr>
          <p:cNvPr id="161" name="Shape 19">
            <a:extLst>
              <a:ext uri="{FF2B5EF4-FFF2-40B4-BE49-F238E27FC236}">
                <a16:creationId xmlns:a16="http://schemas.microsoft.com/office/drawing/2014/main" id="{79D1E79D-2938-1C99-5748-8A8789C8FE0B}"/>
              </a:ext>
            </a:extLst>
          </p:cNvPr>
          <p:cNvSpPr/>
          <p:nvPr/>
        </p:nvSpPr>
        <p:spPr>
          <a:xfrm>
            <a:off x="3358563" y="3054353"/>
            <a:ext cx="822960" cy="1417320"/>
          </a:xfrm>
          <a:prstGeom prst="line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3" name="Shape 20">
            <a:extLst>
              <a:ext uri="{FF2B5EF4-FFF2-40B4-BE49-F238E27FC236}">
                <a16:creationId xmlns:a16="http://schemas.microsoft.com/office/drawing/2014/main" id="{B8831BB3-E4F3-DF51-E64C-CC63361A80EB}"/>
              </a:ext>
            </a:extLst>
          </p:cNvPr>
          <p:cNvSpPr/>
          <p:nvPr/>
        </p:nvSpPr>
        <p:spPr>
          <a:xfrm>
            <a:off x="4181523" y="4197353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Text 21">
            <a:extLst>
              <a:ext uri="{FF2B5EF4-FFF2-40B4-BE49-F238E27FC236}">
                <a16:creationId xmlns:a16="http://schemas.microsoft.com/office/drawing/2014/main" id="{80E259AE-B854-8A2B-E9A8-B9CC04F4C0E6}"/>
              </a:ext>
            </a:extLst>
          </p:cNvPr>
          <p:cNvSpPr/>
          <p:nvPr/>
        </p:nvSpPr>
        <p:spPr>
          <a:xfrm>
            <a:off x="4318683" y="428879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(.c / .h)</a:t>
            </a:r>
            <a:endParaRPr lang="en-US" sz="110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804FB0CC-6D39-7B8C-F497-1E0F79B3E2B9}"/>
              </a:ext>
            </a:extLst>
          </p:cNvPr>
          <p:cNvSpPr/>
          <p:nvPr/>
        </p:nvSpPr>
        <p:spPr>
          <a:xfrm>
            <a:off x="7199043" y="4288793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strip_license()</a:t>
            </a:r>
            <a:endParaRPr lang="en-US" sz="1050" dirty="0"/>
          </a:p>
        </p:txBody>
      </p:sp>
      <p:sp>
        <p:nvSpPr>
          <p:cNvPr id="169" name="Shape 23">
            <a:extLst>
              <a:ext uri="{FF2B5EF4-FFF2-40B4-BE49-F238E27FC236}">
                <a16:creationId xmlns:a16="http://schemas.microsoft.com/office/drawing/2014/main" id="{B9D2511A-C2DF-06A7-5960-693EFE9F5712}"/>
              </a:ext>
            </a:extLst>
          </p:cNvPr>
          <p:cNvSpPr/>
          <p:nvPr/>
        </p:nvSpPr>
        <p:spPr>
          <a:xfrm>
            <a:off x="10033683" y="4334513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6369E6B3-6EBF-26B1-37A6-37DF66638A37}"/>
              </a:ext>
            </a:extLst>
          </p:cNvPr>
          <p:cNvSpPr/>
          <p:nvPr/>
        </p:nvSpPr>
        <p:spPr>
          <a:xfrm>
            <a:off x="10033683" y="4334513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1300" dirty="0"/>
          </a:p>
        </p:txBody>
      </p:sp>
      <p:sp>
        <p:nvSpPr>
          <p:cNvPr id="185" name="Shape 31">
            <a:extLst>
              <a:ext uri="{FF2B5EF4-FFF2-40B4-BE49-F238E27FC236}">
                <a16:creationId xmlns:a16="http://schemas.microsoft.com/office/drawing/2014/main" id="{E1BFA6DB-C92B-E147-3D9D-F1C513D184DE}"/>
              </a:ext>
            </a:extLst>
          </p:cNvPr>
          <p:cNvSpPr/>
          <p:nvPr/>
        </p:nvSpPr>
        <p:spPr>
          <a:xfrm>
            <a:off x="3358563" y="3054353"/>
            <a:ext cx="822960" cy="243020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7" name="Shape 32">
            <a:extLst>
              <a:ext uri="{FF2B5EF4-FFF2-40B4-BE49-F238E27FC236}">
                <a16:creationId xmlns:a16="http://schemas.microsoft.com/office/drawing/2014/main" id="{27D1D888-2B02-8E66-E87C-6993112D77DC}"/>
              </a:ext>
            </a:extLst>
          </p:cNvPr>
          <p:cNvSpPr/>
          <p:nvPr/>
        </p:nvSpPr>
        <p:spPr>
          <a:xfrm>
            <a:off x="4181523" y="5073347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9" name="Text 33">
            <a:extLst>
              <a:ext uri="{FF2B5EF4-FFF2-40B4-BE49-F238E27FC236}">
                <a16:creationId xmlns:a16="http://schemas.microsoft.com/office/drawing/2014/main" id="{3C912422-7824-5897-FE11-1AE03EE1ADAE}"/>
              </a:ext>
            </a:extLst>
          </p:cNvPr>
          <p:cNvSpPr/>
          <p:nvPr/>
        </p:nvSpPr>
        <p:spPr>
          <a:xfrm>
            <a:off x="4318683" y="516478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191" name="Text 34">
            <a:extLst>
              <a:ext uri="{FF2B5EF4-FFF2-40B4-BE49-F238E27FC236}">
                <a16:creationId xmlns:a16="http://schemas.microsoft.com/office/drawing/2014/main" id="{4F9E6856-9DAE-9667-A5CE-FF15CB334563}"/>
              </a:ext>
            </a:extLst>
          </p:cNvPr>
          <p:cNvSpPr/>
          <p:nvPr/>
        </p:nvSpPr>
        <p:spPr>
          <a:xfrm>
            <a:off x="7199043" y="5164787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passthrough</a:t>
            </a:r>
            <a:endParaRPr lang="en-US" sz="1050" dirty="0"/>
          </a:p>
        </p:txBody>
      </p:sp>
      <p:sp>
        <p:nvSpPr>
          <p:cNvPr id="193" name="Shape 35">
            <a:extLst>
              <a:ext uri="{FF2B5EF4-FFF2-40B4-BE49-F238E27FC236}">
                <a16:creationId xmlns:a16="http://schemas.microsoft.com/office/drawing/2014/main" id="{4AF34820-0BEA-CA7C-F781-5D0E47691039}"/>
              </a:ext>
            </a:extLst>
          </p:cNvPr>
          <p:cNvSpPr/>
          <p:nvPr/>
        </p:nvSpPr>
        <p:spPr>
          <a:xfrm>
            <a:off x="10033683" y="5210507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36">
            <a:extLst>
              <a:ext uri="{FF2B5EF4-FFF2-40B4-BE49-F238E27FC236}">
                <a16:creationId xmlns:a16="http://schemas.microsoft.com/office/drawing/2014/main" id="{1FCECC04-9EC5-BA96-EEDD-8A42B322C9A7}"/>
              </a:ext>
            </a:extLst>
          </p:cNvPr>
          <p:cNvSpPr/>
          <p:nvPr/>
        </p:nvSpPr>
        <p:spPr>
          <a:xfrm>
            <a:off x="10033683" y="521050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cxnSp>
        <p:nvCxnSpPr>
          <p:cNvPr id="199" name="Connecteur droit avec flèche 198">
            <a:extLst>
              <a:ext uri="{FF2B5EF4-FFF2-40B4-BE49-F238E27FC236}">
                <a16:creationId xmlns:a16="http://schemas.microsoft.com/office/drawing/2014/main" id="{D1B1CEEB-DF3A-769C-B8C3-6D0AE41B668F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1986963" y="2487028"/>
            <a:ext cx="0" cy="253782"/>
          </a:xfrm>
          <a:prstGeom prst="straightConnector1">
            <a:avLst/>
          </a:prstGeom>
          <a:ln w="22225">
            <a:solidFill>
              <a:srgbClr val="0D9488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r">
            <a:extLst>
              <a:ext uri="{FF2B5EF4-FFF2-40B4-BE49-F238E27FC236}">
                <a16:creationId xmlns:a16="http://schemas.microsoft.com/office/drawing/2014/main" id="{F176D2F5-0534-662F-5F35-0CBB7FCAE9AF}"/>
              </a:ext>
            </a:extLst>
          </p:cNvPr>
          <p:cNvSpPr/>
          <p:nvPr/>
        </p:nvSpPr>
        <p:spPr>
          <a:xfrm>
            <a:off x="340364" y="37462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EC9897D5-A960-53BB-A74E-900E08F230BB}"/>
              </a:ext>
            </a:extLst>
          </p:cNvPr>
          <p:cNvSpPr>
            <a:spLocks noGrp="1"/>
          </p:cNvSpPr>
          <p:nvPr/>
        </p:nvSpPr>
        <p:spPr>
          <a:xfrm>
            <a:off x="614684" y="328907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2749950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2063309" y="107392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6023515" y="397356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6023515" y="397356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224683" y="4065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What is Enrichment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224683" y="435761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noProof="0" dirty="0">
                <a:solidFill>
                  <a:srgbClr val="1B2A3B"/>
                </a:solidFill>
              </a:rPr>
              <a:t>Adds technical metadata: </a:t>
            </a:r>
            <a:r>
              <a:rPr lang="en-US" sz="1000" noProof="0" dirty="0">
                <a:solidFill>
                  <a:srgbClr val="1B2A3B"/>
                </a:solidFill>
              </a:rPr>
              <a:t>layer, severity, </a:t>
            </a:r>
            <a:r>
              <a:rPr lang="en-US" sz="1000" noProof="0" dirty="0" err="1">
                <a:solidFill>
                  <a:srgbClr val="1B2A3B"/>
                </a:solidFill>
              </a:rPr>
              <a:t>issue_kind</a:t>
            </a:r>
            <a:r>
              <a:rPr lang="en-US" sz="1000" noProof="0" dirty="0">
                <a:solidFill>
                  <a:srgbClr val="1B2A3B"/>
                </a:solidFill>
              </a:rPr>
              <a:t>, board, component, </a:t>
            </a:r>
            <a:r>
              <a:rPr lang="en-US" sz="1000" noProof="0" dirty="0" err="1">
                <a:solidFill>
                  <a:srgbClr val="1B2A3B"/>
                </a:solidFill>
              </a:rPr>
              <a:t>file_type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is_valid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Converts clean content into </a:t>
            </a:r>
            <a:r>
              <a:rPr lang="en-US" sz="1000" b="1" noProof="0" dirty="0">
                <a:solidFill>
                  <a:srgbClr val="1B2A3B"/>
                </a:solidFill>
              </a:rPr>
              <a:t>structured V2 documents</a:t>
            </a:r>
            <a:endParaRPr lang="en-US" sz="10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Creates features of </a:t>
            </a:r>
            <a:r>
              <a:rPr lang="en-US" sz="1000" b="1" noProof="0" dirty="0">
                <a:solidFill>
                  <a:srgbClr val="1B2A3B"/>
                </a:solidFill>
              </a:rPr>
              <a:t>f</a:t>
            </a:r>
            <a:r>
              <a:rPr lang="en-US" sz="1000" b="1" noProof="0" dirty="0"/>
              <a:t>iltering</a:t>
            </a:r>
            <a:r>
              <a:rPr lang="en-US" sz="1000" noProof="0" dirty="0">
                <a:solidFill>
                  <a:srgbClr val="1B2A3B"/>
                </a:solidFill>
              </a:rPr>
              <a:t> and </a:t>
            </a:r>
            <a:r>
              <a:rPr lang="en-US" sz="1000" b="1" noProof="0" dirty="0">
                <a:solidFill>
                  <a:srgbClr val="1B2A3B"/>
                </a:solidFill>
              </a:rPr>
              <a:t>ranking </a:t>
            </a:r>
            <a:r>
              <a:rPr lang="en-US" sz="1000" noProof="0" dirty="0">
                <a:solidFill>
                  <a:srgbClr val="1B2A3B"/>
                </a:solidFill>
              </a:rPr>
              <a:t>for information </a:t>
            </a:r>
            <a:r>
              <a:rPr lang="en-US" sz="1000" b="1" noProof="0" dirty="0">
                <a:solidFill>
                  <a:srgbClr val="1B2A3B"/>
                </a:solidFill>
              </a:rPr>
              <a:t>retrieval.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176868" y="397356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A8F74C4A-430C-CAF5-77A4-9205B4D44F33}"/>
              </a:ext>
            </a:extLst>
          </p:cNvPr>
          <p:cNvSpPr/>
          <p:nvPr/>
        </p:nvSpPr>
        <p:spPr>
          <a:xfrm>
            <a:off x="734758" y="16717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BC05F46F-151F-F0C4-A68C-2CB14DB4B6A0}"/>
              </a:ext>
            </a:extLst>
          </p:cNvPr>
          <p:cNvSpPr/>
          <p:nvPr/>
        </p:nvSpPr>
        <p:spPr>
          <a:xfrm>
            <a:off x="734758" y="16717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CDE73341-B076-6E27-A94C-27E0A30E8D1A}"/>
              </a:ext>
            </a:extLst>
          </p:cNvPr>
          <p:cNvSpPr/>
          <p:nvPr/>
        </p:nvSpPr>
        <p:spPr>
          <a:xfrm>
            <a:off x="734758" y="16717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FE18E62B-1654-E079-127A-F241DB0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970" y="1740065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2776A1AB-9753-99A6-B080-881A3971A1F4}"/>
              </a:ext>
            </a:extLst>
          </p:cNvPr>
          <p:cNvSpPr/>
          <p:nvPr/>
        </p:nvSpPr>
        <p:spPr>
          <a:xfrm>
            <a:off x="940498" y="21882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09862CD1-436A-68A0-76CB-7072CAD96D3B}"/>
              </a:ext>
            </a:extLst>
          </p:cNvPr>
          <p:cNvSpPr/>
          <p:nvPr/>
        </p:nvSpPr>
        <p:spPr>
          <a:xfrm>
            <a:off x="898460" y="26401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23A12CBB-2033-7E06-6FE3-AEE0B2DCE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900" y="2711995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48CBB1EE-3595-657F-DF4D-E43A745E0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729" y="2700420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2636F282-CB53-461F-ECE6-7607DA08055F}"/>
              </a:ext>
            </a:extLst>
          </p:cNvPr>
          <p:cNvSpPr/>
          <p:nvPr/>
        </p:nvSpPr>
        <p:spPr>
          <a:xfrm>
            <a:off x="3713773" y="16671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BCED4B9C-5296-2FC8-1CCE-CBE81EBF8C4F}"/>
              </a:ext>
            </a:extLst>
          </p:cNvPr>
          <p:cNvSpPr/>
          <p:nvPr/>
        </p:nvSpPr>
        <p:spPr>
          <a:xfrm>
            <a:off x="3719638" y="1677729"/>
            <a:ext cx="1410616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411DC018-F007-748D-8690-35DA890CF1F1}"/>
              </a:ext>
            </a:extLst>
          </p:cNvPr>
          <p:cNvSpPr/>
          <p:nvPr/>
        </p:nvSpPr>
        <p:spPr>
          <a:xfrm>
            <a:off x="3784313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B134E1B-E74C-3DDA-3BF2-D67A611F3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9235" y="1744382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91EB5982-49D5-0580-3DA3-AEC54B4CF034}"/>
              </a:ext>
            </a:extLst>
          </p:cNvPr>
          <p:cNvSpPr/>
          <p:nvPr/>
        </p:nvSpPr>
        <p:spPr>
          <a:xfrm>
            <a:off x="3795825" y="23148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33EB64D7-CDE1-A7B3-DE6C-6D85F4C64916}"/>
              </a:ext>
            </a:extLst>
          </p:cNvPr>
          <p:cNvSpPr/>
          <p:nvPr/>
        </p:nvSpPr>
        <p:spPr>
          <a:xfrm>
            <a:off x="3883261" y="2721936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A0047280-8BC5-D3EE-5680-FA146FCA5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209" y="269560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4FD3566B-E8C3-EF33-8018-CAC0C4ECA35D}"/>
              </a:ext>
            </a:extLst>
          </p:cNvPr>
          <p:cNvSpPr/>
          <p:nvPr/>
        </p:nvSpPr>
        <p:spPr>
          <a:xfrm>
            <a:off x="5315338" y="16777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C7FE758D-5D88-F082-7B6C-B15F94D173B6}"/>
              </a:ext>
            </a:extLst>
          </p:cNvPr>
          <p:cNvSpPr/>
          <p:nvPr/>
        </p:nvSpPr>
        <p:spPr>
          <a:xfrm>
            <a:off x="5328793" y="16623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AB71CC1F-C2E0-5951-A596-05B650AAFED7}"/>
              </a:ext>
            </a:extLst>
          </p:cNvPr>
          <p:cNvSpPr/>
          <p:nvPr/>
        </p:nvSpPr>
        <p:spPr>
          <a:xfrm>
            <a:off x="5328793" y="16623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E331599C-14A5-BD42-7344-ACA1F0BB86D0}"/>
              </a:ext>
            </a:extLst>
          </p:cNvPr>
          <p:cNvSpPr/>
          <p:nvPr/>
        </p:nvSpPr>
        <p:spPr>
          <a:xfrm>
            <a:off x="5515111" y="21858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90BE242D-8B18-122E-B5D6-FFBF8AF536DF}"/>
              </a:ext>
            </a:extLst>
          </p:cNvPr>
          <p:cNvSpPr/>
          <p:nvPr/>
        </p:nvSpPr>
        <p:spPr>
          <a:xfrm>
            <a:off x="5524592" y="25630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pic>
        <p:nvPicPr>
          <p:cNvPr id="86" name="Image 9" descr="preencoded.png">
            <a:extLst>
              <a:ext uri="{FF2B5EF4-FFF2-40B4-BE49-F238E27FC236}">
                <a16:creationId xmlns:a16="http://schemas.microsoft.com/office/drawing/2014/main" id="{D93BD149-DB4A-47EE-92A7-640F47E51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687" y="2706961"/>
            <a:ext cx="237744" cy="237744"/>
          </a:xfrm>
          <a:prstGeom prst="rect">
            <a:avLst/>
          </a:prstGeom>
        </p:spPr>
      </p:pic>
      <p:sp>
        <p:nvSpPr>
          <p:cNvPr id="94" name="Shape 35">
            <a:extLst>
              <a:ext uri="{FF2B5EF4-FFF2-40B4-BE49-F238E27FC236}">
                <a16:creationId xmlns:a16="http://schemas.microsoft.com/office/drawing/2014/main" id="{CA4177A9-DAE5-0B1A-398F-B79078F59C37}"/>
              </a:ext>
            </a:extLst>
          </p:cNvPr>
          <p:cNvSpPr/>
          <p:nvPr/>
        </p:nvSpPr>
        <p:spPr>
          <a:xfrm>
            <a:off x="8468466" y="168975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DF908C4B-86DF-3A1F-07E7-C9A3D431D28C}"/>
              </a:ext>
            </a:extLst>
          </p:cNvPr>
          <p:cNvSpPr/>
          <p:nvPr/>
        </p:nvSpPr>
        <p:spPr>
          <a:xfrm>
            <a:off x="8468466" y="1689760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67916F27-F5B2-2BA2-D385-A51620C80C8A}"/>
              </a:ext>
            </a:extLst>
          </p:cNvPr>
          <p:cNvSpPr/>
          <p:nvPr/>
        </p:nvSpPr>
        <p:spPr>
          <a:xfrm>
            <a:off x="8468466" y="168976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E444B0EF-1AB1-6624-9253-3FB5823BD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0833" y="1774829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ECCF46C6-84F9-EE16-08F0-F7E5FEC77F64}"/>
              </a:ext>
            </a:extLst>
          </p:cNvPr>
          <p:cNvSpPr/>
          <p:nvPr/>
        </p:nvSpPr>
        <p:spPr>
          <a:xfrm>
            <a:off x="8406052" y="230890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EBCE1514-EDDD-D127-262E-558005DF16D8}"/>
              </a:ext>
            </a:extLst>
          </p:cNvPr>
          <p:cNvSpPr/>
          <p:nvPr/>
        </p:nvSpPr>
        <p:spPr>
          <a:xfrm>
            <a:off x="8567456" y="26515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F3EC6765-3EFE-83CC-016F-5D16163909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0974" y="168975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65197C-424B-53DB-2DD9-B1734B4BC4A5}"/>
              </a:ext>
            </a:extLst>
          </p:cNvPr>
          <p:cNvSpPr/>
          <p:nvPr/>
        </p:nvSpPr>
        <p:spPr>
          <a:xfrm>
            <a:off x="6871296" y="16717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A517C57C-FF7E-767D-232D-32D8A2CE4CB3}"/>
              </a:ext>
            </a:extLst>
          </p:cNvPr>
          <p:cNvSpPr/>
          <p:nvPr/>
        </p:nvSpPr>
        <p:spPr>
          <a:xfrm>
            <a:off x="6871295" y="16671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437FB5CC-D618-CD1B-EAC6-E4B7349457A8}"/>
              </a:ext>
            </a:extLst>
          </p:cNvPr>
          <p:cNvSpPr/>
          <p:nvPr/>
        </p:nvSpPr>
        <p:spPr>
          <a:xfrm>
            <a:off x="6945937" y="16671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118EB8CA-2F96-9294-9C71-19BB9BEA1A28}"/>
              </a:ext>
            </a:extLst>
          </p:cNvPr>
          <p:cNvSpPr/>
          <p:nvPr/>
        </p:nvSpPr>
        <p:spPr>
          <a:xfrm>
            <a:off x="7132255" y="21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CF7F0E14-CC2E-7A20-BC39-E40A3704A886}"/>
              </a:ext>
            </a:extLst>
          </p:cNvPr>
          <p:cNvSpPr/>
          <p:nvPr/>
        </p:nvSpPr>
        <p:spPr>
          <a:xfrm>
            <a:off x="7132255" y="27004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AF165D3E-6FB8-64DB-312B-A3EC83749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9520" y="169146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25E48A0-8C7F-57BF-3E92-19A1F9064AAB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120501" y="26577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98C4DBD-22AF-353C-D591-FFE09050BB54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 flipV="1">
            <a:off x="6712776" y="26622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5E5E2C5C-14C4-CDF4-4296-58C8E3410761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268734" y="2662293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D0705FA-7076-8DDB-9F86-4E54D17C41B5}"/>
              </a:ext>
            </a:extLst>
          </p:cNvPr>
          <p:cNvCxnSpPr>
            <a:cxnSpLocks/>
          </p:cNvCxnSpPr>
          <p:nvPr/>
        </p:nvCxnSpPr>
        <p:spPr>
          <a:xfrm>
            <a:off x="9691461" y="268464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BBE3677A-6402-EB3A-41A2-465B18C72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641" y="272474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2D471CFF-5307-20A7-B7B5-B9161913ABFD}"/>
              </a:ext>
            </a:extLst>
          </p:cNvPr>
          <p:cNvSpPr/>
          <p:nvPr/>
        </p:nvSpPr>
        <p:spPr>
          <a:xfrm>
            <a:off x="2175158" y="16691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660F1349-140D-9ADF-212C-A58C426E0C00}"/>
              </a:ext>
            </a:extLst>
          </p:cNvPr>
          <p:cNvSpPr/>
          <p:nvPr/>
        </p:nvSpPr>
        <p:spPr>
          <a:xfrm>
            <a:off x="2175158" y="16691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23119BCD-29FE-395C-E5DE-40413C92EB86}"/>
              </a:ext>
            </a:extLst>
          </p:cNvPr>
          <p:cNvSpPr/>
          <p:nvPr/>
        </p:nvSpPr>
        <p:spPr>
          <a:xfrm>
            <a:off x="2175158" y="16691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7934CC14-45AA-B69E-37CD-A1B5B4470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9292" y="173477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9492C1-4323-8C7E-E061-C571D263568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039540" y="26561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5DBC20A-8ED4-2435-1424-61C0EA4549C4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587906" y="26561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9C9CA-9432-19C2-E716-CC717643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40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5C4098A-9059-BA24-FF76-770C1898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761" y="1814983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2C39D9E4-E296-D9B4-DE43-2171A83F301C}"/>
              </a:ext>
            </a:extLst>
          </p:cNvPr>
          <p:cNvSpPr/>
          <p:nvPr/>
        </p:nvSpPr>
        <p:spPr>
          <a:xfrm>
            <a:off x="9854064" y="1686500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31">
            <a:extLst>
              <a:ext uri="{FF2B5EF4-FFF2-40B4-BE49-F238E27FC236}">
                <a16:creationId xmlns:a16="http://schemas.microsoft.com/office/drawing/2014/main" id="{7898F43E-1996-CA23-E0CF-C56FA98AC46C}"/>
              </a:ext>
            </a:extLst>
          </p:cNvPr>
          <p:cNvSpPr/>
          <p:nvPr/>
        </p:nvSpPr>
        <p:spPr>
          <a:xfrm>
            <a:off x="9854064" y="1686501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C3C9ABB-77BF-9C9A-8D3A-6265FF20F4DE}"/>
              </a:ext>
            </a:extLst>
          </p:cNvPr>
          <p:cNvSpPr/>
          <p:nvPr/>
        </p:nvSpPr>
        <p:spPr>
          <a:xfrm>
            <a:off x="9854064" y="16865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b="1" noProof="0" dirty="0">
              <a:solidFill>
                <a:srgbClr val="0D9488"/>
              </a:solidFill>
            </a:endParaRPr>
          </a:p>
        </p:txBody>
      </p:sp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88D780E2-4612-AAD9-2B14-0E9ED94BA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7222" y="1779488"/>
            <a:ext cx="263059" cy="263059"/>
          </a:xfrm>
          <a:prstGeom prst="rect">
            <a:avLst/>
          </a:prstGeom>
        </p:spPr>
      </p:pic>
      <p:sp>
        <p:nvSpPr>
          <p:cNvPr id="17" name="Text 33">
            <a:extLst>
              <a:ext uri="{FF2B5EF4-FFF2-40B4-BE49-F238E27FC236}">
                <a16:creationId xmlns:a16="http://schemas.microsoft.com/office/drawing/2014/main" id="{7E61756D-99DF-B085-32AC-C79E34390AFF}"/>
              </a:ext>
            </a:extLst>
          </p:cNvPr>
          <p:cNvSpPr/>
          <p:nvPr/>
        </p:nvSpPr>
        <p:spPr>
          <a:xfrm>
            <a:off x="10049863" y="226465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473B7BE8-AEEE-9452-B15D-7865D67CD3CC}"/>
              </a:ext>
            </a:extLst>
          </p:cNvPr>
          <p:cNvSpPr/>
          <p:nvPr/>
        </p:nvSpPr>
        <p:spPr>
          <a:xfrm>
            <a:off x="10068866" y="27858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1" name="Image 11" descr="preencoded.png">
            <a:extLst>
              <a:ext uri="{FF2B5EF4-FFF2-40B4-BE49-F238E27FC236}">
                <a16:creationId xmlns:a16="http://schemas.microsoft.com/office/drawing/2014/main" id="{DD9A9431-A90C-94DE-D223-884A3D941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7064" y="2719773"/>
            <a:ext cx="237744" cy="237744"/>
          </a:xfrm>
          <a:prstGeom prst="rect">
            <a:avLst/>
          </a:prstGeom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1B5A609E-5B8E-4532-2FD5-5C32054D6E81}"/>
              </a:ext>
            </a:extLst>
          </p:cNvPr>
          <p:cNvSpPr/>
          <p:nvPr/>
        </p:nvSpPr>
        <p:spPr>
          <a:xfrm>
            <a:off x="2414085" y="231282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7D236E30-1A4D-795F-9947-3E0A5A25BB72}"/>
              </a:ext>
            </a:extLst>
          </p:cNvPr>
          <p:cNvSpPr/>
          <p:nvPr/>
        </p:nvSpPr>
        <p:spPr>
          <a:xfrm>
            <a:off x="2321186" y="259175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9" name="rr">
            <a:extLst>
              <a:ext uri="{FF2B5EF4-FFF2-40B4-BE49-F238E27FC236}">
                <a16:creationId xmlns:a16="http://schemas.microsoft.com/office/drawing/2014/main" id="{18E7A11F-0016-3593-F1E9-6A47CC224828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b">
            <a:extLst>
              <a:ext uri="{FF2B5EF4-FFF2-40B4-BE49-F238E27FC236}">
                <a16:creationId xmlns:a16="http://schemas.microsoft.com/office/drawing/2014/main" id="{629866BA-E3B4-4B96-3158-9EEC7CF6ABAC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EB634-AFD7-B2B4-76BE-ABF6D2FA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41</a:t>
            </a:fld>
            <a:endParaRPr lang="en-US" noProof="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DDAA0414-0C1D-548B-43C7-45D0334F3401}"/>
              </a:ext>
            </a:extLst>
          </p:cNvPr>
          <p:cNvSpPr/>
          <p:nvPr/>
        </p:nvSpPr>
        <p:spPr>
          <a:xfrm>
            <a:off x="242477" y="1268038"/>
            <a:ext cx="4937802" cy="516688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7E8C7079-FC2C-E2FE-94B3-7A8E337EFB41}"/>
              </a:ext>
            </a:extLst>
          </p:cNvPr>
          <p:cNvSpPr/>
          <p:nvPr/>
        </p:nvSpPr>
        <p:spPr>
          <a:xfrm>
            <a:off x="6286631" y="1268036"/>
            <a:ext cx="5323630" cy="516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noProof="0" dirty="0"/>
          </a:p>
        </p:txBody>
      </p:sp>
      <p:pic>
        <p:nvPicPr>
          <p:cNvPr id="64" name="Graphic 82" descr="Arrow Right with solid fill">
            <a:extLst>
              <a:ext uri="{FF2B5EF4-FFF2-40B4-BE49-F238E27FC236}">
                <a16:creationId xmlns:a16="http://schemas.microsoft.com/office/drawing/2014/main" id="{6402D304-566B-BCE1-1157-EC1154591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5521" y="3472404"/>
            <a:ext cx="431535" cy="431535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5A9B30EB-0968-AFB4-4BF6-593E54F832F9}"/>
              </a:ext>
            </a:extLst>
          </p:cNvPr>
          <p:cNvSpPr txBox="1"/>
          <p:nvPr/>
        </p:nvSpPr>
        <p:spPr>
          <a:xfrm>
            <a:off x="1478206" y="1358493"/>
            <a:ext cx="246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Before</a:t>
            </a:r>
            <a:r>
              <a:rPr lang="en-US" sz="1400" noProof="0" dirty="0"/>
              <a:t> (</a:t>
            </a:r>
            <a:r>
              <a:rPr lang="en-US" sz="1400" noProof="0" dirty="0" err="1"/>
              <a:t>clean_issues.json</a:t>
            </a:r>
            <a:r>
              <a:rPr lang="en-US" sz="1400" noProof="0" dirty="0"/>
              <a:t>)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C0A05CAF-DD16-BD48-0D4D-7141AFA35427}"/>
              </a:ext>
            </a:extLst>
          </p:cNvPr>
          <p:cNvSpPr txBox="1"/>
          <p:nvPr/>
        </p:nvSpPr>
        <p:spPr>
          <a:xfrm>
            <a:off x="7816219" y="1358493"/>
            <a:ext cx="3013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After</a:t>
            </a:r>
            <a:r>
              <a:rPr lang="en-US" sz="1400" noProof="0" dirty="0"/>
              <a:t> (docs_issues_v2.json)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D432AD4-AC7A-59DB-76CF-580F453D83CD}"/>
              </a:ext>
            </a:extLst>
          </p:cNvPr>
          <p:cNvSpPr txBox="1"/>
          <p:nvPr/>
        </p:nvSpPr>
        <p:spPr>
          <a:xfrm>
            <a:off x="242477" y="5079205"/>
            <a:ext cx="33269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>
                <a:sym typeface="Wingdings" panose="05000000000000000000" pitchFamily="2" charset="2"/>
              </a:rPr>
              <a:t> </a:t>
            </a:r>
            <a:r>
              <a:rPr lang="en-US" sz="1600" b="1" noProof="0" dirty="0"/>
              <a:t>Cleaning step output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311FA8-8E26-BBCB-88D6-A08006109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38" r="2439" b="667"/>
          <a:stretch>
            <a:fillRect/>
          </a:stretch>
        </p:blipFill>
        <p:spPr>
          <a:xfrm>
            <a:off x="6286630" y="1946743"/>
            <a:ext cx="5359974" cy="4676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A29C32-FAAE-F1D0-C8AC-79859BCED2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143"/>
          <a:stretch>
            <a:fillRect/>
          </a:stretch>
        </p:blipFill>
        <p:spPr>
          <a:xfrm>
            <a:off x="242477" y="2446981"/>
            <a:ext cx="5196298" cy="2482382"/>
          </a:xfrm>
          <a:prstGeom prst="rect">
            <a:avLst/>
          </a:prstGeom>
        </p:spPr>
      </p:pic>
      <p:sp>
        <p:nvSpPr>
          <p:cNvPr id="4" name="rr">
            <a:extLst>
              <a:ext uri="{FF2B5EF4-FFF2-40B4-BE49-F238E27FC236}">
                <a16:creationId xmlns:a16="http://schemas.microsoft.com/office/drawing/2014/main" id="{1E7BF13E-5E1C-B266-C441-4F0453335C3A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3829F47F-18FD-B466-D9BD-3D9D88B712BF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A1BB-0B45-89E2-A6BA-D557D8BC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D775-9B0D-8FBF-6C63-A5FCAED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Enrichment (Feature Engineering)    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E846190-5E35-621D-547C-7F316AFD1924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0E9895-84E2-66A0-86E3-4D23D729C0F4}"/>
              </a:ext>
            </a:extLst>
          </p:cNvPr>
          <p:cNvSpPr/>
          <p:nvPr/>
        </p:nvSpPr>
        <p:spPr>
          <a:xfrm>
            <a:off x="340364" y="104658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C57C3-7748-EBAA-4635-3604E975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42</a:t>
            </a:fld>
            <a:endParaRPr lang="en-US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D620C9-0BD7-09A8-CE0C-25471034B5FE}"/>
              </a:ext>
            </a:extLst>
          </p:cNvPr>
          <p:cNvSpPr txBox="1"/>
          <p:nvPr/>
        </p:nvSpPr>
        <p:spPr>
          <a:xfrm>
            <a:off x="473041" y="1379169"/>
            <a:ext cx="10057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Adds the metadata that makes documents filterable, 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</a:rPr>
              <a:t>rankable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, and searchable</a:t>
            </a:r>
          </a:p>
        </p:txBody>
      </p:sp>
      <p:sp>
        <p:nvSpPr>
          <p:cNvPr id="163" name="Shape 4">
            <a:extLst>
              <a:ext uri="{FF2B5EF4-FFF2-40B4-BE49-F238E27FC236}">
                <a16:creationId xmlns:a16="http://schemas.microsoft.com/office/drawing/2014/main" id="{E4B9325F-313A-E965-0EAD-009C183E3D4B}"/>
              </a:ext>
            </a:extLst>
          </p:cNvPr>
          <p:cNvSpPr/>
          <p:nvPr/>
        </p:nvSpPr>
        <p:spPr>
          <a:xfrm>
            <a:off x="42672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5" name="Shape 5">
            <a:extLst>
              <a:ext uri="{FF2B5EF4-FFF2-40B4-BE49-F238E27FC236}">
                <a16:creationId xmlns:a16="http://schemas.microsoft.com/office/drawing/2014/main" id="{9126F979-69B1-3D75-B487-9F1F2257698F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7" name="Text 6">
            <a:extLst>
              <a:ext uri="{FF2B5EF4-FFF2-40B4-BE49-F238E27FC236}">
                <a16:creationId xmlns:a16="http://schemas.microsoft.com/office/drawing/2014/main" id="{865CCC26-D1D8-1671-413A-0874DC241B77}"/>
              </a:ext>
            </a:extLst>
          </p:cNvPr>
          <p:cNvSpPr/>
          <p:nvPr/>
        </p:nvSpPr>
        <p:spPr>
          <a:xfrm>
            <a:off x="60960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69" name="Shape 7">
            <a:extLst>
              <a:ext uri="{FF2B5EF4-FFF2-40B4-BE49-F238E27FC236}">
                <a16:creationId xmlns:a16="http://schemas.microsoft.com/office/drawing/2014/main" id="{D7FC1B5A-CCDF-A4C1-880D-FDBBB6BDBC3D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1" name="Text 8">
            <a:extLst>
              <a:ext uri="{FF2B5EF4-FFF2-40B4-BE49-F238E27FC236}">
                <a16:creationId xmlns:a16="http://schemas.microsoft.com/office/drawing/2014/main" id="{59DEA5D4-AF85-7325-E4DF-72371A855BE0}"/>
              </a:ext>
            </a:extLst>
          </p:cNvPr>
          <p:cNvSpPr/>
          <p:nvPr/>
        </p:nvSpPr>
        <p:spPr>
          <a:xfrm>
            <a:off x="306324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100" dirty="0"/>
          </a:p>
        </p:txBody>
      </p:sp>
      <p:sp>
        <p:nvSpPr>
          <p:cNvPr id="173" name="Text 9">
            <a:extLst>
              <a:ext uri="{FF2B5EF4-FFF2-40B4-BE49-F238E27FC236}">
                <a16:creationId xmlns:a16="http://schemas.microsoft.com/office/drawing/2014/main" id="{E53229A3-0F7C-B3DD-CCD3-0717E2C58CDF}"/>
              </a:ext>
            </a:extLst>
          </p:cNvPr>
          <p:cNvSpPr/>
          <p:nvPr/>
        </p:nvSpPr>
        <p:spPr>
          <a:xfrm>
            <a:off x="60960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HAL, BSP, CMSIS, Middleware, Application</a:t>
            </a:r>
            <a:endParaRPr lang="en-US" sz="1150" dirty="0"/>
          </a:p>
        </p:txBody>
      </p:sp>
      <p:sp>
        <p:nvSpPr>
          <p:cNvPr id="175" name="Text 10">
            <a:extLst>
              <a:ext uri="{FF2B5EF4-FFF2-40B4-BE49-F238E27FC236}">
                <a16:creationId xmlns:a16="http://schemas.microsoft.com/office/drawing/2014/main" id="{0E87B297-386D-E238-8550-2D61A333551D}"/>
              </a:ext>
            </a:extLst>
          </p:cNvPr>
          <p:cNvSpPr/>
          <p:nvPr/>
        </p:nvSpPr>
        <p:spPr>
          <a:xfrm>
            <a:off x="60960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prefixes (HAL_, LL_, MX_) + keywords</a:t>
            </a:r>
            <a:endParaRPr lang="en-US" sz="1000" dirty="0"/>
          </a:p>
        </p:txBody>
      </p:sp>
      <p:sp>
        <p:nvSpPr>
          <p:cNvPr id="177" name="Shape 11">
            <a:extLst>
              <a:ext uri="{FF2B5EF4-FFF2-40B4-BE49-F238E27FC236}">
                <a16:creationId xmlns:a16="http://schemas.microsoft.com/office/drawing/2014/main" id="{6532B69A-EC85-8EAA-E3E3-29099EA1CFFC}"/>
              </a:ext>
            </a:extLst>
          </p:cNvPr>
          <p:cNvSpPr/>
          <p:nvPr/>
        </p:nvSpPr>
        <p:spPr>
          <a:xfrm>
            <a:off x="425196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9" name="Shape 12">
            <a:extLst>
              <a:ext uri="{FF2B5EF4-FFF2-40B4-BE49-F238E27FC236}">
                <a16:creationId xmlns:a16="http://schemas.microsoft.com/office/drawing/2014/main" id="{7A42FA16-7514-7C7A-F94C-BDA2E33585B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1" name="Text 13">
            <a:extLst>
              <a:ext uri="{FF2B5EF4-FFF2-40B4-BE49-F238E27FC236}">
                <a16:creationId xmlns:a16="http://schemas.microsoft.com/office/drawing/2014/main" id="{21DAFFC9-3C58-C95B-9767-A0E3975EA2E8}"/>
              </a:ext>
            </a:extLst>
          </p:cNvPr>
          <p:cNvSpPr/>
          <p:nvPr/>
        </p:nvSpPr>
        <p:spPr>
          <a:xfrm>
            <a:off x="443484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83" name="Shape 14">
            <a:extLst>
              <a:ext uri="{FF2B5EF4-FFF2-40B4-BE49-F238E27FC236}">
                <a16:creationId xmlns:a16="http://schemas.microsoft.com/office/drawing/2014/main" id="{1701FE63-2FB6-4396-1624-12B0C6A64A8B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5" name="Text 15">
            <a:extLst>
              <a:ext uri="{FF2B5EF4-FFF2-40B4-BE49-F238E27FC236}">
                <a16:creationId xmlns:a16="http://schemas.microsoft.com/office/drawing/2014/main" id="{4AA59C2C-A070-AB36-2576-736B0419FD6E}"/>
              </a:ext>
            </a:extLst>
          </p:cNvPr>
          <p:cNvSpPr/>
          <p:nvPr/>
        </p:nvSpPr>
        <p:spPr>
          <a:xfrm>
            <a:off x="688848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1100" dirty="0"/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18A8CB91-F9AC-AAAD-CE78-ECC10B3B01C6}"/>
              </a:ext>
            </a:extLst>
          </p:cNvPr>
          <p:cNvSpPr/>
          <p:nvPr/>
        </p:nvSpPr>
        <p:spPr>
          <a:xfrm>
            <a:off x="443484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SPI, I2C, UART, DMA, USB, FDCAN, …</a:t>
            </a:r>
            <a:endParaRPr lang="en-US" sz="1150" dirty="0"/>
          </a:p>
        </p:txBody>
      </p:sp>
      <p:sp>
        <p:nvSpPr>
          <p:cNvPr id="189" name="Text 17">
            <a:extLst>
              <a:ext uri="{FF2B5EF4-FFF2-40B4-BE49-F238E27FC236}">
                <a16:creationId xmlns:a16="http://schemas.microsoft.com/office/drawing/2014/main" id="{C01EDC57-C000-D23F-B463-87F2B523773B}"/>
              </a:ext>
            </a:extLst>
          </p:cNvPr>
          <p:cNvSpPr/>
          <p:nvPr/>
        </p:nvSpPr>
        <p:spPr>
          <a:xfrm>
            <a:off x="443484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regex on title/body</a:t>
            </a:r>
            <a:endParaRPr lang="en-US" sz="1000" dirty="0"/>
          </a:p>
        </p:txBody>
      </p:sp>
      <p:sp>
        <p:nvSpPr>
          <p:cNvPr id="191" name="Shape 18">
            <a:extLst>
              <a:ext uri="{FF2B5EF4-FFF2-40B4-BE49-F238E27FC236}">
                <a16:creationId xmlns:a16="http://schemas.microsoft.com/office/drawing/2014/main" id="{A5249805-06D9-6BEB-328A-372EED3F0173}"/>
              </a:ext>
            </a:extLst>
          </p:cNvPr>
          <p:cNvSpPr/>
          <p:nvPr/>
        </p:nvSpPr>
        <p:spPr>
          <a:xfrm>
            <a:off x="8077200" y="1822922"/>
            <a:ext cx="3688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3" name="Shape 19">
            <a:extLst>
              <a:ext uri="{FF2B5EF4-FFF2-40B4-BE49-F238E27FC236}">
                <a16:creationId xmlns:a16="http://schemas.microsoft.com/office/drawing/2014/main" id="{611DA9CE-0FFC-BDC6-FE70-23F2F541D3EA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5" name="Text 20">
            <a:extLst>
              <a:ext uri="{FF2B5EF4-FFF2-40B4-BE49-F238E27FC236}">
                <a16:creationId xmlns:a16="http://schemas.microsoft.com/office/drawing/2014/main" id="{FDC64A27-5E2A-ADB7-B383-11CCAF08AF57}"/>
              </a:ext>
            </a:extLst>
          </p:cNvPr>
          <p:cNvSpPr/>
          <p:nvPr/>
        </p:nvSpPr>
        <p:spPr>
          <a:xfrm>
            <a:off x="8260080" y="200580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197" name="Shape 21">
            <a:extLst>
              <a:ext uri="{FF2B5EF4-FFF2-40B4-BE49-F238E27FC236}">
                <a16:creationId xmlns:a16="http://schemas.microsoft.com/office/drawing/2014/main" id="{7EECD5BF-70BA-7D28-0EC8-98BD24867EAC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9" name="Text 22">
            <a:extLst>
              <a:ext uri="{FF2B5EF4-FFF2-40B4-BE49-F238E27FC236}">
                <a16:creationId xmlns:a16="http://schemas.microsoft.com/office/drawing/2014/main" id="{72F5069A-BFF8-4479-0772-0A865B35E6A8}"/>
              </a:ext>
            </a:extLst>
          </p:cNvPr>
          <p:cNvSpPr/>
          <p:nvPr/>
        </p:nvSpPr>
        <p:spPr>
          <a:xfrm>
            <a:off x="10713720" y="2005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100" dirty="0"/>
          </a:p>
        </p:txBody>
      </p:sp>
      <p:sp>
        <p:nvSpPr>
          <p:cNvPr id="201" name="Text 23">
            <a:extLst>
              <a:ext uri="{FF2B5EF4-FFF2-40B4-BE49-F238E27FC236}">
                <a16:creationId xmlns:a16="http://schemas.microsoft.com/office/drawing/2014/main" id="{DE56104A-04FC-798D-7516-65B30CF6A3EA}"/>
              </a:ext>
            </a:extLst>
          </p:cNvPr>
          <p:cNvSpPr/>
          <p:nvPr/>
        </p:nvSpPr>
        <p:spPr>
          <a:xfrm>
            <a:off x="8260080" y="237156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NUCLEO-H743ZI, STM32H750B-DK, …</a:t>
            </a:r>
            <a:endParaRPr lang="en-US" sz="1150" dirty="0"/>
          </a:p>
        </p:txBody>
      </p:sp>
      <p:sp>
        <p:nvSpPr>
          <p:cNvPr id="203" name="Text 24">
            <a:extLst>
              <a:ext uri="{FF2B5EF4-FFF2-40B4-BE49-F238E27FC236}">
                <a16:creationId xmlns:a16="http://schemas.microsoft.com/office/drawing/2014/main" id="{CF0B776B-8186-D67F-A670-8D1C18CD4E97}"/>
              </a:ext>
            </a:extLst>
          </p:cNvPr>
          <p:cNvSpPr/>
          <p:nvPr/>
        </p:nvSpPr>
        <p:spPr>
          <a:xfrm>
            <a:off x="8260080" y="282876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board patterns + fallback</a:t>
            </a:r>
            <a:endParaRPr lang="en-US" sz="1000" dirty="0"/>
          </a:p>
        </p:txBody>
      </p:sp>
      <p:sp>
        <p:nvSpPr>
          <p:cNvPr id="205" name="Shape 25">
            <a:extLst>
              <a:ext uri="{FF2B5EF4-FFF2-40B4-BE49-F238E27FC236}">
                <a16:creationId xmlns:a16="http://schemas.microsoft.com/office/drawing/2014/main" id="{74FC6BE4-CFE5-A435-D1F9-1500231EF5B7}"/>
              </a:ext>
            </a:extLst>
          </p:cNvPr>
          <p:cNvSpPr/>
          <p:nvPr/>
        </p:nvSpPr>
        <p:spPr>
          <a:xfrm>
            <a:off x="42672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7" name="Shape 26">
            <a:extLst>
              <a:ext uri="{FF2B5EF4-FFF2-40B4-BE49-F238E27FC236}">
                <a16:creationId xmlns:a16="http://schemas.microsoft.com/office/drawing/2014/main" id="{75002C06-6556-E804-1C7A-A9B72EE472F2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9" name="Text 27">
            <a:extLst>
              <a:ext uri="{FF2B5EF4-FFF2-40B4-BE49-F238E27FC236}">
                <a16:creationId xmlns:a16="http://schemas.microsoft.com/office/drawing/2014/main" id="{D8DD1578-6FF6-6DC9-5FCD-B6AE574F2914}"/>
              </a:ext>
            </a:extLst>
          </p:cNvPr>
          <p:cNvSpPr/>
          <p:nvPr/>
        </p:nvSpPr>
        <p:spPr>
          <a:xfrm>
            <a:off x="60960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11" name="Shape 28">
            <a:extLst>
              <a:ext uri="{FF2B5EF4-FFF2-40B4-BE49-F238E27FC236}">
                <a16:creationId xmlns:a16="http://schemas.microsoft.com/office/drawing/2014/main" id="{5C7AA33A-FD16-C33C-32DB-1C044D779C19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3" name="Text 29">
            <a:extLst>
              <a:ext uri="{FF2B5EF4-FFF2-40B4-BE49-F238E27FC236}">
                <a16:creationId xmlns:a16="http://schemas.microsoft.com/office/drawing/2014/main" id="{FD8B3E9D-3684-C8EC-6007-C77E8E84DADE}"/>
              </a:ext>
            </a:extLst>
          </p:cNvPr>
          <p:cNvSpPr/>
          <p:nvPr/>
        </p:nvSpPr>
        <p:spPr>
          <a:xfrm>
            <a:off x="306324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15" name="Text 30">
            <a:extLst>
              <a:ext uri="{FF2B5EF4-FFF2-40B4-BE49-F238E27FC236}">
                <a16:creationId xmlns:a16="http://schemas.microsoft.com/office/drawing/2014/main" id="{70E465AE-B671-6D0D-5E1F-38704734DAA2}"/>
              </a:ext>
            </a:extLst>
          </p:cNvPr>
          <p:cNvSpPr/>
          <p:nvPr/>
        </p:nvSpPr>
        <p:spPr>
          <a:xfrm>
            <a:off x="60960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· Medium · Low</a:t>
            </a:r>
            <a:endParaRPr lang="en-US" sz="1150" dirty="0"/>
          </a:p>
        </p:txBody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0A2251FA-828A-72AA-6A7B-899FB608F7F2}"/>
              </a:ext>
            </a:extLst>
          </p:cNvPr>
          <p:cNvSpPr/>
          <p:nvPr/>
        </p:nvSpPr>
        <p:spPr>
          <a:xfrm>
            <a:off x="60960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HardFault, freeze → High; typos → Low</a:t>
            </a:r>
            <a:endParaRPr lang="en-US" sz="1000" dirty="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1D12F3DA-34F6-553D-B78F-9F2594E9C889}"/>
              </a:ext>
            </a:extLst>
          </p:cNvPr>
          <p:cNvSpPr/>
          <p:nvPr/>
        </p:nvSpPr>
        <p:spPr>
          <a:xfrm>
            <a:off x="425196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1" name="Shape 33">
            <a:extLst>
              <a:ext uri="{FF2B5EF4-FFF2-40B4-BE49-F238E27FC236}">
                <a16:creationId xmlns:a16="http://schemas.microsoft.com/office/drawing/2014/main" id="{F6A71A45-4534-39D8-7F7F-72F0A76C253E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3" name="Text 34">
            <a:extLst>
              <a:ext uri="{FF2B5EF4-FFF2-40B4-BE49-F238E27FC236}">
                <a16:creationId xmlns:a16="http://schemas.microsoft.com/office/drawing/2014/main" id="{C0D903C9-B12A-0066-07FD-D748C5747D90}"/>
              </a:ext>
            </a:extLst>
          </p:cNvPr>
          <p:cNvSpPr/>
          <p:nvPr/>
        </p:nvSpPr>
        <p:spPr>
          <a:xfrm>
            <a:off x="443484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issue_kind</a:t>
            </a:r>
            <a:endParaRPr lang="en-US" sz="1100" dirty="0"/>
          </a:p>
        </p:txBody>
      </p:sp>
      <p:sp>
        <p:nvSpPr>
          <p:cNvPr id="225" name="Text 35">
            <a:extLst>
              <a:ext uri="{FF2B5EF4-FFF2-40B4-BE49-F238E27FC236}">
                <a16:creationId xmlns:a16="http://schemas.microsoft.com/office/drawing/2014/main" id="{10CE9427-B794-121F-EE18-64565C6391CF}"/>
              </a:ext>
            </a:extLst>
          </p:cNvPr>
          <p:cNvSpPr/>
          <p:nvPr/>
        </p:nvSpPr>
        <p:spPr>
          <a:xfrm>
            <a:off x="443484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bug_report · question · doc_issue · config</a:t>
            </a:r>
            <a:endParaRPr lang="en-US" sz="1150" dirty="0"/>
          </a:p>
        </p:txBody>
      </p:sp>
      <p:sp>
        <p:nvSpPr>
          <p:cNvPr id="227" name="Text 36">
            <a:extLst>
              <a:ext uri="{FF2B5EF4-FFF2-40B4-BE49-F238E27FC236}">
                <a16:creationId xmlns:a16="http://schemas.microsoft.com/office/drawing/2014/main" id="{EBADD82F-D33E-9367-907B-D253A3C5A9C1}"/>
              </a:ext>
            </a:extLst>
          </p:cNvPr>
          <p:cNvSpPr/>
          <p:nvPr/>
        </p:nvSpPr>
        <p:spPr>
          <a:xfrm>
            <a:off x="443484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heuristic patterns</a:t>
            </a:r>
            <a:endParaRPr lang="en-US" sz="1000" dirty="0"/>
          </a:p>
        </p:txBody>
      </p:sp>
      <p:sp>
        <p:nvSpPr>
          <p:cNvPr id="229" name="Shape 37">
            <a:extLst>
              <a:ext uri="{FF2B5EF4-FFF2-40B4-BE49-F238E27FC236}">
                <a16:creationId xmlns:a16="http://schemas.microsoft.com/office/drawing/2014/main" id="{D99B339D-0DC7-ABFA-FA5C-CA8236918315}"/>
              </a:ext>
            </a:extLst>
          </p:cNvPr>
          <p:cNvSpPr/>
          <p:nvPr/>
        </p:nvSpPr>
        <p:spPr>
          <a:xfrm>
            <a:off x="8077200" y="3331682"/>
            <a:ext cx="36880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1" name="Shape 38">
            <a:extLst>
              <a:ext uri="{FF2B5EF4-FFF2-40B4-BE49-F238E27FC236}">
                <a16:creationId xmlns:a16="http://schemas.microsoft.com/office/drawing/2014/main" id="{03DA0DA1-5EF5-05AA-663B-7CAACDF9C09F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3" name="Text 39">
            <a:extLst>
              <a:ext uri="{FF2B5EF4-FFF2-40B4-BE49-F238E27FC236}">
                <a16:creationId xmlns:a16="http://schemas.microsoft.com/office/drawing/2014/main" id="{443767C1-F481-B07E-696D-F2C6E4FAC31A}"/>
              </a:ext>
            </a:extLst>
          </p:cNvPr>
          <p:cNvSpPr/>
          <p:nvPr/>
        </p:nvSpPr>
        <p:spPr>
          <a:xfrm>
            <a:off x="8260080" y="351456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en-US" sz="1100" dirty="0"/>
          </a:p>
        </p:txBody>
      </p:sp>
      <p:sp>
        <p:nvSpPr>
          <p:cNvPr id="235" name="Shape 40">
            <a:extLst>
              <a:ext uri="{FF2B5EF4-FFF2-40B4-BE49-F238E27FC236}">
                <a16:creationId xmlns:a16="http://schemas.microsoft.com/office/drawing/2014/main" id="{9391BEC2-18AF-E89E-F872-E875E40A4EA6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7" name="Text 41">
            <a:extLst>
              <a:ext uri="{FF2B5EF4-FFF2-40B4-BE49-F238E27FC236}">
                <a16:creationId xmlns:a16="http://schemas.microsoft.com/office/drawing/2014/main" id="{683D6158-9CCF-B782-DA25-CF4FCA28DE4F}"/>
              </a:ext>
            </a:extLst>
          </p:cNvPr>
          <p:cNvSpPr/>
          <p:nvPr/>
        </p:nvSpPr>
        <p:spPr>
          <a:xfrm>
            <a:off x="10713720" y="351456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100" dirty="0"/>
          </a:p>
        </p:txBody>
      </p:sp>
      <p:sp>
        <p:nvSpPr>
          <p:cNvPr id="239" name="Text 42">
            <a:extLst>
              <a:ext uri="{FF2B5EF4-FFF2-40B4-BE49-F238E27FC236}">
                <a16:creationId xmlns:a16="http://schemas.microsoft.com/office/drawing/2014/main" id="{C3A5CB41-0A13-56DB-35B4-763EF59262CB}"/>
              </a:ext>
            </a:extLst>
          </p:cNvPr>
          <p:cNvSpPr/>
          <p:nvPr/>
        </p:nvSpPr>
        <p:spPr>
          <a:xfrm>
            <a:off x="8260080" y="388032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241" name="Text 43">
            <a:extLst>
              <a:ext uri="{FF2B5EF4-FFF2-40B4-BE49-F238E27FC236}">
                <a16:creationId xmlns:a16="http://schemas.microsoft.com/office/drawing/2014/main" id="{C6BB17A9-699D-F980-85C2-C9D1308623B1}"/>
              </a:ext>
            </a:extLst>
          </p:cNvPr>
          <p:cNvSpPr/>
          <p:nvPr/>
        </p:nvSpPr>
        <p:spPr>
          <a:xfrm>
            <a:off x="8260080" y="4337522"/>
            <a:ext cx="332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+ bot/spam/duplicate filters</a:t>
            </a:r>
            <a:endParaRPr lang="en-US" sz="1000" dirty="0"/>
          </a:p>
        </p:txBody>
      </p:sp>
      <p:sp>
        <p:nvSpPr>
          <p:cNvPr id="243" name="Shape 44">
            <a:extLst>
              <a:ext uri="{FF2B5EF4-FFF2-40B4-BE49-F238E27FC236}">
                <a16:creationId xmlns:a16="http://schemas.microsoft.com/office/drawing/2014/main" id="{8DDBC0F7-390B-9DDB-1AF3-7D3A1EC3C0FB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oundRect">
            <a:avLst>
              <a:gd name="adj" fmla="val 10667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5" name="Text 45">
            <a:extLst>
              <a:ext uri="{FF2B5EF4-FFF2-40B4-BE49-F238E27FC236}">
                <a16:creationId xmlns:a16="http://schemas.microsoft.com/office/drawing/2014/main" id="{F2AF8C03-B96B-EC1A-DF85-4EF000045130}"/>
              </a:ext>
            </a:extLst>
          </p:cNvPr>
          <p:cNvSpPr/>
          <p:nvPr/>
        </p:nvSpPr>
        <p:spPr>
          <a:xfrm>
            <a:off x="426720" y="5125613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Note  ·  </a:t>
            </a:r>
            <a:r>
              <a:rPr lang="en-US" sz="1150" i="1" dirty="0">
                <a:solidFill>
                  <a:srgbClr val="1B2A3B"/>
                </a:solidFill>
              </a:rPr>
              <a:t>Board coverage (45.3%) is lower because most issues do not mention a board. Source-data limitation, not a heuristic failure.</a:t>
            </a:r>
            <a:endParaRPr lang="en-US" sz="1200" dirty="0"/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E5FE619C-93D2-4AC3-49CD-36C78E3FD0F8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b">
            <a:extLst>
              <a:ext uri="{FF2B5EF4-FFF2-40B4-BE49-F238E27FC236}">
                <a16:creationId xmlns:a16="http://schemas.microsoft.com/office/drawing/2014/main" id="{CE48A156-93C9-6812-F54F-344D4CEF9033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555466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1817558" y="109738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529584" y="4412240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554210" y="4412240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755378" y="4503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Objective: Similarity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755378" y="4805432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Two different GitHub issues may describe the same technical bug but using different words.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By computing similarity, we enrich each issue with cross-references to other related issues.</a:t>
            </a:r>
          </a:p>
          <a:p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noProof="0" dirty="0">
                <a:solidFill>
                  <a:srgbClr val="1B2A3B"/>
                </a:solidFill>
                <a:sym typeface="Wingdings" panose="05000000000000000000" pitchFamily="2" charset="2"/>
              </a:rPr>
              <a:t> </a:t>
            </a:r>
            <a:r>
              <a:rPr lang="en-US" sz="1000" noProof="0" dirty="0">
                <a:solidFill>
                  <a:srgbClr val="1B2A3B"/>
                </a:solidFill>
              </a:rPr>
              <a:t>This improves retrieval and helps the assistant give more complete and reliable support answers.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5897567" y="4280158"/>
            <a:ext cx="1481109" cy="1481109"/>
          </a:xfrm>
          <a:prstGeom prst="rect">
            <a:avLst/>
          </a:prstGeom>
        </p:spPr>
      </p:pic>
      <p:sp>
        <p:nvSpPr>
          <p:cNvPr id="53" name="Shape 5">
            <a:extLst>
              <a:ext uri="{FF2B5EF4-FFF2-40B4-BE49-F238E27FC236}">
                <a16:creationId xmlns:a16="http://schemas.microsoft.com/office/drawing/2014/main" id="{9E558591-3334-8CA3-1607-363E5DE11BE1}"/>
              </a:ext>
            </a:extLst>
          </p:cNvPr>
          <p:cNvSpPr/>
          <p:nvPr/>
        </p:nvSpPr>
        <p:spPr>
          <a:xfrm>
            <a:off x="814822" y="1941340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32B99CCC-7867-DAA8-1E2A-8B7A138D29AD}"/>
              </a:ext>
            </a:extLst>
          </p:cNvPr>
          <p:cNvSpPr/>
          <p:nvPr/>
        </p:nvSpPr>
        <p:spPr>
          <a:xfrm>
            <a:off x="814822" y="1941340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9B14C02A-456F-7AFC-D418-35B1E46D0C9B}"/>
              </a:ext>
            </a:extLst>
          </p:cNvPr>
          <p:cNvSpPr/>
          <p:nvPr/>
        </p:nvSpPr>
        <p:spPr>
          <a:xfrm>
            <a:off x="814822" y="194134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83C09FDD-6701-D051-F423-493E5904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034" y="2009683"/>
            <a:ext cx="329184" cy="329184"/>
          </a:xfrm>
          <a:prstGeom prst="rect">
            <a:avLst/>
          </a:prstGeom>
        </p:spPr>
      </p:pic>
      <p:sp>
        <p:nvSpPr>
          <p:cNvPr id="61" name="Text 8">
            <a:extLst>
              <a:ext uri="{FF2B5EF4-FFF2-40B4-BE49-F238E27FC236}">
                <a16:creationId xmlns:a16="http://schemas.microsoft.com/office/drawing/2014/main" id="{1445A6A5-8105-2BB3-D170-307DC2AC6C02}"/>
              </a:ext>
            </a:extLst>
          </p:cNvPr>
          <p:cNvSpPr/>
          <p:nvPr/>
        </p:nvSpPr>
        <p:spPr>
          <a:xfrm>
            <a:off x="1020562" y="245787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98DFFC2-5652-8D86-1016-F1F074C0F3E9}"/>
              </a:ext>
            </a:extLst>
          </p:cNvPr>
          <p:cNvSpPr/>
          <p:nvPr/>
        </p:nvSpPr>
        <p:spPr>
          <a:xfrm>
            <a:off x="978524" y="29097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8DA1701B-68E9-91D4-3863-AB3CAFA82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964" y="2981613"/>
            <a:ext cx="237744" cy="237744"/>
          </a:xfrm>
          <a:prstGeom prst="rect">
            <a:avLst/>
          </a:prstGeom>
        </p:spPr>
      </p:pic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CC28F414-4ECC-2442-314D-8EA943B8A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793" y="2970038"/>
            <a:ext cx="237744" cy="237744"/>
          </a:xfrm>
          <a:prstGeom prst="rect">
            <a:avLst/>
          </a:prstGeom>
        </p:spPr>
      </p:pic>
      <p:sp>
        <p:nvSpPr>
          <p:cNvPr id="65" name="Shape 15">
            <a:extLst>
              <a:ext uri="{FF2B5EF4-FFF2-40B4-BE49-F238E27FC236}">
                <a16:creationId xmlns:a16="http://schemas.microsoft.com/office/drawing/2014/main" id="{CB056FF2-51CD-BBBF-F6E9-BA690314CE48}"/>
              </a:ext>
            </a:extLst>
          </p:cNvPr>
          <p:cNvSpPr/>
          <p:nvPr/>
        </p:nvSpPr>
        <p:spPr>
          <a:xfrm>
            <a:off x="3793837" y="1936766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2094C82E-1878-21FB-529C-2D7A2FE4847D}"/>
              </a:ext>
            </a:extLst>
          </p:cNvPr>
          <p:cNvSpPr/>
          <p:nvPr/>
        </p:nvSpPr>
        <p:spPr>
          <a:xfrm>
            <a:off x="3799702" y="1947347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83DA0B16-3510-DED6-92ED-23C1E84EA488}"/>
              </a:ext>
            </a:extLst>
          </p:cNvPr>
          <p:cNvSpPr/>
          <p:nvPr/>
        </p:nvSpPr>
        <p:spPr>
          <a:xfrm>
            <a:off x="3864377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59821F5A-BE1A-AC85-1B6E-C8A6FF570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299" y="2014000"/>
            <a:ext cx="329184" cy="329184"/>
          </a:xfrm>
          <a:prstGeom prst="rect">
            <a:avLst/>
          </a:prstGeom>
        </p:spPr>
      </p:pic>
      <p:sp>
        <p:nvSpPr>
          <p:cNvPr id="69" name="Text 18">
            <a:extLst>
              <a:ext uri="{FF2B5EF4-FFF2-40B4-BE49-F238E27FC236}">
                <a16:creationId xmlns:a16="http://schemas.microsoft.com/office/drawing/2014/main" id="{7E03AC77-A35E-0BD7-110E-17AF19D7F0F7}"/>
              </a:ext>
            </a:extLst>
          </p:cNvPr>
          <p:cNvSpPr/>
          <p:nvPr/>
        </p:nvSpPr>
        <p:spPr>
          <a:xfrm>
            <a:off x="3900940" y="259456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7948F7AF-AF9F-B0A5-1C72-AE2DD0374E11}"/>
              </a:ext>
            </a:extLst>
          </p:cNvPr>
          <p:cNvSpPr/>
          <p:nvPr/>
        </p:nvSpPr>
        <p:spPr>
          <a:xfrm>
            <a:off x="3966424" y="3031715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EF1AE30C-D1BF-BEDB-5109-B4EFC7FB7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273" y="2965218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0DA39118-7BA1-5824-8247-3AB9B6F2DB9B}"/>
              </a:ext>
            </a:extLst>
          </p:cNvPr>
          <p:cNvSpPr/>
          <p:nvPr/>
        </p:nvSpPr>
        <p:spPr>
          <a:xfrm>
            <a:off x="5408857" y="194133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49B0E2C4-DD99-B152-D1CB-1E39FF7F739C}"/>
              </a:ext>
            </a:extLst>
          </p:cNvPr>
          <p:cNvSpPr/>
          <p:nvPr/>
        </p:nvSpPr>
        <p:spPr>
          <a:xfrm>
            <a:off x="5408857" y="1931946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E7860144-3F6B-87A5-EB5D-A4DFACEA48C1}"/>
              </a:ext>
            </a:extLst>
          </p:cNvPr>
          <p:cNvSpPr/>
          <p:nvPr/>
        </p:nvSpPr>
        <p:spPr>
          <a:xfrm>
            <a:off x="5408857" y="193194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DB70B68C-21D4-29F3-23CF-DFFBF51BA308}"/>
              </a:ext>
            </a:extLst>
          </p:cNvPr>
          <p:cNvSpPr/>
          <p:nvPr/>
        </p:nvSpPr>
        <p:spPr>
          <a:xfrm>
            <a:off x="5595175" y="24554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B0089403-B22E-68CA-1A3D-F1934B792445}"/>
              </a:ext>
            </a:extLst>
          </p:cNvPr>
          <p:cNvSpPr/>
          <p:nvPr/>
        </p:nvSpPr>
        <p:spPr>
          <a:xfrm>
            <a:off x="5604656" y="28326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7812DA51-D5F1-7CEE-F7F3-C3F1E5ED71AE}"/>
              </a:ext>
            </a:extLst>
          </p:cNvPr>
          <p:cNvSpPr/>
          <p:nvPr/>
        </p:nvSpPr>
        <p:spPr>
          <a:xfrm>
            <a:off x="8562642" y="1938976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1822A77A-8C71-7B7E-CD9E-0D3C1AADD016}"/>
              </a:ext>
            </a:extLst>
          </p:cNvPr>
          <p:cNvSpPr/>
          <p:nvPr/>
        </p:nvSpPr>
        <p:spPr>
          <a:xfrm>
            <a:off x="8562642" y="1938977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72B35921-81F3-6FA6-D1F3-5B02EBDE435D}"/>
              </a:ext>
            </a:extLst>
          </p:cNvPr>
          <p:cNvSpPr/>
          <p:nvPr/>
        </p:nvSpPr>
        <p:spPr>
          <a:xfrm>
            <a:off x="8562642" y="193897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8F47E94E-3522-DFD1-BAA7-FC67E608A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009" y="2024046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85B8A433-894F-FA86-3411-AFDA13030856}"/>
              </a:ext>
            </a:extLst>
          </p:cNvPr>
          <p:cNvSpPr/>
          <p:nvPr/>
        </p:nvSpPr>
        <p:spPr>
          <a:xfrm>
            <a:off x="8500228" y="2558126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7BF9AF7C-6FD8-3A25-3FF7-5B6C9C5D8828}"/>
              </a:ext>
            </a:extLst>
          </p:cNvPr>
          <p:cNvSpPr/>
          <p:nvPr/>
        </p:nvSpPr>
        <p:spPr>
          <a:xfrm>
            <a:off x="8661632" y="29007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0A74DEE9-8B65-D3CC-340B-93E834C1A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038" y="1959377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A0BD9065-9532-D37A-BE9B-A4DB02FC59F4}"/>
              </a:ext>
            </a:extLst>
          </p:cNvPr>
          <p:cNvSpPr/>
          <p:nvPr/>
        </p:nvSpPr>
        <p:spPr>
          <a:xfrm>
            <a:off x="6951360" y="1941340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9BECE4DB-8B26-8B94-93B6-234A57923AE2}"/>
              </a:ext>
            </a:extLst>
          </p:cNvPr>
          <p:cNvSpPr/>
          <p:nvPr/>
        </p:nvSpPr>
        <p:spPr>
          <a:xfrm>
            <a:off x="6951359" y="1936766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2C6C3EAE-5E82-4AA9-85BD-29DC10A86ECE}"/>
              </a:ext>
            </a:extLst>
          </p:cNvPr>
          <p:cNvSpPr/>
          <p:nvPr/>
        </p:nvSpPr>
        <p:spPr>
          <a:xfrm>
            <a:off x="7026001" y="193676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DED73FFF-D5A8-B6B0-D982-40A8FA346118}"/>
              </a:ext>
            </a:extLst>
          </p:cNvPr>
          <p:cNvSpPr/>
          <p:nvPr/>
        </p:nvSpPr>
        <p:spPr>
          <a:xfrm>
            <a:off x="7212319" y="246029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E984FC11-24FC-42A6-0D09-C8A46E04BC52}"/>
              </a:ext>
            </a:extLst>
          </p:cNvPr>
          <p:cNvSpPr/>
          <p:nvPr/>
        </p:nvSpPr>
        <p:spPr>
          <a:xfrm>
            <a:off x="7212319" y="297003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610251A0-2D3E-DEA5-7B20-058674FA9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9584" y="1961086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CF08E74-596F-B812-64B3-B2CE2B488128}"/>
              </a:ext>
            </a:extLst>
          </p:cNvPr>
          <p:cNvCxnSpPr>
            <a:stCxn id="65" idx="3"/>
            <a:endCxn id="72" idx="1"/>
          </p:cNvCxnSpPr>
          <p:nvPr/>
        </p:nvCxnSpPr>
        <p:spPr>
          <a:xfrm>
            <a:off x="5200565" y="2927337"/>
            <a:ext cx="208292" cy="457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175E488-7057-9067-9689-DA46D6795BEA}"/>
              </a:ext>
            </a:extLst>
          </p:cNvPr>
          <p:cNvCxnSpPr>
            <a:stCxn id="72" idx="3"/>
            <a:endCxn id="101" idx="1"/>
          </p:cNvCxnSpPr>
          <p:nvPr/>
        </p:nvCxnSpPr>
        <p:spPr>
          <a:xfrm>
            <a:off x="6806295" y="2931910"/>
            <a:ext cx="145065" cy="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5B97810-9BFB-EEE1-3FED-8B012669C970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348798" y="2931911"/>
            <a:ext cx="162977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0C68D2DA-8098-A198-4838-16AE569D0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705" y="2994358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9BB22658-846C-DDAF-905A-12FD129FE0E3}"/>
              </a:ext>
            </a:extLst>
          </p:cNvPr>
          <p:cNvSpPr/>
          <p:nvPr/>
        </p:nvSpPr>
        <p:spPr>
          <a:xfrm>
            <a:off x="2255222" y="1938734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180B7690-3279-711D-D062-EABE854BA207}"/>
              </a:ext>
            </a:extLst>
          </p:cNvPr>
          <p:cNvSpPr/>
          <p:nvPr/>
        </p:nvSpPr>
        <p:spPr>
          <a:xfrm>
            <a:off x="2255222" y="1938734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52F1D499-8491-743D-FF4B-B111A79E33BA}"/>
              </a:ext>
            </a:extLst>
          </p:cNvPr>
          <p:cNvSpPr/>
          <p:nvPr/>
        </p:nvSpPr>
        <p:spPr>
          <a:xfrm>
            <a:off x="2255222" y="193873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CD2C784-B549-EA7C-EDB7-407425924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99356" y="2004394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EFDE54-C975-1635-7357-CCF51789CD2A}"/>
              </a:ext>
            </a:extLst>
          </p:cNvPr>
          <p:cNvCxnSpPr>
            <a:stCxn id="53" idx="3"/>
            <a:endCxn id="113" idx="1"/>
          </p:cNvCxnSpPr>
          <p:nvPr/>
        </p:nvCxnSpPr>
        <p:spPr>
          <a:xfrm flipV="1">
            <a:off x="2119604" y="2925804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0D60E20-BE70-A6D2-BBED-766717789232}"/>
              </a:ext>
            </a:extLst>
          </p:cNvPr>
          <p:cNvCxnSpPr>
            <a:stCxn id="113" idx="3"/>
            <a:endCxn id="65" idx="1"/>
          </p:cNvCxnSpPr>
          <p:nvPr/>
        </p:nvCxnSpPr>
        <p:spPr>
          <a:xfrm>
            <a:off x="3667970" y="2925804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A2C6-80E2-2B49-7F2A-C8B17EF7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43</a:t>
            </a:fld>
            <a:endParaRPr lang="en-US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41A819DA-E02A-8B7B-5102-926AD140C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639" y="2063717"/>
            <a:ext cx="237744" cy="237744"/>
          </a:xfrm>
          <a:prstGeom prst="rect">
            <a:avLst/>
          </a:prstGeom>
        </p:spPr>
      </p:pic>
      <p:pic>
        <p:nvPicPr>
          <p:cNvPr id="6" name="Image 9" descr="preencoded.png">
            <a:extLst>
              <a:ext uri="{FF2B5EF4-FFF2-40B4-BE49-F238E27FC236}">
                <a16:creationId xmlns:a16="http://schemas.microsoft.com/office/drawing/2014/main" id="{BE7501BE-D2AC-602D-A622-404D7FCC3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306" y="2968262"/>
            <a:ext cx="237744" cy="237744"/>
          </a:xfrm>
          <a:prstGeom prst="rect">
            <a:avLst/>
          </a:prstGeom>
        </p:spPr>
      </p:pic>
      <p:sp>
        <p:nvSpPr>
          <p:cNvPr id="7" name="Shape 30">
            <a:extLst>
              <a:ext uri="{FF2B5EF4-FFF2-40B4-BE49-F238E27FC236}">
                <a16:creationId xmlns:a16="http://schemas.microsoft.com/office/drawing/2014/main" id="{63800CBD-E5DE-22AE-41B3-B9AB86FE4388}"/>
              </a:ext>
            </a:extLst>
          </p:cNvPr>
          <p:cNvSpPr/>
          <p:nvPr/>
        </p:nvSpPr>
        <p:spPr>
          <a:xfrm>
            <a:off x="9957942" y="1935234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31">
            <a:extLst>
              <a:ext uri="{FF2B5EF4-FFF2-40B4-BE49-F238E27FC236}">
                <a16:creationId xmlns:a16="http://schemas.microsoft.com/office/drawing/2014/main" id="{1224AE43-42C6-54D5-E9DC-A77AE64572D3}"/>
              </a:ext>
            </a:extLst>
          </p:cNvPr>
          <p:cNvSpPr/>
          <p:nvPr/>
        </p:nvSpPr>
        <p:spPr>
          <a:xfrm>
            <a:off x="9957942" y="1935235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32">
            <a:extLst>
              <a:ext uri="{FF2B5EF4-FFF2-40B4-BE49-F238E27FC236}">
                <a16:creationId xmlns:a16="http://schemas.microsoft.com/office/drawing/2014/main" id="{E77CABFD-399D-4A27-EA56-D40A61562889}"/>
              </a:ext>
            </a:extLst>
          </p:cNvPr>
          <p:cNvSpPr/>
          <p:nvPr/>
        </p:nvSpPr>
        <p:spPr>
          <a:xfrm>
            <a:off x="9957942" y="193523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662328C6-EA70-6877-C5AE-3641E04DBE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1100" y="2028222"/>
            <a:ext cx="263059" cy="263059"/>
          </a:xfrm>
          <a:prstGeom prst="rect">
            <a:avLst/>
          </a:prstGeom>
        </p:spPr>
      </p:pic>
      <p:sp>
        <p:nvSpPr>
          <p:cNvPr id="11" name="Text 33">
            <a:extLst>
              <a:ext uri="{FF2B5EF4-FFF2-40B4-BE49-F238E27FC236}">
                <a16:creationId xmlns:a16="http://schemas.microsoft.com/office/drawing/2014/main" id="{898CD3B3-AF29-1723-924A-C268F8E66948}"/>
              </a:ext>
            </a:extLst>
          </p:cNvPr>
          <p:cNvSpPr/>
          <p:nvPr/>
        </p:nvSpPr>
        <p:spPr>
          <a:xfrm>
            <a:off x="10153741" y="251338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2" name="Text 34">
            <a:extLst>
              <a:ext uri="{FF2B5EF4-FFF2-40B4-BE49-F238E27FC236}">
                <a16:creationId xmlns:a16="http://schemas.microsoft.com/office/drawing/2014/main" id="{F8D25047-1763-AC73-961A-A37697AA5312}"/>
              </a:ext>
            </a:extLst>
          </p:cNvPr>
          <p:cNvSpPr/>
          <p:nvPr/>
        </p:nvSpPr>
        <p:spPr>
          <a:xfrm>
            <a:off x="10172744" y="303459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A91D1011-6B1E-4B3A-CC5A-D430E5517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942" y="2968507"/>
            <a:ext cx="237744" cy="237744"/>
          </a:xfrm>
          <a:prstGeom prst="rect">
            <a:avLst/>
          </a:prstGeom>
        </p:spPr>
      </p:pic>
      <p:cxnSp>
        <p:nvCxnSpPr>
          <p:cNvPr id="15" name="Straight Arrow Connector 110">
            <a:extLst>
              <a:ext uri="{FF2B5EF4-FFF2-40B4-BE49-F238E27FC236}">
                <a16:creationId xmlns:a16="http://schemas.microsoft.com/office/drawing/2014/main" id="{D1004E9E-7D15-0055-2164-6332898FC3D0}"/>
              </a:ext>
            </a:extLst>
          </p:cNvPr>
          <p:cNvCxnSpPr>
            <a:cxnSpLocks/>
          </p:cNvCxnSpPr>
          <p:nvPr/>
        </p:nvCxnSpPr>
        <p:spPr>
          <a:xfrm>
            <a:off x="9781249" y="2905740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13">
            <a:extLst>
              <a:ext uri="{FF2B5EF4-FFF2-40B4-BE49-F238E27FC236}">
                <a16:creationId xmlns:a16="http://schemas.microsoft.com/office/drawing/2014/main" id="{2BF37B80-3C0A-A3C9-FA10-71BF01ACBF26}"/>
              </a:ext>
            </a:extLst>
          </p:cNvPr>
          <p:cNvSpPr/>
          <p:nvPr/>
        </p:nvSpPr>
        <p:spPr>
          <a:xfrm>
            <a:off x="2520708" y="255827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0736FCC-ECDC-58CD-9172-A76246575E18}"/>
              </a:ext>
            </a:extLst>
          </p:cNvPr>
          <p:cNvSpPr/>
          <p:nvPr/>
        </p:nvSpPr>
        <p:spPr>
          <a:xfrm>
            <a:off x="2427809" y="283720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18" name="rr">
            <a:extLst>
              <a:ext uri="{FF2B5EF4-FFF2-40B4-BE49-F238E27FC236}">
                <a16:creationId xmlns:a16="http://schemas.microsoft.com/office/drawing/2014/main" id="{ADBCD309-A7B1-3974-F213-FEF683AAD6F0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b">
            <a:extLst>
              <a:ext uri="{FF2B5EF4-FFF2-40B4-BE49-F238E27FC236}">
                <a16:creationId xmlns:a16="http://schemas.microsoft.com/office/drawing/2014/main" id="{9D254581-5DAD-C7DC-2596-6549A456527B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D09C-9F34-9089-6ACF-8CADEBA6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4D79-D9A0-3014-0E5A-57FAF8A3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782446-9679-367B-43A0-2BB9E2E42055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33E13CC-9C3A-D37D-543C-792C7B52C2C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AD1FAD0-5530-CA97-09A9-83D251D571D7}"/>
              </a:ext>
            </a:extLst>
          </p:cNvPr>
          <p:cNvSpPr/>
          <p:nvPr/>
        </p:nvSpPr>
        <p:spPr>
          <a:xfrm>
            <a:off x="421533" y="1211273"/>
            <a:ext cx="5013046" cy="475399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9373E3A-6D88-7B29-BF4F-253E79FFE5A4}"/>
              </a:ext>
            </a:extLst>
          </p:cNvPr>
          <p:cNvSpPr/>
          <p:nvPr/>
        </p:nvSpPr>
        <p:spPr>
          <a:xfrm>
            <a:off x="421533" y="1159057"/>
            <a:ext cx="5013045" cy="7122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217C86D-A37C-FA4C-8F91-AC08B88D35EE}"/>
              </a:ext>
            </a:extLst>
          </p:cNvPr>
          <p:cNvSpPr/>
          <p:nvPr/>
        </p:nvSpPr>
        <p:spPr>
          <a:xfrm>
            <a:off x="575204" y="1384022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8787264-5780-03DA-675D-91983120C331}"/>
              </a:ext>
            </a:extLst>
          </p:cNvPr>
          <p:cNvSpPr/>
          <p:nvPr/>
        </p:nvSpPr>
        <p:spPr>
          <a:xfrm>
            <a:off x="538488" y="1650604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950" b="1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BEE0470-CBF6-48A1-3BD4-BFBCCBD60370}"/>
              </a:ext>
            </a:extLst>
          </p:cNvPr>
          <p:cNvSpPr/>
          <p:nvPr/>
        </p:nvSpPr>
        <p:spPr>
          <a:xfrm>
            <a:off x="538488" y="1352113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100" noProof="0" dirty="0">
              <a:solidFill>
                <a:srgbClr val="0D9589"/>
              </a:solidFill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8BBC259C-0BD2-3648-4D98-D8B4EB8A08B4}"/>
              </a:ext>
            </a:extLst>
          </p:cNvPr>
          <p:cNvSpPr/>
          <p:nvPr/>
        </p:nvSpPr>
        <p:spPr>
          <a:xfrm>
            <a:off x="571614" y="209735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4C893AD-DF29-9EEE-781B-5B2AFAF71CF3}"/>
              </a:ext>
            </a:extLst>
          </p:cNvPr>
          <p:cNvSpPr/>
          <p:nvPr/>
        </p:nvSpPr>
        <p:spPr>
          <a:xfrm>
            <a:off x="856678" y="2031906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Convert each issue into a TF-IDF vector</a:t>
            </a:r>
            <a:endParaRPr lang="en-US" sz="120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276B894-DCCA-1740-17C6-675D08E7B3D9}"/>
              </a:ext>
            </a:extLst>
          </p:cNvPr>
          <p:cNvSpPr/>
          <p:nvPr/>
        </p:nvSpPr>
        <p:spPr>
          <a:xfrm>
            <a:off x="571614" y="246311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ACF6472-365D-E553-F36A-30CC132EC349}"/>
              </a:ext>
            </a:extLst>
          </p:cNvPr>
          <p:cNvSpPr/>
          <p:nvPr/>
        </p:nvSpPr>
        <p:spPr>
          <a:xfrm>
            <a:off x="856678" y="2404295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Compute cosine similarity between issue vectors</a:t>
            </a:r>
            <a:endParaRPr lang="en-US" sz="120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FFE6E329-52B5-5343-8667-85E5E9BEFA99}"/>
              </a:ext>
            </a:extLst>
          </p:cNvPr>
          <p:cNvSpPr/>
          <p:nvPr/>
        </p:nvSpPr>
        <p:spPr>
          <a:xfrm>
            <a:off x="571614" y="282887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1F3FA5F0-7A5D-8199-7977-FE4B1024F478}"/>
              </a:ext>
            </a:extLst>
          </p:cNvPr>
          <p:cNvSpPr/>
          <p:nvPr/>
        </p:nvSpPr>
        <p:spPr>
          <a:xfrm>
            <a:off x="856678" y="2762131"/>
            <a:ext cx="4247791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Store related issue IDs inside each issue (</a:t>
            </a:r>
            <a:r>
              <a:rPr lang="en-US" sz="12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120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8B108D1-C1AA-F4A5-E5A9-70057F2D29C2}"/>
              </a:ext>
            </a:extLst>
          </p:cNvPr>
          <p:cNvSpPr/>
          <p:nvPr/>
        </p:nvSpPr>
        <p:spPr>
          <a:xfrm>
            <a:off x="571614" y="3194639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6E09652-2A9D-E270-0FFF-600795715CA6}"/>
              </a:ext>
            </a:extLst>
          </p:cNvPr>
          <p:cNvSpPr/>
          <p:nvPr/>
        </p:nvSpPr>
        <p:spPr>
          <a:xfrm>
            <a:off x="840769" y="3164627"/>
            <a:ext cx="4057019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Apply a configurable similarity threshold (only keep strong matches)</a:t>
            </a:r>
            <a:endParaRPr lang="en-US" sz="1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D4137D2-3457-1980-63ED-90C78A935921}"/>
              </a:ext>
            </a:extLst>
          </p:cNvPr>
          <p:cNvSpPr/>
          <p:nvPr/>
        </p:nvSpPr>
        <p:spPr>
          <a:xfrm>
            <a:off x="538488" y="4047389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Each issue becomes connected to other similar issues: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peripheral/component (UART, USB, DMA…)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Same type of symptom (compile error, crash, timeout…)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Access to fixes already discussed in other threads</a:t>
            </a:r>
            <a:endParaRPr lang="en-US" sz="12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12E897-7641-9FEB-A460-DFBB67735276}"/>
              </a:ext>
            </a:extLst>
          </p:cNvPr>
          <p:cNvSpPr txBox="1"/>
          <p:nvPr/>
        </p:nvSpPr>
        <p:spPr>
          <a:xfrm>
            <a:off x="5579356" y="3071339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76C004CC-1EBA-519E-AA66-ED54C1AA1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6573" y="3409717"/>
            <a:ext cx="431535" cy="43153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8D888-068F-C8D1-26F3-8409FE9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E6E0F5-7571-5E1A-B1A1-51E487D07D08}"/>
              </a:ext>
            </a:extLst>
          </p:cNvPr>
          <p:cNvSpPr txBox="1"/>
          <p:nvPr/>
        </p:nvSpPr>
        <p:spPr>
          <a:xfrm>
            <a:off x="489344" y="1693414"/>
            <a:ext cx="6273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We compute similarity using the issue text (</a:t>
            </a:r>
            <a:r>
              <a:rPr lang="en-US" sz="1200" noProof="0" dirty="0" err="1">
                <a:solidFill>
                  <a:schemeClr val="bg2">
                    <a:lumMod val="10000"/>
                  </a:schemeClr>
                </a:solidFill>
              </a:rPr>
              <a:t>clean_text</a:t>
            </a:r>
            <a:r>
              <a:rPr lang="en-US" sz="1200" noProof="0" dirty="0">
                <a:solidFill>
                  <a:schemeClr val="bg2">
                    <a:lumMod val="10000"/>
                  </a:schemeClr>
                </a:solidFill>
              </a:rPr>
              <a:t>):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F8FCC5-66E9-20B1-6465-5306F3B9C3F0}"/>
              </a:ext>
            </a:extLst>
          </p:cNvPr>
          <p:cNvSpPr txBox="1"/>
          <p:nvPr/>
        </p:nvSpPr>
        <p:spPr>
          <a:xfrm>
            <a:off x="489344" y="3707878"/>
            <a:ext cx="2579911" cy="30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b="1" noProof="0" dirty="0">
                <a:solidFill>
                  <a:srgbClr val="0D9589"/>
                </a:solidFill>
              </a:rPr>
              <a:t>What is the result ?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157ED02-3CF5-00F7-8555-53760108F188}"/>
              </a:ext>
            </a:extLst>
          </p:cNvPr>
          <p:cNvSpPr/>
          <p:nvPr/>
        </p:nvSpPr>
        <p:spPr>
          <a:xfrm>
            <a:off x="2890912" y="2373195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D63A09-5FD6-10F3-1EB5-48AE58935209}"/>
              </a:ext>
            </a:extLst>
          </p:cNvPr>
          <p:cNvSpPr/>
          <p:nvPr/>
        </p:nvSpPr>
        <p:spPr>
          <a:xfrm>
            <a:off x="3048753" y="14833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D6D1E44-CB34-9FA2-8E74-1EBBBEC30541}"/>
              </a:ext>
            </a:extLst>
          </p:cNvPr>
          <p:cNvSpPr/>
          <p:nvPr/>
        </p:nvSpPr>
        <p:spPr>
          <a:xfrm>
            <a:off x="1694475" y="2648986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8178D2F-5E9E-874F-D5B2-0C884F873EC8}"/>
              </a:ext>
            </a:extLst>
          </p:cNvPr>
          <p:cNvSpPr/>
          <p:nvPr/>
        </p:nvSpPr>
        <p:spPr>
          <a:xfrm>
            <a:off x="1852316" y="1759183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9" name="Shape 48">
            <a:extLst>
              <a:ext uri="{FF2B5EF4-FFF2-40B4-BE49-F238E27FC236}">
                <a16:creationId xmlns:a16="http://schemas.microsoft.com/office/drawing/2014/main" id="{006E4E60-32AF-252D-86E4-5F1E72C0195B}"/>
              </a:ext>
            </a:extLst>
          </p:cNvPr>
          <p:cNvSpPr/>
          <p:nvPr/>
        </p:nvSpPr>
        <p:spPr>
          <a:xfrm>
            <a:off x="6748407" y="1400789"/>
            <a:ext cx="5013046" cy="2027764"/>
          </a:xfrm>
          <a:prstGeom prst="roundRect">
            <a:avLst>
              <a:gd name="adj" fmla="val 5161"/>
            </a:avLst>
          </a:prstGeom>
          <a:solidFill>
            <a:srgbClr val="07121E"/>
          </a:solidFill>
          <a:ln/>
        </p:spPr>
        <p:txBody>
          <a:bodyPr/>
          <a:lstStyle/>
          <a:p>
            <a:endParaRPr lang="fr-TN" dirty="0"/>
          </a:p>
        </p:txBody>
      </p:sp>
      <p:sp>
        <p:nvSpPr>
          <p:cNvPr id="12" name="Text 49">
            <a:extLst>
              <a:ext uri="{FF2B5EF4-FFF2-40B4-BE49-F238E27FC236}">
                <a16:creationId xmlns:a16="http://schemas.microsoft.com/office/drawing/2014/main" id="{5F7391A8-39AE-4567-03A6-459116B2ABBD}"/>
              </a:ext>
            </a:extLst>
          </p:cNvPr>
          <p:cNvSpPr/>
          <p:nvPr/>
        </p:nvSpPr>
        <p:spPr>
          <a:xfrm>
            <a:off x="7014439" y="1679556"/>
            <a:ext cx="45958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sim(dᵢ,dⱼ) = (vᵢ · vⱼ) / (‖vᵢ‖ ‖vⱼ‖)</a:t>
            </a:r>
            <a:endParaRPr lang="en-US" sz="1400" dirty="0"/>
          </a:p>
        </p:txBody>
      </p:sp>
      <p:sp>
        <p:nvSpPr>
          <p:cNvPr id="19" name="Text 50">
            <a:extLst>
              <a:ext uri="{FF2B5EF4-FFF2-40B4-BE49-F238E27FC236}">
                <a16:creationId xmlns:a16="http://schemas.microsoft.com/office/drawing/2014/main" id="{902CB8D6-6606-CF3A-BED5-A65A949D492C}"/>
              </a:ext>
            </a:extLst>
          </p:cNvPr>
          <p:cNvSpPr/>
          <p:nvPr/>
        </p:nvSpPr>
        <p:spPr>
          <a:xfrm>
            <a:off x="7014439" y="2130664"/>
            <a:ext cx="4169376" cy="313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related(dᵢ) = { dⱼ | sim ≥ 0.3 }</a:t>
            </a:r>
            <a:endParaRPr lang="en-US" sz="1400" dirty="0"/>
          </a:p>
        </p:txBody>
      </p:sp>
      <p:sp>
        <p:nvSpPr>
          <p:cNvPr id="25" name="Text 51">
            <a:extLst>
              <a:ext uri="{FF2B5EF4-FFF2-40B4-BE49-F238E27FC236}">
                <a16:creationId xmlns:a16="http://schemas.microsoft.com/office/drawing/2014/main" id="{A9057D50-A9D9-F7A3-7428-EF2EDDD045E3}"/>
              </a:ext>
            </a:extLst>
          </p:cNvPr>
          <p:cNvSpPr/>
          <p:nvPr/>
        </p:nvSpPr>
        <p:spPr>
          <a:xfrm>
            <a:off x="6960140" y="2590131"/>
            <a:ext cx="50532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3A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 keeps only strong links.  H7 coverage 22% = issue diversity, not a failure.</a:t>
            </a:r>
            <a:endParaRPr lang="en-US" sz="1000" b="1" dirty="0"/>
          </a:p>
        </p:txBody>
      </p:sp>
      <p:sp>
        <p:nvSpPr>
          <p:cNvPr id="33" name="Shape 52">
            <a:extLst>
              <a:ext uri="{FF2B5EF4-FFF2-40B4-BE49-F238E27FC236}">
                <a16:creationId xmlns:a16="http://schemas.microsoft.com/office/drawing/2014/main" id="{738D18EF-65AA-AF9B-B3ED-FE94DCEDB574}"/>
              </a:ext>
            </a:extLst>
          </p:cNvPr>
          <p:cNvSpPr/>
          <p:nvPr/>
        </p:nvSpPr>
        <p:spPr>
          <a:xfrm>
            <a:off x="6757423" y="3574857"/>
            <a:ext cx="5004030" cy="2027764"/>
          </a:xfrm>
          <a:prstGeom prst="roundRect">
            <a:avLst>
              <a:gd name="adj" fmla="val 6452"/>
            </a:avLst>
          </a:prstGeom>
          <a:solidFill>
            <a:srgbClr val="123026"/>
          </a:solidFill>
          <a:ln w="12700">
            <a:solidFill>
              <a:srgbClr val="34C08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5" name="Text 53">
            <a:extLst>
              <a:ext uri="{FF2B5EF4-FFF2-40B4-BE49-F238E27FC236}">
                <a16:creationId xmlns:a16="http://schemas.microsoft.com/office/drawing/2014/main" id="{62BBB42A-2EDB-2ED0-688A-F393D25912EB}"/>
              </a:ext>
            </a:extLst>
          </p:cNvPr>
          <p:cNvSpPr/>
          <p:nvPr/>
        </p:nvSpPr>
        <p:spPr>
          <a:xfrm>
            <a:off x="6940303" y="3675441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54">
            <a:extLst>
              <a:ext uri="{FF2B5EF4-FFF2-40B4-BE49-F238E27FC236}">
                <a16:creationId xmlns:a16="http://schemas.microsoft.com/office/drawing/2014/main" id="{0EBB32CA-9E45-64BB-CF97-E03DFE785035}"/>
              </a:ext>
            </a:extLst>
          </p:cNvPr>
          <p:cNvSpPr/>
          <p:nvPr/>
        </p:nvSpPr>
        <p:spPr>
          <a:xfrm>
            <a:off x="6908505" y="386331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“HAL_UART compile error when UART disabled”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“USART build fails, missing UART macro”</a:t>
            </a:r>
            <a:endParaRPr lang="en-US" sz="1200" dirty="0"/>
          </a:p>
        </p:txBody>
      </p:sp>
      <p:sp>
        <p:nvSpPr>
          <p:cNvPr id="39" name="Text 55">
            <a:extLst>
              <a:ext uri="{FF2B5EF4-FFF2-40B4-BE49-F238E27FC236}">
                <a16:creationId xmlns:a16="http://schemas.microsoft.com/office/drawing/2014/main" id="{98E1419B-9E77-F61C-F42B-258D93A72720}"/>
              </a:ext>
            </a:extLst>
          </p:cNvPr>
          <p:cNvSpPr/>
          <p:nvPr/>
        </p:nvSpPr>
        <p:spPr>
          <a:xfrm>
            <a:off x="6908505" y="47091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0.72</a:t>
            </a:r>
            <a:r>
              <a:rPr lang="en-US" sz="14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same topic, linked.</a:t>
            </a:r>
            <a:endParaRPr lang="en-US" sz="1400" dirty="0"/>
          </a:p>
        </p:txBody>
      </p:sp>
      <p:sp>
        <p:nvSpPr>
          <p:cNvPr id="7" name="rr">
            <a:extLst>
              <a:ext uri="{FF2B5EF4-FFF2-40B4-BE49-F238E27FC236}">
                <a16:creationId xmlns:a16="http://schemas.microsoft.com/office/drawing/2014/main" id="{C274458A-F6C0-8A5D-EF10-C818A69E84F7}"/>
              </a:ext>
            </a:extLst>
          </p:cNvPr>
          <p:cNvSpPr/>
          <p:nvPr/>
        </p:nvSpPr>
        <p:spPr>
          <a:xfrm>
            <a:off x="1420155" y="635534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b">
            <a:extLst>
              <a:ext uri="{FF2B5EF4-FFF2-40B4-BE49-F238E27FC236}">
                <a16:creationId xmlns:a16="http://schemas.microsoft.com/office/drawing/2014/main" id="{55509FAC-573A-6040-C42D-D4AF78CF0E87}"/>
              </a:ext>
            </a:extLst>
          </p:cNvPr>
          <p:cNvSpPr>
            <a:spLocks noGrp="1"/>
          </p:cNvSpPr>
          <p:nvPr/>
        </p:nvSpPr>
        <p:spPr>
          <a:xfrm>
            <a:off x="1694475" y="6309623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3431169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49B4-21A9-B6C2-2532-A568D4D3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20C6-3194-D32E-82A0-8456597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E6E7D7-27E4-22C6-FAA4-CE76D5FA1BC9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632442-EC31-B34C-3670-5626EC92EEFC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FB10-DB3E-CBE1-3E77-1F7B7232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45</a:t>
            </a:fld>
            <a:endParaRPr lang="en-US" noProof="0" dirty="0"/>
          </a:p>
        </p:txBody>
      </p:sp>
      <p:sp>
        <p:nvSpPr>
          <p:cNvPr id="11" name="TextBox 39">
            <a:extLst>
              <a:ext uri="{FF2B5EF4-FFF2-40B4-BE49-F238E27FC236}">
                <a16:creationId xmlns:a16="http://schemas.microsoft.com/office/drawing/2014/main" id="{7335C2C4-F337-D80D-0EA1-98D8D2AF6BD7}"/>
              </a:ext>
            </a:extLst>
          </p:cNvPr>
          <p:cNvSpPr txBox="1"/>
          <p:nvPr/>
        </p:nvSpPr>
        <p:spPr>
          <a:xfrm>
            <a:off x="2336089" y="3109640"/>
            <a:ext cx="917067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</a:t>
            </a:r>
            <a:endParaRPr lang="en-US" sz="1600" noProof="0" dirty="0"/>
          </a:p>
        </p:txBody>
      </p:sp>
      <p:pic>
        <p:nvPicPr>
          <p:cNvPr id="22" name="Graphic 40" descr="Arrow Right with solid fill">
            <a:extLst>
              <a:ext uri="{FF2B5EF4-FFF2-40B4-BE49-F238E27FC236}">
                <a16:creationId xmlns:a16="http://schemas.microsoft.com/office/drawing/2014/main" id="{605E794A-C649-B750-56B3-3714A9F4F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3306" y="3448018"/>
            <a:ext cx="431535" cy="431535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9A73FE8-03AB-91E6-98DC-06D104313C90}"/>
              </a:ext>
            </a:extLst>
          </p:cNvPr>
          <p:cNvSpPr/>
          <p:nvPr/>
        </p:nvSpPr>
        <p:spPr>
          <a:xfrm>
            <a:off x="6767756" y="1355875"/>
            <a:ext cx="4744153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09642AC9-ED05-4DCB-9051-E11292A023D1}"/>
              </a:ext>
            </a:extLst>
          </p:cNvPr>
          <p:cNvSpPr/>
          <p:nvPr/>
        </p:nvSpPr>
        <p:spPr>
          <a:xfrm>
            <a:off x="6767755" y="1355875"/>
            <a:ext cx="4733551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Without Similarity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FD3A8A9E-5CC1-BC51-642C-CEEEFE38C487}"/>
              </a:ext>
            </a:extLst>
          </p:cNvPr>
          <p:cNvSpPr/>
          <p:nvPr/>
        </p:nvSpPr>
        <p:spPr>
          <a:xfrm>
            <a:off x="6762455" y="1777109"/>
            <a:ext cx="4738851" cy="133253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5BEDF177-EE4C-6C1F-0C4F-62C62F08864E}"/>
              </a:ext>
            </a:extLst>
          </p:cNvPr>
          <p:cNvSpPr/>
          <p:nvPr/>
        </p:nvSpPr>
        <p:spPr>
          <a:xfrm>
            <a:off x="6904916" y="1701469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2839C318-9877-564F-56B8-9DE93BCC8595}"/>
              </a:ext>
            </a:extLst>
          </p:cNvPr>
          <p:cNvSpPr/>
          <p:nvPr/>
        </p:nvSpPr>
        <p:spPr>
          <a:xfrm>
            <a:off x="6920880" y="182181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User asks: </a:t>
            </a:r>
            <a:endParaRPr lang="en-US" sz="1200" noProof="0" dirty="0">
              <a:solidFill>
                <a:srgbClr val="1B2A3B"/>
              </a:solidFill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25EE891-5F37-1DD3-B4C1-6E774E0CD67D}"/>
              </a:ext>
            </a:extLst>
          </p:cNvPr>
          <p:cNvSpPr/>
          <p:nvPr/>
        </p:nvSpPr>
        <p:spPr>
          <a:xfrm>
            <a:off x="6920880" y="2129601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"USART compile error when UART disabled" </a:t>
            </a:r>
            <a:endParaRPr lang="en-US" sz="120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043359A-BC06-0A1A-7478-3D3BDC0FD95B}"/>
              </a:ext>
            </a:extLst>
          </p:cNvPr>
          <p:cNvSpPr/>
          <p:nvPr/>
        </p:nvSpPr>
        <p:spPr>
          <a:xfrm>
            <a:off x="6800352" y="247903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3" name="TextBox 60">
            <a:extLst>
              <a:ext uri="{FF2B5EF4-FFF2-40B4-BE49-F238E27FC236}">
                <a16:creationId xmlns:a16="http://schemas.microsoft.com/office/drawing/2014/main" id="{1B7F34DE-51E2-38BA-85B8-409E37F1A6EC}"/>
              </a:ext>
            </a:extLst>
          </p:cNvPr>
          <p:cNvSpPr txBox="1"/>
          <p:nvPr/>
        </p:nvSpPr>
        <p:spPr>
          <a:xfrm>
            <a:off x="6989460" y="2467686"/>
            <a:ext cx="4367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solidFill>
                  <a:srgbClr val="1B2A3B"/>
                </a:solidFill>
              </a:rPr>
              <a:t> The system retrieves only one issue → partial answer, limited context.</a:t>
            </a:r>
          </a:p>
        </p:txBody>
      </p:sp>
      <p:pic>
        <p:nvPicPr>
          <p:cNvPr id="55" name="Graphic 61" descr="Arrow Right with solid fill">
            <a:extLst>
              <a:ext uri="{FF2B5EF4-FFF2-40B4-BE49-F238E27FC236}">
                <a16:creationId xmlns:a16="http://schemas.microsoft.com/office/drawing/2014/main" id="{81E8E5E1-0F7A-3212-7B43-DB0923F94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6904413" y="2514055"/>
            <a:ext cx="163418" cy="163418"/>
          </a:xfrm>
          <a:prstGeom prst="rect">
            <a:avLst/>
          </a:prstGeom>
        </p:spPr>
      </p:pic>
      <p:sp>
        <p:nvSpPr>
          <p:cNvPr id="59" name="Shape 14">
            <a:extLst>
              <a:ext uri="{FF2B5EF4-FFF2-40B4-BE49-F238E27FC236}">
                <a16:creationId xmlns:a16="http://schemas.microsoft.com/office/drawing/2014/main" id="{6F675F95-5305-BE54-6A97-092BF18BF7E9}"/>
              </a:ext>
            </a:extLst>
          </p:cNvPr>
          <p:cNvSpPr/>
          <p:nvPr/>
        </p:nvSpPr>
        <p:spPr>
          <a:xfrm>
            <a:off x="6767756" y="3342570"/>
            <a:ext cx="4738852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383AA12-823B-5F04-7367-724EE4E46270}"/>
              </a:ext>
            </a:extLst>
          </p:cNvPr>
          <p:cNvSpPr/>
          <p:nvPr/>
        </p:nvSpPr>
        <p:spPr>
          <a:xfrm>
            <a:off x="6767755" y="3342570"/>
            <a:ext cx="4738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With Similarity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CFD3A85C-AE47-F0F2-005D-D68094D77F02}"/>
              </a:ext>
            </a:extLst>
          </p:cNvPr>
          <p:cNvSpPr/>
          <p:nvPr/>
        </p:nvSpPr>
        <p:spPr>
          <a:xfrm>
            <a:off x="6757153" y="3794955"/>
            <a:ext cx="4744153" cy="21392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AEC7365F-3F51-AB53-96F4-CB57CCD03B2B}"/>
              </a:ext>
            </a:extLst>
          </p:cNvPr>
          <p:cNvSpPr/>
          <p:nvPr/>
        </p:nvSpPr>
        <p:spPr>
          <a:xfrm>
            <a:off x="6904916" y="3688164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0EF0E063-23A0-7E54-7BFE-E9A56F6323CA}"/>
              </a:ext>
            </a:extLst>
          </p:cNvPr>
          <p:cNvSpPr/>
          <p:nvPr/>
        </p:nvSpPr>
        <p:spPr>
          <a:xfrm>
            <a:off x="6894905" y="4550286"/>
            <a:ext cx="4611705" cy="38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B2A3B"/>
                </a:solidFill>
              </a:rPr>
              <a:t>The system retrieves </a:t>
            </a:r>
            <a:r>
              <a:rPr lang="en-US" sz="1200" b="1" noProof="0" dirty="0">
                <a:solidFill>
                  <a:srgbClr val="1B2A3B"/>
                </a:solidFill>
              </a:rPr>
              <a:t>multiple related issues</a:t>
            </a:r>
            <a:r>
              <a:rPr lang="en-US" sz="1200" noProof="0" dirty="0">
                <a:solidFill>
                  <a:srgbClr val="1B2A3B"/>
                </a:solidFill>
              </a:rPr>
              <a:t>:</a:t>
            </a:r>
          </a:p>
          <a:p>
            <a:pPr marL="0" indent="0">
              <a:buNone/>
            </a:pPr>
            <a:endParaRPr lang="en-US" sz="1200" noProof="0" dirty="0">
              <a:solidFill>
                <a:srgbClr val="1B2A3B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Same component (UART / USART)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Similar symptom type (compile-time guard / dependency issue)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rgbClr val="1B2A3B"/>
                </a:solidFill>
              </a:rPr>
              <a:t>Previous fixes already documented in linked threads</a:t>
            </a:r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B8D3F2A0-D8F9-AD49-83A6-E175F47879EF}"/>
              </a:ext>
            </a:extLst>
          </p:cNvPr>
          <p:cNvSpPr/>
          <p:nvPr/>
        </p:nvSpPr>
        <p:spPr>
          <a:xfrm>
            <a:off x="6904916" y="463872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B75C262B-013D-53E2-F8BB-49FAA3BC3483}"/>
              </a:ext>
            </a:extLst>
          </p:cNvPr>
          <p:cNvSpPr/>
          <p:nvPr/>
        </p:nvSpPr>
        <p:spPr>
          <a:xfrm>
            <a:off x="379477" y="1380384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6A2688C-326D-318F-3D9D-0882D8218CC5}"/>
              </a:ext>
            </a:extLst>
          </p:cNvPr>
          <p:cNvSpPr/>
          <p:nvPr/>
        </p:nvSpPr>
        <p:spPr>
          <a:xfrm>
            <a:off x="1056133" y="1499256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1B0EDCB4-3083-5943-490F-E07ADEF5C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760" y="1622883"/>
            <a:ext cx="228234" cy="228234"/>
          </a:xfrm>
          <a:prstGeom prst="rect">
            <a:avLst/>
          </a:prstGeom>
        </p:spPr>
      </p:pic>
      <p:sp>
        <p:nvSpPr>
          <p:cNvPr id="77" name="Text 35">
            <a:extLst>
              <a:ext uri="{FF2B5EF4-FFF2-40B4-BE49-F238E27FC236}">
                <a16:creationId xmlns:a16="http://schemas.microsoft.com/office/drawing/2014/main" id="{9BF8D15B-39DF-EB24-30EE-71F2FCDCBE55}"/>
              </a:ext>
            </a:extLst>
          </p:cNvPr>
          <p:cNvSpPr/>
          <p:nvPr/>
        </p:nvSpPr>
        <p:spPr>
          <a:xfrm>
            <a:off x="379477" y="1983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text</a:t>
            </a:r>
            <a:endParaRPr lang="en-US" sz="1100" dirty="0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75311684-6BBC-3BFE-A76F-03607C51D349}"/>
              </a:ext>
            </a:extLst>
          </p:cNvPr>
          <p:cNvSpPr/>
          <p:nvPr/>
        </p:nvSpPr>
        <p:spPr>
          <a:xfrm flipH="1">
            <a:off x="1290240" y="2278682"/>
            <a:ext cx="0" cy="238687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2F4E9D48-F0E5-7053-2096-3429617D2B66}"/>
              </a:ext>
            </a:extLst>
          </p:cNvPr>
          <p:cNvSpPr/>
          <p:nvPr/>
        </p:nvSpPr>
        <p:spPr>
          <a:xfrm>
            <a:off x="379477" y="2519555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D791C97E-74D8-1D70-2992-611121388E72}"/>
              </a:ext>
            </a:extLst>
          </p:cNvPr>
          <p:cNvSpPr/>
          <p:nvPr/>
        </p:nvSpPr>
        <p:spPr>
          <a:xfrm>
            <a:off x="1056133" y="2638427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85" name="Image 1" descr="preencoded.png">
            <a:extLst>
              <a:ext uri="{FF2B5EF4-FFF2-40B4-BE49-F238E27FC236}">
                <a16:creationId xmlns:a16="http://schemas.microsoft.com/office/drawing/2014/main" id="{A5EDF29E-F5A1-5BA9-DF86-F084B06C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760" y="2762054"/>
            <a:ext cx="228234" cy="228234"/>
          </a:xfrm>
          <a:prstGeom prst="rect">
            <a:avLst/>
          </a:prstGeom>
        </p:spPr>
      </p:pic>
      <p:sp>
        <p:nvSpPr>
          <p:cNvPr id="87" name="Text 39">
            <a:extLst>
              <a:ext uri="{FF2B5EF4-FFF2-40B4-BE49-F238E27FC236}">
                <a16:creationId xmlns:a16="http://schemas.microsoft.com/office/drawing/2014/main" id="{40BBCD26-3FFF-EC81-5DC5-AF433063C8BA}"/>
              </a:ext>
            </a:extLst>
          </p:cNvPr>
          <p:cNvSpPr/>
          <p:nvPr/>
        </p:nvSpPr>
        <p:spPr>
          <a:xfrm>
            <a:off x="379477" y="312305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E05E88B6-4579-B439-DE44-CA1AEF6CA5B0}"/>
              </a:ext>
            </a:extLst>
          </p:cNvPr>
          <p:cNvSpPr/>
          <p:nvPr/>
        </p:nvSpPr>
        <p:spPr>
          <a:xfrm flipH="1">
            <a:off x="1290240" y="3382221"/>
            <a:ext cx="0" cy="242838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101" name="Shape 41">
            <a:extLst>
              <a:ext uri="{FF2B5EF4-FFF2-40B4-BE49-F238E27FC236}">
                <a16:creationId xmlns:a16="http://schemas.microsoft.com/office/drawing/2014/main" id="{83DEF911-4E87-C1A4-AFC0-3428B35C7CA3}"/>
              </a:ext>
            </a:extLst>
          </p:cNvPr>
          <p:cNvSpPr/>
          <p:nvPr/>
        </p:nvSpPr>
        <p:spPr>
          <a:xfrm>
            <a:off x="395441" y="3629108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3" name="Shape 42">
            <a:extLst>
              <a:ext uri="{FF2B5EF4-FFF2-40B4-BE49-F238E27FC236}">
                <a16:creationId xmlns:a16="http://schemas.microsoft.com/office/drawing/2014/main" id="{C3BBDF4A-2847-E9C1-D1B5-E0A0EE04C19E}"/>
              </a:ext>
            </a:extLst>
          </p:cNvPr>
          <p:cNvSpPr/>
          <p:nvPr/>
        </p:nvSpPr>
        <p:spPr>
          <a:xfrm>
            <a:off x="1072097" y="3747980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19C41C04-58BB-A08C-B700-F51809C8C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724" y="3871607"/>
            <a:ext cx="228234" cy="228234"/>
          </a:xfrm>
          <a:prstGeom prst="rect">
            <a:avLst/>
          </a:prstGeom>
        </p:spPr>
      </p:pic>
      <p:sp>
        <p:nvSpPr>
          <p:cNvPr id="107" name="Text 43">
            <a:extLst>
              <a:ext uri="{FF2B5EF4-FFF2-40B4-BE49-F238E27FC236}">
                <a16:creationId xmlns:a16="http://schemas.microsoft.com/office/drawing/2014/main" id="{EB46BA04-12A3-8D0D-D519-5076674D6CE5}"/>
              </a:ext>
            </a:extLst>
          </p:cNvPr>
          <p:cNvSpPr/>
          <p:nvPr/>
        </p:nvSpPr>
        <p:spPr>
          <a:xfrm>
            <a:off x="395441" y="42326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</p:txBody>
      </p:sp>
      <p:sp>
        <p:nvSpPr>
          <p:cNvPr id="111" name="Shape 45">
            <a:extLst>
              <a:ext uri="{FF2B5EF4-FFF2-40B4-BE49-F238E27FC236}">
                <a16:creationId xmlns:a16="http://schemas.microsoft.com/office/drawing/2014/main" id="{30C2D124-9028-26B5-8494-426BE13594E6}"/>
              </a:ext>
            </a:extLst>
          </p:cNvPr>
          <p:cNvSpPr/>
          <p:nvPr/>
        </p:nvSpPr>
        <p:spPr>
          <a:xfrm>
            <a:off x="399639" y="4686801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3294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3" name="Shape 46">
            <a:extLst>
              <a:ext uri="{FF2B5EF4-FFF2-40B4-BE49-F238E27FC236}">
                <a16:creationId xmlns:a16="http://schemas.microsoft.com/office/drawing/2014/main" id="{5A2C082B-076C-61F1-698A-A238F53A5707}"/>
              </a:ext>
            </a:extLst>
          </p:cNvPr>
          <p:cNvSpPr/>
          <p:nvPr/>
        </p:nvSpPr>
        <p:spPr>
          <a:xfrm>
            <a:off x="1076295" y="4805673"/>
            <a:ext cx="475488" cy="475488"/>
          </a:xfrm>
          <a:prstGeom prst="ellipse">
            <a:avLst/>
          </a:prstGeom>
          <a:solidFill>
            <a:srgbClr val="12B0E8"/>
          </a:solidFill>
          <a:ln/>
          <a:effectLst>
            <a:outerShdw blurRad="76200" dist="254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pic>
        <p:nvPicPr>
          <p:cNvPr id="115" name="Image 3" descr="preencoded.png">
            <a:extLst>
              <a:ext uri="{FF2B5EF4-FFF2-40B4-BE49-F238E27FC236}">
                <a16:creationId xmlns:a16="http://schemas.microsoft.com/office/drawing/2014/main" id="{3C3B1686-8727-36E4-9A78-1282FB775B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922" y="4929300"/>
            <a:ext cx="228234" cy="228234"/>
          </a:xfrm>
          <a:prstGeom prst="rect">
            <a:avLst/>
          </a:prstGeom>
        </p:spPr>
      </p:pic>
      <p:sp>
        <p:nvSpPr>
          <p:cNvPr id="117" name="Text 47">
            <a:extLst>
              <a:ext uri="{FF2B5EF4-FFF2-40B4-BE49-F238E27FC236}">
                <a16:creationId xmlns:a16="http://schemas.microsoft.com/office/drawing/2014/main" id="{61455E88-C934-FBFB-A751-B6288AE27EDE}"/>
              </a:ext>
            </a:extLst>
          </p:cNvPr>
          <p:cNvSpPr/>
          <p:nvPr/>
        </p:nvSpPr>
        <p:spPr>
          <a:xfrm>
            <a:off x="399639" y="5290305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IDs</a:t>
            </a:r>
            <a:endParaRPr lang="en-US" sz="1100" dirty="0"/>
          </a:p>
        </p:txBody>
      </p:sp>
      <p:sp>
        <p:nvSpPr>
          <p:cNvPr id="119" name="Shape 36">
            <a:extLst>
              <a:ext uri="{FF2B5EF4-FFF2-40B4-BE49-F238E27FC236}">
                <a16:creationId xmlns:a16="http://schemas.microsoft.com/office/drawing/2014/main" id="{F223A4CF-90ED-CB30-8698-03156735EA1B}"/>
              </a:ext>
            </a:extLst>
          </p:cNvPr>
          <p:cNvSpPr/>
          <p:nvPr/>
        </p:nvSpPr>
        <p:spPr>
          <a:xfrm>
            <a:off x="1290240" y="4497788"/>
            <a:ext cx="0" cy="181954"/>
          </a:xfrm>
          <a:prstGeom prst="line">
            <a:avLst/>
          </a:prstGeom>
          <a:noFill/>
          <a:ln w="20320">
            <a:solidFill>
              <a:srgbClr val="12B0E8"/>
            </a:solidFill>
            <a:prstDash val="solid"/>
          </a:ln>
        </p:spPr>
        <p:txBody>
          <a:bodyPr/>
          <a:lstStyle/>
          <a:p>
            <a:endParaRPr lang="fr-TN" dirty="0"/>
          </a:p>
        </p:txBody>
      </p:sp>
      <p:sp>
        <p:nvSpPr>
          <p:cNvPr id="3" name="rr">
            <a:extLst>
              <a:ext uri="{FF2B5EF4-FFF2-40B4-BE49-F238E27FC236}">
                <a16:creationId xmlns:a16="http://schemas.microsoft.com/office/drawing/2014/main" id="{2EA1C923-E3CE-65B1-CA3E-E398CFAA60FD}"/>
              </a:ext>
            </a:extLst>
          </p:cNvPr>
          <p:cNvSpPr/>
          <p:nvPr/>
        </p:nvSpPr>
        <p:spPr>
          <a:xfrm>
            <a:off x="1289843" y="635834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b">
            <a:extLst>
              <a:ext uri="{FF2B5EF4-FFF2-40B4-BE49-F238E27FC236}">
                <a16:creationId xmlns:a16="http://schemas.microsoft.com/office/drawing/2014/main" id="{D6F1D139-832E-BFD7-1355-F2B66BF93015}"/>
              </a:ext>
            </a:extLst>
          </p:cNvPr>
          <p:cNvSpPr>
            <a:spLocks noGrp="1"/>
          </p:cNvSpPr>
          <p:nvPr/>
        </p:nvSpPr>
        <p:spPr>
          <a:xfrm>
            <a:off x="1564163" y="631262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  <p:sp>
        <p:nvSpPr>
          <p:cNvPr id="6" name="Shape 52">
            <a:extLst>
              <a:ext uri="{FF2B5EF4-FFF2-40B4-BE49-F238E27FC236}">
                <a16:creationId xmlns:a16="http://schemas.microsoft.com/office/drawing/2014/main" id="{533FF36D-894C-5FE0-F45F-9AD7C2DBFE7D}"/>
              </a:ext>
            </a:extLst>
          </p:cNvPr>
          <p:cNvSpPr/>
          <p:nvPr/>
        </p:nvSpPr>
        <p:spPr>
          <a:xfrm>
            <a:off x="3287361" y="2670800"/>
            <a:ext cx="3170294" cy="2027764"/>
          </a:xfrm>
          <a:prstGeom prst="roundRect">
            <a:avLst>
              <a:gd name="adj" fmla="val 6452"/>
            </a:avLst>
          </a:prstGeom>
          <a:solidFill>
            <a:srgbClr val="123026"/>
          </a:solidFill>
          <a:ln w="12700">
            <a:solidFill>
              <a:srgbClr val="34C08A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3">
            <a:extLst>
              <a:ext uri="{FF2B5EF4-FFF2-40B4-BE49-F238E27FC236}">
                <a16:creationId xmlns:a16="http://schemas.microsoft.com/office/drawing/2014/main" id="{EBD11418-9E6B-F619-0CC4-C6235BEB60E8}"/>
              </a:ext>
            </a:extLst>
          </p:cNvPr>
          <p:cNvSpPr/>
          <p:nvPr/>
        </p:nvSpPr>
        <p:spPr>
          <a:xfrm>
            <a:off x="3575228" y="2762123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4">
            <a:extLst>
              <a:ext uri="{FF2B5EF4-FFF2-40B4-BE49-F238E27FC236}">
                <a16:creationId xmlns:a16="http://schemas.microsoft.com/office/drawing/2014/main" id="{579DD2CF-6FF2-1239-34FE-83CFCCBDCB55}"/>
              </a:ext>
            </a:extLst>
          </p:cNvPr>
          <p:cNvSpPr/>
          <p:nvPr/>
        </p:nvSpPr>
        <p:spPr>
          <a:xfrm>
            <a:off x="3438443" y="2959255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“HAL_UART compile error when UART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disabled”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2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</a:t>
            </a:r>
            <a:r>
              <a:rPr lang="en-US" sz="12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“USART build fails, missing UART macro”</a:t>
            </a:r>
            <a:endParaRPr lang="en-US" sz="1200" dirty="0"/>
          </a:p>
        </p:txBody>
      </p:sp>
      <p:sp>
        <p:nvSpPr>
          <p:cNvPr id="9" name="Text 55">
            <a:extLst>
              <a:ext uri="{FF2B5EF4-FFF2-40B4-BE49-F238E27FC236}">
                <a16:creationId xmlns:a16="http://schemas.microsoft.com/office/drawing/2014/main" id="{0F74DB4E-D082-3283-4373-8ADADCB2A50B}"/>
              </a:ext>
            </a:extLst>
          </p:cNvPr>
          <p:cNvSpPr/>
          <p:nvPr/>
        </p:nvSpPr>
        <p:spPr>
          <a:xfrm>
            <a:off x="3438443" y="3805075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0.72</a:t>
            </a:r>
            <a:r>
              <a:rPr lang="en-US" sz="1400" dirty="0">
                <a:solidFill>
                  <a:srgbClr val="D3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same topic, linked.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73776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2BC3-FAA1-DA98-BC70-1FA461ED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B490-164C-9A14-FC64-5A3DD922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Data Preprocessing Pipeline</a:t>
            </a:r>
            <a:endParaRPr lang="en-US" sz="1800" noProof="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1666D77-5C0B-5F4D-BE93-EF1DBA2019AC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7D6F2E-79AE-8D1B-0397-230026266353}"/>
              </a:ext>
            </a:extLst>
          </p:cNvPr>
          <p:cNvSpPr/>
          <p:nvPr/>
        </p:nvSpPr>
        <p:spPr>
          <a:xfrm>
            <a:off x="1418507" y="10598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D8B3921C-D34A-3347-1F09-74D9B50F1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015657" flipH="1" flipV="1">
            <a:off x="6674780" y="4495689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10C9E9C-4BDA-7010-E5E8-D90B0AFBC144}"/>
              </a:ext>
            </a:extLst>
          </p:cNvPr>
          <p:cNvSpPr/>
          <p:nvPr/>
        </p:nvSpPr>
        <p:spPr>
          <a:xfrm>
            <a:off x="2337372" y="4239617"/>
            <a:ext cx="4114800" cy="22051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E24A67C2-D93A-6440-5373-EF43AFAB208F}"/>
              </a:ext>
            </a:extLst>
          </p:cNvPr>
          <p:cNvSpPr/>
          <p:nvPr/>
        </p:nvSpPr>
        <p:spPr>
          <a:xfrm>
            <a:off x="2337372" y="423961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C06781DF-394F-E05C-E0F5-3D47F2CC5B9D}"/>
              </a:ext>
            </a:extLst>
          </p:cNvPr>
          <p:cNvSpPr/>
          <p:nvPr/>
        </p:nvSpPr>
        <p:spPr>
          <a:xfrm>
            <a:off x="2538540" y="433105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noProof="0" dirty="0">
                <a:solidFill>
                  <a:srgbClr val="0D9488"/>
                </a:solidFill>
              </a:rPr>
              <a:t>❓ </a:t>
            </a:r>
            <a:r>
              <a:rPr lang="en-US" sz="1050" b="1" noProof="0" dirty="0">
                <a:solidFill>
                  <a:srgbClr val="0D9589"/>
                </a:solidFill>
              </a:rPr>
              <a:t>Data Generation Objective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D1B30DA-6C34-B9F4-5674-34C580790E81}"/>
              </a:ext>
            </a:extLst>
          </p:cNvPr>
          <p:cNvSpPr/>
          <p:nvPr/>
        </p:nvSpPr>
        <p:spPr>
          <a:xfrm>
            <a:off x="854028" y="182978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68235DE-203F-A240-5ECD-C26711FF6A30}"/>
              </a:ext>
            </a:extLst>
          </p:cNvPr>
          <p:cNvSpPr/>
          <p:nvPr/>
        </p:nvSpPr>
        <p:spPr>
          <a:xfrm>
            <a:off x="854028" y="182978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239F798-E9D3-2A88-57B9-82BF2D757183}"/>
              </a:ext>
            </a:extLst>
          </p:cNvPr>
          <p:cNvSpPr/>
          <p:nvPr/>
        </p:nvSpPr>
        <p:spPr>
          <a:xfrm>
            <a:off x="854028" y="18297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9BB47DCE-6F18-1E73-541C-88C5D9FE3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240" y="1898125"/>
            <a:ext cx="329184" cy="329184"/>
          </a:xfrm>
          <a:prstGeom prst="rect">
            <a:avLst/>
          </a:prstGeom>
        </p:spPr>
      </p:pic>
      <p:sp>
        <p:nvSpPr>
          <p:cNvPr id="47" name="Text 8">
            <a:extLst>
              <a:ext uri="{FF2B5EF4-FFF2-40B4-BE49-F238E27FC236}">
                <a16:creationId xmlns:a16="http://schemas.microsoft.com/office/drawing/2014/main" id="{9FFB9303-DE0C-B97C-5763-A56AF71474CA}"/>
              </a:ext>
            </a:extLst>
          </p:cNvPr>
          <p:cNvSpPr/>
          <p:nvPr/>
        </p:nvSpPr>
        <p:spPr>
          <a:xfrm>
            <a:off x="1059768" y="234632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C14AB4D-F5BD-0922-3303-78E7CC8D84CB}"/>
              </a:ext>
            </a:extLst>
          </p:cNvPr>
          <p:cNvSpPr/>
          <p:nvPr/>
        </p:nvSpPr>
        <p:spPr>
          <a:xfrm>
            <a:off x="1017730" y="279819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FCF81230-D0CA-31FA-1B72-9FA7B8081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170" y="2870055"/>
            <a:ext cx="237744" cy="237744"/>
          </a:xfrm>
          <a:prstGeom prst="rect">
            <a:avLst/>
          </a:prstGeom>
        </p:spPr>
      </p:pic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EA231194-20B3-4446-60CE-003E0B9D7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999" y="2858480"/>
            <a:ext cx="237744" cy="237744"/>
          </a:xfrm>
          <a:prstGeom prst="rect">
            <a:avLst/>
          </a:prstGeom>
        </p:spPr>
      </p:pic>
      <p:sp>
        <p:nvSpPr>
          <p:cNvPr id="51" name="Shape 15">
            <a:extLst>
              <a:ext uri="{FF2B5EF4-FFF2-40B4-BE49-F238E27FC236}">
                <a16:creationId xmlns:a16="http://schemas.microsoft.com/office/drawing/2014/main" id="{107699A7-84F0-FC67-5BEF-28FB52732EE4}"/>
              </a:ext>
            </a:extLst>
          </p:cNvPr>
          <p:cNvSpPr/>
          <p:nvPr/>
        </p:nvSpPr>
        <p:spPr>
          <a:xfrm>
            <a:off x="3833043" y="182520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DB4A0BC2-0B10-5642-37F3-DB2F1D09D246}"/>
              </a:ext>
            </a:extLst>
          </p:cNvPr>
          <p:cNvSpPr/>
          <p:nvPr/>
        </p:nvSpPr>
        <p:spPr>
          <a:xfrm>
            <a:off x="3838908" y="1835789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6416929-3F16-8E21-549C-68F286F20B7F}"/>
              </a:ext>
            </a:extLst>
          </p:cNvPr>
          <p:cNvSpPr/>
          <p:nvPr/>
        </p:nvSpPr>
        <p:spPr>
          <a:xfrm>
            <a:off x="3903583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D7A18C78-D4A5-9496-D987-7F334A505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05" y="1902442"/>
            <a:ext cx="329184" cy="329184"/>
          </a:xfrm>
          <a:prstGeom prst="rect">
            <a:avLst/>
          </a:prstGeom>
        </p:spPr>
      </p:pic>
      <p:sp>
        <p:nvSpPr>
          <p:cNvPr id="59" name="Text 18">
            <a:extLst>
              <a:ext uri="{FF2B5EF4-FFF2-40B4-BE49-F238E27FC236}">
                <a16:creationId xmlns:a16="http://schemas.microsoft.com/office/drawing/2014/main" id="{57336673-9C9C-B42C-DDF6-DF6361E38855}"/>
              </a:ext>
            </a:extLst>
          </p:cNvPr>
          <p:cNvSpPr/>
          <p:nvPr/>
        </p:nvSpPr>
        <p:spPr>
          <a:xfrm>
            <a:off x="3945463" y="247315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2B8DC64-0769-8914-30CC-DA27FC7D06B0}"/>
              </a:ext>
            </a:extLst>
          </p:cNvPr>
          <p:cNvSpPr/>
          <p:nvPr/>
        </p:nvSpPr>
        <p:spPr>
          <a:xfrm>
            <a:off x="4014001" y="290378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71" name="Image 5" descr="preencoded.png">
            <a:extLst>
              <a:ext uri="{FF2B5EF4-FFF2-40B4-BE49-F238E27FC236}">
                <a16:creationId xmlns:a16="http://schemas.microsoft.com/office/drawing/2014/main" id="{04C8A5E6-2954-A07D-1EFE-8FC523C657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479" y="2853660"/>
            <a:ext cx="237744" cy="237744"/>
          </a:xfrm>
          <a:prstGeom prst="rect">
            <a:avLst/>
          </a:prstGeom>
        </p:spPr>
      </p:pic>
      <p:sp>
        <p:nvSpPr>
          <p:cNvPr id="72" name="Shape 20">
            <a:extLst>
              <a:ext uri="{FF2B5EF4-FFF2-40B4-BE49-F238E27FC236}">
                <a16:creationId xmlns:a16="http://schemas.microsoft.com/office/drawing/2014/main" id="{BE0B2BB7-A25A-FE74-FA77-D1A206256FB6}"/>
              </a:ext>
            </a:extLst>
          </p:cNvPr>
          <p:cNvSpPr/>
          <p:nvPr/>
        </p:nvSpPr>
        <p:spPr>
          <a:xfrm>
            <a:off x="5434608" y="183578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0F176867-0616-9A6E-844F-57026408284F}"/>
              </a:ext>
            </a:extLst>
          </p:cNvPr>
          <p:cNvSpPr/>
          <p:nvPr/>
        </p:nvSpPr>
        <p:spPr>
          <a:xfrm>
            <a:off x="5448063" y="182038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F779CFF2-90A5-060C-277F-7D031E297EA1}"/>
              </a:ext>
            </a:extLst>
          </p:cNvPr>
          <p:cNvSpPr/>
          <p:nvPr/>
        </p:nvSpPr>
        <p:spPr>
          <a:xfrm>
            <a:off x="5448063" y="182038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B5CD433E-2857-C77B-45F2-9FC59D95D795}"/>
              </a:ext>
            </a:extLst>
          </p:cNvPr>
          <p:cNvSpPr/>
          <p:nvPr/>
        </p:nvSpPr>
        <p:spPr>
          <a:xfrm>
            <a:off x="5634381" y="2343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A5B47C19-41D1-5476-CF46-55EFA3F967E5}"/>
              </a:ext>
            </a:extLst>
          </p:cNvPr>
          <p:cNvSpPr/>
          <p:nvPr/>
        </p:nvSpPr>
        <p:spPr>
          <a:xfrm>
            <a:off x="5643862" y="27211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B43F24DA-F0C1-18CC-2F03-F93B14EE40E5}"/>
              </a:ext>
            </a:extLst>
          </p:cNvPr>
          <p:cNvSpPr/>
          <p:nvPr/>
        </p:nvSpPr>
        <p:spPr>
          <a:xfrm>
            <a:off x="8549187" y="1820388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0A20B649-4E0E-1DE9-4134-037C8F4F765C}"/>
              </a:ext>
            </a:extLst>
          </p:cNvPr>
          <p:cNvSpPr/>
          <p:nvPr/>
        </p:nvSpPr>
        <p:spPr>
          <a:xfrm>
            <a:off x="8549187" y="1820389"/>
            <a:ext cx="121860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C5F23D3F-5794-A84C-DEC4-193B5597B2A9}"/>
              </a:ext>
            </a:extLst>
          </p:cNvPr>
          <p:cNvSpPr/>
          <p:nvPr/>
        </p:nvSpPr>
        <p:spPr>
          <a:xfrm>
            <a:off x="8549187" y="182038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97" name="Image 12" descr="preencoded.png">
            <a:extLst>
              <a:ext uri="{FF2B5EF4-FFF2-40B4-BE49-F238E27FC236}">
                <a16:creationId xmlns:a16="http://schemas.microsoft.com/office/drawing/2014/main" id="{B2ABBAFF-3C2D-8770-C91B-7545BB2D7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1554" y="1905458"/>
            <a:ext cx="288037" cy="288037"/>
          </a:xfrm>
          <a:prstGeom prst="rect">
            <a:avLst/>
          </a:prstGeom>
        </p:spPr>
      </p:pic>
      <p:sp>
        <p:nvSpPr>
          <p:cNvPr id="98" name="Text 38">
            <a:extLst>
              <a:ext uri="{FF2B5EF4-FFF2-40B4-BE49-F238E27FC236}">
                <a16:creationId xmlns:a16="http://schemas.microsoft.com/office/drawing/2014/main" id="{9C5182C5-9988-2FCA-7F4C-3DA6562199E4}"/>
              </a:ext>
            </a:extLst>
          </p:cNvPr>
          <p:cNvSpPr/>
          <p:nvPr/>
        </p:nvSpPr>
        <p:spPr>
          <a:xfrm>
            <a:off x="8486773" y="2439538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99" name="Text 39">
            <a:extLst>
              <a:ext uri="{FF2B5EF4-FFF2-40B4-BE49-F238E27FC236}">
                <a16:creationId xmlns:a16="http://schemas.microsoft.com/office/drawing/2014/main" id="{57A91BD0-B89E-0A44-8E08-97076200D687}"/>
              </a:ext>
            </a:extLst>
          </p:cNvPr>
          <p:cNvSpPr/>
          <p:nvPr/>
        </p:nvSpPr>
        <p:spPr>
          <a:xfrm>
            <a:off x="8648177" y="278218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00" name="Graphic 99" descr="Dice with solid fill">
            <a:extLst>
              <a:ext uri="{FF2B5EF4-FFF2-40B4-BE49-F238E27FC236}">
                <a16:creationId xmlns:a16="http://schemas.microsoft.com/office/drawing/2014/main" id="{3C32B025-785C-CDD9-654F-0923785A6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0244" y="1847819"/>
            <a:ext cx="402338" cy="402338"/>
          </a:xfrm>
          <a:prstGeom prst="rect">
            <a:avLst/>
          </a:prstGeom>
        </p:spPr>
      </p:pic>
      <p:sp>
        <p:nvSpPr>
          <p:cNvPr id="101" name="Shape 20">
            <a:extLst>
              <a:ext uri="{FF2B5EF4-FFF2-40B4-BE49-F238E27FC236}">
                <a16:creationId xmlns:a16="http://schemas.microsoft.com/office/drawing/2014/main" id="{6CA95043-1E97-2B20-FBDE-2442E29DE824}"/>
              </a:ext>
            </a:extLst>
          </p:cNvPr>
          <p:cNvSpPr/>
          <p:nvPr/>
        </p:nvSpPr>
        <p:spPr>
          <a:xfrm>
            <a:off x="6990565" y="1829782"/>
            <a:ext cx="1410673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D7F25817-94E4-B28A-01EF-850B22E16A8B}"/>
              </a:ext>
            </a:extLst>
          </p:cNvPr>
          <p:cNvSpPr/>
          <p:nvPr/>
        </p:nvSpPr>
        <p:spPr>
          <a:xfrm>
            <a:off x="6990565" y="1825208"/>
            <a:ext cx="141195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CE23C72-7B0B-21F0-2884-2426C4A353BA}"/>
              </a:ext>
            </a:extLst>
          </p:cNvPr>
          <p:cNvSpPr/>
          <p:nvPr/>
        </p:nvSpPr>
        <p:spPr>
          <a:xfrm>
            <a:off x="7065207" y="182520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36230F75-784D-1EE1-B33B-EFECE1E93203}"/>
              </a:ext>
            </a:extLst>
          </p:cNvPr>
          <p:cNvSpPr/>
          <p:nvPr/>
        </p:nvSpPr>
        <p:spPr>
          <a:xfrm>
            <a:off x="7188468" y="235103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8EFE7FC3-A1AC-7CAA-7A10-4DC5F59880FF}"/>
              </a:ext>
            </a:extLst>
          </p:cNvPr>
          <p:cNvSpPr/>
          <p:nvPr/>
        </p:nvSpPr>
        <p:spPr>
          <a:xfrm>
            <a:off x="7190187" y="2813463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06" name="Graphic 105" descr="Database with solid fill">
            <a:extLst>
              <a:ext uri="{FF2B5EF4-FFF2-40B4-BE49-F238E27FC236}">
                <a16:creationId xmlns:a16="http://schemas.microsoft.com/office/drawing/2014/main" id="{E16CC43A-C6DE-96F1-1CD4-99334A842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8790" y="1849528"/>
            <a:ext cx="390272" cy="390272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D7D847E-EE57-4412-8966-5308B8731D35}"/>
              </a:ext>
            </a:extLst>
          </p:cNvPr>
          <p:cNvCxnSpPr>
            <a:stCxn id="51" idx="3"/>
            <a:endCxn id="72" idx="1"/>
          </p:cNvCxnSpPr>
          <p:nvPr/>
        </p:nvCxnSpPr>
        <p:spPr>
          <a:xfrm>
            <a:off x="5239771" y="281577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51E1A1E-CDDC-0294-5D79-EF76CA2C224B}"/>
              </a:ext>
            </a:extLst>
          </p:cNvPr>
          <p:cNvCxnSpPr>
            <a:cxnSpLocks/>
            <a:stCxn id="72" idx="3"/>
            <a:endCxn id="101" idx="1"/>
          </p:cNvCxnSpPr>
          <p:nvPr/>
        </p:nvCxnSpPr>
        <p:spPr>
          <a:xfrm flipV="1">
            <a:off x="6832046" y="2820353"/>
            <a:ext cx="158519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FD965102-CB09-368B-C720-FD7EACE0CA2B}"/>
              </a:ext>
            </a:extLst>
          </p:cNvPr>
          <p:cNvCxnSpPr>
            <a:cxnSpLocks/>
            <a:stCxn id="101" idx="3"/>
          </p:cNvCxnSpPr>
          <p:nvPr/>
        </p:nvCxnSpPr>
        <p:spPr>
          <a:xfrm>
            <a:off x="8401238" y="2820353"/>
            <a:ext cx="149743" cy="6007"/>
          </a:xfrm>
          <a:prstGeom prst="bentConnector3">
            <a:avLst>
              <a:gd name="adj1" fmla="val 50000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Image 1" descr="preencoded.png">
            <a:extLst>
              <a:ext uri="{FF2B5EF4-FFF2-40B4-BE49-F238E27FC236}">
                <a16:creationId xmlns:a16="http://schemas.microsoft.com/office/drawing/2014/main" id="{C551FE3D-CA0D-F605-668D-3D47725E3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911" y="2882800"/>
            <a:ext cx="237744" cy="237744"/>
          </a:xfrm>
          <a:prstGeom prst="rect">
            <a:avLst/>
          </a:prstGeom>
        </p:spPr>
      </p:pic>
      <p:sp>
        <p:nvSpPr>
          <p:cNvPr id="113" name="Shape 10">
            <a:extLst>
              <a:ext uri="{FF2B5EF4-FFF2-40B4-BE49-F238E27FC236}">
                <a16:creationId xmlns:a16="http://schemas.microsoft.com/office/drawing/2014/main" id="{B6A7885A-E224-15B9-C99D-F92DAEB88F78}"/>
              </a:ext>
            </a:extLst>
          </p:cNvPr>
          <p:cNvSpPr/>
          <p:nvPr/>
        </p:nvSpPr>
        <p:spPr>
          <a:xfrm>
            <a:off x="2294428" y="182717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4" name="Shape 11">
            <a:extLst>
              <a:ext uri="{FF2B5EF4-FFF2-40B4-BE49-F238E27FC236}">
                <a16:creationId xmlns:a16="http://schemas.microsoft.com/office/drawing/2014/main" id="{7A60AE56-0F01-B466-3E5C-37316716CA5B}"/>
              </a:ext>
            </a:extLst>
          </p:cNvPr>
          <p:cNvSpPr/>
          <p:nvPr/>
        </p:nvSpPr>
        <p:spPr>
          <a:xfrm>
            <a:off x="2294428" y="182717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3B1A67FA-71D9-740F-BAFF-F0DC4136B16E}"/>
              </a:ext>
            </a:extLst>
          </p:cNvPr>
          <p:cNvSpPr/>
          <p:nvPr/>
        </p:nvSpPr>
        <p:spPr>
          <a:xfrm>
            <a:off x="2294428" y="182717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8" name="Graphic 117" descr="Eraser with solid fill">
            <a:extLst>
              <a:ext uri="{FF2B5EF4-FFF2-40B4-BE49-F238E27FC236}">
                <a16:creationId xmlns:a16="http://schemas.microsoft.com/office/drawing/2014/main" id="{3F320AC1-6EF0-759B-C962-52E10E4CE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38562" y="1892836"/>
            <a:ext cx="329184" cy="329184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E443017-877F-96BE-39C5-8F97A89CC158}"/>
              </a:ext>
            </a:extLst>
          </p:cNvPr>
          <p:cNvCxnSpPr>
            <a:stCxn id="3" idx="3"/>
            <a:endCxn id="113" idx="1"/>
          </p:cNvCxnSpPr>
          <p:nvPr/>
        </p:nvCxnSpPr>
        <p:spPr>
          <a:xfrm flipV="1">
            <a:off x="2158810" y="281424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4BA1EB2-B48A-2299-B0FB-EBD2A4875659}"/>
              </a:ext>
            </a:extLst>
          </p:cNvPr>
          <p:cNvCxnSpPr>
            <a:stCxn id="113" idx="3"/>
            <a:endCxn id="51" idx="1"/>
          </p:cNvCxnSpPr>
          <p:nvPr/>
        </p:nvCxnSpPr>
        <p:spPr>
          <a:xfrm>
            <a:off x="3707176" y="281424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0D6E-79C9-FED4-AC2E-0F9187BE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46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362A1-1F90-5563-D7CE-3A810FB96323}"/>
              </a:ext>
            </a:extLst>
          </p:cNvPr>
          <p:cNvSpPr txBox="1"/>
          <p:nvPr/>
        </p:nvSpPr>
        <p:spPr>
          <a:xfrm>
            <a:off x="2443385" y="4646368"/>
            <a:ext cx="3794760" cy="167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noProof="0" dirty="0">
                <a:effectLst/>
              </a:rPr>
              <a:t>Data Generation </a:t>
            </a:r>
            <a:r>
              <a:rPr lang="en-US" sz="1000" b="0" i="0" noProof="0" dirty="0">
                <a:effectLst/>
              </a:rPr>
              <a:t>is the key step that turns processed data into useful knowledge, so the assistant can find the right answer.</a:t>
            </a:r>
          </a:p>
          <a:p>
            <a:endParaRPr lang="en-US" sz="1000" b="0" i="0" noProof="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Resolver Cases : </a:t>
            </a:r>
            <a:r>
              <a:rPr lang="en-US" sz="1000" b="0" i="0" noProof="0" dirty="0">
                <a:effectLst/>
              </a:rPr>
              <a:t>they connect issues to likely fixes (PRs/commits), so the assistant can suggest concrete solutions.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b="1" i="0" noProof="0" dirty="0">
                <a:solidFill>
                  <a:srgbClr val="0D9589"/>
                </a:solidFill>
                <a:effectLst/>
              </a:rPr>
              <a:t>Diagnostic Cards </a:t>
            </a:r>
            <a:r>
              <a:rPr lang="en-US" sz="1000" b="0" i="0" noProof="0" dirty="0">
                <a:effectLst/>
              </a:rPr>
              <a:t>:they provide clear checks and questions, so the assistant can guide troubleshooting quickly.</a:t>
            </a:r>
            <a:endParaRPr lang="en-US" sz="1000" noProof="0" dirty="0"/>
          </a:p>
        </p:txBody>
      </p:sp>
      <p:pic>
        <p:nvPicPr>
          <p:cNvPr id="5" name="Image 7" descr="preencoded.png">
            <a:extLst>
              <a:ext uri="{FF2B5EF4-FFF2-40B4-BE49-F238E27FC236}">
                <a16:creationId xmlns:a16="http://schemas.microsoft.com/office/drawing/2014/main" id="{B0D08E0E-CE98-14D3-A0D4-E3C9298E0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791" y="1948660"/>
            <a:ext cx="237744" cy="237744"/>
          </a:xfrm>
          <a:prstGeom prst="rect">
            <a:avLst/>
          </a:prstGeom>
        </p:spPr>
      </p:pic>
      <p:pic>
        <p:nvPicPr>
          <p:cNvPr id="7" name="Image 9" descr="preencoded.png">
            <a:extLst>
              <a:ext uri="{FF2B5EF4-FFF2-40B4-BE49-F238E27FC236}">
                <a16:creationId xmlns:a16="http://schemas.microsoft.com/office/drawing/2014/main" id="{1F2E6923-B48F-D7B8-168F-A22614446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685" y="2833894"/>
            <a:ext cx="237744" cy="237744"/>
          </a:xfrm>
          <a:prstGeom prst="rect">
            <a:avLst/>
          </a:prstGeom>
        </p:spPr>
      </p:pic>
      <p:sp>
        <p:nvSpPr>
          <p:cNvPr id="8" name="Shape 30">
            <a:extLst>
              <a:ext uri="{FF2B5EF4-FFF2-40B4-BE49-F238E27FC236}">
                <a16:creationId xmlns:a16="http://schemas.microsoft.com/office/drawing/2014/main" id="{A480F852-0DC1-3089-20EF-19DE94A9A630}"/>
              </a:ext>
            </a:extLst>
          </p:cNvPr>
          <p:cNvSpPr/>
          <p:nvPr/>
        </p:nvSpPr>
        <p:spPr>
          <a:xfrm>
            <a:off x="9905094" y="1820177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C732D915-C9B7-7F50-9931-0F0B436BF462}"/>
              </a:ext>
            </a:extLst>
          </p:cNvPr>
          <p:cNvSpPr/>
          <p:nvPr/>
        </p:nvSpPr>
        <p:spPr>
          <a:xfrm>
            <a:off x="9905094" y="1820178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BD7660DA-4A52-521E-9308-72ACB87F2CEF}"/>
              </a:ext>
            </a:extLst>
          </p:cNvPr>
          <p:cNvSpPr/>
          <p:nvPr/>
        </p:nvSpPr>
        <p:spPr>
          <a:xfrm>
            <a:off x="9905094" y="182017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B422B270-B51B-9B14-4DC3-F71779C370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8252" y="1913165"/>
            <a:ext cx="263059" cy="263059"/>
          </a:xfrm>
          <a:prstGeom prst="rect">
            <a:avLst/>
          </a:prstGeom>
        </p:spPr>
      </p:pic>
      <p:sp>
        <p:nvSpPr>
          <p:cNvPr id="12" name="Text 33">
            <a:extLst>
              <a:ext uri="{FF2B5EF4-FFF2-40B4-BE49-F238E27FC236}">
                <a16:creationId xmlns:a16="http://schemas.microsoft.com/office/drawing/2014/main" id="{D2DAA6CC-2D9D-4DAA-1777-B66F2984C810}"/>
              </a:ext>
            </a:extLst>
          </p:cNvPr>
          <p:cNvSpPr/>
          <p:nvPr/>
        </p:nvSpPr>
        <p:spPr>
          <a:xfrm>
            <a:off x="10100893" y="2398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13" name="Text 34">
            <a:extLst>
              <a:ext uri="{FF2B5EF4-FFF2-40B4-BE49-F238E27FC236}">
                <a16:creationId xmlns:a16="http://schemas.microsoft.com/office/drawing/2014/main" id="{E119277C-3314-B888-A272-4E38D98D39EA}"/>
              </a:ext>
            </a:extLst>
          </p:cNvPr>
          <p:cNvSpPr/>
          <p:nvPr/>
        </p:nvSpPr>
        <p:spPr>
          <a:xfrm>
            <a:off x="10119896" y="29195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C33EDFA9-2ED2-8CF3-C16F-24E32C94A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094" y="2853450"/>
            <a:ext cx="237744" cy="237744"/>
          </a:xfrm>
          <a:prstGeom prst="rect">
            <a:avLst/>
          </a:prstGeom>
        </p:spPr>
      </p:pic>
      <p:cxnSp>
        <p:nvCxnSpPr>
          <p:cNvPr id="16" name="Straight Arrow Connector 110">
            <a:extLst>
              <a:ext uri="{FF2B5EF4-FFF2-40B4-BE49-F238E27FC236}">
                <a16:creationId xmlns:a16="http://schemas.microsoft.com/office/drawing/2014/main" id="{5095D242-3A84-C3BF-326B-46B9EA751134}"/>
              </a:ext>
            </a:extLst>
          </p:cNvPr>
          <p:cNvCxnSpPr>
            <a:cxnSpLocks/>
          </p:cNvCxnSpPr>
          <p:nvPr/>
        </p:nvCxnSpPr>
        <p:spPr>
          <a:xfrm>
            <a:off x="9765322" y="2817299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13">
            <a:extLst>
              <a:ext uri="{FF2B5EF4-FFF2-40B4-BE49-F238E27FC236}">
                <a16:creationId xmlns:a16="http://schemas.microsoft.com/office/drawing/2014/main" id="{F6FF65C8-D21E-6400-8035-2CFB0FAE5BA7}"/>
              </a:ext>
            </a:extLst>
          </p:cNvPr>
          <p:cNvSpPr/>
          <p:nvPr/>
        </p:nvSpPr>
        <p:spPr>
          <a:xfrm>
            <a:off x="2548539" y="242541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4E2EDC3-07AF-C3BB-4F37-97CC7208B1C9}"/>
              </a:ext>
            </a:extLst>
          </p:cNvPr>
          <p:cNvSpPr/>
          <p:nvPr/>
        </p:nvSpPr>
        <p:spPr>
          <a:xfrm>
            <a:off x="2455640" y="2704347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19" name="rr">
            <a:extLst>
              <a:ext uri="{FF2B5EF4-FFF2-40B4-BE49-F238E27FC236}">
                <a16:creationId xmlns:a16="http://schemas.microsoft.com/office/drawing/2014/main" id="{B2E5B36C-05E4-F2E4-D44B-3CAFFB3CE445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b">
            <a:extLst>
              <a:ext uri="{FF2B5EF4-FFF2-40B4-BE49-F238E27FC236}">
                <a16:creationId xmlns:a16="http://schemas.microsoft.com/office/drawing/2014/main" id="{B0CC527F-0210-5542-CDDE-BCBEA03CE201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22397821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86CA-7F64-DBC0-4A76-4FB4DB94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9817C7-D47B-09E2-931C-6CF39BB3B516}"/>
              </a:ext>
            </a:extLst>
          </p:cNvPr>
          <p:cNvSpPr/>
          <p:nvPr/>
        </p:nvSpPr>
        <p:spPr>
          <a:xfrm>
            <a:off x="3342555" y="3341522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732B6-40CF-1084-AABC-9DDA3C0B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186378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Data Generation</a:t>
            </a:r>
            <a:endParaRPr lang="en-US" sz="1800" noProof="0" dirty="0">
              <a:latin typeface="+mn-lt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3847B43-1423-C959-9A9B-3C9D27C79145}"/>
              </a:ext>
            </a:extLst>
          </p:cNvPr>
          <p:cNvSpPr/>
          <p:nvPr/>
        </p:nvSpPr>
        <p:spPr>
          <a:xfrm>
            <a:off x="507888" y="87003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72DB9-C1C5-6596-E246-E5C5C37830F2}"/>
              </a:ext>
            </a:extLst>
          </p:cNvPr>
          <p:cNvSpPr txBox="1"/>
          <p:nvPr/>
        </p:nvSpPr>
        <p:spPr>
          <a:xfrm>
            <a:off x="4724143" y="1809413"/>
            <a:ext cx="2828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D9589"/>
                </a:solidFill>
              </a:rPr>
              <a:t>Data Generation</a:t>
            </a:r>
            <a:endParaRPr lang="en-US" noProof="0" dirty="0">
              <a:solidFill>
                <a:srgbClr val="0D9589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97F4583-60A6-27BC-8AAF-44ED6DC7ECCC}"/>
              </a:ext>
            </a:extLst>
          </p:cNvPr>
          <p:cNvSpPr txBox="1"/>
          <p:nvPr/>
        </p:nvSpPr>
        <p:spPr>
          <a:xfrm>
            <a:off x="507888" y="1160983"/>
            <a:ext cx="8484780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noProof="0" dirty="0">
                <a:solidFill>
                  <a:schemeClr val="accent1"/>
                </a:solidFill>
                <a:effectLst/>
              </a:rPr>
              <a:t> </a:t>
            </a: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600" b="0" noProof="0" dirty="0">
                <a:solidFill>
                  <a:schemeClr val="accent1"/>
                </a:solidFill>
                <a:effectLst/>
              </a:rPr>
              <a:t>generate support reasoning content from prepared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E453C-D67F-50B4-7169-5B44ACD8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47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349D1D-E36C-4007-CC0D-92AE8D1C2CD4}"/>
              </a:ext>
            </a:extLst>
          </p:cNvPr>
          <p:cNvSpPr/>
          <p:nvPr/>
        </p:nvSpPr>
        <p:spPr>
          <a:xfrm>
            <a:off x="3112675" y="1793381"/>
            <a:ext cx="6041959" cy="25747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B4782-59D6-3236-A586-3F25FD00E498}"/>
              </a:ext>
            </a:extLst>
          </p:cNvPr>
          <p:cNvSpPr txBox="1"/>
          <p:nvPr/>
        </p:nvSpPr>
        <p:spPr>
          <a:xfrm>
            <a:off x="4016632" y="3442694"/>
            <a:ext cx="15690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Resolver Cases</a:t>
            </a:r>
            <a:br>
              <a:rPr lang="en-US" sz="1100" noProof="0" dirty="0"/>
            </a:br>
            <a:endParaRPr lang="en-US" sz="1100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FEDE9-6A7B-6670-6A3A-D45D7F59C6AA}"/>
              </a:ext>
            </a:extLst>
          </p:cNvPr>
          <p:cNvSpPr txBox="1"/>
          <p:nvPr/>
        </p:nvSpPr>
        <p:spPr>
          <a:xfrm>
            <a:off x="4071124" y="3687572"/>
            <a:ext cx="8261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Link issues to fix evidence</a:t>
            </a:r>
            <a:endParaRPr lang="en-US" sz="1200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C43A7F-4828-5982-99AC-CF12B4643539}"/>
              </a:ext>
            </a:extLst>
          </p:cNvPr>
          <p:cNvSpPr/>
          <p:nvPr/>
        </p:nvSpPr>
        <p:spPr>
          <a:xfrm>
            <a:off x="6138500" y="2490626"/>
            <a:ext cx="2795944" cy="756937"/>
          </a:xfrm>
          <a:prstGeom prst="roundRect">
            <a:avLst/>
          </a:prstGeom>
          <a:solidFill>
            <a:srgbClr val="BAE6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F3FA80-B3C4-7BFD-30BB-4AD8613F7BAB}"/>
              </a:ext>
            </a:extLst>
          </p:cNvPr>
          <p:cNvSpPr txBox="1"/>
          <p:nvPr/>
        </p:nvSpPr>
        <p:spPr>
          <a:xfrm>
            <a:off x="6742140" y="2569798"/>
            <a:ext cx="1835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/>
              <a:t>Build Diagnostic Cards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6F674-F621-6560-0F12-57930E68C03E}"/>
              </a:ext>
            </a:extLst>
          </p:cNvPr>
          <p:cNvSpPr txBox="1"/>
          <p:nvPr/>
        </p:nvSpPr>
        <p:spPr>
          <a:xfrm>
            <a:off x="6138499" y="2818230"/>
            <a:ext cx="30416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Turn issue context and resolver knowledge into guidance</a:t>
            </a:r>
            <a:endParaRPr lang="en-US" sz="12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BD575B-D0BB-016B-3D2C-EDE49C65137A}"/>
              </a:ext>
            </a:extLst>
          </p:cNvPr>
          <p:cNvSpPr/>
          <p:nvPr/>
        </p:nvSpPr>
        <p:spPr>
          <a:xfrm>
            <a:off x="507888" y="2884168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015D9655-2132-8AD3-BE30-B868EF9C81C1}"/>
              </a:ext>
            </a:extLst>
          </p:cNvPr>
          <p:cNvSpPr/>
          <p:nvPr/>
        </p:nvSpPr>
        <p:spPr>
          <a:xfrm>
            <a:off x="688593" y="295421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58ED68-1046-B85C-C59A-810CE1FBCA80}"/>
              </a:ext>
            </a:extLst>
          </p:cNvPr>
          <p:cNvSpPr/>
          <p:nvPr/>
        </p:nvSpPr>
        <p:spPr>
          <a:xfrm>
            <a:off x="507888" y="3822524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268E7E-EA2B-B7F8-0238-01E6A64E18DB}"/>
              </a:ext>
            </a:extLst>
          </p:cNvPr>
          <p:cNvSpPr txBox="1"/>
          <p:nvPr/>
        </p:nvSpPr>
        <p:spPr>
          <a:xfrm>
            <a:off x="517986" y="3936652"/>
            <a:ext cx="23032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PRs &amp; Commit Links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0037BC-3795-F0DC-B9B4-52596500C700}"/>
              </a:ext>
            </a:extLst>
          </p:cNvPr>
          <p:cNvSpPr/>
          <p:nvPr/>
        </p:nvSpPr>
        <p:spPr>
          <a:xfrm>
            <a:off x="4106107" y="4697207"/>
            <a:ext cx="1556574" cy="632328"/>
          </a:xfrm>
          <a:prstGeom prst="rect">
            <a:avLst/>
          </a:prstGeom>
          <a:solidFill>
            <a:srgbClr val="F4FE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72B0806-7A3F-0D61-6115-DCC62DD8891B}"/>
              </a:ext>
            </a:extLst>
          </p:cNvPr>
          <p:cNvSpPr/>
          <p:nvPr/>
        </p:nvSpPr>
        <p:spPr>
          <a:xfrm>
            <a:off x="4638922" y="4770888"/>
            <a:ext cx="49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8072A5-1467-411A-5F74-DA763AA4B6F2}"/>
              </a:ext>
            </a:extLst>
          </p:cNvPr>
          <p:cNvSpPr txBox="1"/>
          <p:nvPr/>
        </p:nvSpPr>
        <p:spPr>
          <a:xfrm>
            <a:off x="715089" y="3123504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Technical reference</a:t>
            </a:r>
            <a:endParaRPr lang="en-US" sz="1200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5A0792-4809-0B39-5F15-8783257D62DA}"/>
              </a:ext>
            </a:extLst>
          </p:cNvPr>
          <p:cNvSpPr txBox="1"/>
          <p:nvPr/>
        </p:nvSpPr>
        <p:spPr>
          <a:xfrm>
            <a:off x="888633" y="4138721"/>
            <a:ext cx="815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Fix evidence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6B8555-0ACA-F35E-931D-E8D6FBA68C67}"/>
              </a:ext>
            </a:extLst>
          </p:cNvPr>
          <p:cNvSpPr txBox="1"/>
          <p:nvPr/>
        </p:nvSpPr>
        <p:spPr>
          <a:xfrm>
            <a:off x="4444681" y="4944092"/>
            <a:ext cx="10927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i="0" baseline="-25000" noProof="0" dirty="0">
                <a:solidFill>
                  <a:srgbClr val="1A365D"/>
                </a:solidFill>
                <a:effectLst/>
              </a:rPr>
              <a:t>Problem context</a:t>
            </a:r>
            <a:endParaRPr lang="en-US" sz="1200" b="0" i="0" noProof="0" dirty="0">
              <a:solidFill>
                <a:srgbClr val="000000"/>
              </a:solidFill>
              <a:effectLst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751807-32C6-68A0-5E80-DE07A19CF3C2}"/>
              </a:ext>
            </a:extLst>
          </p:cNvPr>
          <p:cNvCxnSpPr>
            <a:cxnSpLocks/>
          </p:cNvCxnSpPr>
          <p:nvPr/>
        </p:nvCxnSpPr>
        <p:spPr>
          <a:xfrm>
            <a:off x="2064462" y="3134573"/>
            <a:ext cx="1273456" cy="426163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2FAFFB-C19D-A926-935C-487591725DF0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2064462" y="3719991"/>
            <a:ext cx="1278093" cy="390426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78B671-5033-840A-AF4E-B47221373E72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884394" y="4113709"/>
            <a:ext cx="0" cy="583498"/>
          </a:xfrm>
          <a:prstGeom prst="straightConnector1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6AC8BA2-3FAC-6265-7AE1-18F21D055BC1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5662681" y="3247563"/>
            <a:ext cx="1221355" cy="1765808"/>
          </a:xfrm>
          <a:prstGeom prst="bentConnector2">
            <a:avLst/>
          </a:prstGeom>
          <a:ln w="22225">
            <a:solidFill>
              <a:srgbClr val="0D9589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D74C3D7-E9E8-E8A7-C7D9-00457FA6AE53}"/>
              </a:ext>
            </a:extLst>
          </p:cNvPr>
          <p:cNvCxnSpPr>
            <a:cxnSpLocks/>
          </p:cNvCxnSpPr>
          <p:nvPr/>
        </p:nvCxnSpPr>
        <p:spPr>
          <a:xfrm>
            <a:off x="6138499" y="3903169"/>
            <a:ext cx="3729755" cy="8750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2991871-78C3-D084-4A9B-539F035C632E}"/>
              </a:ext>
            </a:extLst>
          </p:cNvPr>
          <p:cNvSpPr/>
          <p:nvPr/>
        </p:nvSpPr>
        <p:spPr>
          <a:xfrm>
            <a:off x="9867116" y="3587005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A08DC6C-0DB8-0721-ABDE-55BCB439503E}"/>
              </a:ext>
            </a:extLst>
          </p:cNvPr>
          <p:cNvSpPr/>
          <p:nvPr/>
        </p:nvSpPr>
        <p:spPr>
          <a:xfrm>
            <a:off x="10524341" y="2542696"/>
            <a:ext cx="1556574" cy="632328"/>
          </a:xfrm>
          <a:prstGeom prst="rect">
            <a:avLst/>
          </a:prstGeom>
          <a:solidFill>
            <a:srgbClr val="E8F7F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451E140-3B67-61AC-1507-F6E35F31D934}"/>
              </a:ext>
            </a:extLst>
          </p:cNvPr>
          <p:cNvCxnSpPr>
            <a:cxnSpLocks/>
            <a:stCxn id="27" idx="3"/>
            <a:endCxn id="72" idx="1"/>
          </p:cNvCxnSpPr>
          <p:nvPr/>
        </p:nvCxnSpPr>
        <p:spPr>
          <a:xfrm flipV="1">
            <a:off x="8934444" y="2858860"/>
            <a:ext cx="1589897" cy="10235"/>
          </a:xfrm>
          <a:prstGeom prst="straightConnector1">
            <a:avLst/>
          </a:prstGeom>
          <a:ln w="22225">
            <a:solidFill>
              <a:srgbClr val="0070C0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469108B-A176-348D-2E1A-76670F594562}"/>
              </a:ext>
            </a:extLst>
          </p:cNvPr>
          <p:cNvSpPr txBox="1"/>
          <p:nvPr/>
        </p:nvSpPr>
        <p:spPr>
          <a:xfrm>
            <a:off x="10605726" y="2594511"/>
            <a:ext cx="63414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Diagnostic Cards</a:t>
            </a:r>
            <a:endParaRPr lang="en-US" sz="1200" noProof="0" dirty="0">
              <a:solidFill>
                <a:srgbClr val="0070C0"/>
              </a:solidFill>
            </a:endParaRP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E1B4BB72-FDAB-696F-25ED-B4A235C5565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273749" y="2869095"/>
            <a:ext cx="864751" cy="460469"/>
          </a:xfrm>
          <a:prstGeom prst="bentConnector3">
            <a:avLst>
              <a:gd name="adj1" fmla="val 1638"/>
            </a:avLst>
          </a:prstGeom>
          <a:ln w="22225">
            <a:solidFill>
              <a:schemeClr val="tx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70D2660-13E9-D06E-5F98-7ECEC4FE4B15}"/>
              </a:ext>
            </a:extLst>
          </p:cNvPr>
          <p:cNvSpPr txBox="1"/>
          <p:nvPr/>
        </p:nvSpPr>
        <p:spPr>
          <a:xfrm>
            <a:off x="9948501" y="3661586"/>
            <a:ext cx="8318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070C0"/>
                </a:solidFill>
              </a:rPr>
              <a:t>Resolver Cases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35924C-4CCE-225F-5B16-8F3975410136}"/>
              </a:ext>
            </a:extLst>
          </p:cNvPr>
          <p:cNvSpPr txBox="1"/>
          <p:nvPr/>
        </p:nvSpPr>
        <p:spPr>
          <a:xfrm>
            <a:off x="10501827" y="2807310"/>
            <a:ext cx="2347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-25000" noProof="0" dirty="0"/>
              <a:t>Problem → checks → guidance</a:t>
            </a:r>
            <a:endParaRPr lang="en-US" sz="1200" noProof="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4E8F0A6-642B-E722-4B27-FA9675E982A9}"/>
              </a:ext>
            </a:extLst>
          </p:cNvPr>
          <p:cNvSpPr txBox="1"/>
          <p:nvPr/>
        </p:nvSpPr>
        <p:spPr>
          <a:xfrm>
            <a:off x="9948501" y="3911190"/>
            <a:ext cx="3617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0" noProof="0" dirty="0">
                <a:effectLst/>
              </a:rPr>
              <a:t>Problem → fix evidence</a:t>
            </a:r>
            <a:endParaRPr lang="en-US" sz="900" noProof="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00B7AC-D64D-9036-7E47-97AFE7F76688}"/>
              </a:ext>
            </a:extLst>
          </p:cNvPr>
          <p:cNvSpPr txBox="1"/>
          <p:nvPr/>
        </p:nvSpPr>
        <p:spPr>
          <a:xfrm>
            <a:off x="7328130" y="3759769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6C0DE76-F784-05AB-352C-E8D9AF8D842D}"/>
              </a:ext>
            </a:extLst>
          </p:cNvPr>
          <p:cNvSpPr txBox="1"/>
          <p:nvPr/>
        </p:nvSpPr>
        <p:spPr>
          <a:xfrm>
            <a:off x="9133761" y="2723653"/>
            <a:ext cx="1144865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generated output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A98060C-3786-739D-4B92-29C794AC2CC6}"/>
              </a:ext>
            </a:extLst>
          </p:cNvPr>
          <p:cNvSpPr txBox="1"/>
          <p:nvPr/>
        </p:nvSpPr>
        <p:spPr>
          <a:xfrm>
            <a:off x="4510238" y="2939312"/>
            <a:ext cx="1334020" cy="246221"/>
          </a:xfrm>
          <a:prstGeom prst="rect">
            <a:avLst/>
          </a:prstGeom>
          <a:solidFill>
            <a:srgbClr val="E8F7FE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000" noProof="0" dirty="0"/>
              <a:t>Resolver knowledge</a:t>
            </a:r>
          </a:p>
        </p:txBody>
      </p:sp>
      <p:sp>
        <p:nvSpPr>
          <p:cNvPr id="6" name="Shape 38">
            <a:extLst>
              <a:ext uri="{FF2B5EF4-FFF2-40B4-BE49-F238E27FC236}">
                <a16:creationId xmlns:a16="http://schemas.microsoft.com/office/drawing/2014/main" id="{D8C2F50A-32FC-8922-A4EF-4CD2C9E2761F}"/>
              </a:ext>
            </a:extLst>
          </p:cNvPr>
          <p:cNvSpPr/>
          <p:nvPr/>
        </p:nvSpPr>
        <p:spPr>
          <a:xfrm>
            <a:off x="1703913" y="5813448"/>
            <a:ext cx="9323478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5118F24F-3443-35C9-6282-A43420AE421B}"/>
              </a:ext>
            </a:extLst>
          </p:cNvPr>
          <p:cNvSpPr/>
          <p:nvPr/>
        </p:nvSpPr>
        <p:spPr>
          <a:xfrm>
            <a:off x="715089" y="5787804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two artifact types are the single biggest source of Quality Index gain in the entire project.</a:t>
            </a:r>
            <a:endParaRPr lang="en-US" sz="1300" dirty="0"/>
          </a:p>
        </p:txBody>
      </p:sp>
      <p:sp>
        <p:nvSpPr>
          <p:cNvPr id="3" name="rr">
            <a:extLst>
              <a:ext uri="{FF2B5EF4-FFF2-40B4-BE49-F238E27FC236}">
                <a16:creationId xmlns:a16="http://schemas.microsoft.com/office/drawing/2014/main" id="{B7167106-54D3-8BBA-29D9-876468FDFC16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b">
            <a:extLst>
              <a:ext uri="{FF2B5EF4-FFF2-40B4-BE49-F238E27FC236}">
                <a16:creationId xmlns:a16="http://schemas.microsoft.com/office/drawing/2014/main" id="{54A474D5-234B-B891-1505-6CB006C98AD0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551473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Resolver cases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900325" y="956031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engineers receive technical questions about STM32 bugs. To answer them, they need to know whether a GitHub bug has already been resolved: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PR merged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fix commit exist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there a credible and verifiable path to a correction for this bug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cards are injected into the ST Knowledge Base (KB) so the RAG engine can cite fixes during a query.</a:t>
            </a:r>
            <a:endParaRPr lang="en-US" sz="1050" noProof="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032760" y="3320634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0327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1242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(problem)</a:t>
            </a:r>
            <a:endParaRPr lang="en-US" sz="1300" noProof="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124200" y="3853222"/>
            <a:ext cx="2651760" cy="86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describing a bug or abnormal behavior in STM32Cube (ST GitHub repo).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technical description, labels, status (open/closed).</a:t>
            </a:r>
            <a:endParaRPr lang="en-US" sz="1050" noProof="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004560" y="3320635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004560" y="332063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096000" y="335721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of correction)</a:t>
            </a:r>
            <a:endParaRPr lang="en-US" sz="1300" noProof="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096000" y="3853222"/>
            <a:ext cx="2651760" cy="11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change proposal submitted on GitHub. If it is merged, it becomes an official fix.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title, changed files, associated </a:t>
            </a:r>
            <a:r>
              <a:rPr lang="en-US" sz="1050" b="1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(technical evidence of the change)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noProof="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632960" y="5035284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632960" y="5035285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4724400" y="5071861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</a:t>
            </a:r>
            <a:endParaRPr lang="en-US" sz="1300" noProof="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4724400" y="5509767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ST-ready sheet linking an issue to its fix PRs/commits.</a:t>
            </a:r>
          </a:p>
          <a:p>
            <a:pPr marL="0" indent="0">
              <a:buNone/>
            </a:pPr>
            <a:endParaRPr lang="en-US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resolution status, confidence level, impacted files, text ready for the knowledge base.</a:t>
            </a:r>
            <a:endParaRPr lang="en-US" sz="1050" noProof="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7894477" y="5208210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068524" y="5162330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177877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 Cases: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35D76-5D77-9771-AE63-EF590A86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48</a:t>
            </a:fld>
            <a:endParaRPr lang="en-US" noProof="0" dirty="0"/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B8F4D711-78AA-A04E-6B43-9249B590400F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AD90202B-AF93-AF63-E89F-7E7260EEC6E3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: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50000" y="67000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i="1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BeforeH"/>
          <p:cNvSpPr/>
          <p:nvPr/>
        </p:nvSpPr>
        <p:spPr>
          <a:xfrm>
            <a:off x="461789" y="1733443"/>
            <a:ext cx="5400000" cy="444853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resolver cases — persona says:</a:t>
            </a:r>
          </a:p>
        </p:txBody>
      </p:sp>
      <p:sp>
        <p:nvSpPr>
          <p:cNvPr id="11" name="BeforeB"/>
          <p:cNvSpPr/>
          <p:nvPr/>
        </p:nvSpPr>
        <p:spPr>
          <a:xfrm>
            <a:off x="461789" y="2228296"/>
            <a:ext cx="5400000" cy="103095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"There is a known DMA issue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No fix status. No PR link. No changed files. No confidence.</a:t>
            </a:r>
          </a:p>
          <a:p>
            <a:pPr algn="l">
              <a:buNone/>
            </a:pPr>
            <a:endParaRPr lang="en-US" sz="95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still has to search GitHub manually.</a:t>
            </a:r>
          </a:p>
        </p:txBody>
      </p:sp>
      <p:sp>
        <p:nvSpPr>
          <p:cNvPr id="12" name="AfterH"/>
          <p:cNvSpPr/>
          <p:nvPr/>
        </p:nvSpPr>
        <p:spPr>
          <a:xfrm>
            <a:off x="461789" y="3520246"/>
            <a:ext cx="5400000" cy="473607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resolver cases — persona says:</a:t>
            </a:r>
          </a:p>
        </p:txBody>
      </p:sp>
      <p:sp>
        <p:nvSpPr>
          <p:cNvPr id="13" name="AfterB"/>
          <p:cNvSpPr/>
          <p:nvPr/>
        </p:nvSpPr>
        <p:spPr>
          <a:xfrm>
            <a:off x="461789" y="4043852"/>
            <a:ext cx="5400000" cy="1116393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"This DMA issue was fixed in PR #247 (merged).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 Files changed: stm32h7xx_hal_dma.c. Confidence: high."</a:t>
            </a:r>
          </a:p>
          <a:p>
            <a:pPr algn="l">
              <a:buNone/>
            </a:pPr>
            <a:endParaRPr lang="en-US" sz="950" b="1" noProof="0" dirty="0">
              <a:solidFill>
                <a:srgbClr val="059669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The engineer gets the answer immediately , no manual search.</a:t>
            </a:r>
          </a:p>
        </p:txBody>
      </p:sp>
      <p:sp>
        <p:nvSpPr>
          <p:cNvPr id="20" name="Impact"/>
          <p:cNvSpPr/>
          <p:nvPr/>
        </p:nvSpPr>
        <p:spPr>
          <a:xfrm>
            <a:off x="6184588" y="2100656"/>
            <a:ext cx="5700000" cy="2400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Impact on persona quality :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Eliminated "I don't know" on fix-status questions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Persona now provides: fix status, PR link, changed files, confidence level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Prevents unsupported "it was fixed" claims , confidence-gated</a:t>
            </a:r>
          </a:p>
          <a:p>
            <a:pPr algn="l">
              <a:buNone/>
            </a:pPr>
            <a:r>
              <a:rPr lang="en-US" sz="900" b="0" noProof="0" dirty="0">
                <a:solidFill>
                  <a:srgbClr val="CBD5E1"/>
                </a:solidFill>
              </a:rPr>
              <a:t> 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Direct QI boost: </a:t>
            </a:r>
          </a:p>
          <a:p>
            <a:pPr algn="l">
              <a:buNone/>
            </a:pPr>
            <a:endParaRPr lang="en-US" sz="1100" b="1" noProof="0" dirty="0">
              <a:solidFill>
                <a:srgbClr val="0D9488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The persona acts like a support engineer, not a search engine.</a:t>
            </a:r>
          </a:p>
        </p:txBody>
      </p:sp>
      <p:sp>
        <p:nvSpPr>
          <p:cNvPr id="30" name="Tag"/>
          <p:cNvSpPr/>
          <p:nvPr/>
        </p:nvSpPr>
        <p:spPr>
          <a:xfrm>
            <a:off x="372663" y="5627246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Without resolver cases, the persona reports bugs. With them, it resolves them.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20FA0E-A82D-B57C-181F-F75C16A61CDD}"/>
              </a:ext>
            </a:extLst>
          </p:cNvPr>
          <p:cNvSpPr/>
          <p:nvPr/>
        </p:nvSpPr>
        <p:spPr>
          <a:xfrm>
            <a:off x="630822" y="94030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E3D956-2B4C-0BF2-5FC3-1D771CB5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12" y="4602048"/>
            <a:ext cx="5937310" cy="6890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FC7C12-2427-CA5A-50AF-9DC5B969CF33}"/>
              </a:ext>
            </a:extLst>
          </p:cNvPr>
          <p:cNvSpPr/>
          <p:nvPr/>
        </p:nvSpPr>
        <p:spPr>
          <a:xfrm>
            <a:off x="11184363" y="456625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0DF4F-BB43-200F-6A21-F0EC16815419}"/>
              </a:ext>
            </a:extLst>
          </p:cNvPr>
          <p:cNvSpPr txBox="1"/>
          <p:nvPr/>
        </p:nvSpPr>
        <p:spPr>
          <a:xfrm>
            <a:off x="11426952" y="6348889"/>
            <a:ext cx="62727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bg2">
                    <a:lumMod val="25000"/>
                  </a:schemeClr>
                </a:solidFill>
              </a:rPr>
              <a:pPr/>
              <a:t>49</a:t>
            </a:fld>
            <a:endParaRPr lang="en-US" sz="1100" noProof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453CF-C8A9-B376-F606-209C58CB6994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Is there a confirmed fix for this STM32H7 DMA issue?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3B3FA5A4-D544-42A9-C35B-2FCB08D7436A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b">
            <a:extLst>
              <a:ext uri="{FF2B5EF4-FFF2-40B4-BE49-F238E27FC236}">
                <a16:creationId xmlns:a16="http://schemas.microsoft.com/office/drawing/2014/main" id="{3BAE13EA-AEF6-82E7-0E90-237EB5EC688D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Data Generation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en-US" sz="1800" b="1" noProof="0" dirty="0">
                <a:solidFill>
                  <a:srgbClr val="0D9488"/>
                </a:solidFill>
                <a:latin typeface="+mn-lt"/>
              </a:rPr>
              <a:t>Diagnostic cards</a:t>
            </a:r>
            <a:r>
              <a:rPr lang="en-US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937523" y="921844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47975" y="125481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Cards: what we built and how  </a:t>
            </a:r>
            <a:endParaRPr lang="en-US" sz="1400" noProof="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1551380" y="1915062"/>
            <a:ext cx="9763272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1670613" y="1760060"/>
            <a:ext cx="9700055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Real need: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 ST engineer receives a customer question: “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My </a:t>
            </a:r>
            <a:r>
              <a:rPr lang="en-US" sz="1050" b="1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blocks on 2 bytes, why?”, 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They need a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ready-to-use diagnostic card</a:t>
            </a:r>
            <a:r>
              <a:rPr lang="en-US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not just a GitHub ticket or a link to a GitHub ticket.</a:t>
            </a: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4123440" y="3100153"/>
            <a:ext cx="4683682" cy="319481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4123440" y="3100154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4416521" y="313673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ea typeface="Calibri" pitchFamily="34" charset="-122"/>
                <a:cs typeface="Calibri" pitchFamily="34" charset="-120"/>
              </a:rPr>
              <a:t>Construction = Issue + Resolver</a:t>
            </a:r>
            <a:endParaRPr lang="en-US" sz="1300" noProof="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441652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441652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en-US" sz="10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453082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issue_title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severity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board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en-US" sz="800" noProof="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6176741" y="4162471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noProof="0" dirty="0"/>
              <a:t>+</a:t>
            </a: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6519641" y="3776025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6519641" y="37760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 Case</a:t>
            </a:r>
            <a:endParaRPr lang="en-US" sz="1000" noProof="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6611081" y="4040227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resolution_status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en-US" sz="800" noProof="0" dirty="0"/>
          </a:p>
          <a:p>
            <a:pPr marL="0" indent="0">
              <a:buNone/>
            </a:pPr>
            <a:r>
              <a:rPr lang="en-US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en-US" sz="800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4416521" y="4818441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en-US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()</a:t>
            </a:r>
            <a:endParaRPr lang="en-US" sz="1100" noProof="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4439381" y="5233707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4507961" y="5306859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Card JSON</a:t>
            </a:r>
            <a:r>
              <a:rPr lang="en-US" sz="1000" noProof="0" dirty="0"/>
              <a:t> 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injected into the ST KB</a:t>
            </a:r>
            <a:endParaRPr lang="en-US" sz="1000" noProof="0" dirty="0"/>
          </a:p>
          <a:p>
            <a:pPr marL="0" indent="0">
              <a:buNone/>
            </a:pPr>
            <a:r>
              <a:rPr lang="en-US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optimized for retrieval RAG</a:t>
            </a:r>
            <a:endParaRPr lang="en-US" sz="1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05086-F114-E814-6E64-0F7F65ED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50</a:t>
            </a:fld>
            <a:endParaRPr lang="en-US" noProof="0" dirty="0"/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9AB5B913-6179-5570-4DCC-5F618F247D07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b">
            <a:extLst>
              <a:ext uri="{FF2B5EF4-FFF2-40B4-BE49-F238E27FC236}">
                <a16:creationId xmlns:a16="http://schemas.microsoft.com/office/drawing/2014/main" id="{84235889-AD28-471A-4556-2AF53DD1AF33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Why they matter</a:t>
            </a:r>
          </a:p>
        </p:txBody>
      </p:sp>
      <p:sp>
        <p:nvSpPr>
          <p:cNvPr id="3" name="Sub"/>
          <p:cNvSpPr/>
          <p:nvPr/>
        </p:nvSpPr>
        <p:spPr>
          <a:xfrm>
            <a:off x="242477" y="723950"/>
            <a:ext cx="11609159" cy="34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050" i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BH"/>
          <p:cNvSpPr/>
          <p:nvPr/>
        </p:nvSpPr>
        <p:spPr>
          <a:xfrm>
            <a:off x="239205" y="1762759"/>
            <a:ext cx="5400000" cy="462379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Before diagnostic cards — persona says:</a:t>
            </a:r>
          </a:p>
        </p:txBody>
      </p:sp>
      <p:sp>
        <p:nvSpPr>
          <p:cNvPr id="11" name="BB"/>
          <p:cNvSpPr/>
          <p:nvPr/>
        </p:nvSpPr>
        <p:spPr>
          <a:xfrm>
            <a:off x="239205" y="2275137"/>
            <a:ext cx="5400000" cy="94290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"UART callback is not reached on STM32H7."</a:t>
            </a:r>
          </a:p>
          <a:p>
            <a:pPr algn="l">
              <a:buNone/>
            </a:pPr>
            <a:r>
              <a:rPr lang="en-US" sz="1200" b="0" noProof="0" dirty="0">
                <a:solidFill>
                  <a:schemeClr val="bg2">
                    <a:lumMod val="25000"/>
                  </a:schemeClr>
                </a:solidFill>
              </a:rPr>
              <a:t>Describes the problem. No guidance. No debug steps</a:t>
            </a:r>
          </a:p>
          <a:p>
            <a:pPr algn="l">
              <a:buNone/>
            </a:pPr>
            <a:endParaRPr lang="en-US" sz="1200" b="0" noProof="0" dirty="0">
              <a:solidFill>
                <a:srgbClr val="791F1F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DC2626"/>
                </a:solidFill>
              </a:rPr>
              <a:t>The engineer has to figure out the diagnosis alone.</a:t>
            </a:r>
          </a:p>
        </p:txBody>
      </p:sp>
      <p:sp>
        <p:nvSpPr>
          <p:cNvPr id="12" name="AH"/>
          <p:cNvSpPr/>
          <p:nvPr/>
        </p:nvSpPr>
        <p:spPr>
          <a:xfrm>
            <a:off x="239205" y="3339999"/>
            <a:ext cx="5400000" cy="505139"/>
          </a:xfrm>
          <a:prstGeom prst="roundRect">
            <a:avLst>
              <a:gd name="adj" fmla="val 15000"/>
            </a:avLst>
          </a:prstGeom>
          <a:solidFill>
            <a:srgbClr val="0D9589"/>
          </a:solidFill>
          <a:ln>
            <a:noFill/>
          </a:ln>
        </p:spPr>
        <p:txBody>
          <a:bodyPr wrap="square" lIns="152400" tIns="45720" rIns="15240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After diagnostic cards — persona says:</a:t>
            </a:r>
          </a:p>
        </p:txBody>
      </p:sp>
      <p:sp>
        <p:nvSpPr>
          <p:cNvPr id="13" name="AB"/>
          <p:cNvSpPr/>
          <p:nvPr/>
        </p:nvSpPr>
        <p:spPr>
          <a:xfrm>
            <a:off x="239205" y="3895137"/>
            <a:ext cx="5400000" cy="1359279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5400">
            <a:solidFill>
              <a:srgbClr val="0D9488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"Symptom: UART callback not reached. Likely causes: NVIC</a:t>
            </a: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priority, DMA config. Debug: check IRQ enable, verify HAL </a:t>
            </a:r>
            <a:r>
              <a:rPr lang="en-US" sz="1200" b="0" i="1" noProof="0" dirty="0" err="1">
                <a:solidFill>
                  <a:schemeClr val="bg2">
                    <a:lumMod val="25000"/>
                  </a:schemeClr>
                </a:solidFill>
              </a:rPr>
              <a:t>init</a:t>
            </a: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l">
              <a:buNone/>
            </a:pPr>
            <a:r>
              <a:rPr lang="en-US" sz="1200" b="0" i="1" noProof="0" dirty="0">
                <a:solidFill>
                  <a:schemeClr val="bg2">
                    <a:lumMod val="25000"/>
                  </a:schemeClr>
                </a:solidFill>
              </a:rPr>
              <a:t>sequence. Confidence: medium.“</a:t>
            </a:r>
          </a:p>
          <a:p>
            <a:pPr algn="l">
              <a:buNone/>
            </a:pPr>
            <a:endParaRPr lang="en-US" sz="1200" b="0" i="1" noProof="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The engineer gets a full troubleshooting guide instantly.</a:t>
            </a:r>
          </a:p>
        </p:txBody>
      </p:sp>
      <p:sp>
        <p:nvSpPr>
          <p:cNvPr id="20" name="Impact"/>
          <p:cNvSpPr/>
          <p:nvPr/>
        </p:nvSpPr>
        <p:spPr>
          <a:xfrm>
            <a:off x="6032981" y="1544237"/>
            <a:ext cx="5700000" cy="3175717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228600" tIns="182880" rIns="228600" bIns="182880" anchor="t"/>
          <a:lstStyle/>
          <a:p>
            <a:pPr algn="l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Impact on persona quality</a:t>
            </a:r>
          </a:p>
          <a:p>
            <a:pPr algn="l">
              <a:buNone/>
            </a:pPr>
            <a:r>
              <a:rPr lang="en-US" sz="1200" b="0" noProof="0" dirty="0">
                <a:solidFill>
                  <a:srgbClr val="CBD5E1"/>
                </a:solidFill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Highest-value artifacts in the entire pipeline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Each card provides: symptoms, likely causes, debug checks, workarounds, evidence refs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Benchmark showed clear QI jump on mixed questions , from generic abstention to actionable answers</a:t>
            </a:r>
          </a:p>
          <a:p>
            <a:pPr algn="l"/>
            <a:r>
              <a:rPr lang="en-US" sz="1200" b="0" noProof="0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noProof="0" dirty="0"/>
              <a:t>Confidence-gated: if evidence is weak, caution is added automatically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b="0" noProof="0" dirty="0"/>
          </a:p>
          <a:p>
            <a:pPr algn="l">
              <a:buNone/>
            </a:pPr>
            <a:r>
              <a:rPr lang="en-US" sz="1200" b="0" noProof="0" dirty="0">
                <a:solidFill>
                  <a:srgbClr val="0D9589"/>
                </a:solidFill>
              </a:rPr>
              <a:t> </a:t>
            </a:r>
            <a:r>
              <a:rPr lang="en-US" sz="1200" b="1" noProof="0" dirty="0">
                <a:solidFill>
                  <a:srgbClr val="0D9589"/>
                </a:solidFill>
              </a:rPr>
              <a:t>Direct QI boost: </a:t>
            </a:r>
          </a:p>
          <a:p>
            <a:pPr algn="l">
              <a:buNone/>
            </a:pPr>
            <a:endParaRPr lang="en-US" sz="1200" b="1" noProof="0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persona guides diagnosis like a senior engineer.</a:t>
            </a:r>
          </a:p>
        </p:txBody>
      </p:sp>
      <p:sp>
        <p:nvSpPr>
          <p:cNvPr id="30" name="Tag"/>
          <p:cNvSpPr/>
          <p:nvPr/>
        </p:nvSpPr>
        <p:spPr>
          <a:xfrm>
            <a:off x="332981" y="5774050"/>
            <a:ext cx="11400000" cy="36000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9050">
            <a:solidFill>
              <a:srgbClr val="0D9488"/>
            </a:solidFill>
          </a:ln>
        </p:spPr>
        <p:txBody>
          <a:bodyPr wrap="square" lIns="182880" tIns="45720" rIns="182880" bIns="45720" anchor="ctr"/>
          <a:lstStyle/>
          <a:p>
            <a:pPr algn="ctr">
              <a:buNone/>
            </a:pPr>
            <a:r>
              <a:rPr lang="en-US" sz="1200" b="1" noProof="0" dirty="0">
                <a:solidFill>
                  <a:srgbClr val="085041"/>
                </a:solidFill>
              </a:rPr>
              <a:t>Resolver cases + diagnostic cards = the persona answers like a senior engineer, not a search engine.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D3FE0A9-6796-2B87-5806-3BB1B2528434}"/>
              </a:ext>
            </a:extLst>
          </p:cNvPr>
          <p:cNvSpPr/>
          <p:nvPr/>
        </p:nvSpPr>
        <p:spPr>
          <a:xfrm>
            <a:off x="733727" y="10017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B783EE-766B-8E8A-BE5E-DC87AAC42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26" y="4847278"/>
            <a:ext cx="5937310" cy="6890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0BBBD6-E42F-F24F-901A-FFAC5EA37B64}"/>
              </a:ext>
            </a:extLst>
          </p:cNvPr>
          <p:cNvSpPr/>
          <p:nvPr/>
        </p:nvSpPr>
        <p:spPr>
          <a:xfrm>
            <a:off x="11054177" y="4811480"/>
            <a:ext cx="457200" cy="81580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811E-5006-B345-5E76-FABC411A9F8C}"/>
              </a:ext>
            </a:extLst>
          </p:cNvPr>
          <p:cNvSpPr txBox="1"/>
          <p:nvPr/>
        </p:nvSpPr>
        <p:spPr>
          <a:xfrm>
            <a:off x="11511377" y="6413302"/>
            <a:ext cx="6266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0A7B169-58CE-4E65-B1F9-ACF9E46440C2}" type="slidenum">
              <a:rPr lang="en-US" sz="1100" noProof="0" smtClean="0">
                <a:solidFill>
                  <a:schemeClr val="tx2">
                    <a:lumMod val="75000"/>
                  </a:schemeClr>
                </a:solidFill>
              </a:rPr>
              <a:pPr/>
              <a:t>51</a:t>
            </a:fld>
            <a:endParaRPr lang="en-US" sz="1100" noProof="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0B541-B764-66E2-F547-8E3A1FD9E0E5}"/>
              </a:ext>
            </a:extLst>
          </p:cNvPr>
          <p:cNvSpPr txBox="1"/>
          <p:nvPr/>
        </p:nvSpPr>
        <p:spPr>
          <a:xfrm>
            <a:off x="234954" y="1191633"/>
            <a:ext cx="90213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noProof="0" dirty="0">
                <a:solidFill>
                  <a:schemeClr val="bg2">
                    <a:lumMod val="10000"/>
                  </a:schemeClr>
                </a:solidFill>
                <a:effectLst/>
              </a:rPr>
              <a:t>UART callback is not reached on STM32H7, what are the likely causes and what should I check ?</a:t>
            </a:r>
            <a:endParaRPr lang="en-US" sz="1300" noProof="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72E6D109-D85B-722D-9599-C37730D9F9DE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b">
            <a:extLst>
              <a:ext uri="{FF2B5EF4-FFF2-40B4-BE49-F238E27FC236}">
                <a16:creationId xmlns:a16="http://schemas.microsoft.com/office/drawing/2014/main" id="{761DBBA5-0282-2128-20A4-4EDD5AE6CE72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1280164" y="110064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24647" flipH="1" flipV="1">
            <a:off x="8037331" y="4241806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3759872" y="4358105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3774194" y="4358106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3961040" y="444954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Delivery objective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3961040" y="48616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Delivery transforms raw technical data into knowledge directly usable in a support KB.</a:t>
            </a:r>
          </a:p>
          <a:p>
            <a:pPr marL="0" indent="0">
              <a:buNone/>
            </a:pPr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The goal:</a:t>
            </a:r>
          </a:p>
          <a:p>
            <a:pPr marL="0" indent="0">
              <a:buNone/>
            </a:pP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actionable answers for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Maintain complete traceability to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Provide a stable format for ingestion within ST.</a:t>
            </a: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30AE8848-39CE-63EB-ED47-41E1BC4CF932}"/>
              </a:ext>
            </a:extLst>
          </p:cNvPr>
          <p:cNvSpPr/>
          <p:nvPr/>
        </p:nvSpPr>
        <p:spPr>
          <a:xfrm>
            <a:off x="901735" y="1908119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7BB3AF6-E210-89A3-F3D8-3E8C47EF65F4}"/>
              </a:ext>
            </a:extLst>
          </p:cNvPr>
          <p:cNvSpPr/>
          <p:nvPr/>
        </p:nvSpPr>
        <p:spPr>
          <a:xfrm>
            <a:off x="901735" y="1908119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8321DA6C-EDF7-6AB5-25FA-B10AF597E0F6}"/>
              </a:ext>
            </a:extLst>
          </p:cNvPr>
          <p:cNvSpPr/>
          <p:nvPr/>
        </p:nvSpPr>
        <p:spPr>
          <a:xfrm>
            <a:off x="901735" y="190811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E8AA75A6-5EB8-7CBD-446B-EFFC9FF36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947" y="1976462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DFD567AC-117D-9B4F-7792-9EB29DED67FF}"/>
              </a:ext>
            </a:extLst>
          </p:cNvPr>
          <p:cNvSpPr/>
          <p:nvPr/>
        </p:nvSpPr>
        <p:spPr>
          <a:xfrm>
            <a:off x="1107475" y="242465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60851120-B98A-027D-E7A2-74B614C6CFA0}"/>
              </a:ext>
            </a:extLst>
          </p:cNvPr>
          <p:cNvSpPr/>
          <p:nvPr/>
        </p:nvSpPr>
        <p:spPr>
          <a:xfrm>
            <a:off x="1065437" y="287652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1E81ABE0-6D99-015D-56C1-F12627270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877" y="2948392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0B06716A-A345-3E9A-8D5D-176759378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706" y="2936817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6058AE72-E5FC-F4BE-A768-E0A60AF02028}"/>
              </a:ext>
            </a:extLst>
          </p:cNvPr>
          <p:cNvSpPr/>
          <p:nvPr/>
        </p:nvSpPr>
        <p:spPr>
          <a:xfrm>
            <a:off x="3880750" y="1903545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DD24757-D565-CBF9-1943-D9C446AD8368}"/>
              </a:ext>
            </a:extLst>
          </p:cNvPr>
          <p:cNvSpPr/>
          <p:nvPr/>
        </p:nvSpPr>
        <p:spPr>
          <a:xfrm>
            <a:off x="3886615" y="1914126"/>
            <a:ext cx="141061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F30FF23D-7D96-5E3B-02D4-8CB1EC443607}"/>
              </a:ext>
            </a:extLst>
          </p:cNvPr>
          <p:cNvSpPr/>
          <p:nvPr/>
        </p:nvSpPr>
        <p:spPr>
          <a:xfrm>
            <a:off x="3951290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42553DC9-B5BA-33EE-7D1C-74D69170F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212" y="1980779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334FD9AB-CCC4-B8B6-F1F1-81F6CC586DB1}"/>
              </a:ext>
            </a:extLst>
          </p:cNvPr>
          <p:cNvSpPr/>
          <p:nvPr/>
        </p:nvSpPr>
        <p:spPr>
          <a:xfrm>
            <a:off x="3984586" y="2551215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1FB2B763-521B-0CDB-E09C-167B92B118C9}"/>
              </a:ext>
            </a:extLst>
          </p:cNvPr>
          <p:cNvSpPr/>
          <p:nvPr/>
        </p:nvSpPr>
        <p:spPr>
          <a:xfrm>
            <a:off x="4035893" y="296113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3010F998-8867-AEAC-C224-C3BDAC898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186" y="2931997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DEA885E0-2B4A-4104-0F77-C77EC904B9A4}"/>
              </a:ext>
            </a:extLst>
          </p:cNvPr>
          <p:cNvSpPr/>
          <p:nvPr/>
        </p:nvSpPr>
        <p:spPr>
          <a:xfrm>
            <a:off x="5482315" y="1914126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9ACED9F4-84A6-D505-B3D7-E7231D1D6FC4}"/>
              </a:ext>
            </a:extLst>
          </p:cNvPr>
          <p:cNvSpPr/>
          <p:nvPr/>
        </p:nvSpPr>
        <p:spPr>
          <a:xfrm>
            <a:off x="5495770" y="1898725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5EF3BC8E-6717-955E-76FF-AD0D7474BF01}"/>
              </a:ext>
            </a:extLst>
          </p:cNvPr>
          <p:cNvSpPr/>
          <p:nvPr/>
        </p:nvSpPr>
        <p:spPr>
          <a:xfrm>
            <a:off x="5495770" y="189872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6A7BA5B0-E4E6-C868-3BA6-0DD69459C5C9}"/>
              </a:ext>
            </a:extLst>
          </p:cNvPr>
          <p:cNvSpPr/>
          <p:nvPr/>
        </p:nvSpPr>
        <p:spPr>
          <a:xfrm>
            <a:off x="5682088" y="242224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9C3EE73B-B7BB-82DF-8D31-906BD02F16DF}"/>
              </a:ext>
            </a:extLst>
          </p:cNvPr>
          <p:cNvSpPr/>
          <p:nvPr/>
        </p:nvSpPr>
        <p:spPr>
          <a:xfrm>
            <a:off x="5691569" y="279946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AB871982-84D1-9B33-4B06-5BEAE1B472C4}"/>
              </a:ext>
            </a:extLst>
          </p:cNvPr>
          <p:cNvSpPr/>
          <p:nvPr/>
        </p:nvSpPr>
        <p:spPr>
          <a:xfrm>
            <a:off x="8653615" y="1905513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1DE3E380-A289-FC79-47AA-11AC9B578CB1}"/>
              </a:ext>
            </a:extLst>
          </p:cNvPr>
          <p:cNvSpPr/>
          <p:nvPr/>
        </p:nvSpPr>
        <p:spPr>
          <a:xfrm>
            <a:off x="8653615" y="1905514"/>
            <a:ext cx="1218607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D5BCF26A-9A3A-A7F3-E8D1-D2AFC84CC026}"/>
              </a:ext>
            </a:extLst>
          </p:cNvPr>
          <p:cNvSpPr/>
          <p:nvPr/>
        </p:nvSpPr>
        <p:spPr>
          <a:xfrm>
            <a:off x="8653615" y="190551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2F8B6AE0-902D-BEEF-7D49-AFD6BD57F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982" y="1990583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EEF3FE38-F7E3-00C4-7107-404F51F125E8}"/>
              </a:ext>
            </a:extLst>
          </p:cNvPr>
          <p:cNvSpPr/>
          <p:nvPr/>
        </p:nvSpPr>
        <p:spPr>
          <a:xfrm>
            <a:off x="8670696" y="2524663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71192D1A-6492-9580-8E6F-1AA288C961F1}"/>
              </a:ext>
            </a:extLst>
          </p:cNvPr>
          <p:cNvSpPr/>
          <p:nvPr/>
        </p:nvSpPr>
        <p:spPr>
          <a:xfrm>
            <a:off x="8752605" y="286730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542FD8C1-B2B0-D474-DCEE-E33E5DFED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7951" y="1926156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ED6AA46C-5D5B-889A-EC0A-B3DAE6E21513}"/>
              </a:ext>
            </a:extLst>
          </p:cNvPr>
          <p:cNvSpPr/>
          <p:nvPr/>
        </p:nvSpPr>
        <p:spPr>
          <a:xfrm>
            <a:off x="7038273" y="190811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35F1DCB1-2DC7-628C-B906-BFBBF26D5D24}"/>
              </a:ext>
            </a:extLst>
          </p:cNvPr>
          <p:cNvSpPr/>
          <p:nvPr/>
        </p:nvSpPr>
        <p:spPr>
          <a:xfrm>
            <a:off x="7038272" y="1903545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9BE9E66A-4B88-63D8-B0EF-D0636A6D6806}"/>
              </a:ext>
            </a:extLst>
          </p:cNvPr>
          <p:cNvSpPr/>
          <p:nvPr/>
        </p:nvSpPr>
        <p:spPr>
          <a:xfrm>
            <a:off x="7112914" y="190354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2F80BDAD-DBD3-5E66-1E30-22C398EAFD54}"/>
              </a:ext>
            </a:extLst>
          </p:cNvPr>
          <p:cNvSpPr/>
          <p:nvPr/>
        </p:nvSpPr>
        <p:spPr>
          <a:xfrm>
            <a:off x="7299232" y="242706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4390AD97-01C0-8FF9-FFED-8EC20C4635E6}"/>
              </a:ext>
            </a:extLst>
          </p:cNvPr>
          <p:cNvSpPr/>
          <p:nvPr/>
        </p:nvSpPr>
        <p:spPr>
          <a:xfrm>
            <a:off x="7299232" y="29368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6673DF2F-972C-4626-B2F6-3E009D910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6497" y="1927865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BF1B8C1-5AF5-4578-8896-B678B21832A1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287478" y="2894116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0404C03-6EE3-A260-59A6-01669872A0F8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879753" y="2898690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55B0ABE-D05A-2B4E-87F1-FBE495B98567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90617" y="2900655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6C70AC54-507B-D8DD-6044-E9F87B624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18" y="2961137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D19EB6D9-6D3A-7A5D-4A91-1332C6DC7E18}"/>
              </a:ext>
            </a:extLst>
          </p:cNvPr>
          <p:cNvSpPr/>
          <p:nvPr/>
        </p:nvSpPr>
        <p:spPr>
          <a:xfrm>
            <a:off x="2342135" y="1905513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CF5BD3B5-3490-CA4E-A9A4-B40F0EA7D5BE}"/>
              </a:ext>
            </a:extLst>
          </p:cNvPr>
          <p:cNvSpPr/>
          <p:nvPr/>
        </p:nvSpPr>
        <p:spPr>
          <a:xfrm>
            <a:off x="2342135" y="1905513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0AE2A02-61EB-6ED9-B709-4AD0253F3F98}"/>
              </a:ext>
            </a:extLst>
          </p:cNvPr>
          <p:cNvSpPr/>
          <p:nvPr/>
        </p:nvSpPr>
        <p:spPr>
          <a:xfrm>
            <a:off x="2342135" y="190551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0A63828E-2375-0178-AD99-2175384C8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6269" y="1971173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53EE465-B4F8-FFA7-C4B2-5C5244AB04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06517" y="2892583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E00EA43-1B2B-CA44-97D2-1889C575847A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54883" y="2892583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E79DD9-2ECA-9B1B-2FB2-720A1328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52</a:t>
            </a:fld>
            <a:endParaRPr lang="en-US" noProof="0" dirty="0"/>
          </a:p>
        </p:txBody>
      </p:sp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28F002A9-2113-96DB-9411-8589BC086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502" y="2054639"/>
            <a:ext cx="237744" cy="237744"/>
          </a:xfrm>
          <a:prstGeom prst="rect">
            <a:avLst/>
          </a:prstGeom>
        </p:spPr>
      </p:pic>
      <p:pic>
        <p:nvPicPr>
          <p:cNvPr id="8" name="Image 9" descr="preencoded.png">
            <a:extLst>
              <a:ext uri="{FF2B5EF4-FFF2-40B4-BE49-F238E27FC236}">
                <a16:creationId xmlns:a16="http://schemas.microsoft.com/office/drawing/2014/main" id="{D8D68E1F-D678-30A8-1B5D-C2D4A5D05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221" y="2959429"/>
            <a:ext cx="237744" cy="237744"/>
          </a:xfrm>
          <a:prstGeom prst="rect">
            <a:avLst/>
          </a:prstGeom>
        </p:spPr>
      </p:pic>
      <p:sp>
        <p:nvSpPr>
          <p:cNvPr id="10" name="Shape 30">
            <a:extLst>
              <a:ext uri="{FF2B5EF4-FFF2-40B4-BE49-F238E27FC236}">
                <a16:creationId xmlns:a16="http://schemas.microsoft.com/office/drawing/2014/main" id="{38164399-1BFB-1F50-D69B-798912B1FBE2}"/>
              </a:ext>
            </a:extLst>
          </p:cNvPr>
          <p:cNvSpPr/>
          <p:nvPr/>
        </p:nvSpPr>
        <p:spPr>
          <a:xfrm>
            <a:off x="10089805" y="1926156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31">
            <a:extLst>
              <a:ext uri="{FF2B5EF4-FFF2-40B4-BE49-F238E27FC236}">
                <a16:creationId xmlns:a16="http://schemas.microsoft.com/office/drawing/2014/main" id="{8B79C6AC-8EDC-729A-9779-233A1175416E}"/>
              </a:ext>
            </a:extLst>
          </p:cNvPr>
          <p:cNvSpPr/>
          <p:nvPr/>
        </p:nvSpPr>
        <p:spPr>
          <a:xfrm>
            <a:off x="10089805" y="1926157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D60DD254-ADA1-4AF5-B44C-A0D2093F5DCC}"/>
              </a:ext>
            </a:extLst>
          </p:cNvPr>
          <p:cNvSpPr/>
          <p:nvPr/>
        </p:nvSpPr>
        <p:spPr>
          <a:xfrm>
            <a:off x="10089805" y="192615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54EF9721-E1B6-F29B-3CD1-3142AE2718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2963" y="2019144"/>
            <a:ext cx="263059" cy="263059"/>
          </a:xfrm>
          <a:prstGeom prst="rect">
            <a:avLst/>
          </a:prstGeom>
        </p:spPr>
      </p:pic>
      <p:sp>
        <p:nvSpPr>
          <p:cNvPr id="18" name="Text 33">
            <a:extLst>
              <a:ext uri="{FF2B5EF4-FFF2-40B4-BE49-F238E27FC236}">
                <a16:creationId xmlns:a16="http://schemas.microsoft.com/office/drawing/2014/main" id="{27CAFFBC-1AEE-4883-A0E3-6C62CDD07F3F}"/>
              </a:ext>
            </a:extLst>
          </p:cNvPr>
          <p:cNvSpPr/>
          <p:nvPr/>
        </p:nvSpPr>
        <p:spPr>
          <a:xfrm>
            <a:off x="10285604" y="250430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74B5CC1A-5610-8746-AFBB-206ACF1AD786}"/>
              </a:ext>
            </a:extLst>
          </p:cNvPr>
          <p:cNvSpPr/>
          <p:nvPr/>
        </p:nvSpPr>
        <p:spPr>
          <a:xfrm>
            <a:off x="10304607" y="302551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2" name="Image 11" descr="preencoded.png">
            <a:extLst>
              <a:ext uri="{FF2B5EF4-FFF2-40B4-BE49-F238E27FC236}">
                <a16:creationId xmlns:a16="http://schemas.microsoft.com/office/drawing/2014/main" id="{37D630B1-A254-F617-9CF4-7641002F9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2805" y="2959429"/>
            <a:ext cx="237744" cy="237744"/>
          </a:xfrm>
          <a:prstGeom prst="rect">
            <a:avLst/>
          </a:prstGeom>
        </p:spPr>
      </p:pic>
      <p:cxnSp>
        <p:nvCxnSpPr>
          <p:cNvPr id="23" name="Straight Arrow Connector 174">
            <a:extLst>
              <a:ext uri="{FF2B5EF4-FFF2-40B4-BE49-F238E27FC236}">
                <a16:creationId xmlns:a16="http://schemas.microsoft.com/office/drawing/2014/main" id="{21722639-F541-A923-D418-00721B9F3EE5}"/>
              </a:ext>
            </a:extLst>
          </p:cNvPr>
          <p:cNvCxnSpPr>
            <a:cxnSpLocks/>
          </p:cNvCxnSpPr>
          <p:nvPr/>
        </p:nvCxnSpPr>
        <p:spPr>
          <a:xfrm>
            <a:off x="9914468" y="2909434"/>
            <a:ext cx="162998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13">
            <a:extLst>
              <a:ext uri="{FF2B5EF4-FFF2-40B4-BE49-F238E27FC236}">
                <a16:creationId xmlns:a16="http://schemas.microsoft.com/office/drawing/2014/main" id="{6FCBEA1B-40AA-AE51-BA77-6909D06C16B3}"/>
              </a:ext>
            </a:extLst>
          </p:cNvPr>
          <p:cNvSpPr/>
          <p:nvPr/>
        </p:nvSpPr>
        <p:spPr>
          <a:xfrm>
            <a:off x="2566776" y="255248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AB98786-AED1-BBD6-5A26-A9CD4B7A8A8B}"/>
              </a:ext>
            </a:extLst>
          </p:cNvPr>
          <p:cNvSpPr/>
          <p:nvPr/>
        </p:nvSpPr>
        <p:spPr>
          <a:xfrm>
            <a:off x="2473877" y="2831413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B1AFE77E-028D-5F01-9B9F-532A4A8B4303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7BF5EB05-E4E6-484A-E436-126D1DD319CE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2302351" y="94704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3C644-5DE4-D59B-24CE-567B3DB5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53</a:t>
            </a:fld>
            <a:endParaRPr lang="en-US" noProof="0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B629CC2-DC56-9232-8218-70CA56E63055}"/>
              </a:ext>
            </a:extLst>
          </p:cNvPr>
          <p:cNvSpPr txBox="1"/>
          <p:nvPr/>
        </p:nvSpPr>
        <p:spPr>
          <a:xfrm>
            <a:off x="2702552" y="6177079"/>
            <a:ext cx="6786732" cy="307777"/>
          </a:xfrm>
          <a:prstGeom prst="rect">
            <a:avLst/>
          </a:prstGeom>
          <a:solidFill>
            <a:srgbClr val="E8F7FE"/>
          </a:solidFill>
        </p:spPr>
        <p:txBody>
          <a:bodyPr wrap="square">
            <a:spAutoFit/>
          </a:bodyPr>
          <a:lstStyle/>
          <a:p>
            <a:r>
              <a:rPr lang="en-US" sz="1400" noProof="0" dirty="0"/>
              <a:t>Even if only a </a:t>
            </a:r>
            <a:r>
              <a:rPr lang="en-US" sz="1400" b="1" noProof="0" dirty="0"/>
              <a:t>child chunk</a:t>
            </a:r>
            <a:r>
              <a:rPr lang="en-US" sz="1400" noProof="0" dirty="0"/>
              <a:t> is retrieved, it still contains context  + fix signal.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6D6ECA-AE58-0DF8-E3C8-BBD9E54C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08" y="1412984"/>
            <a:ext cx="5769419" cy="44687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ADF94A-D18F-557B-D3BD-666F72DE2686}"/>
              </a:ext>
            </a:extLst>
          </p:cNvPr>
          <p:cNvSpPr/>
          <p:nvPr/>
        </p:nvSpPr>
        <p:spPr>
          <a:xfrm>
            <a:off x="3378228" y="1518043"/>
            <a:ext cx="673209" cy="3134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0453C-A8B4-066C-76FA-3CB7091CDEF1}"/>
              </a:ext>
            </a:extLst>
          </p:cNvPr>
          <p:cNvSpPr/>
          <p:nvPr/>
        </p:nvSpPr>
        <p:spPr>
          <a:xfrm>
            <a:off x="3658159" y="5557431"/>
            <a:ext cx="1058219" cy="205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3" name="rr">
            <a:extLst>
              <a:ext uri="{FF2B5EF4-FFF2-40B4-BE49-F238E27FC236}">
                <a16:creationId xmlns:a16="http://schemas.microsoft.com/office/drawing/2014/main" id="{B3FA9DB2-5444-789D-1D56-8D118575BA7A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b">
            <a:extLst>
              <a:ext uri="{FF2B5EF4-FFF2-40B4-BE49-F238E27FC236}">
                <a16:creationId xmlns:a16="http://schemas.microsoft.com/office/drawing/2014/main" id="{843AF64E-03C1-0714-E229-2A361E7944FF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DCD3-82FE-BD11-2F8B-94A44728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2855-0AB3-1658-D242-228DB627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The Data Preprocessing Pipeline</a:t>
            </a:r>
            <a:endParaRPr lang="en-US" sz="1800" noProof="0" dirty="0">
              <a:latin typeface="+mn-lt"/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672C180-ED84-783E-43FB-D43ED24E07E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62ED7BF6-F08D-ABA0-F00B-5FB419A5C98A}"/>
              </a:ext>
            </a:extLst>
          </p:cNvPr>
          <p:cNvSpPr/>
          <p:nvPr/>
        </p:nvSpPr>
        <p:spPr>
          <a:xfrm>
            <a:off x="1386844" y="117885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2561BF30-5529-D999-A900-94557B48C4EF}"/>
              </a:ext>
            </a:extLst>
          </p:cNvPr>
          <p:cNvSpPr/>
          <p:nvPr/>
        </p:nvSpPr>
        <p:spPr>
          <a:xfrm>
            <a:off x="946493" y="1963122"/>
            <a:ext cx="1304782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B05FE461-FCCC-4B8B-DC91-0D1FC3D1C3ED}"/>
              </a:ext>
            </a:extLst>
          </p:cNvPr>
          <p:cNvSpPr/>
          <p:nvPr/>
        </p:nvSpPr>
        <p:spPr>
          <a:xfrm>
            <a:off x="946493" y="1963122"/>
            <a:ext cx="129437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CE30A3DE-1786-E784-073E-F9D332E9F7A0}"/>
              </a:ext>
            </a:extLst>
          </p:cNvPr>
          <p:cNvSpPr/>
          <p:nvPr/>
        </p:nvSpPr>
        <p:spPr>
          <a:xfrm>
            <a:off x="946493" y="196312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26" name="Image 0" descr="preencoded.png">
            <a:extLst>
              <a:ext uri="{FF2B5EF4-FFF2-40B4-BE49-F238E27FC236}">
                <a16:creationId xmlns:a16="http://schemas.microsoft.com/office/drawing/2014/main" id="{C344A903-4704-DFA5-5102-F319D673E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705" y="2031465"/>
            <a:ext cx="329184" cy="329184"/>
          </a:xfrm>
          <a:prstGeom prst="rect">
            <a:avLst/>
          </a:prstGeom>
        </p:spPr>
      </p:pic>
      <p:sp>
        <p:nvSpPr>
          <p:cNvPr id="127" name="Text 8">
            <a:extLst>
              <a:ext uri="{FF2B5EF4-FFF2-40B4-BE49-F238E27FC236}">
                <a16:creationId xmlns:a16="http://schemas.microsoft.com/office/drawing/2014/main" id="{F7B389A2-A9E3-FE58-4522-170CD40348A7}"/>
              </a:ext>
            </a:extLst>
          </p:cNvPr>
          <p:cNvSpPr/>
          <p:nvPr/>
        </p:nvSpPr>
        <p:spPr>
          <a:xfrm>
            <a:off x="1152233" y="247966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7C2ADB7C-ED18-EB2F-EFEA-9B2932A34571}"/>
              </a:ext>
            </a:extLst>
          </p:cNvPr>
          <p:cNvSpPr/>
          <p:nvPr/>
        </p:nvSpPr>
        <p:spPr>
          <a:xfrm>
            <a:off x="1110195" y="293153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Download raw data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from GitHub</a:t>
            </a:r>
            <a:endParaRPr lang="en-US" sz="1000" noProof="0" dirty="0"/>
          </a:p>
        </p:txBody>
      </p:sp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3DC3E013-D8EF-06C8-8575-AFA6B68C2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35" y="3003395"/>
            <a:ext cx="237744" cy="237744"/>
          </a:xfrm>
          <a:prstGeom prst="rect">
            <a:avLst/>
          </a:prstGeom>
        </p:spPr>
      </p:pic>
      <p:pic>
        <p:nvPicPr>
          <p:cNvPr id="130" name="Image 3" descr="preencoded.png">
            <a:extLst>
              <a:ext uri="{FF2B5EF4-FFF2-40B4-BE49-F238E27FC236}">
                <a16:creationId xmlns:a16="http://schemas.microsoft.com/office/drawing/2014/main" id="{2002A6AE-A1C4-B0A0-3138-5D59FD9E9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464" y="2991820"/>
            <a:ext cx="237744" cy="237744"/>
          </a:xfrm>
          <a:prstGeom prst="rect">
            <a:avLst/>
          </a:prstGeom>
        </p:spPr>
      </p:pic>
      <p:sp>
        <p:nvSpPr>
          <p:cNvPr id="131" name="Shape 15">
            <a:extLst>
              <a:ext uri="{FF2B5EF4-FFF2-40B4-BE49-F238E27FC236}">
                <a16:creationId xmlns:a16="http://schemas.microsoft.com/office/drawing/2014/main" id="{8E7EEF4E-9757-E67B-AF72-6964480A96DF}"/>
              </a:ext>
            </a:extLst>
          </p:cNvPr>
          <p:cNvSpPr/>
          <p:nvPr/>
        </p:nvSpPr>
        <p:spPr>
          <a:xfrm>
            <a:off x="3925508" y="1958548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2" name="Shape 16">
            <a:extLst>
              <a:ext uri="{FF2B5EF4-FFF2-40B4-BE49-F238E27FC236}">
                <a16:creationId xmlns:a16="http://schemas.microsoft.com/office/drawing/2014/main" id="{60F45BA5-FB2F-0408-CEDA-27C139B9B59C}"/>
              </a:ext>
            </a:extLst>
          </p:cNvPr>
          <p:cNvSpPr/>
          <p:nvPr/>
        </p:nvSpPr>
        <p:spPr>
          <a:xfrm>
            <a:off x="3931373" y="1969129"/>
            <a:ext cx="1393389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3" name="Text 17">
            <a:extLst>
              <a:ext uri="{FF2B5EF4-FFF2-40B4-BE49-F238E27FC236}">
                <a16:creationId xmlns:a16="http://schemas.microsoft.com/office/drawing/2014/main" id="{6C8CCCA1-CB85-2594-21B0-B50560F46961}"/>
              </a:ext>
            </a:extLst>
          </p:cNvPr>
          <p:cNvSpPr/>
          <p:nvPr/>
        </p:nvSpPr>
        <p:spPr>
          <a:xfrm>
            <a:off x="3996048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34" name="Image 4" descr="preencoded.png">
            <a:extLst>
              <a:ext uri="{FF2B5EF4-FFF2-40B4-BE49-F238E27FC236}">
                <a16:creationId xmlns:a16="http://schemas.microsoft.com/office/drawing/2014/main" id="{A9305C69-786B-AC28-A993-F6DD8B7E2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70" y="2035782"/>
            <a:ext cx="329184" cy="329184"/>
          </a:xfrm>
          <a:prstGeom prst="rect">
            <a:avLst/>
          </a:prstGeom>
        </p:spPr>
      </p:pic>
      <p:sp>
        <p:nvSpPr>
          <p:cNvPr id="135" name="Text 18">
            <a:extLst>
              <a:ext uri="{FF2B5EF4-FFF2-40B4-BE49-F238E27FC236}">
                <a16:creationId xmlns:a16="http://schemas.microsoft.com/office/drawing/2014/main" id="{D96A5AFA-F2F0-A05B-04D0-9ECDBAEE927B}"/>
              </a:ext>
            </a:extLst>
          </p:cNvPr>
          <p:cNvSpPr/>
          <p:nvPr/>
        </p:nvSpPr>
        <p:spPr>
          <a:xfrm>
            <a:off x="4020847" y="2606218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Enrichment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(Feature</a:t>
            </a: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35C3F10A-967F-81D4-577A-E2EEFCDCE50C}"/>
              </a:ext>
            </a:extLst>
          </p:cNvPr>
          <p:cNvSpPr/>
          <p:nvPr/>
        </p:nvSpPr>
        <p:spPr>
          <a:xfrm>
            <a:off x="4080651" y="3016140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</a:t>
            </a:r>
            <a:r>
              <a:rPr lang="en-US" sz="1000" noProof="0" dirty="0" err="1">
                <a:solidFill>
                  <a:srgbClr val="64748B"/>
                </a:solidFill>
              </a:rPr>
              <a:t>issue_kind</a:t>
            </a:r>
            <a:r>
              <a:rPr lang="en-US" sz="1000" noProof="0" dirty="0">
                <a:solidFill>
                  <a:srgbClr val="64748B"/>
                </a:solidFill>
              </a:rPr>
              <a:t>, </a:t>
            </a:r>
            <a:r>
              <a:rPr lang="en-US" sz="1000" noProof="0" dirty="0" err="1">
                <a:solidFill>
                  <a:srgbClr val="64748B"/>
                </a:solidFill>
              </a:rPr>
              <a:t>is_valid</a:t>
            </a:r>
            <a:endParaRPr lang="en-US" sz="1000" noProof="0" dirty="0">
              <a:solidFill>
                <a:srgbClr val="64748B"/>
              </a:solidFill>
            </a:endParaRPr>
          </a:p>
        </p:txBody>
      </p:sp>
      <p:pic>
        <p:nvPicPr>
          <p:cNvPr id="137" name="Image 5" descr="preencoded.png">
            <a:extLst>
              <a:ext uri="{FF2B5EF4-FFF2-40B4-BE49-F238E27FC236}">
                <a16:creationId xmlns:a16="http://schemas.microsoft.com/office/drawing/2014/main" id="{758E59A0-72D9-07CF-E87B-6613EF9B9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944" y="2987000"/>
            <a:ext cx="237744" cy="237744"/>
          </a:xfrm>
          <a:prstGeom prst="rect">
            <a:avLst/>
          </a:prstGeom>
        </p:spPr>
      </p:pic>
      <p:sp>
        <p:nvSpPr>
          <p:cNvPr id="138" name="Shape 20">
            <a:extLst>
              <a:ext uri="{FF2B5EF4-FFF2-40B4-BE49-F238E27FC236}">
                <a16:creationId xmlns:a16="http://schemas.microsoft.com/office/drawing/2014/main" id="{4E551887-E0B0-7498-E9E5-E0FE3E49611D}"/>
              </a:ext>
            </a:extLst>
          </p:cNvPr>
          <p:cNvSpPr/>
          <p:nvPr/>
        </p:nvSpPr>
        <p:spPr>
          <a:xfrm>
            <a:off x="5527073" y="196912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9" name="Shape 21">
            <a:extLst>
              <a:ext uri="{FF2B5EF4-FFF2-40B4-BE49-F238E27FC236}">
                <a16:creationId xmlns:a16="http://schemas.microsoft.com/office/drawing/2014/main" id="{16E6B34A-165E-AE38-51EC-2ADC6D776EDE}"/>
              </a:ext>
            </a:extLst>
          </p:cNvPr>
          <p:cNvSpPr/>
          <p:nvPr/>
        </p:nvSpPr>
        <p:spPr>
          <a:xfrm>
            <a:off x="5540528" y="1953728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0" name="Text 22">
            <a:extLst>
              <a:ext uri="{FF2B5EF4-FFF2-40B4-BE49-F238E27FC236}">
                <a16:creationId xmlns:a16="http://schemas.microsoft.com/office/drawing/2014/main" id="{139E12DC-9AAB-1F4D-607B-AA409AAB2660}"/>
              </a:ext>
            </a:extLst>
          </p:cNvPr>
          <p:cNvSpPr/>
          <p:nvPr/>
        </p:nvSpPr>
        <p:spPr>
          <a:xfrm>
            <a:off x="5540528" y="19537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41" name="Text 23">
            <a:extLst>
              <a:ext uri="{FF2B5EF4-FFF2-40B4-BE49-F238E27FC236}">
                <a16:creationId xmlns:a16="http://schemas.microsoft.com/office/drawing/2014/main" id="{16448B02-B0DE-7E0B-D59D-223161CF07BF}"/>
              </a:ext>
            </a:extLst>
          </p:cNvPr>
          <p:cNvSpPr/>
          <p:nvPr/>
        </p:nvSpPr>
        <p:spPr>
          <a:xfrm>
            <a:off x="5726846" y="24772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142" name="Text 24">
            <a:extLst>
              <a:ext uri="{FF2B5EF4-FFF2-40B4-BE49-F238E27FC236}">
                <a16:creationId xmlns:a16="http://schemas.microsoft.com/office/drawing/2014/main" id="{8F56D65E-716E-3D96-BD93-21EC8150EC3A}"/>
              </a:ext>
            </a:extLst>
          </p:cNvPr>
          <p:cNvSpPr/>
          <p:nvPr/>
        </p:nvSpPr>
        <p:spPr>
          <a:xfrm>
            <a:off x="5736327" y="28544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Link related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describing the same bug</a:t>
            </a:r>
            <a:endParaRPr lang="en-US" sz="1000" noProof="0" dirty="0"/>
          </a:p>
        </p:txBody>
      </p:sp>
      <p:sp>
        <p:nvSpPr>
          <p:cNvPr id="158" name="Shape 35">
            <a:extLst>
              <a:ext uri="{FF2B5EF4-FFF2-40B4-BE49-F238E27FC236}">
                <a16:creationId xmlns:a16="http://schemas.microsoft.com/office/drawing/2014/main" id="{2AEE3F8F-A192-EFAF-7944-1E589D97E71C}"/>
              </a:ext>
            </a:extLst>
          </p:cNvPr>
          <p:cNvSpPr/>
          <p:nvPr/>
        </p:nvSpPr>
        <p:spPr>
          <a:xfrm>
            <a:off x="8630756" y="1969129"/>
            <a:ext cx="1218608" cy="1990773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D3D40BC1-5EAD-637D-30CC-F641B72EB1AF}"/>
              </a:ext>
            </a:extLst>
          </p:cNvPr>
          <p:cNvSpPr/>
          <p:nvPr/>
        </p:nvSpPr>
        <p:spPr>
          <a:xfrm>
            <a:off x="8630756" y="1969130"/>
            <a:ext cx="1218607" cy="438912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0" name="Text 37">
            <a:extLst>
              <a:ext uri="{FF2B5EF4-FFF2-40B4-BE49-F238E27FC236}">
                <a16:creationId xmlns:a16="http://schemas.microsoft.com/office/drawing/2014/main" id="{C11ACD71-E349-B4F8-00D0-F3128D8CDC07}"/>
              </a:ext>
            </a:extLst>
          </p:cNvPr>
          <p:cNvSpPr/>
          <p:nvPr/>
        </p:nvSpPr>
        <p:spPr>
          <a:xfrm>
            <a:off x="8630756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61" name="Image 12" descr="preencoded.png">
            <a:extLst>
              <a:ext uri="{FF2B5EF4-FFF2-40B4-BE49-F238E27FC236}">
                <a16:creationId xmlns:a16="http://schemas.microsoft.com/office/drawing/2014/main" id="{AD563121-8DA3-4CA8-7DCF-14B0D16F3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123" y="2054199"/>
            <a:ext cx="288037" cy="288037"/>
          </a:xfrm>
          <a:prstGeom prst="rect">
            <a:avLst/>
          </a:prstGeom>
        </p:spPr>
      </p:pic>
      <p:sp>
        <p:nvSpPr>
          <p:cNvPr id="162" name="Text 38">
            <a:extLst>
              <a:ext uri="{FF2B5EF4-FFF2-40B4-BE49-F238E27FC236}">
                <a16:creationId xmlns:a16="http://schemas.microsoft.com/office/drawing/2014/main" id="{74C399EC-4527-0344-49A9-F110CC247A09}"/>
              </a:ext>
            </a:extLst>
          </p:cNvPr>
          <p:cNvSpPr/>
          <p:nvPr/>
        </p:nvSpPr>
        <p:spPr>
          <a:xfrm>
            <a:off x="8568342" y="258827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  <a:endParaRPr lang="en-US" sz="80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63" name="Text 39">
            <a:extLst>
              <a:ext uri="{FF2B5EF4-FFF2-40B4-BE49-F238E27FC236}">
                <a16:creationId xmlns:a16="http://schemas.microsoft.com/office/drawing/2014/main" id="{B5C6C52F-29B4-0954-BE39-0E087F2F7471}"/>
              </a:ext>
            </a:extLst>
          </p:cNvPr>
          <p:cNvSpPr/>
          <p:nvPr/>
        </p:nvSpPr>
        <p:spPr>
          <a:xfrm>
            <a:off x="8729746" y="293092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Deliver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ST-ready</a:t>
            </a:r>
            <a:endParaRPr lang="en-US" sz="1000" noProof="0" dirty="0"/>
          </a:p>
        </p:txBody>
      </p:sp>
      <p:pic>
        <p:nvPicPr>
          <p:cNvPr id="164" name="Graphic 163" descr="Dice with solid fill">
            <a:extLst>
              <a:ext uri="{FF2B5EF4-FFF2-40B4-BE49-F238E27FC236}">
                <a16:creationId xmlns:a16="http://schemas.microsoft.com/office/drawing/2014/main" id="{68A36980-BBD4-66CA-7F7E-C4ADDF2C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709" y="1981159"/>
            <a:ext cx="402338" cy="402338"/>
          </a:xfrm>
          <a:prstGeom prst="rect">
            <a:avLst/>
          </a:prstGeom>
        </p:spPr>
      </p:pic>
      <p:sp>
        <p:nvSpPr>
          <p:cNvPr id="165" name="Shape 20">
            <a:extLst>
              <a:ext uri="{FF2B5EF4-FFF2-40B4-BE49-F238E27FC236}">
                <a16:creationId xmlns:a16="http://schemas.microsoft.com/office/drawing/2014/main" id="{417A1DEC-C0D6-D8D6-56A7-49F8701D1B06}"/>
              </a:ext>
            </a:extLst>
          </p:cNvPr>
          <p:cNvSpPr/>
          <p:nvPr/>
        </p:nvSpPr>
        <p:spPr>
          <a:xfrm>
            <a:off x="7083031" y="196312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E9E0B432-F3FE-38F2-E945-89CA469A2DCF}"/>
              </a:ext>
            </a:extLst>
          </p:cNvPr>
          <p:cNvSpPr/>
          <p:nvPr/>
        </p:nvSpPr>
        <p:spPr>
          <a:xfrm>
            <a:off x="7083030" y="1958548"/>
            <a:ext cx="141195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7" name="Text 22">
            <a:extLst>
              <a:ext uri="{FF2B5EF4-FFF2-40B4-BE49-F238E27FC236}">
                <a16:creationId xmlns:a16="http://schemas.microsoft.com/office/drawing/2014/main" id="{85A8BECC-EA21-3299-432D-7EEF224CB153}"/>
              </a:ext>
            </a:extLst>
          </p:cNvPr>
          <p:cNvSpPr/>
          <p:nvPr/>
        </p:nvSpPr>
        <p:spPr>
          <a:xfrm>
            <a:off x="7157672" y="195854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1D46DCC7-826B-0B49-E4AF-C6F81DB44D00}"/>
              </a:ext>
            </a:extLst>
          </p:cNvPr>
          <p:cNvSpPr/>
          <p:nvPr/>
        </p:nvSpPr>
        <p:spPr>
          <a:xfrm>
            <a:off x="7343990" y="2482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Generation</a:t>
            </a:r>
            <a:endParaRPr lang="en-US" sz="1050" noProof="0" dirty="0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3CCA5F01-17A2-F21F-6F7D-1BE746652B3F}"/>
              </a:ext>
            </a:extLst>
          </p:cNvPr>
          <p:cNvSpPr/>
          <p:nvPr/>
        </p:nvSpPr>
        <p:spPr>
          <a:xfrm>
            <a:off x="7343990" y="29918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 post-processing stage that turns prepared data into actionable support artifacts</a:t>
            </a:r>
            <a:endParaRPr lang="en-US" sz="1000" noProof="0" dirty="0"/>
          </a:p>
        </p:txBody>
      </p:sp>
      <p:pic>
        <p:nvPicPr>
          <p:cNvPr id="170" name="Graphic 169" descr="Database with solid fill">
            <a:extLst>
              <a:ext uri="{FF2B5EF4-FFF2-40B4-BE49-F238E27FC236}">
                <a16:creationId xmlns:a16="http://schemas.microsoft.com/office/drawing/2014/main" id="{9D281805-78F2-729A-246D-168804F7C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1255" y="1982868"/>
            <a:ext cx="390272" cy="390272"/>
          </a:xfrm>
          <a:prstGeom prst="rect">
            <a:avLst/>
          </a:prstGeom>
        </p:spPr>
      </p:pic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406870E-57DB-42FB-1EA7-90054EB1C535}"/>
              </a:ext>
            </a:extLst>
          </p:cNvPr>
          <p:cNvCxnSpPr>
            <a:stCxn id="131" idx="3"/>
            <a:endCxn id="138" idx="1"/>
          </p:cNvCxnSpPr>
          <p:nvPr/>
        </p:nvCxnSpPr>
        <p:spPr>
          <a:xfrm>
            <a:off x="5332236" y="2949119"/>
            <a:ext cx="194837" cy="1058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40F9871-D6B2-1BE0-B70A-43A7AD6592BC}"/>
              </a:ext>
            </a:extLst>
          </p:cNvPr>
          <p:cNvCxnSpPr>
            <a:stCxn id="138" idx="3"/>
            <a:endCxn id="165" idx="1"/>
          </p:cNvCxnSpPr>
          <p:nvPr/>
        </p:nvCxnSpPr>
        <p:spPr>
          <a:xfrm flipV="1">
            <a:off x="6924511" y="2953693"/>
            <a:ext cx="158520" cy="60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37DA82D2-0A3C-8987-9F75-1E7011898CC8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8485604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Image 1" descr="preencoded.png">
            <a:extLst>
              <a:ext uri="{FF2B5EF4-FFF2-40B4-BE49-F238E27FC236}">
                <a16:creationId xmlns:a16="http://schemas.microsoft.com/office/drawing/2014/main" id="{ED7416B3-D051-1614-EDAB-274B1C1E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376" y="3016140"/>
            <a:ext cx="237744" cy="237744"/>
          </a:xfrm>
          <a:prstGeom prst="rect">
            <a:avLst/>
          </a:prstGeom>
        </p:spPr>
      </p:pic>
      <p:sp>
        <p:nvSpPr>
          <p:cNvPr id="177" name="Shape 10">
            <a:extLst>
              <a:ext uri="{FF2B5EF4-FFF2-40B4-BE49-F238E27FC236}">
                <a16:creationId xmlns:a16="http://schemas.microsoft.com/office/drawing/2014/main" id="{B83A63AB-D069-845E-6329-7EF53E773BE6}"/>
              </a:ext>
            </a:extLst>
          </p:cNvPr>
          <p:cNvSpPr/>
          <p:nvPr/>
        </p:nvSpPr>
        <p:spPr>
          <a:xfrm>
            <a:off x="2386893" y="1960516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78" name="Shape 11">
            <a:extLst>
              <a:ext uri="{FF2B5EF4-FFF2-40B4-BE49-F238E27FC236}">
                <a16:creationId xmlns:a16="http://schemas.microsoft.com/office/drawing/2014/main" id="{8F90E75E-45BF-E019-E95F-770C9F40AED8}"/>
              </a:ext>
            </a:extLst>
          </p:cNvPr>
          <p:cNvSpPr/>
          <p:nvPr/>
        </p:nvSpPr>
        <p:spPr>
          <a:xfrm>
            <a:off x="2386893" y="1960516"/>
            <a:ext cx="141274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9" name="Text 12">
            <a:extLst>
              <a:ext uri="{FF2B5EF4-FFF2-40B4-BE49-F238E27FC236}">
                <a16:creationId xmlns:a16="http://schemas.microsoft.com/office/drawing/2014/main" id="{B9C08674-3B0B-88A6-64BF-91ADE783E48C}"/>
              </a:ext>
            </a:extLst>
          </p:cNvPr>
          <p:cNvSpPr/>
          <p:nvPr/>
        </p:nvSpPr>
        <p:spPr>
          <a:xfrm>
            <a:off x="2386893" y="19605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182" name="Graphic 181" descr="Eraser with solid fill">
            <a:extLst>
              <a:ext uri="{FF2B5EF4-FFF2-40B4-BE49-F238E27FC236}">
                <a16:creationId xmlns:a16="http://schemas.microsoft.com/office/drawing/2014/main" id="{8AFDCD61-C96B-DD02-EE8A-0F7072B1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31027" y="2026176"/>
            <a:ext cx="329184" cy="329184"/>
          </a:xfrm>
          <a:prstGeom prst="rect">
            <a:avLst/>
          </a:prstGeom>
        </p:spPr>
      </p:pic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B5761ED-E710-AD4C-382F-4E7F5402C58E}"/>
              </a:ext>
            </a:extLst>
          </p:cNvPr>
          <p:cNvCxnSpPr>
            <a:stCxn id="123" idx="3"/>
            <a:endCxn id="177" idx="1"/>
          </p:cNvCxnSpPr>
          <p:nvPr/>
        </p:nvCxnSpPr>
        <p:spPr>
          <a:xfrm flipV="1">
            <a:off x="2251275" y="2947586"/>
            <a:ext cx="135618" cy="610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CB811C6-8E72-50FA-1C1B-96A38EEC0D86}"/>
              </a:ext>
            </a:extLst>
          </p:cNvPr>
          <p:cNvCxnSpPr>
            <a:stCxn id="177" idx="3"/>
            <a:endCxn id="131" idx="1"/>
          </p:cNvCxnSpPr>
          <p:nvPr/>
        </p:nvCxnSpPr>
        <p:spPr>
          <a:xfrm>
            <a:off x="3799641" y="2947586"/>
            <a:ext cx="125867" cy="153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59C64-3848-9026-6B60-7E4FA11D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54</a:t>
            </a:fld>
            <a:endParaRPr lang="en-US" noProof="0" dirty="0"/>
          </a:p>
        </p:txBody>
      </p:sp>
      <p:sp>
        <p:nvSpPr>
          <p:cNvPr id="4" name="Shape 44">
            <a:extLst>
              <a:ext uri="{FF2B5EF4-FFF2-40B4-BE49-F238E27FC236}">
                <a16:creationId xmlns:a16="http://schemas.microsoft.com/office/drawing/2014/main" id="{983EFF2F-1893-9A6B-FD78-8AB9C88831AC}"/>
              </a:ext>
            </a:extLst>
          </p:cNvPr>
          <p:cNvSpPr/>
          <p:nvPr/>
        </p:nvSpPr>
        <p:spPr>
          <a:xfrm>
            <a:off x="5300476" y="449636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45">
            <a:extLst>
              <a:ext uri="{FF2B5EF4-FFF2-40B4-BE49-F238E27FC236}">
                <a16:creationId xmlns:a16="http://schemas.microsoft.com/office/drawing/2014/main" id="{01977AF0-8CE9-6BDB-1C7E-875FFB7FE3B0}"/>
              </a:ext>
            </a:extLst>
          </p:cNvPr>
          <p:cNvSpPr/>
          <p:nvPr/>
        </p:nvSpPr>
        <p:spPr>
          <a:xfrm>
            <a:off x="5300476" y="449636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6BEAC3D6-A53F-B17F-C869-2D5CB5D33DB7}"/>
              </a:ext>
            </a:extLst>
          </p:cNvPr>
          <p:cNvSpPr/>
          <p:nvPr/>
        </p:nvSpPr>
        <p:spPr>
          <a:xfrm>
            <a:off x="5501644" y="458780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Evaluation Objective ?</a:t>
            </a:r>
            <a:endParaRPr lang="en-US" sz="1050" noProof="0" dirty="0"/>
          </a:p>
        </p:txBody>
      </p:sp>
      <p:sp>
        <p:nvSpPr>
          <p:cNvPr id="7" name="Text 47">
            <a:extLst>
              <a:ext uri="{FF2B5EF4-FFF2-40B4-BE49-F238E27FC236}">
                <a16:creationId xmlns:a16="http://schemas.microsoft.com/office/drawing/2014/main" id="{FB4D3F3B-F3EC-311C-ABC2-47C83B8058F1}"/>
              </a:ext>
            </a:extLst>
          </p:cNvPr>
          <p:cNvSpPr/>
          <p:nvPr/>
        </p:nvSpPr>
        <p:spPr>
          <a:xfrm>
            <a:off x="5501644" y="4881934"/>
            <a:ext cx="388240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Test whether our preprocessing decisions produce the right answers , before anything reaches ST ChatGPT.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50 real questions, measured </a:t>
            </a:r>
            <a:r>
              <a:rPr lang="en-US" sz="1050" b="1" noProof="0" dirty="0">
                <a:solidFill>
                  <a:srgbClr val="1B2A3B"/>
                </a:solidFill>
              </a:rPr>
              <a:t>offline</a:t>
            </a:r>
            <a:r>
              <a:rPr lang="en-US" sz="1050" noProof="0" dirty="0">
                <a:solidFill>
                  <a:srgbClr val="1B2A3B"/>
                </a:solidFill>
              </a:rPr>
              <a:t> and </a:t>
            </a:r>
            <a:r>
              <a:rPr lang="en-US" sz="1050" b="1" noProof="0" dirty="0">
                <a:solidFill>
                  <a:srgbClr val="1B2A3B"/>
                </a:solidFill>
              </a:rPr>
              <a:t>online</a:t>
            </a:r>
            <a:r>
              <a:rPr lang="en-US" sz="1050" noProof="0" dirty="0">
                <a:solidFill>
                  <a:srgbClr val="1B2A3B"/>
                </a:solidFill>
              </a:rPr>
              <a:t>, to catch hallucinations and missing context before deployment.</a:t>
            </a:r>
            <a:endParaRPr lang="en-US" sz="1050" noProof="0" dirty="0"/>
          </a:p>
        </p:txBody>
      </p:sp>
      <p:pic>
        <p:nvPicPr>
          <p:cNvPr id="8" name="Graphic 52" descr="Back outline">
            <a:extLst>
              <a:ext uri="{FF2B5EF4-FFF2-40B4-BE49-F238E27FC236}">
                <a16:creationId xmlns:a16="http://schemas.microsoft.com/office/drawing/2014/main" id="{C09B13EB-9591-985B-A9BA-9D7FF0BE1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9676564" y="4481335"/>
            <a:ext cx="1481109" cy="1481109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C360769C-2EEE-BA90-EE8B-49C238E31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6011" y="2097612"/>
            <a:ext cx="237744" cy="237744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8CD6F947-1FF3-D82F-76E7-F7B0D9B8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442" y="3012430"/>
            <a:ext cx="237744" cy="237744"/>
          </a:xfrm>
          <a:prstGeom prst="rect">
            <a:avLst/>
          </a:prstGeom>
        </p:spPr>
      </p:pic>
      <p:sp>
        <p:nvSpPr>
          <p:cNvPr id="16" name="Shape 30">
            <a:extLst>
              <a:ext uri="{FF2B5EF4-FFF2-40B4-BE49-F238E27FC236}">
                <a16:creationId xmlns:a16="http://schemas.microsoft.com/office/drawing/2014/main" id="{F2CDEDBA-832C-F8D6-006F-3DEC8A5688F0}"/>
              </a:ext>
            </a:extLst>
          </p:cNvPr>
          <p:cNvSpPr/>
          <p:nvPr/>
        </p:nvSpPr>
        <p:spPr>
          <a:xfrm>
            <a:off x="10012314" y="1969129"/>
            <a:ext cx="1401778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31">
            <a:extLst>
              <a:ext uri="{FF2B5EF4-FFF2-40B4-BE49-F238E27FC236}">
                <a16:creationId xmlns:a16="http://schemas.microsoft.com/office/drawing/2014/main" id="{0AF13558-371F-E936-5507-0501EB968EED}"/>
              </a:ext>
            </a:extLst>
          </p:cNvPr>
          <p:cNvSpPr/>
          <p:nvPr/>
        </p:nvSpPr>
        <p:spPr>
          <a:xfrm>
            <a:off x="10012314" y="1969130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32">
            <a:extLst>
              <a:ext uri="{FF2B5EF4-FFF2-40B4-BE49-F238E27FC236}">
                <a16:creationId xmlns:a16="http://schemas.microsoft.com/office/drawing/2014/main" id="{BF5B210B-7A1A-D1DA-C6E3-34A4456B94D7}"/>
              </a:ext>
            </a:extLst>
          </p:cNvPr>
          <p:cNvSpPr/>
          <p:nvPr/>
        </p:nvSpPr>
        <p:spPr>
          <a:xfrm>
            <a:off x="10012314" y="196913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2" name="Image 10" descr="preencoded.png">
            <a:extLst>
              <a:ext uri="{FF2B5EF4-FFF2-40B4-BE49-F238E27FC236}">
                <a16:creationId xmlns:a16="http://schemas.microsoft.com/office/drawing/2014/main" id="{C14078D4-E4A6-383A-4765-3DB6E99B45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5472" y="2062117"/>
            <a:ext cx="263059" cy="263059"/>
          </a:xfrm>
          <a:prstGeom prst="rect">
            <a:avLst/>
          </a:prstGeom>
        </p:spPr>
      </p:pic>
      <p:sp>
        <p:nvSpPr>
          <p:cNvPr id="24" name="Text 33">
            <a:extLst>
              <a:ext uri="{FF2B5EF4-FFF2-40B4-BE49-F238E27FC236}">
                <a16:creationId xmlns:a16="http://schemas.microsoft.com/office/drawing/2014/main" id="{1F995855-6919-FEBF-4693-C1A2EED6AD04}"/>
              </a:ext>
            </a:extLst>
          </p:cNvPr>
          <p:cNvSpPr/>
          <p:nvPr/>
        </p:nvSpPr>
        <p:spPr>
          <a:xfrm>
            <a:off x="10208113" y="2547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8CC6BD03-8773-33D4-DC29-ECBFA1515804}"/>
              </a:ext>
            </a:extLst>
          </p:cNvPr>
          <p:cNvSpPr/>
          <p:nvPr/>
        </p:nvSpPr>
        <p:spPr>
          <a:xfrm>
            <a:off x="10227116" y="30684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 with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of reference</a:t>
            </a: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28" name="Image 11" descr="preencoded.png">
            <a:extLst>
              <a:ext uri="{FF2B5EF4-FFF2-40B4-BE49-F238E27FC236}">
                <a16:creationId xmlns:a16="http://schemas.microsoft.com/office/drawing/2014/main" id="{10888B0D-FFCA-329F-C48E-6D9453F65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314" y="3002402"/>
            <a:ext cx="237744" cy="237744"/>
          </a:xfrm>
          <a:prstGeom prst="rect">
            <a:avLst/>
          </a:prstGeom>
        </p:spPr>
      </p:pic>
      <p:cxnSp>
        <p:nvCxnSpPr>
          <p:cNvPr id="29" name="Straight Arrow Connector 174">
            <a:extLst>
              <a:ext uri="{FF2B5EF4-FFF2-40B4-BE49-F238E27FC236}">
                <a16:creationId xmlns:a16="http://schemas.microsoft.com/office/drawing/2014/main" id="{8978FA25-8A84-7C1C-E129-CCE728D60C1C}"/>
              </a:ext>
            </a:extLst>
          </p:cNvPr>
          <p:cNvCxnSpPr>
            <a:cxnSpLocks/>
          </p:cNvCxnSpPr>
          <p:nvPr/>
        </p:nvCxnSpPr>
        <p:spPr>
          <a:xfrm>
            <a:off x="9858263" y="2964271"/>
            <a:ext cx="145152" cy="245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3">
            <a:extLst>
              <a:ext uri="{FF2B5EF4-FFF2-40B4-BE49-F238E27FC236}">
                <a16:creationId xmlns:a16="http://schemas.microsoft.com/office/drawing/2014/main" id="{4F9DA1A3-4335-BC21-56E9-B03D20996F5E}"/>
              </a:ext>
            </a:extLst>
          </p:cNvPr>
          <p:cNvSpPr/>
          <p:nvPr/>
        </p:nvSpPr>
        <p:spPr>
          <a:xfrm>
            <a:off x="2605133" y="260641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Cleaning and structuring</a:t>
            </a:r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582AE0DD-11CE-CC90-477D-485A5918664B}"/>
              </a:ext>
            </a:extLst>
          </p:cNvPr>
          <p:cNvSpPr/>
          <p:nvPr/>
        </p:nvSpPr>
        <p:spPr>
          <a:xfrm>
            <a:off x="2512234" y="2885342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</a:rPr>
              <a:t>Remove HTML and noise, then structure the documents.</a:t>
            </a:r>
          </a:p>
        </p:txBody>
      </p:sp>
      <p:sp>
        <p:nvSpPr>
          <p:cNvPr id="11" name="rr">
            <a:extLst>
              <a:ext uri="{FF2B5EF4-FFF2-40B4-BE49-F238E27FC236}">
                <a16:creationId xmlns:a16="http://schemas.microsoft.com/office/drawing/2014/main" id="{AD85204A-670B-3CE5-9F87-8150970FC15D}"/>
              </a:ext>
            </a:extLst>
          </p:cNvPr>
          <p:cNvSpPr/>
          <p:nvPr/>
        </p:nvSpPr>
        <p:spPr>
          <a:xfrm>
            <a:off x="418948" y="53419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b">
            <a:extLst>
              <a:ext uri="{FF2B5EF4-FFF2-40B4-BE49-F238E27FC236}">
                <a16:creationId xmlns:a16="http://schemas.microsoft.com/office/drawing/2014/main" id="{0C11AD7C-69F3-60B3-29C5-FBE3B3837492}"/>
              </a:ext>
            </a:extLst>
          </p:cNvPr>
          <p:cNvSpPr>
            <a:spLocks noGrp="1"/>
          </p:cNvSpPr>
          <p:nvPr/>
        </p:nvSpPr>
        <p:spPr>
          <a:xfrm>
            <a:off x="693268" y="48847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3984610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Evaluation Protocol &amp; Benchmark Results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Concrete numbers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F78B0074-D184-9D4A-2FD1-8010161CBD1A}"/>
              </a:ext>
            </a:extLst>
          </p:cNvPr>
          <p:cNvSpPr/>
          <p:nvPr/>
        </p:nvSpPr>
        <p:spPr>
          <a:xfrm>
            <a:off x="16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r>
              <a:rPr lang="en-US" sz="2400" b="1" i="1" dirty="0">
                <a:solidFill>
                  <a:srgbClr val="0D9589"/>
                </a:solidFill>
              </a:rPr>
              <a:t>Evaluation</a:t>
            </a:r>
            <a:r>
              <a:rPr lang="en-US" sz="2200" b="1" noProof="0" dirty="0">
                <a:solidFill>
                  <a:srgbClr val="0D9488"/>
                </a:solidFill>
              </a:rPr>
              <a:t> 1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noProof="0" dirty="0"/>
              <a:t>test_stats_issues_v2</a:t>
            </a:r>
          </a:p>
          <a:p>
            <a:pPr algn="l">
              <a:buNone/>
            </a:pPr>
            <a:r>
              <a:rPr lang="en-US" sz="850" b="0" noProof="0" dirty="0"/>
              <a:t>test_stats_files_v2</a:t>
            </a:r>
          </a:p>
          <a:p>
            <a:pPr algn="l">
              <a:buNone/>
            </a:pPr>
            <a:endParaRPr lang="en-US" sz="850" b="0" noProof="0" dirty="0"/>
          </a:p>
          <a:p>
            <a:r>
              <a:rPr lang="en-US" sz="800" b="0" i="1" noProof="0" dirty="0"/>
              <a:t>Distribution + metadata</a:t>
            </a:r>
            <a:r>
              <a:rPr lang="en-US" sz="800" i="1" noProof="0" dirty="0"/>
              <a:t> cover</a:t>
            </a:r>
            <a:endParaRPr lang="en-US" sz="800" b="0" i="1" noProof="0" dirty="0"/>
          </a:p>
        </p:txBody>
      </p:sp>
      <p:sp>
        <p:nvSpPr>
          <p:cNvPr id="8" name="G2">
            <a:extLst>
              <a:ext uri="{FF2B5EF4-FFF2-40B4-BE49-F238E27FC236}">
                <a16:creationId xmlns:a16="http://schemas.microsoft.com/office/drawing/2014/main" id="{7E4FA9F5-F59D-5926-7159-891DC62E1FDA}"/>
              </a:ext>
            </a:extLst>
          </p:cNvPr>
          <p:cNvSpPr/>
          <p:nvPr/>
        </p:nvSpPr>
        <p:spPr>
          <a:xfrm>
            <a:off x="45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r>
              <a:rPr lang="en-US" sz="2400" b="1" i="1" dirty="0">
                <a:solidFill>
                  <a:srgbClr val="0D9589"/>
                </a:solidFill>
              </a:rPr>
              <a:t>Evaluation</a:t>
            </a:r>
            <a:r>
              <a:rPr lang="en-US" sz="2200" b="1" noProof="0" dirty="0">
                <a:solidFill>
                  <a:srgbClr val="0D9589"/>
                </a:solidFill>
              </a:rPr>
              <a:t> 2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noProof="0" dirty="0"/>
              <a:t>test_tfidf_search_issues_v2</a:t>
            </a:r>
          </a:p>
          <a:p>
            <a:pPr algn="l">
              <a:buNone/>
            </a:pPr>
            <a:r>
              <a:rPr lang="en-US" sz="850" b="0" noProof="0" dirty="0"/>
              <a:t>test_tfidf_search_files_v2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Top-3 pertinence verified offline</a:t>
            </a:r>
          </a:p>
        </p:txBody>
      </p:sp>
      <p:sp>
        <p:nvSpPr>
          <p:cNvPr id="9" name="G3">
            <a:extLst>
              <a:ext uri="{FF2B5EF4-FFF2-40B4-BE49-F238E27FC236}">
                <a16:creationId xmlns:a16="http://schemas.microsoft.com/office/drawing/2014/main" id="{3DC8C0D3-4F14-6C4C-9A81-CEA22E5F489A}"/>
              </a:ext>
            </a:extLst>
          </p:cNvPr>
          <p:cNvSpPr/>
          <p:nvPr/>
        </p:nvSpPr>
        <p:spPr>
          <a:xfrm>
            <a:off x="7483822" y="2169206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D958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r>
              <a:rPr lang="en-US" sz="2400" b="1" i="1" dirty="0">
                <a:solidFill>
                  <a:srgbClr val="0D9589"/>
                </a:solidFill>
              </a:rPr>
              <a:t>Evaluation </a:t>
            </a:r>
            <a:r>
              <a:rPr lang="en-US" sz="2200" b="1" noProof="0" dirty="0">
                <a:solidFill>
                  <a:srgbClr val="0D9589"/>
                </a:solidFill>
              </a:rPr>
              <a:t>3</a:t>
            </a:r>
          </a:p>
          <a:p>
            <a:pPr algn="l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noProof="0" dirty="0"/>
              <a:t>validate_schemas.py</a:t>
            </a:r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endParaRPr lang="en-US" sz="850" b="0" noProof="0" dirty="0"/>
          </a:p>
          <a:p>
            <a:pPr algn="l">
              <a:buNone/>
            </a:pPr>
            <a:r>
              <a:rPr lang="en-US" sz="800" b="0" i="1" noProof="0" dirty="0"/>
              <a:t>Contract doc verified</a:t>
            </a:r>
          </a:p>
        </p:txBody>
      </p:sp>
      <p:sp>
        <p:nvSpPr>
          <p:cNvPr id="11" name="flow">
            <a:extLst>
              <a:ext uri="{FF2B5EF4-FFF2-40B4-BE49-F238E27FC236}">
                <a16:creationId xmlns:a16="http://schemas.microsoft.com/office/drawing/2014/main" id="{E34A8314-6798-BA98-4CC9-BEF0D1B0DC2F}"/>
              </a:ext>
            </a:extLst>
          </p:cNvPr>
          <p:cNvSpPr/>
          <p:nvPr/>
        </p:nvSpPr>
        <p:spPr>
          <a:xfrm>
            <a:off x="-1743032" y="1678650"/>
            <a:ext cx="5876506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Offline Evaluation 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3EFEB-728E-C266-B004-74E9E2FA6EDA}"/>
              </a:ext>
            </a:extLst>
          </p:cNvPr>
          <p:cNvSpPr txBox="1"/>
          <p:nvPr/>
        </p:nvSpPr>
        <p:spPr>
          <a:xfrm>
            <a:off x="-1102740" y="3817961"/>
            <a:ext cx="701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Online Evaluation </a:t>
            </a:r>
            <a:r>
              <a:rPr lang="en-US" sz="1200" b="1" i="1" noProof="0" dirty="0">
                <a:solidFill>
                  <a:srgbClr val="0D9589"/>
                </a:solidFill>
              </a:rPr>
              <a:t>( </a:t>
            </a:r>
            <a:r>
              <a:rPr lang="en-US" sz="1200" noProof="0" dirty="0"/>
              <a:t>50Q Live Run , ST Platform results </a:t>
            </a:r>
            <a:r>
              <a:rPr lang="en-US" sz="1200" noProof="0" dirty="0">
                <a:solidFill>
                  <a:srgbClr val="0D9589"/>
                </a:solidFill>
              </a:rPr>
              <a:t>)</a:t>
            </a:r>
            <a:r>
              <a:rPr lang="en-US" sz="1400" b="1" i="1" noProof="0" dirty="0">
                <a:solidFill>
                  <a:srgbClr val="0D9589"/>
                </a:solidFill>
              </a:rPr>
              <a:t> :</a:t>
            </a:r>
            <a:endParaRPr lang="en-US" sz="1400" noProof="0" dirty="0"/>
          </a:p>
          <a:p>
            <a:pPr algn="ctr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  </a:t>
            </a:r>
          </a:p>
        </p:txBody>
      </p:sp>
      <p:sp>
        <p:nvSpPr>
          <p:cNvPr id="19" name="IncNote">
            <a:extLst>
              <a:ext uri="{FF2B5EF4-FFF2-40B4-BE49-F238E27FC236}">
                <a16:creationId xmlns:a16="http://schemas.microsoft.com/office/drawing/2014/main" id="{46AB72AE-E4C8-6B09-EF09-16CD08C7AD4A}"/>
              </a:ext>
            </a:extLst>
          </p:cNvPr>
          <p:cNvSpPr/>
          <p:nvPr/>
        </p:nvSpPr>
        <p:spPr>
          <a:xfrm>
            <a:off x="2937735" y="1293750"/>
            <a:ext cx="7090898" cy="40157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txBody>
          <a:bodyPr wrap="square" lIns="152400" tIns="45720" rIns="152400" bIns="45720" anchor="ctr"/>
          <a:lstStyle/>
          <a:p>
            <a:pPr algn="l">
              <a:buNone/>
            </a:pPr>
            <a:r>
              <a:rPr lang="en-US" sz="900" b="1" noProof="0" dirty="0">
                <a:solidFill>
                  <a:srgbClr val="0369A1"/>
                </a:solidFill>
              </a:rPr>
              <a:t>Incremental evaluation: </a:t>
            </a:r>
            <a:r>
              <a:rPr lang="en-US" sz="900" b="0" noProof="0" dirty="0">
                <a:solidFill>
                  <a:srgbClr val="475569"/>
                </a:solidFill>
              </a:rPr>
              <a:t>each added source is evaluated separately to avoid introducing hallucinations or out-of-context responses.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992801-CC3D-0552-3411-DF656980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031" y="4271386"/>
            <a:ext cx="5157623" cy="2458211"/>
          </a:xfrm>
          <a:prstGeom prst="rect">
            <a:avLst/>
          </a:prstGeom>
        </p:spPr>
      </p:pic>
      <p:sp>
        <p:nvSpPr>
          <p:cNvPr id="22" name="Gain">
            <a:extLst>
              <a:ext uri="{FF2B5EF4-FFF2-40B4-BE49-F238E27FC236}">
                <a16:creationId xmlns:a16="http://schemas.microsoft.com/office/drawing/2014/main" id="{BAA4EEB4-BB7D-E65F-E3FE-0700FED15C8C}"/>
              </a:ext>
            </a:extLst>
          </p:cNvPr>
          <p:cNvSpPr/>
          <p:nvPr/>
        </p:nvSpPr>
        <p:spPr>
          <a:xfrm>
            <a:off x="9485899" y="5278406"/>
            <a:ext cx="265376" cy="57168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8823B-A7D3-C79C-3B7B-D92F9CB0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55</a:t>
            </a:fld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B9AED0-0CD6-220D-E2A6-98D92BFB82ED}"/>
              </a:ext>
            </a:extLst>
          </p:cNvPr>
          <p:cNvSpPr txBox="1"/>
          <p:nvPr/>
        </p:nvSpPr>
        <p:spPr>
          <a:xfrm>
            <a:off x="1683822" y="5217960"/>
            <a:ext cx="6969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noProof="0" dirty="0"/>
              <a:t>Quality Index </a:t>
            </a:r>
            <a:endParaRPr lang="en-US" noProof="0" dirty="0"/>
          </a:p>
        </p:txBody>
      </p:sp>
      <p:sp>
        <p:nvSpPr>
          <p:cNvPr id="4" name="rr">
            <a:extLst>
              <a:ext uri="{FF2B5EF4-FFF2-40B4-BE49-F238E27FC236}">
                <a16:creationId xmlns:a16="http://schemas.microsoft.com/office/drawing/2014/main" id="{2B16FEDF-1594-EFF0-B7DC-13128FCD05A3}"/>
              </a:ext>
            </a:extLst>
          </p:cNvPr>
          <p:cNvSpPr/>
          <p:nvPr/>
        </p:nvSpPr>
        <p:spPr>
          <a:xfrm>
            <a:off x="285975" y="22967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E8F7FE"/>
          </a:solidFill>
          <a:ln w="15875">
            <a:solidFill>
              <a:srgbClr val="7FC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b">
            <a:extLst>
              <a:ext uri="{FF2B5EF4-FFF2-40B4-BE49-F238E27FC236}">
                <a16:creationId xmlns:a16="http://schemas.microsoft.com/office/drawing/2014/main" id="{9283525C-DDB3-209A-D933-792189190385}"/>
              </a:ext>
            </a:extLst>
          </p:cNvPr>
          <p:cNvSpPr>
            <a:spLocks noGrp="1"/>
          </p:cNvSpPr>
          <p:nvPr/>
        </p:nvSpPr>
        <p:spPr>
          <a:xfrm>
            <a:off x="560295" y="183956"/>
            <a:ext cx="2377440" cy="310896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rmAutofit/>
          </a:bodyPr>
          <a:lstStyle/>
          <a:p>
            <a:pPr algn="l"/>
            <a:r>
              <a:rPr lang="en-US" sz="900" b="1" dirty="0">
                <a:solidFill>
                  <a:srgbClr val="1B2A3B"/>
                </a:solidFill>
                <a:latin typeface="Arial"/>
              </a:rPr>
              <a:t>My data preprocessing pipeline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539-90F3-E479-7D9C-2CFB3904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4">
            <a:extLst>
              <a:ext uri="{FF2B5EF4-FFF2-40B4-BE49-F238E27FC236}">
                <a16:creationId xmlns:a16="http://schemas.microsoft.com/office/drawing/2014/main" id="{8B2289A7-FC1B-79DE-318B-17A3CD7028D5}"/>
              </a:ext>
            </a:extLst>
          </p:cNvPr>
          <p:cNvSpPr/>
          <p:nvPr/>
        </p:nvSpPr>
        <p:spPr>
          <a:xfrm>
            <a:off x="6700908" y="1883100"/>
            <a:ext cx="3358593" cy="286254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r>
              <a:rPr lang="en-US" sz="1600" b="1" noProof="0" dirty="0">
                <a:solidFill>
                  <a:srgbClr val="FF0000"/>
                </a:solidFill>
              </a:rPr>
              <a:t>Generation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BFD726D6-6F5B-6B3D-042B-6958C34D2C23}"/>
              </a:ext>
            </a:extLst>
          </p:cNvPr>
          <p:cNvSpPr/>
          <p:nvPr/>
        </p:nvSpPr>
        <p:spPr>
          <a:xfrm>
            <a:off x="2753582" y="1879911"/>
            <a:ext cx="3855885" cy="28657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pPr algn="ctr"/>
            <a:endParaRPr lang="en-US" sz="1600" b="1" noProof="0" dirty="0">
              <a:solidFill>
                <a:srgbClr val="0D9589"/>
              </a:solidFill>
            </a:endParaRPr>
          </a:p>
          <a:p>
            <a:pPr algn="ctr"/>
            <a:r>
              <a:rPr lang="en-US" sz="1600" b="1" noProof="0" dirty="0">
                <a:solidFill>
                  <a:srgbClr val="0D9589"/>
                </a:solidFill>
              </a:rPr>
              <a:t>Retrieval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C72BD-9BA3-B1CE-9F42-09C22D9D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 The ST ChatGPT Platform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4278D-F3EF-8F81-FD7B-07AB95DE5C5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4BE13C4-BAF5-4C70-4738-27C165E73B3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RAG workflow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9E01A47-D337-1FBB-1B45-27FA6F8115D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D0179269-9950-2DAF-A57A-E00EE9A3B770}"/>
              </a:ext>
            </a:extLst>
          </p:cNvPr>
          <p:cNvSpPr/>
          <p:nvPr/>
        </p:nvSpPr>
        <p:spPr>
          <a:xfrm>
            <a:off x="894966" y="195861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D85069C7-739B-E097-449D-D75119A8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38" y="225579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3AB8CA-38E5-8ED4-8015-01C77E6F4764}"/>
              </a:ext>
            </a:extLst>
          </p:cNvPr>
          <p:cNvSpPr/>
          <p:nvPr/>
        </p:nvSpPr>
        <p:spPr>
          <a:xfrm>
            <a:off x="785238" y="321133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12DC548-1A27-E1D0-021C-ECA625789C58}"/>
              </a:ext>
            </a:extLst>
          </p:cNvPr>
          <p:cNvSpPr/>
          <p:nvPr/>
        </p:nvSpPr>
        <p:spPr>
          <a:xfrm>
            <a:off x="766950" y="348565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08587989-A379-6714-DA65-52CCF53CA632}"/>
              </a:ext>
            </a:extLst>
          </p:cNvPr>
          <p:cNvSpPr/>
          <p:nvPr/>
        </p:nvSpPr>
        <p:spPr>
          <a:xfrm>
            <a:off x="3087181" y="19547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661420E0-A206-28D9-1CD5-4AC0762FD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653" y="2327020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6CFA791-05A1-5D1E-BCF7-1C97EB4D3D2D}"/>
              </a:ext>
            </a:extLst>
          </p:cNvPr>
          <p:cNvSpPr/>
          <p:nvPr/>
        </p:nvSpPr>
        <p:spPr>
          <a:xfrm>
            <a:off x="2977453" y="32074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5670362-65BB-3F2B-81CB-8EDD1BFE8895}"/>
              </a:ext>
            </a:extLst>
          </p:cNvPr>
          <p:cNvSpPr/>
          <p:nvPr/>
        </p:nvSpPr>
        <p:spPr>
          <a:xfrm>
            <a:off x="3085260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B2858894-B3FC-06A7-DD95-A06E72745A40}"/>
              </a:ext>
            </a:extLst>
          </p:cNvPr>
          <p:cNvSpPr/>
          <p:nvPr/>
        </p:nvSpPr>
        <p:spPr>
          <a:xfrm>
            <a:off x="5201400" y="194489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3C9C5CC6-BFC7-BC9C-6894-90BBC0A82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728" y="2290127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C00F1869-BB68-ADF4-1E20-736F98DE1B2C}"/>
              </a:ext>
            </a:extLst>
          </p:cNvPr>
          <p:cNvSpPr/>
          <p:nvPr/>
        </p:nvSpPr>
        <p:spPr>
          <a:xfrm>
            <a:off x="5091672" y="319762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3DDB45D4-9CD1-218E-A908-BF2920D2724B}"/>
              </a:ext>
            </a:extLst>
          </p:cNvPr>
          <p:cNvSpPr/>
          <p:nvPr/>
        </p:nvSpPr>
        <p:spPr>
          <a:xfrm>
            <a:off x="4804332" y="3466713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noProof="0" dirty="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9882998-76CB-C38A-663D-DC89BA0C5B9C}"/>
              </a:ext>
            </a:extLst>
          </p:cNvPr>
          <p:cNvSpPr/>
          <p:nvPr/>
        </p:nvSpPr>
        <p:spPr>
          <a:xfrm>
            <a:off x="7761828" y="1961566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5CF5775-CB21-0DF1-17CC-3E240D166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676" y="2299707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B115D7F5-0C9D-1741-FC67-E39F8B560C51}"/>
              </a:ext>
            </a:extLst>
          </p:cNvPr>
          <p:cNvSpPr/>
          <p:nvPr/>
        </p:nvSpPr>
        <p:spPr>
          <a:xfrm>
            <a:off x="7652100" y="321429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CC00B7E1-F720-810D-BE2B-1204E4AA56EE}"/>
              </a:ext>
            </a:extLst>
          </p:cNvPr>
          <p:cNvSpPr/>
          <p:nvPr/>
        </p:nvSpPr>
        <p:spPr>
          <a:xfrm>
            <a:off x="10663221" y="1979985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9D5F8787-97A7-0F3F-F94F-F71F706C5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693" y="2340511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B25B997D-2EA4-6C4F-3BD9-5B3AAE24B0F2}"/>
              </a:ext>
            </a:extLst>
          </p:cNvPr>
          <p:cNvSpPr/>
          <p:nvPr/>
        </p:nvSpPr>
        <p:spPr>
          <a:xfrm>
            <a:off x="10571781" y="324923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EE57109-E756-D807-385F-E1936BB57D17}"/>
              </a:ext>
            </a:extLst>
          </p:cNvPr>
          <p:cNvSpPr/>
          <p:nvPr/>
        </p:nvSpPr>
        <p:spPr>
          <a:xfrm>
            <a:off x="10535205" y="3479841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AB2B0BCB-852C-5F47-1F17-CC3491D8A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7153" y="232702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EA63D720-FC23-0494-101C-C54DA89A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9526" y="2321683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7131365-352B-AAA1-CB59-7AFE59BE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0942" y="2398876"/>
            <a:ext cx="417123" cy="417123"/>
          </a:xfrm>
          <a:prstGeom prst="rect">
            <a:avLst/>
          </a:prstGeom>
        </p:spPr>
      </p:pic>
      <p:pic>
        <p:nvPicPr>
          <p:cNvPr id="7" name="Graphic 6" descr="Back outline">
            <a:extLst>
              <a:ext uri="{FF2B5EF4-FFF2-40B4-BE49-F238E27FC236}">
                <a16:creationId xmlns:a16="http://schemas.microsoft.com/office/drawing/2014/main" id="{EF40AF60-B0FF-66C2-6CFC-B29E8EA842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034598" flipV="1">
            <a:off x="6193045" y="4552164"/>
            <a:ext cx="1004387" cy="1004387"/>
          </a:xfrm>
          <a:prstGeom prst="rect">
            <a:avLst/>
          </a:prstGeom>
        </p:spPr>
      </p:pic>
      <p:sp>
        <p:nvSpPr>
          <p:cNvPr id="8" name="Shape 24">
            <a:extLst>
              <a:ext uri="{FF2B5EF4-FFF2-40B4-BE49-F238E27FC236}">
                <a16:creationId xmlns:a16="http://schemas.microsoft.com/office/drawing/2014/main" id="{769EE8BD-DC14-C420-5C23-A8FD03442F96}"/>
              </a:ext>
            </a:extLst>
          </p:cNvPr>
          <p:cNvSpPr/>
          <p:nvPr/>
        </p:nvSpPr>
        <p:spPr>
          <a:xfrm>
            <a:off x="4869600" y="5340514"/>
            <a:ext cx="3755141" cy="736328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r>
              <a:rPr lang="en-US" b="1" noProof="0" dirty="0">
                <a:solidFill>
                  <a:srgbClr val="FFC000"/>
                </a:solidFill>
              </a:rPr>
              <a:t>Augmented</a:t>
            </a:r>
            <a:r>
              <a:rPr lang="en-US" noProof="0" dirty="0">
                <a:solidFill>
                  <a:srgbClr val="FFC000"/>
                </a:solidFill>
              </a:rPr>
              <a:t> </a:t>
            </a:r>
            <a:endParaRPr lang="en-US" sz="1600" b="1" noProof="0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15C06-E534-6FFE-E9E3-BDDD4DB0A1C1}"/>
              </a:ext>
            </a:extLst>
          </p:cNvPr>
          <p:cNvSpPr txBox="1"/>
          <p:nvPr/>
        </p:nvSpPr>
        <p:spPr>
          <a:xfrm>
            <a:off x="2818743" y="4185632"/>
            <a:ext cx="37551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>
                <a:solidFill>
                  <a:srgbClr val="000000"/>
                </a:solidFill>
              </a:rPr>
              <a:t>Search </a:t>
            </a:r>
            <a:r>
              <a:rPr lang="en-US" sz="1050" noProof="0" dirty="0">
                <a:solidFill>
                  <a:srgbClr val="000000"/>
                </a:solidFill>
              </a:rPr>
              <a:t>the knowledge base using </a:t>
            </a:r>
            <a:r>
              <a:rPr lang="en-US" sz="1050" b="1" noProof="0" dirty="0">
                <a:solidFill>
                  <a:srgbClr val="000000"/>
                </a:solidFill>
              </a:rPr>
              <a:t>embeddings </a:t>
            </a:r>
            <a:r>
              <a:rPr lang="en-US" sz="1050" noProof="0" dirty="0">
                <a:solidFill>
                  <a:srgbClr val="000000"/>
                </a:solidFill>
              </a:rPr>
              <a:t>to</a:t>
            </a:r>
            <a:r>
              <a:rPr lang="en-US" sz="1050" b="1" noProof="0" dirty="0">
                <a:solidFill>
                  <a:srgbClr val="000000"/>
                </a:solidFill>
              </a:rPr>
              <a:t> retrieve </a:t>
            </a:r>
            <a:r>
              <a:rPr lang="en-US" sz="1050" noProof="0" dirty="0">
                <a:solidFill>
                  <a:srgbClr val="000000"/>
                </a:solidFill>
              </a:rPr>
              <a:t>the</a:t>
            </a:r>
            <a:r>
              <a:rPr lang="en-US" sz="1050" b="1" noProof="0" dirty="0">
                <a:solidFill>
                  <a:srgbClr val="000000"/>
                </a:solidFill>
              </a:rPr>
              <a:t> most relevant passages (chunks)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6677C-48C7-4E45-75D2-CEA01447AB8B}"/>
              </a:ext>
            </a:extLst>
          </p:cNvPr>
          <p:cNvSpPr txBox="1"/>
          <p:nvPr/>
        </p:nvSpPr>
        <p:spPr>
          <a:xfrm>
            <a:off x="5130998" y="5726235"/>
            <a:ext cx="3591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0" noProof="0" dirty="0">
                <a:solidFill>
                  <a:srgbClr val="000000"/>
                </a:solidFill>
                <a:effectLst/>
              </a:rPr>
              <a:t>Inject 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those </a:t>
            </a:r>
            <a:r>
              <a:rPr lang="en-US" sz="1050" b="1" i="0" noProof="0" dirty="0">
                <a:solidFill>
                  <a:srgbClr val="000000"/>
                </a:solidFill>
                <a:effectLst/>
              </a:rPr>
              <a:t>passages</a:t>
            </a:r>
            <a:r>
              <a:rPr lang="en-US" sz="1050" b="0" i="0" noProof="0" dirty="0">
                <a:solidFill>
                  <a:srgbClr val="000000"/>
                </a:solidFill>
                <a:effectLst/>
              </a:rPr>
              <a:t> directly into the AI model's 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BB2F7-B318-D5DD-EF02-6B8BBF9B56D5}"/>
              </a:ext>
            </a:extLst>
          </p:cNvPr>
          <p:cNvSpPr txBox="1"/>
          <p:nvPr/>
        </p:nvSpPr>
        <p:spPr>
          <a:xfrm>
            <a:off x="6747171" y="4190655"/>
            <a:ext cx="3203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solidFill>
                  <a:srgbClr val="000000"/>
                </a:solidFill>
              </a:rPr>
              <a:t>The AI </a:t>
            </a:r>
            <a:r>
              <a:rPr lang="en-US" sz="1000" b="1" noProof="0" dirty="0">
                <a:solidFill>
                  <a:srgbClr val="000000"/>
                </a:solidFill>
              </a:rPr>
              <a:t>generates</a:t>
            </a:r>
            <a:r>
              <a:rPr lang="en-US" sz="1000" noProof="0" dirty="0">
                <a:solidFill>
                  <a:srgbClr val="000000"/>
                </a:solidFill>
              </a:rPr>
              <a:t> a precise, sourced answer from that </a:t>
            </a:r>
            <a:r>
              <a:rPr lang="en-US" sz="1000" b="1" i="0" noProof="0" dirty="0">
                <a:solidFill>
                  <a:srgbClr val="000000"/>
                </a:solidFill>
                <a:effectLst/>
              </a:rPr>
              <a:t>augmented context</a:t>
            </a:r>
            <a:endParaRPr lang="en-US" sz="1000" b="1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137B57-3577-1252-64F2-30885E36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41895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Configuration Parameters — What Each One 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knobs of the ST retrieval platform, and how the pipeline honors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306324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vectors (meaning) + full-text (exact terms). Ablating either branch costs 14–24 QI points — measured on the S3 / S5 configurations.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6500" y="141732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642366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chunkStrategy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366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PARENT_CHILD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63940" y="155448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801100" y="150876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retrieval. Match on small 1 000-char child chunks, return the 3 000-char parent as LLM context. Precision + context in one strategy.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childChunkSize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chars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306324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the vector index actually sees. Every artifact must survive this cut and still carry the discriminating terms — API names, boards, error codes go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6500" y="242316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64236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parentChunkSize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36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chars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63940" y="256032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8801100" y="251460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returned to the LLM after a match. Large enough to reconstruct the full symptom → root cause → fix reasoning around each hit.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AdaV2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92608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306324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1 536-dimensional vectors. Fixed by the platform — no fine-tuning available. Pipeline compensates via structured cards and TF-IDF-friendly vocabulary.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6500" y="342900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64236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threshold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2366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63940" y="356616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8801100" y="352044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cosine similarity to consider a semantic hit. Lowered to 0.45 in S1 → recall+ configuration, gaining +1 QI point without noise.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68580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docs  (S0)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92608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306324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semantic candidates. S1 raises to 35, gaining recall for reformulated questions users actually ask.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6500" y="443484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6423660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top-K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2366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docs  (S0)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663940" y="457200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8801100" y="452628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exact-match candidates. Critical for STM32-specific terms (HAL_UART_Init, NUCLEO-H743ZI). Removing it (S5) costs −24 QI.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6858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jobBatchSize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docs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92608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306324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job size. Drives the ~57 MB per-batch limit — the reason large series (H7: 4 707 docs) require a 50-part manual split.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86500" y="5440680"/>
            <a:ext cx="56007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642366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embeddingsBatchSize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23660" y="5806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texts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8663940" y="5577840"/>
            <a:ext cx="0" cy="64008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5" name="Text 53"/>
          <p:cNvSpPr/>
          <p:nvPr/>
        </p:nvSpPr>
        <p:spPr>
          <a:xfrm>
            <a:off x="8801100" y="5532120"/>
            <a:ext cx="2948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Embedding-API call size. Fixed platform parameter that the pipeline respects by design (no per-doc oversized fields).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6400800"/>
            <a:ext cx="113385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above was measured, not assumed. The S0–S5 ablation study on slide 26 shows the impact of moving each knob.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Workshop  ·  Abir GHARBI  ·  PFE 2026  ·  STMicroelectronics Tunis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A084-CFF6-F12C-B7DD-F0AB408A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2D42-D4C6-782F-4763-80EE8C96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04" y="-173770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 overview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F67AF1F-01BE-4CD3-B65A-18908DD30FB8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A774C-EA35-2225-933F-F305285BD028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6E0DA-237B-A785-2020-B7FFD48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58</a:t>
            </a:fld>
            <a:endParaRPr lang="en-US" noProof="0" dirty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8168108A-6462-2746-8232-54C19606D014}"/>
              </a:ext>
            </a:extLst>
          </p:cNvPr>
          <p:cNvSpPr/>
          <p:nvPr/>
        </p:nvSpPr>
        <p:spPr>
          <a:xfrm>
            <a:off x="2257425" y="110472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1-6. INGESTION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7A372-6E04-C97E-47EB-7403AA8ECDE4}"/>
              </a:ext>
            </a:extLst>
          </p:cNvPr>
          <p:cNvSpPr txBox="1"/>
          <p:nvPr/>
        </p:nvSpPr>
        <p:spPr>
          <a:xfrm>
            <a:off x="4726305" y="110472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calls + local repo sync + file collection (incl. PDFs)</a:t>
            </a:r>
          </a:p>
        </p:txBody>
      </p:sp>
      <p:sp>
        <p:nvSpPr>
          <p:cNvPr id="10" name="Down Arrow 4">
            <a:extLst>
              <a:ext uri="{FF2B5EF4-FFF2-40B4-BE49-F238E27FC236}">
                <a16:creationId xmlns:a16="http://schemas.microsoft.com/office/drawing/2014/main" id="{ED6DC590-9D9E-EF77-C2A4-FFE05815EAC3}"/>
              </a:ext>
            </a:extLst>
          </p:cNvPr>
          <p:cNvSpPr/>
          <p:nvPr/>
        </p:nvSpPr>
        <p:spPr>
          <a:xfrm>
            <a:off x="3263265" y="174480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D1F1B69A-823B-C069-137A-35C51F56E0BA}"/>
              </a:ext>
            </a:extLst>
          </p:cNvPr>
          <p:cNvSpPr/>
          <p:nvPr/>
        </p:nvSpPr>
        <p:spPr>
          <a:xfrm>
            <a:off x="2257425" y="1881964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7. ALFRED PDF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7E090-EE51-155D-FFD5-102BDFC83050}"/>
              </a:ext>
            </a:extLst>
          </p:cNvPr>
          <p:cNvSpPr txBox="1"/>
          <p:nvPr/>
        </p:nvSpPr>
        <p:spPr>
          <a:xfrm>
            <a:off x="4726305" y="1881964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Extract PDF figures, render pages, crop regions, generate descriptions</a:t>
            </a:r>
          </a:p>
        </p:txBody>
      </p:sp>
      <p:sp>
        <p:nvSpPr>
          <p:cNvPr id="15" name="Down Arrow 7">
            <a:extLst>
              <a:ext uri="{FF2B5EF4-FFF2-40B4-BE49-F238E27FC236}">
                <a16:creationId xmlns:a16="http://schemas.microsoft.com/office/drawing/2014/main" id="{B7C85B64-4D38-C947-984E-4B7AEAEB65D6}"/>
              </a:ext>
            </a:extLst>
          </p:cNvPr>
          <p:cNvSpPr/>
          <p:nvPr/>
        </p:nvSpPr>
        <p:spPr>
          <a:xfrm>
            <a:off x="3263265" y="252204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284CB02D-E73A-4C30-CB61-3B2C5D4080F0}"/>
              </a:ext>
            </a:extLst>
          </p:cNvPr>
          <p:cNvSpPr/>
          <p:nvPr/>
        </p:nvSpPr>
        <p:spPr>
          <a:xfrm>
            <a:off x="2257425" y="265920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/>
                </a:solidFill>
              </a:rPr>
              <a:t>8-9. CLEANING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rgbClr val="1B2A3B"/>
                </a:solidFill>
              </a:rPr>
              <a:t>and STRUCTURING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FE0CD-E831-7A60-130A-7955EE84240A}"/>
              </a:ext>
            </a:extLst>
          </p:cNvPr>
          <p:cNvSpPr txBox="1"/>
          <p:nvPr/>
        </p:nvSpPr>
        <p:spPr>
          <a:xfrm>
            <a:off x="4726305" y="265920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 text, detect [IMAGE ATTACHED], structure content</a:t>
            </a:r>
          </a:p>
        </p:txBody>
      </p:sp>
      <p:sp>
        <p:nvSpPr>
          <p:cNvPr id="21" name="Down Arrow 10">
            <a:extLst>
              <a:ext uri="{FF2B5EF4-FFF2-40B4-BE49-F238E27FC236}">
                <a16:creationId xmlns:a16="http://schemas.microsoft.com/office/drawing/2014/main" id="{C4AF9BD4-2A3B-F438-B95E-A2879516BF59}"/>
              </a:ext>
            </a:extLst>
          </p:cNvPr>
          <p:cNvSpPr/>
          <p:nvPr/>
        </p:nvSpPr>
        <p:spPr>
          <a:xfrm>
            <a:off x="3263265" y="3299284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A0175978-7B18-71C7-4FAF-BF1D7B4ACB67}"/>
              </a:ext>
            </a:extLst>
          </p:cNvPr>
          <p:cNvSpPr/>
          <p:nvPr/>
        </p:nvSpPr>
        <p:spPr>
          <a:xfrm>
            <a:off x="2257425" y="343644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10-12. ENRICHMENT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487E5D-5C90-33F9-5A4E-5EFA3812F7A9}"/>
              </a:ext>
            </a:extLst>
          </p:cNvPr>
          <p:cNvSpPr txBox="1"/>
          <p:nvPr/>
        </p:nvSpPr>
        <p:spPr>
          <a:xfrm>
            <a:off x="4726305" y="343644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Classify: layer, board, component, severity, is_valid + similarity</a:t>
            </a:r>
          </a:p>
        </p:txBody>
      </p:sp>
      <p:sp>
        <p:nvSpPr>
          <p:cNvPr id="27" name="Down Arrow 13">
            <a:extLst>
              <a:ext uri="{FF2B5EF4-FFF2-40B4-BE49-F238E27FC236}">
                <a16:creationId xmlns:a16="http://schemas.microsoft.com/office/drawing/2014/main" id="{53FE96E7-F09E-D8CE-E1F0-6C40C1C8DAB1}"/>
              </a:ext>
            </a:extLst>
          </p:cNvPr>
          <p:cNvSpPr/>
          <p:nvPr/>
        </p:nvSpPr>
        <p:spPr>
          <a:xfrm>
            <a:off x="3263265" y="407652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00120E8D-A3BB-D68E-25A2-DF1573F60311}"/>
              </a:ext>
            </a:extLst>
          </p:cNvPr>
          <p:cNvSpPr/>
          <p:nvPr/>
        </p:nvSpPr>
        <p:spPr>
          <a:xfrm>
            <a:off x="2257425" y="421368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13-17.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9A8E7D-DF3A-E846-ACED-EEBB6CF58885}"/>
              </a:ext>
            </a:extLst>
          </p:cNvPr>
          <p:cNvSpPr txBox="1"/>
          <p:nvPr/>
        </p:nvSpPr>
        <p:spPr>
          <a:xfrm>
            <a:off x="4726305" y="421368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Chunking + stats + TF-IDF search tests + schema validation</a:t>
            </a:r>
          </a:p>
        </p:txBody>
      </p:sp>
      <p:sp>
        <p:nvSpPr>
          <p:cNvPr id="33" name="Down Arrow 16">
            <a:extLst>
              <a:ext uri="{FF2B5EF4-FFF2-40B4-BE49-F238E27FC236}">
                <a16:creationId xmlns:a16="http://schemas.microsoft.com/office/drawing/2014/main" id="{105CA5B1-0750-F238-5B66-2B21212BC60E}"/>
              </a:ext>
            </a:extLst>
          </p:cNvPr>
          <p:cNvSpPr/>
          <p:nvPr/>
        </p:nvSpPr>
        <p:spPr>
          <a:xfrm>
            <a:off x="3263265" y="485376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115F3984-B3CA-93CD-93B6-9E3333E89506}"/>
              </a:ext>
            </a:extLst>
          </p:cNvPr>
          <p:cNvSpPr/>
          <p:nvPr/>
        </p:nvSpPr>
        <p:spPr>
          <a:xfrm>
            <a:off x="2257425" y="499092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18-22. DELIVERY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74EEC0-B919-8BD4-23D6-899A059E804C}"/>
              </a:ext>
            </a:extLst>
          </p:cNvPr>
          <p:cNvSpPr txBox="1"/>
          <p:nvPr/>
        </p:nvSpPr>
        <p:spPr>
          <a:xfrm>
            <a:off x="4726305" y="499092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4 artifact types + issues_with_images variant</a:t>
            </a:r>
          </a:p>
        </p:txBody>
      </p:sp>
      <p:sp>
        <p:nvSpPr>
          <p:cNvPr id="39" name="Down Arrow 19">
            <a:extLst>
              <a:ext uri="{FF2B5EF4-FFF2-40B4-BE49-F238E27FC236}">
                <a16:creationId xmlns:a16="http://schemas.microsoft.com/office/drawing/2014/main" id="{F1615AC1-1513-8468-18F1-6B6853D779A9}"/>
              </a:ext>
            </a:extLst>
          </p:cNvPr>
          <p:cNvSpPr/>
          <p:nvPr/>
        </p:nvSpPr>
        <p:spPr>
          <a:xfrm>
            <a:off x="3263265" y="5631005"/>
            <a:ext cx="274320" cy="137160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C950D79A-A794-8FCC-D60B-EEDE95E9AA46}"/>
              </a:ext>
            </a:extLst>
          </p:cNvPr>
          <p:cNvSpPr/>
          <p:nvPr/>
        </p:nvSpPr>
        <p:spPr>
          <a:xfrm>
            <a:off x="2257425" y="5768165"/>
            <a:ext cx="2286000" cy="640080"/>
          </a:xfrm>
          <a:prstGeom prst="roundRect">
            <a:avLst/>
          </a:prstGeom>
          <a:noFill/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chemeClr val="tx1"/>
                </a:solidFill>
              </a:rPr>
              <a:t>23. ALFRED IMAGES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2D126C-183F-3F27-724B-863B94D8F6B4}"/>
              </a:ext>
            </a:extLst>
          </p:cNvPr>
          <p:cNvSpPr txBox="1"/>
          <p:nvPr/>
        </p:nvSpPr>
        <p:spPr>
          <a:xfrm>
            <a:off x="4726305" y="5768165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ALFRED Vision on issue screenshots → [IMAGE DESCRIPTION]</a:t>
            </a:r>
          </a:p>
        </p:txBody>
      </p:sp>
    </p:spTree>
    <p:extLst>
      <p:ext uri="{BB962C8B-B14F-4D97-AF65-F5344CB8AC3E}">
        <p14:creationId xmlns:p14="http://schemas.microsoft.com/office/powerpoint/2010/main" val="23456166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FD89-400F-BF1C-E41E-A751BE78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BEAE-740D-5492-4831-BCE70836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41" y="-90196"/>
            <a:ext cx="11609159" cy="1247050"/>
          </a:xfrm>
        </p:spPr>
        <p:txBody>
          <a:bodyPr/>
          <a:lstStyle/>
          <a:p>
            <a:r>
              <a:rPr lang="en-US" sz="1800" b="1" noProof="0">
                <a:latin typeface="+mn-lt"/>
              </a:rPr>
              <a:t>Pipeline overview . run</a:t>
            </a:r>
            <a:r>
              <a:rPr lang="en-US" sz="1800" b="1" noProof="0" dirty="0">
                <a:latin typeface="+mn-lt"/>
              </a:rPr>
              <a:t>_full_workflow.py — Internal Steps (Real Code)</a:t>
            </a:r>
            <a:br>
              <a:rPr lang="en-US" sz="1800" b="1" noProof="0" dirty="0">
                <a:latin typeface="+mn-lt"/>
              </a:rPr>
            </a:br>
            <a:r>
              <a:rPr lang="en-US" sz="1800" b="1" noProof="0" dirty="0">
                <a:latin typeface="+mn-lt"/>
              </a:rPr>
              <a:t> 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C0BA3C-2E3E-79A1-458E-4389C0D7AF8A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56D533A-29E1-8054-8810-886EDAB409F3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0838C-14C3-9645-7E26-B0499D84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59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EFB9E-110A-0FC3-E262-CCF2A2FE554F}"/>
              </a:ext>
            </a:extLst>
          </p:cNvPr>
          <p:cNvSpPr txBox="1"/>
          <p:nvPr/>
        </p:nvSpPr>
        <p:spPr>
          <a:xfrm>
            <a:off x="481939" y="1088507"/>
            <a:ext cx="9490735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dirty="0"/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issues",     </a:t>
            </a:r>
            <a:r>
              <a:rPr sz="1400" dirty="0" err="1"/>
              <a:t>fetch_issues_main</a:t>
            </a:r>
            <a:r>
              <a:rPr sz="1400" dirty="0"/>
              <a:t>)      # 1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PRs",        </a:t>
            </a:r>
            <a:r>
              <a:rPr sz="1400" dirty="0" err="1"/>
              <a:t>fetch_prs_main</a:t>
            </a:r>
            <a:r>
              <a:rPr sz="1400" dirty="0"/>
              <a:t>)         # 2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commits",    </a:t>
            </a:r>
            <a:r>
              <a:rPr sz="1400" dirty="0" err="1"/>
              <a:t>fetch_commits_main</a:t>
            </a:r>
            <a:r>
              <a:rPr sz="1400" dirty="0"/>
              <a:t>)     # 3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links",      </a:t>
            </a:r>
            <a:r>
              <a:rPr sz="1400" dirty="0" err="1"/>
              <a:t>fetch_links_main</a:t>
            </a:r>
            <a:r>
              <a:rPr sz="1400" dirty="0"/>
              <a:t>)       # 4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sync repos", </a:t>
            </a:r>
            <a:r>
              <a:rPr sz="1400" dirty="0" err="1"/>
              <a:t>sync_local_repos_main</a:t>
            </a:r>
            <a:r>
              <a:rPr sz="1400" dirty="0"/>
              <a:t>)  # 5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("Ingestion files",      </a:t>
            </a:r>
            <a:r>
              <a:rPr sz="1400" dirty="0" err="1"/>
              <a:t>fetch_files_main</a:t>
            </a:r>
            <a:r>
              <a:rPr sz="1400" dirty="0"/>
              <a:t>)       # 6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("Alfred PDF figures",   _</a:t>
            </a:r>
            <a:r>
              <a:rPr sz="1400" dirty="0" err="1"/>
              <a:t>enrich_pdf_main</a:t>
            </a:r>
            <a:r>
              <a:rPr sz="1400" dirty="0"/>
              <a:t>)       # 7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("Cleaning issues",      </a:t>
            </a:r>
            <a:r>
              <a:rPr sz="1400" dirty="0" err="1"/>
              <a:t>clean_issues_main</a:t>
            </a:r>
            <a:r>
              <a:rPr sz="1400" dirty="0"/>
              <a:t>)      # 8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("Cleaning files",       </a:t>
            </a:r>
            <a:r>
              <a:rPr sz="1400" dirty="0" err="1"/>
              <a:t>clean_files_main</a:t>
            </a:r>
            <a:r>
              <a:rPr sz="1400" dirty="0"/>
              <a:t>)       # 9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("Enrichment issues V2", issues_to_docs_v2_main) # 10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("Enrichment files V2",  files_to_docs_v2_main)  # 11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("Similarity issues V2", </a:t>
            </a:r>
            <a:r>
              <a:rPr sz="1400" dirty="0" err="1"/>
              <a:t>similarity_main</a:t>
            </a:r>
            <a:r>
              <a:rPr sz="1400" dirty="0"/>
              <a:t>)        # 12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("Chunking issues V2",   </a:t>
            </a:r>
            <a:r>
              <a:rPr sz="1400" dirty="0" err="1"/>
              <a:t>chunks_issues_main</a:t>
            </a:r>
            <a:r>
              <a:rPr sz="1400" dirty="0"/>
              <a:t>)     # 13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("Chunking files V2",    </a:t>
            </a:r>
            <a:r>
              <a:rPr sz="1400" dirty="0" err="1"/>
              <a:t>chunks_files_main</a:t>
            </a:r>
            <a:r>
              <a:rPr sz="1400" dirty="0"/>
              <a:t>)      # 14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("Stats issues V2",      </a:t>
            </a:r>
            <a:r>
              <a:rPr sz="1400" dirty="0" err="1"/>
              <a:t>stats_issues_main</a:t>
            </a:r>
            <a:r>
              <a:rPr sz="1400" dirty="0"/>
              <a:t>)      # 15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("Stats files V2",       </a:t>
            </a:r>
            <a:r>
              <a:rPr sz="1400" dirty="0" err="1"/>
              <a:t>stats_files_main</a:t>
            </a:r>
            <a:r>
              <a:rPr sz="1400" dirty="0"/>
              <a:t>)       # 16</a:t>
            </a:r>
          </a:p>
          <a:p>
            <a:pPr lvl="4"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("Schema validation",    </a:t>
            </a:r>
            <a:r>
              <a:rPr sz="1400" dirty="0" err="1"/>
              <a:t>validate_schemas_main</a:t>
            </a:r>
            <a:r>
              <a:rPr sz="1400" dirty="0"/>
              <a:t>)  # 17</a:t>
            </a:r>
          </a:p>
        </p:txBody>
      </p:sp>
    </p:spTree>
    <p:extLst>
      <p:ext uri="{BB962C8B-B14F-4D97-AF65-F5344CB8AC3E}">
        <p14:creationId xmlns:p14="http://schemas.microsoft.com/office/powerpoint/2010/main" val="3153070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3437-16FB-AA13-D9D9-CF1EEB6D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20C6-4268-58BD-FDBA-56A52071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41" y="-90196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 overview . run_full_workflow.py — Internal Steps (Real Code)</a:t>
            </a:r>
            <a:br>
              <a:rPr lang="en-US" sz="1800" b="1" noProof="0" dirty="0">
                <a:latin typeface="+mn-lt"/>
              </a:rPr>
            </a:br>
            <a:r>
              <a:rPr lang="en-US" sz="1800" b="1" noProof="0" dirty="0">
                <a:latin typeface="+mn-lt"/>
              </a:rPr>
              <a:t>  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3ED13C-DDE5-0F5F-4327-BE23DEB4A438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 noProof="0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72846B1-AE84-6548-C21E-7DFD9ED13751}"/>
              </a:ext>
            </a:extLst>
          </p:cNvPr>
          <p:cNvSpPr/>
          <p:nvPr/>
        </p:nvSpPr>
        <p:spPr>
          <a:xfrm>
            <a:off x="390500" y="8762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01F67-6591-9007-BD87-0C757422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60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09353-DC1F-BF35-285E-763C8B2C298D}"/>
              </a:ext>
            </a:extLst>
          </p:cNvPr>
          <p:cNvSpPr txBox="1"/>
          <p:nvPr/>
        </p:nvSpPr>
        <p:spPr>
          <a:xfrm>
            <a:off x="481940" y="1088507"/>
            <a:ext cx="804672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dirty="0"/>
          </a:p>
          <a:p>
            <a:pPr algn="ctr"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61953-3396-62D6-1D94-3C9A8826CE13}"/>
              </a:ext>
            </a:extLst>
          </p:cNvPr>
          <p:cNvSpPr txBox="1"/>
          <p:nvPr/>
        </p:nvSpPr>
        <p:spPr>
          <a:xfrm>
            <a:off x="3072765" y="1594322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--export-st-ready adds 6 additional steps: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issues",           </a:t>
            </a:r>
            <a:r>
              <a:rPr dirty="0" err="1"/>
              <a:t>export_issues_all</a:t>
            </a:r>
            <a:r>
              <a:rPr dirty="0"/>
              <a:t>)      # 18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files",            </a:t>
            </a:r>
            <a:r>
              <a:rPr dirty="0" err="1"/>
              <a:t>export_files_all</a:t>
            </a:r>
            <a:r>
              <a:rPr dirty="0"/>
              <a:t>)       # 19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resolver",         </a:t>
            </a:r>
            <a:r>
              <a:rPr dirty="0" err="1"/>
              <a:t>export_resolver_all</a:t>
            </a:r>
            <a:r>
              <a:rPr dirty="0"/>
              <a:t>)    # 20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</a:t>
            </a:r>
            <a:r>
              <a:rPr dirty="0" err="1"/>
              <a:t>diag</a:t>
            </a:r>
            <a:r>
              <a:rPr dirty="0"/>
              <a:t> cards",       </a:t>
            </a:r>
            <a:r>
              <a:rPr dirty="0" err="1"/>
              <a:t>export_diag_all</a:t>
            </a:r>
            <a:r>
              <a:rPr dirty="0"/>
              <a:t>)        # 21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("Delivery ST-ready issues with </a:t>
            </a:r>
            <a:r>
              <a:rPr dirty="0" err="1"/>
              <a:t>imgs</a:t>
            </a:r>
            <a:r>
              <a:rPr dirty="0"/>
              <a:t>", </a:t>
            </a:r>
            <a:r>
              <a:rPr dirty="0" err="1"/>
              <a:t>export_with_images_all</a:t>
            </a:r>
            <a:r>
              <a:rPr dirty="0"/>
              <a:t>) # 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image descriptions",          _</a:t>
            </a:r>
            <a:r>
              <a:rPr dirty="0" err="1"/>
              <a:t>enrich_alfred_images</a:t>
            </a:r>
            <a:r>
              <a:rPr dirty="0"/>
              <a:t>)  # 23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How flags filter steps: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→ removes steps where label starts with “Ingestion”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--skip-chunking → removes steps with label “Chunking”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--no-enrich-pdf → removes “Alfred PDF figures”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Error handling: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Without --continue-on-error → exception = STOP immediately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 --continue-on-error → print [WARN] + continue to next step</a:t>
            </a:r>
          </a:p>
        </p:txBody>
      </p:sp>
    </p:spTree>
    <p:extLst>
      <p:ext uri="{BB962C8B-B14F-4D97-AF65-F5344CB8AC3E}">
        <p14:creationId xmlns:p14="http://schemas.microsoft.com/office/powerpoint/2010/main" val="35237284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F02419-9CEA-068A-A57C-39FBE605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887F-CE9C-DBC5-8CF1-15818F31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Pipeline: Delivery</a:t>
            </a:r>
            <a:endParaRPr lang="en-US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DB77D-2939-F4E2-9380-A0E83B7E9A9E}"/>
              </a:ext>
            </a:extLst>
          </p:cNvPr>
          <p:cNvSpPr txBox="1"/>
          <p:nvPr/>
        </p:nvSpPr>
        <p:spPr>
          <a:xfrm>
            <a:off x="291339" y="427728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Delivery , Why structure the final output?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6FB8820-2AB0-0E55-C62D-02F624BFB38A}"/>
              </a:ext>
            </a:extLst>
          </p:cNvPr>
          <p:cNvSpPr/>
          <p:nvPr/>
        </p:nvSpPr>
        <p:spPr>
          <a:xfrm>
            <a:off x="390500" y="71387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noProof="0" dirty="0">
                <a:solidFill>
                  <a:srgbClr val="64748B"/>
                </a:solidFill>
              </a:rPr>
              <a:t>From processed data → ST-ready Knowledge Base payload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B77E502-4147-B9B3-DAB5-71F8D7C21317}"/>
              </a:ext>
            </a:extLst>
          </p:cNvPr>
          <p:cNvSpPr/>
          <p:nvPr/>
        </p:nvSpPr>
        <p:spPr>
          <a:xfrm>
            <a:off x="340201" y="1094829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395FD-B686-D5E8-23BD-B9DF49C20D92}"/>
              </a:ext>
            </a:extLst>
          </p:cNvPr>
          <p:cNvSpPr txBox="1"/>
          <p:nvPr/>
        </p:nvSpPr>
        <p:spPr>
          <a:xfrm>
            <a:off x="390500" y="1355246"/>
            <a:ext cx="10554216" cy="27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1" noProof="0" dirty="0">
                <a:solidFill>
                  <a:srgbClr val="0D9589"/>
                </a:solidFill>
                <a:effectLst/>
              </a:rPr>
              <a:t>Goal: </a:t>
            </a:r>
            <a:r>
              <a:rPr lang="en-US" sz="1400" b="0" noProof="0" dirty="0">
                <a:effectLst/>
              </a:rPr>
              <a:t>convert enriched STM32Cube data into a format directly ingestible by ST ChatGPT Knowledge Base</a:t>
            </a:r>
            <a:r>
              <a:rPr lang="en-US" sz="1600" b="0" noProof="0" dirty="0">
                <a:effectLst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53AB2-3C7D-5B50-6B26-6906456D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61</a:t>
            </a:fld>
            <a:endParaRPr lang="en-US" noProof="0" dirty="0"/>
          </a:p>
        </p:txBody>
      </p:sp>
      <p:sp>
        <p:nvSpPr>
          <p:cNvPr id="10" name="Shape 34">
            <a:extLst>
              <a:ext uri="{FF2B5EF4-FFF2-40B4-BE49-F238E27FC236}">
                <a16:creationId xmlns:a16="http://schemas.microsoft.com/office/drawing/2014/main" id="{39E9F0D5-87F2-32C8-9A2B-905C5DA6DC09}"/>
              </a:ext>
            </a:extLst>
          </p:cNvPr>
          <p:cNvSpPr/>
          <p:nvPr/>
        </p:nvSpPr>
        <p:spPr>
          <a:xfrm>
            <a:off x="491718" y="1837528"/>
            <a:ext cx="5195552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35">
            <a:extLst>
              <a:ext uri="{FF2B5EF4-FFF2-40B4-BE49-F238E27FC236}">
                <a16:creationId xmlns:a16="http://schemas.microsoft.com/office/drawing/2014/main" id="{5201EA72-3839-7499-81DF-6A29BFF50AF6}"/>
              </a:ext>
            </a:extLst>
          </p:cNvPr>
          <p:cNvSpPr/>
          <p:nvPr/>
        </p:nvSpPr>
        <p:spPr>
          <a:xfrm>
            <a:off x="491717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36">
            <a:extLst>
              <a:ext uri="{FF2B5EF4-FFF2-40B4-BE49-F238E27FC236}">
                <a16:creationId xmlns:a16="http://schemas.microsoft.com/office/drawing/2014/main" id="{04A45F3C-674D-E82E-9021-06F1EE66A992}"/>
              </a:ext>
            </a:extLst>
          </p:cNvPr>
          <p:cNvSpPr/>
          <p:nvPr/>
        </p:nvSpPr>
        <p:spPr>
          <a:xfrm>
            <a:off x="618570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4 ST-ready JSON payloads generated automatically:</a:t>
            </a:r>
            <a:endParaRPr lang="en-US" sz="1400" noProof="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4E999F8-C44E-2056-3F95-2216527C8FEB}"/>
              </a:ext>
            </a:extLst>
          </p:cNvPr>
          <p:cNvSpPr txBox="1"/>
          <p:nvPr/>
        </p:nvSpPr>
        <p:spPr>
          <a:xfrm>
            <a:off x="618652" y="2299291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Issues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Files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Resolver Cases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Diagnostic Cards JSON</a:t>
            </a:r>
            <a:endParaRPr lang="en-US" sz="1400" noProof="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857809C-A8F4-A3DA-3476-CA0E51A9E863}"/>
              </a:ext>
            </a:extLst>
          </p:cNvPr>
          <p:cNvSpPr/>
          <p:nvPr/>
        </p:nvSpPr>
        <p:spPr>
          <a:xfrm>
            <a:off x="6201768" y="1837528"/>
            <a:ext cx="5449419" cy="191823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4A12EDD4-1CC1-1480-7CCB-0A6142E23745}"/>
              </a:ext>
            </a:extLst>
          </p:cNvPr>
          <p:cNvSpPr/>
          <p:nvPr/>
        </p:nvSpPr>
        <p:spPr>
          <a:xfrm>
            <a:off x="6201768" y="1837526"/>
            <a:ext cx="50327" cy="1598063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372E801D-338D-F689-4CB4-CB94D1F9C292}"/>
              </a:ext>
            </a:extLst>
          </p:cNvPr>
          <p:cNvSpPr/>
          <p:nvPr/>
        </p:nvSpPr>
        <p:spPr>
          <a:xfrm>
            <a:off x="6328621" y="1855148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Delivery matters (RAG constraints)</a:t>
            </a:r>
            <a:endParaRPr lang="en-US" sz="1400" noProof="0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2356634-AB97-55AA-2A51-FC14B2A133F8}"/>
              </a:ext>
            </a:extLst>
          </p:cNvPr>
          <p:cNvSpPr txBox="1"/>
          <p:nvPr/>
        </p:nvSpPr>
        <p:spPr>
          <a:xfrm>
            <a:off x="6328620" y="2281932"/>
            <a:ext cx="5195553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0" dirty="0"/>
              <a:t>Upload logs confirm Parent/Child chunking strategy.</a:t>
            </a:r>
          </a:p>
          <a:p>
            <a:pPr>
              <a:lnSpc>
                <a:spcPct val="150000"/>
              </a:lnSpc>
            </a:pPr>
            <a:endParaRPr lang="en-US" sz="1200" noProof="0" dirty="0"/>
          </a:p>
          <a:p>
            <a:pPr>
              <a:lnSpc>
                <a:spcPct val="150000"/>
              </a:lnSpc>
            </a:pPr>
            <a:r>
              <a:rPr lang="en-US" sz="1200" b="1" noProof="0" dirty="0">
                <a:sym typeface="Wingdings" panose="05000000000000000000" pitchFamily="2" charset="2"/>
              </a:rPr>
              <a:t> </a:t>
            </a:r>
            <a:r>
              <a:rPr lang="en-US" sz="1200" b="1" noProof="0" dirty="0"/>
              <a:t>Therefore, each document must be self-contained and chunk-friendly.</a:t>
            </a:r>
            <a:endParaRPr lang="en-US" sz="1200" noProof="0" dirty="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D7ECCEC-ED2D-0381-2553-313726F4A40A}"/>
              </a:ext>
            </a:extLst>
          </p:cNvPr>
          <p:cNvSpPr txBox="1"/>
          <p:nvPr/>
        </p:nvSpPr>
        <p:spPr>
          <a:xfrm>
            <a:off x="355498" y="3878406"/>
            <a:ext cx="11946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noProof="0" dirty="0"/>
              <a:t>ST-ready text template (retrieval-optimized) </a:t>
            </a:r>
            <a:r>
              <a:rPr lang="en-US" b="1" noProof="0" dirty="0"/>
              <a:t>: </a:t>
            </a:r>
            <a:r>
              <a:rPr lang="en-US" sz="1400" noProof="0" dirty="0"/>
              <a:t>All key technical signals are injected into one structured field: </a:t>
            </a:r>
            <a:r>
              <a:rPr lang="en-US" sz="1400" b="1" noProof="0" dirty="0" err="1">
                <a:solidFill>
                  <a:srgbClr val="0D9589"/>
                </a:solidFill>
              </a:rPr>
              <a:t>st_ready_text</a:t>
            </a:r>
            <a:endParaRPr lang="en-US" b="1" noProof="0" dirty="0">
              <a:solidFill>
                <a:srgbClr val="0D9589"/>
              </a:solidFill>
            </a:endParaRPr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8E50E9F8-5A22-E672-4B27-D74F8ABAE4C9}"/>
              </a:ext>
            </a:extLst>
          </p:cNvPr>
          <p:cNvSpPr/>
          <p:nvPr/>
        </p:nvSpPr>
        <p:spPr>
          <a:xfrm>
            <a:off x="4847773" y="4410336"/>
            <a:ext cx="4821544" cy="2254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02B64F94-165A-6249-BE3C-9D0E48D80A12}"/>
              </a:ext>
            </a:extLst>
          </p:cNvPr>
          <p:cNvSpPr/>
          <p:nvPr/>
        </p:nvSpPr>
        <p:spPr>
          <a:xfrm>
            <a:off x="4820341" y="4415991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EA96C93F-957F-1D41-42FD-7672CA3B2130}"/>
              </a:ext>
            </a:extLst>
          </p:cNvPr>
          <p:cNvSpPr/>
          <p:nvPr/>
        </p:nvSpPr>
        <p:spPr>
          <a:xfrm>
            <a:off x="4875205" y="4419919"/>
            <a:ext cx="54528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fields exposed to the </a:t>
            </a:r>
            <a:r>
              <a:rPr lang="en-US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moteur</a:t>
            </a:r>
            <a:r>
              <a:rPr lang="en-US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RAG</a:t>
            </a:r>
            <a:endParaRPr lang="en-US" sz="1100" noProof="0" dirty="0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02E0932F-974F-8412-9219-53E5ED1993F7}"/>
              </a:ext>
            </a:extLst>
          </p:cNvPr>
          <p:cNvSpPr/>
          <p:nvPr/>
        </p:nvSpPr>
        <p:spPr>
          <a:xfrm>
            <a:off x="534290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5" name="Text 38">
            <a:extLst>
              <a:ext uri="{FF2B5EF4-FFF2-40B4-BE49-F238E27FC236}">
                <a16:creationId xmlns:a16="http://schemas.microsoft.com/office/drawing/2014/main" id="{278BD09E-602E-013F-8576-AE59DB17A491}"/>
              </a:ext>
            </a:extLst>
          </p:cNvPr>
          <p:cNvSpPr/>
          <p:nvPr/>
        </p:nvSpPr>
        <p:spPr>
          <a:xfrm>
            <a:off x="538862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4CEE1425-9E1F-A63B-0B68-8A4D99EB0684}"/>
              </a:ext>
            </a:extLst>
          </p:cNvPr>
          <p:cNvSpPr/>
          <p:nvPr/>
        </p:nvSpPr>
        <p:spPr>
          <a:xfrm>
            <a:off x="7491745" y="48160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3D929638-89FA-8FF2-C243-4E35843956B0}"/>
              </a:ext>
            </a:extLst>
          </p:cNvPr>
          <p:cNvSpPr/>
          <p:nvPr/>
        </p:nvSpPr>
        <p:spPr>
          <a:xfrm>
            <a:off x="7537465" y="48160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F1519E47-AA7D-5179-7066-40A378362AFB}"/>
              </a:ext>
            </a:extLst>
          </p:cNvPr>
          <p:cNvSpPr/>
          <p:nvPr/>
        </p:nvSpPr>
        <p:spPr>
          <a:xfrm>
            <a:off x="534290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4F58ADA4-89E6-CCF9-DF08-E009B6A62CC4}"/>
              </a:ext>
            </a:extLst>
          </p:cNvPr>
          <p:cNvSpPr/>
          <p:nvPr/>
        </p:nvSpPr>
        <p:spPr>
          <a:xfrm>
            <a:off x="538862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F1A4FFFF-9562-2DD6-7365-49CA297BB4F6}"/>
              </a:ext>
            </a:extLst>
          </p:cNvPr>
          <p:cNvSpPr/>
          <p:nvPr/>
        </p:nvSpPr>
        <p:spPr>
          <a:xfrm>
            <a:off x="7491745" y="57304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C05EE432-5451-236F-344C-349897350EAF}"/>
              </a:ext>
            </a:extLst>
          </p:cNvPr>
          <p:cNvSpPr/>
          <p:nvPr/>
        </p:nvSpPr>
        <p:spPr>
          <a:xfrm>
            <a:off x="7537465" y="57304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0DF27CA6-5555-DAA5-C5B7-C83E7948B64C}"/>
              </a:ext>
            </a:extLst>
          </p:cNvPr>
          <p:cNvSpPr/>
          <p:nvPr/>
        </p:nvSpPr>
        <p:spPr>
          <a:xfrm>
            <a:off x="534290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3" name="Text 46">
            <a:extLst>
              <a:ext uri="{FF2B5EF4-FFF2-40B4-BE49-F238E27FC236}">
                <a16:creationId xmlns:a16="http://schemas.microsoft.com/office/drawing/2014/main" id="{8AC73B14-C4B4-457A-A1E5-765C7BE1F380}"/>
              </a:ext>
            </a:extLst>
          </p:cNvPr>
          <p:cNvSpPr/>
          <p:nvPr/>
        </p:nvSpPr>
        <p:spPr>
          <a:xfrm>
            <a:off x="538862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4" name="Shape 47">
            <a:extLst>
              <a:ext uri="{FF2B5EF4-FFF2-40B4-BE49-F238E27FC236}">
                <a16:creationId xmlns:a16="http://schemas.microsoft.com/office/drawing/2014/main" id="{CC4A1B44-A15A-E190-2C2B-84881DAB5511}"/>
              </a:ext>
            </a:extLst>
          </p:cNvPr>
          <p:cNvSpPr/>
          <p:nvPr/>
        </p:nvSpPr>
        <p:spPr>
          <a:xfrm>
            <a:off x="7491745" y="52732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5" name="Text 48">
            <a:extLst>
              <a:ext uri="{FF2B5EF4-FFF2-40B4-BE49-F238E27FC236}">
                <a16:creationId xmlns:a16="http://schemas.microsoft.com/office/drawing/2014/main" id="{85B2EEF4-B413-42E1-471F-DAB9D5D6A07E}"/>
              </a:ext>
            </a:extLst>
          </p:cNvPr>
          <p:cNvSpPr/>
          <p:nvPr/>
        </p:nvSpPr>
        <p:spPr>
          <a:xfrm>
            <a:off x="7537465" y="52732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6" name="Shape 49">
            <a:extLst>
              <a:ext uri="{FF2B5EF4-FFF2-40B4-BE49-F238E27FC236}">
                <a16:creationId xmlns:a16="http://schemas.microsoft.com/office/drawing/2014/main" id="{49CC19CF-4A53-C7E7-AFE5-6416066AA81A}"/>
              </a:ext>
            </a:extLst>
          </p:cNvPr>
          <p:cNvSpPr/>
          <p:nvPr/>
        </p:nvSpPr>
        <p:spPr>
          <a:xfrm>
            <a:off x="534290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7" name="Text 50">
            <a:extLst>
              <a:ext uri="{FF2B5EF4-FFF2-40B4-BE49-F238E27FC236}">
                <a16:creationId xmlns:a16="http://schemas.microsoft.com/office/drawing/2014/main" id="{7EE755CE-3160-EAFE-093B-1E5A59C92BAF}"/>
              </a:ext>
            </a:extLst>
          </p:cNvPr>
          <p:cNvSpPr/>
          <p:nvPr/>
        </p:nvSpPr>
        <p:spPr>
          <a:xfrm>
            <a:off x="538862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98" name="Shape 51">
            <a:extLst>
              <a:ext uri="{FF2B5EF4-FFF2-40B4-BE49-F238E27FC236}">
                <a16:creationId xmlns:a16="http://schemas.microsoft.com/office/drawing/2014/main" id="{D0A48036-D7AA-A827-09FB-2F81AF4E6BC4}"/>
              </a:ext>
            </a:extLst>
          </p:cNvPr>
          <p:cNvSpPr/>
          <p:nvPr/>
        </p:nvSpPr>
        <p:spPr>
          <a:xfrm>
            <a:off x="7491745" y="6187617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9" name="Text 52">
            <a:extLst>
              <a:ext uri="{FF2B5EF4-FFF2-40B4-BE49-F238E27FC236}">
                <a16:creationId xmlns:a16="http://schemas.microsoft.com/office/drawing/2014/main" id="{0EDD20B8-103E-BB36-4F00-87D0F668F067}"/>
              </a:ext>
            </a:extLst>
          </p:cNvPr>
          <p:cNvSpPr/>
          <p:nvPr/>
        </p:nvSpPr>
        <p:spPr>
          <a:xfrm>
            <a:off x="7537465" y="6187617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comments</a:t>
            </a:r>
            <a:endParaRPr lang="en-US" sz="900" noProof="0" dirty="0">
              <a:solidFill>
                <a:schemeClr val="bg1"/>
              </a:solidFill>
            </a:endParaRPr>
          </a:p>
        </p:txBody>
      </p:sp>
      <p:pic>
        <p:nvPicPr>
          <p:cNvPr id="100" name="Picture 32">
            <a:extLst>
              <a:ext uri="{FF2B5EF4-FFF2-40B4-BE49-F238E27FC236}">
                <a16:creationId xmlns:a16="http://schemas.microsoft.com/office/drawing/2014/main" id="{CED24328-878C-C802-EC5E-B80BF75F2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1589892" y="4826825"/>
            <a:ext cx="2633873" cy="12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66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CC5E-EA32-24EF-72E3-4A13DA0D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B0A3-CE97-55C6-B2DC-A42EF4E7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801217"/>
          </a:xfrm>
        </p:spPr>
        <p:txBody>
          <a:bodyPr/>
          <a:lstStyle/>
          <a:p>
            <a:r>
              <a:rPr lang="en-US" sz="1800" b="1" noProof="0" dirty="0"/>
              <a:t>Pipeline: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6E5FEE-22B2-8A79-E5A2-07059BEDDD04}"/>
              </a:ext>
            </a:extLst>
          </p:cNvPr>
          <p:cNvSpPr txBox="1"/>
          <p:nvPr/>
        </p:nvSpPr>
        <p:spPr>
          <a:xfrm>
            <a:off x="340364" y="534230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TF-IDF ? Cosine Similarity 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2A77354-5DBE-45D9-C154-4F68FC12CEAB}"/>
              </a:ext>
            </a:extLst>
          </p:cNvPr>
          <p:cNvSpPr/>
          <p:nvPr/>
        </p:nvSpPr>
        <p:spPr>
          <a:xfrm>
            <a:off x="379477" y="8504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87A14B2D-22F9-B6E2-6FBF-EE19C431F497}"/>
              </a:ext>
            </a:extLst>
          </p:cNvPr>
          <p:cNvSpPr/>
          <p:nvPr/>
        </p:nvSpPr>
        <p:spPr>
          <a:xfrm>
            <a:off x="6997821" y="2272023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47488462-CBF2-4872-19BE-4E6EE69F32F1}"/>
              </a:ext>
            </a:extLst>
          </p:cNvPr>
          <p:cNvSpPr/>
          <p:nvPr/>
        </p:nvSpPr>
        <p:spPr>
          <a:xfrm>
            <a:off x="7155662" y="13822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F05AB-0B6E-96BD-C164-EE2E5798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62</a:t>
            </a:fld>
            <a:endParaRPr lang="en-US" noProof="0" dirty="0"/>
          </a:p>
        </p:txBody>
      </p:sp>
      <p:sp>
        <p:nvSpPr>
          <p:cNvPr id="19" name="G1">
            <a:extLst>
              <a:ext uri="{FF2B5EF4-FFF2-40B4-BE49-F238E27FC236}">
                <a16:creationId xmlns:a16="http://schemas.microsoft.com/office/drawing/2014/main" id="{AD3D9BD3-064D-05A9-89AC-2C9724876EF4}"/>
              </a:ext>
            </a:extLst>
          </p:cNvPr>
          <p:cNvSpPr/>
          <p:nvPr/>
        </p:nvSpPr>
        <p:spPr>
          <a:xfrm>
            <a:off x="140491" y="1335447"/>
            <a:ext cx="6373652" cy="446034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TF-IDF (Text → Vector)</a:t>
            </a:r>
          </a:p>
          <a:p>
            <a:pPr algn="l">
              <a:buNone/>
            </a:pPr>
            <a:endParaRPr lang="en-US" sz="1100" b="1" noProof="0" dirty="0"/>
          </a:p>
          <a:p>
            <a:pPr algn="l"/>
            <a:r>
              <a:rPr lang="en-US" sz="1300" b="0" noProof="0" dirty="0"/>
              <a:t>TF-IDF converts each issue text into a vector of important keywords.</a:t>
            </a:r>
          </a:p>
          <a:p>
            <a:pPr algn="l"/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Words that appear often in one issue → </a:t>
            </a:r>
            <a:r>
              <a:rPr lang="en-US" sz="1300" b="1" noProof="0" dirty="0"/>
              <a:t>higher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 Words that are common in all issues (STM32, driver, error) → </a:t>
            </a:r>
            <a:r>
              <a:rPr lang="en-US" sz="1300" b="1" noProof="0" dirty="0"/>
              <a:t>lower weight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300" b="0" noProof="0" dirty="0"/>
              <a:t>Technical terms (HAL_CRYP, DMA, </a:t>
            </a:r>
            <a:r>
              <a:rPr lang="en-US" sz="1300" b="0" noProof="0" dirty="0" err="1"/>
              <a:t>HardFault</a:t>
            </a:r>
            <a:r>
              <a:rPr lang="en-US" sz="1300" b="0" noProof="0" dirty="0"/>
              <a:t>) → </a:t>
            </a:r>
            <a:r>
              <a:rPr lang="en-US" sz="1300" b="1" noProof="0" dirty="0"/>
              <a:t>higher weight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/>
              <a:t>Issue text contains many times: “</a:t>
            </a:r>
            <a:r>
              <a:rPr lang="en-US" sz="1300" b="1" noProof="0" dirty="0" err="1"/>
              <a:t>HAL_CRYP_Decrypt_DMA</a:t>
            </a:r>
            <a:r>
              <a:rPr lang="en-US" sz="1300" noProof="0" dirty="0"/>
              <a:t>”, “</a:t>
            </a:r>
            <a:r>
              <a:rPr lang="en-US" sz="1300" b="1" noProof="0" dirty="0"/>
              <a:t>Size overflow</a:t>
            </a:r>
            <a:r>
              <a:rPr lang="en-US" sz="1300" noProof="0" dirty="0"/>
              <a:t>”, “</a:t>
            </a:r>
            <a:r>
              <a:rPr lang="en-US" sz="1300" b="1" noProof="0" dirty="0"/>
              <a:t>uint16_t</a:t>
            </a:r>
            <a:r>
              <a:rPr lang="en-US" sz="1300" noProof="0" dirty="0"/>
              <a:t>”</a:t>
            </a:r>
          </a:p>
          <a:p>
            <a:pPr algn="l"/>
            <a:endParaRPr lang="en-US" sz="1300" noProof="0" dirty="0"/>
          </a:p>
          <a:p>
            <a:pPr algn="l"/>
            <a:r>
              <a:rPr lang="en-US" sz="1300" noProof="0" dirty="0">
                <a:sym typeface="Wingdings" panose="05000000000000000000" pitchFamily="2" charset="2"/>
              </a:rPr>
              <a:t> </a:t>
            </a:r>
            <a:r>
              <a:rPr lang="en-US" sz="1300" noProof="0" dirty="0"/>
              <a:t>TF-IDF gives these terms high weight, because they strongly describe the bug.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300" b="0" noProof="0" dirty="0"/>
          </a:p>
          <a:p>
            <a:pPr algn="l">
              <a:buNone/>
            </a:pPr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b="0" noProof="0" dirty="0"/>
              <a:t> </a:t>
            </a:r>
          </a:p>
          <a:p>
            <a:pPr algn="l">
              <a:buNone/>
            </a:pPr>
            <a:endParaRPr lang="en-US" sz="1300" b="0" noProof="0" dirty="0"/>
          </a:p>
          <a:p>
            <a:pPr algn="l">
              <a:buNone/>
            </a:pPr>
            <a:r>
              <a:rPr lang="en-US" sz="1300" noProof="0" dirty="0"/>
              <a:t>E</a:t>
            </a:r>
            <a:r>
              <a:rPr lang="en-US" sz="1300" b="0" noProof="0" dirty="0"/>
              <a:t>ach issue becomes a numeric representation of its main technical topic.</a:t>
            </a:r>
            <a:endParaRPr lang="en-US" sz="1300" b="0" i="1" noProof="0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50887BA2-A9E0-1DD7-2FDA-0B0CCF5DD725}"/>
              </a:ext>
            </a:extLst>
          </p:cNvPr>
          <p:cNvSpPr/>
          <p:nvPr/>
        </p:nvSpPr>
        <p:spPr>
          <a:xfrm>
            <a:off x="6646779" y="1318765"/>
            <a:ext cx="5298286" cy="4368906"/>
          </a:xfrm>
          <a:prstGeom prst="roundRect">
            <a:avLst>
              <a:gd name="adj" fmla="val 10000"/>
            </a:avLst>
          </a:prstGeom>
          <a:solidFill>
            <a:srgbClr val="E8F7FE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1400" b="1" i="1" noProof="0" dirty="0">
                <a:solidFill>
                  <a:srgbClr val="0D9589"/>
                </a:solidFill>
              </a:rPr>
              <a:t>Cosine Similarity (Vector → Similarity Score)</a:t>
            </a:r>
          </a:p>
          <a:p>
            <a:pPr algn="l">
              <a:buNone/>
            </a:pPr>
            <a:endParaRPr lang="en-US" sz="1200" b="1" noProof="0" dirty="0"/>
          </a:p>
          <a:p>
            <a:pPr algn="l"/>
            <a:r>
              <a:rPr lang="en-US" sz="1300" b="0" noProof="0" dirty="0"/>
              <a:t>Cosine similarity compares two issue vectors and returns a score: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1.0 </a:t>
            </a:r>
            <a:r>
              <a:rPr lang="en-US" sz="1300" b="0" noProof="0" dirty="0"/>
              <a:t>= very similar issues (same bug/topic)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0.0</a:t>
            </a:r>
            <a:r>
              <a:rPr lang="en-US" sz="1300" b="0" noProof="0" dirty="0"/>
              <a:t> = unrelated issues</a:t>
            </a:r>
          </a:p>
          <a:p>
            <a:pPr algn="l"/>
            <a:endParaRPr lang="en-US" sz="1300" noProof="0" dirty="0"/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300" b="0" noProof="0" dirty="0"/>
              <a:t>We keep only links above a tuned threshold (example : </a:t>
            </a:r>
            <a:r>
              <a:rPr lang="en-US" sz="1300" b="1" noProof="0" dirty="0"/>
              <a:t>0.55</a:t>
            </a:r>
            <a:r>
              <a:rPr lang="en-US" sz="1300" b="0" noProof="0" dirty="0"/>
              <a:t>) to avoid noise.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US" sz="1300" i="1" noProof="0" dirty="0"/>
          </a:p>
          <a:p>
            <a:pPr algn="l"/>
            <a:r>
              <a:rPr lang="en-US" sz="1300" b="1" noProof="0" dirty="0">
                <a:solidFill>
                  <a:srgbClr val="0D9589"/>
                </a:solidFill>
              </a:rPr>
              <a:t>Example:</a:t>
            </a:r>
          </a:p>
          <a:p>
            <a:pPr algn="l"/>
            <a:endParaRPr lang="en-US" sz="1300" b="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A: </a:t>
            </a:r>
            <a:r>
              <a:rPr lang="en-US" sz="1300" b="0" noProof="0" dirty="0"/>
              <a:t>“HAL_UART compile error when UART disabled”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1" noProof="0" dirty="0"/>
              <a:t>Issue B: </a:t>
            </a:r>
            <a:r>
              <a:rPr lang="en-US" sz="1300" b="0" noProof="0" dirty="0"/>
              <a:t>“USART build fails due to missing UART macro definition”</a:t>
            </a:r>
          </a:p>
          <a:p>
            <a:pPr algn="l"/>
            <a:endParaRPr lang="en-US" sz="1300" noProof="0" dirty="0"/>
          </a:p>
          <a:p>
            <a:r>
              <a:rPr lang="en-US" sz="1300" b="1" noProof="0" dirty="0">
                <a:solidFill>
                  <a:srgbClr val="0D9589"/>
                </a:solidFill>
              </a:rPr>
              <a:t>Result:</a:t>
            </a:r>
            <a:r>
              <a:rPr lang="en-US" sz="1300" noProof="0" dirty="0"/>
              <a:t> </a:t>
            </a:r>
          </a:p>
          <a:p>
            <a:pPr algn="l"/>
            <a:endParaRPr lang="en-US" sz="1300" b="0" noProof="0" dirty="0"/>
          </a:p>
          <a:p>
            <a:pPr algn="l"/>
            <a:r>
              <a:rPr lang="en-US" sz="1300" b="0" noProof="0" dirty="0"/>
              <a:t>Cosine similarity might be 0.72 → they are likely the same topic</a:t>
            </a:r>
            <a:r>
              <a:rPr lang="en-US" sz="1300" b="0" i="1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8690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100" b="0" i="1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149D-A227-0A19-9853-FDE4560A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63</a:t>
            </a:fld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5FE891-BB16-18DE-4AD9-2DD8E8B41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9092" r="1448" b="520"/>
          <a:stretch>
            <a:fillRect/>
          </a:stretch>
        </p:blipFill>
        <p:spPr>
          <a:xfrm>
            <a:off x="1597554" y="1193607"/>
            <a:ext cx="8899003" cy="552247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1EA12F07-0C3B-C9F4-0B2B-A8C38C7D101F}"/>
              </a:ext>
            </a:extLst>
          </p:cNvPr>
          <p:cNvSpPr/>
          <p:nvPr/>
        </p:nvSpPr>
        <p:spPr>
          <a:xfrm>
            <a:off x="250000" y="98714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8B20-EAA4-14F9-569D-C779D45B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9A99-1AD6-3348-38AF-B185FB0D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DF815E0-CD20-46A0-0DF2-D8D0331B5F0E}"/>
              </a:ext>
            </a:extLst>
          </p:cNvPr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1F0699E-2848-408B-74C6-E8B08C4C29C4}"/>
              </a:ext>
            </a:extLst>
          </p:cNvPr>
          <p:cNvSpPr/>
          <p:nvPr/>
        </p:nvSpPr>
        <p:spPr>
          <a:xfrm>
            <a:off x="239205" y="945746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ECCAC-339C-DFBF-6B1E-6D828C91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64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0B85FA-31EE-534C-0C15-C7D55E0415C8}"/>
              </a:ext>
            </a:extLst>
          </p:cNvPr>
          <p:cNvGrpSpPr/>
          <p:nvPr/>
        </p:nvGrpSpPr>
        <p:grpSpPr>
          <a:xfrm>
            <a:off x="320023" y="1387920"/>
            <a:ext cx="11551953" cy="4618781"/>
            <a:chOff x="320023" y="1487186"/>
            <a:chExt cx="11551953" cy="4618781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8C7D6708-FB02-980B-E0EB-B0EAC58F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" t="32125" r="375" b="8434"/>
            <a:stretch>
              <a:fillRect/>
            </a:stretch>
          </p:blipFill>
          <p:spPr>
            <a:xfrm>
              <a:off x="320023" y="1487186"/>
              <a:ext cx="11551953" cy="461878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34C8D1-DC5B-7822-7CA1-DB1D2178D28B}"/>
                </a:ext>
              </a:extLst>
            </p:cNvPr>
            <p:cNvSpPr/>
            <p:nvPr/>
          </p:nvSpPr>
          <p:spPr>
            <a:xfrm>
              <a:off x="584204" y="4784494"/>
              <a:ext cx="8948416" cy="12886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noProof="0" dirty="0"/>
            </a:p>
          </p:txBody>
        </p:sp>
        <p:pic>
          <p:nvPicPr>
            <p:cNvPr id="6" name="Image 14">
              <a:extLst>
                <a:ext uri="{FF2B5EF4-FFF2-40B4-BE49-F238E27FC236}">
                  <a16:creationId xmlns:a16="http://schemas.microsoft.com/office/drawing/2014/main" id="{25200768-85C3-0565-579A-E53F5B782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45" t="91829" r="16849" b="597"/>
            <a:stretch>
              <a:fillRect/>
            </a:stretch>
          </p:blipFill>
          <p:spPr>
            <a:xfrm>
              <a:off x="2029680" y="5134576"/>
              <a:ext cx="8031480" cy="588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49223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Pipeline: AI Agents — Two Specialized Assistants in the Project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364570" y="1298169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 flipH="1">
            <a:off x="291420" y="1298169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764315" y="1361931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308134" y="2097069"/>
            <a:ext cx="4234044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noProof="0" dirty="0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308134" y="2097069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362998" y="2097069"/>
            <a:ext cx="41791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445294" y="2097069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noProof="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445294" y="259998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noProof="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445294" y="298403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1542574" y="301146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dedicated to pipeline analysis and documentation</a:t>
            </a:r>
            <a:endParaRPr lang="en-US" sz="950" noProof="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445294" y="355096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1515143" y="35926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The data flow, JSON outputs, and benchmark outputs</a:t>
            </a:r>
            <a:endParaRPr lang="en-US" sz="950" noProof="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445294" y="411789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</a:t>
            </a:r>
            <a:endParaRPr lang="en-US" sz="950" noProof="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1515143" y="415396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Data schemas, test results</a:t>
            </a:r>
            <a:endParaRPr lang="en-US" sz="950" noProof="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445294" y="468482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</a:t>
            </a:r>
            <a:endParaRPr lang="en-US" sz="950" noProof="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1542574" y="471225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Structuring strategies</a:t>
            </a:r>
            <a:endParaRPr lang="en-US" sz="950" noProof="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445294" y="525174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1451134" y="5276669"/>
            <a:ext cx="31817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4916755" y="2101620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4916755" y="2101620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4971619" y="2101620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5026483" y="21016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5026483" y="26045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noProof="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5026483" y="29885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6123763" y="30160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Analyzes figures and diagrams extracted from technical PDFs</a:t>
            </a:r>
            <a:endParaRPr lang="en-US" sz="950" noProof="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5026483" y="35555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Read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6123763" y="35829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</a:t>
            </a: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_&lt;repo&gt;.</a:t>
            </a:r>
            <a:r>
              <a:rPr lang="en-US" sz="950" noProof="0" dirty="0" err="1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jsonl</a:t>
            </a:r>
            <a:endParaRPr lang="en-US" sz="950" noProof="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5026483" y="41224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6123763" y="41498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diagrams from PDFs</a:t>
            </a:r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5026483" y="46893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Describe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6123763" y="47168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Injectable technical text descriptions</a:t>
            </a:r>
            <a:endParaRPr lang="en-US" sz="950" noProof="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5026483" y="52563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noProof="0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noProof="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6123763" y="52837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Preserve information in PDF diagrams</a:t>
            </a:r>
            <a:endParaRPr lang="en-US" sz="950" noProof="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291420" y="6078477"/>
            <a:ext cx="9428899" cy="670080"/>
          </a:xfrm>
          <a:prstGeom prst="rect">
            <a:avLst/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469107" y="6250989"/>
            <a:ext cx="201168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PDF workflow:</a:t>
            </a:r>
            <a:endParaRPr lang="en-US" sz="950" noProof="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2151128" y="6249824"/>
            <a:ext cx="11518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→</a:t>
            </a:r>
            <a:endParaRPr lang="en-US" sz="850" noProof="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3138113" y="6249824"/>
            <a:ext cx="1280585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→</a:t>
            </a:r>
            <a:endParaRPr lang="en-US" sz="850" noProof="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4376079" y="6249257"/>
            <a:ext cx="1097279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detection →</a:t>
            </a:r>
            <a:endParaRPr lang="en-US" sz="850" noProof="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5360531" y="6249257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noProof="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6229210" y="6250391"/>
            <a:ext cx="91440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JSONL tasks →</a:t>
            </a:r>
            <a:endParaRPr lang="en-US" sz="850" noProof="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7057982" y="6249824"/>
            <a:ext cx="116462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descriptions →</a:t>
            </a:r>
            <a:endParaRPr lang="en-US" sz="850" noProof="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8131163" y="6249257"/>
            <a:ext cx="111571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Enriched re-injection</a:t>
            </a:r>
            <a:endParaRPr lang="en-US" sz="850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9DB2775-6381-04D2-B12A-91F07D501898}"/>
              </a:ext>
            </a:extLst>
          </p:cNvPr>
          <p:cNvSpPr/>
          <p:nvPr/>
        </p:nvSpPr>
        <p:spPr>
          <a:xfrm>
            <a:off x="4989905" y="1319808"/>
            <a:ext cx="4234045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6824F28-6DA3-DBB5-205F-EABBB892B840}"/>
              </a:ext>
            </a:extLst>
          </p:cNvPr>
          <p:cNvSpPr/>
          <p:nvPr/>
        </p:nvSpPr>
        <p:spPr>
          <a:xfrm flipH="1">
            <a:off x="4916755" y="1319808"/>
            <a:ext cx="73150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5641B-1B7F-A7F1-4EAD-D95D51F95D39}"/>
              </a:ext>
            </a:extLst>
          </p:cNvPr>
          <p:cNvSpPr txBox="1"/>
          <p:nvPr/>
        </p:nvSpPr>
        <p:spPr>
          <a:xfrm>
            <a:off x="419436" y="1408030"/>
            <a:ext cx="4034297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avoid bad or noisy data before upload and keep the pipeline easy to improve.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E78F7-691A-81CA-FB96-77090A6D30CF}"/>
              </a:ext>
            </a:extLst>
          </p:cNvPr>
          <p:cNvSpPr txBox="1"/>
          <p:nvPr/>
        </p:nvSpPr>
        <p:spPr>
          <a:xfrm>
            <a:off x="4989905" y="1447824"/>
            <a:ext cx="4181912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1" noProof="0" dirty="0">
                <a:solidFill>
                  <a:srgbClr val="0D9589"/>
                </a:solidFill>
                <a:effectLst/>
              </a:rPr>
              <a:t>Real need: </a:t>
            </a:r>
            <a:r>
              <a:rPr lang="en-US" sz="1100" b="0" noProof="0" dirty="0">
                <a:effectLst/>
              </a:rPr>
              <a:t>capture technical information that exists only in PDF images.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5583-13B6-4734-652A-985A3D26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65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1649C8-CCD7-6104-B92B-4FAF2742F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5"/>
          <a:stretch>
            <a:fillRect/>
          </a:stretch>
        </p:blipFill>
        <p:spPr>
          <a:xfrm>
            <a:off x="9213551" y="3134374"/>
            <a:ext cx="2926612" cy="167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1DB359-4097-AF3E-6963-35DECDD8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21A8-3B3A-AC4B-4F2B-F0A1B526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6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Alfred Coverage Across the STM32Cube Family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7934794-E90C-D9F8-EB5D-CBF3770E1474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endParaRPr lang="en-US" sz="1200" b="0" noProof="0" dirty="0">
              <a:solidFill>
                <a:srgbClr val="475569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696FD-8B99-6877-DF68-48504712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noProof="0" smtClean="0"/>
              <a:t>66</a:t>
            </a:fld>
            <a:endParaRPr lang="en-US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90BF3A3-5C0A-BFA4-90A7-A8A7BAB5A08E}"/>
              </a:ext>
            </a:extLst>
          </p:cNvPr>
          <p:cNvSpPr/>
          <p:nvPr/>
        </p:nvSpPr>
        <p:spPr>
          <a:xfrm>
            <a:off x="668125" y="47614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D6426B5-9CDA-9EAB-D6AF-6F6E0201AD76}"/>
              </a:ext>
            </a:extLst>
          </p:cNvPr>
          <p:cNvSpPr/>
          <p:nvPr/>
        </p:nvSpPr>
        <p:spPr>
          <a:xfrm>
            <a:off x="2436267" y="92766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7D3C1D7C-1730-3165-5F4B-B13FDE927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419025"/>
              </p:ext>
            </p:extLst>
          </p:nvPr>
        </p:nvGraphicFramePr>
        <p:xfrm>
          <a:off x="485245" y="1176633"/>
          <a:ext cx="7315200" cy="4160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w/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Alfred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/ 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/ 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H7RS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/ F1 / F2 / F3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(19 series)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 figures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8" name="Shape 4">
            <a:extLst>
              <a:ext uri="{FF2B5EF4-FFF2-40B4-BE49-F238E27FC236}">
                <a16:creationId xmlns:a16="http://schemas.microsoft.com/office/drawing/2014/main" id="{DEC1E7F1-0561-5FAB-4769-4D8E0D46AFA1}"/>
              </a:ext>
            </a:extLst>
          </p:cNvPr>
          <p:cNvSpPr/>
          <p:nvPr/>
        </p:nvSpPr>
        <p:spPr>
          <a:xfrm>
            <a:off x="8029045" y="163383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BC29B9F8-5CBD-6F0C-35FB-DD981D5F205D}"/>
              </a:ext>
            </a:extLst>
          </p:cNvPr>
          <p:cNvSpPr/>
          <p:nvPr/>
        </p:nvSpPr>
        <p:spPr>
          <a:xfrm>
            <a:off x="8211925" y="172527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works</a:t>
            </a:r>
            <a:endParaRPr lang="en-US" sz="13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5FC4CFA2-9F3A-BB3A-0CEE-594EA91D7430}"/>
              </a:ext>
            </a:extLst>
          </p:cNvPr>
          <p:cNvSpPr/>
          <p:nvPr/>
        </p:nvSpPr>
        <p:spPr>
          <a:xfrm>
            <a:off x="8211925" y="204531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figures described across the whole family. ~1% failure rate is timeout / very small figure filtered out — negligible for retrieval.</a:t>
            </a:r>
            <a:endParaRPr lang="en-US" sz="105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E0A5F4AD-592C-6E92-68A4-6FE48240B9DD}"/>
              </a:ext>
            </a:extLst>
          </p:cNvPr>
          <p:cNvSpPr/>
          <p:nvPr/>
        </p:nvSpPr>
        <p:spPr>
          <a:xfrm>
            <a:off x="8029045" y="3279753"/>
            <a:ext cx="3794760" cy="1214188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279A224C-B59A-0588-5645-0AB9D14800E1}"/>
              </a:ext>
            </a:extLst>
          </p:cNvPr>
          <p:cNvSpPr/>
          <p:nvPr/>
        </p:nvSpPr>
        <p:spPr>
          <a:xfrm>
            <a:off x="8211925" y="337119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is not the metric</a:t>
            </a:r>
            <a:endParaRPr lang="en-US" sz="13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14B62EAE-4AB8-D462-67DA-7F78251269B0}"/>
              </a:ext>
            </a:extLst>
          </p:cNvPr>
          <p:cNvSpPr/>
          <p:nvPr/>
        </p:nvSpPr>
        <p:spPr>
          <a:xfrm>
            <a:off x="8211925" y="3691233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API success ≠ 99% useful descriptions. That's why we measure contextual trust separately (next slide).</a:t>
            </a:r>
            <a:endParaRPr lang="en-US" sz="1050" dirty="0"/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8811FA4C-1B70-06F5-FB77-B1CF6E43E5F8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4716512A-BD5F-4E49-D696-F6629D5E161E}"/>
              </a:ext>
            </a:extLst>
          </p:cNvPr>
          <p:cNvSpPr/>
          <p:nvPr/>
        </p:nvSpPr>
        <p:spPr>
          <a:xfrm>
            <a:off x="485245" y="5657193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done. The remaining work is on quality of descriptions in weak-context cases — not on making the pipeline reach more series.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278592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 : Ingest — Reading a 3 000-page PDF Without Crashing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never load the whole PDF at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open-source library that reads a PDF and extracts its text, images, and structure.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pypdfium2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faster PDF-reading engine (~10× faster than the default).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splitting a big file into small blocks and processing them one at a time.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 </a:t>
            </a: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safety limit; if a step takes longer than the timeout, we stop it and move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5897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  ·  50 pages at a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3 550-page manual becomes 71 chunks — each processed independently.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3912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73912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912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6033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726033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6033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78154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778154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8154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30275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830275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0275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823960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882396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23960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345168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9345168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45168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866376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9866376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66376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387584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10387584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87584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908792" y="2194560"/>
            <a:ext cx="502920" cy="594360"/>
          </a:xfrm>
          <a:prstGeom prst="roundRect">
            <a:avLst>
              <a:gd name="adj" fmla="val 5455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908792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0879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0" y="2194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 71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skipped — cover + Table of Contents can block Docling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180s per chunk — a stuck chunk is killed, not the whole run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3749040"/>
            <a:ext cx="11338560" cy="2423160"/>
          </a:xfrm>
          <a:prstGeom prst="roundRect">
            <a:avLst>
              <a:gd name="adj" fmla="val 3019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7772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choices that made this work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7"/>
          <p:cNvSpPr/>
          <p:nvPr/>
        </p:nvSpPr>
        <p:spPr>
          <a:xfrm>
            <a:off x="77724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8872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SKIP_FIRST_N_PAGES = 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8872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cover, TOC, revision history — pages that block the parser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8056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448056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9204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pages per chunk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9204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in memory · large enough to be efficient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83880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81838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59536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multiprocessing.Process.kill()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595360" y="4572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chunk hangs, we can force-stop just that chunk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1576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59"/>
          <p:cNvSpPr/>
          <p:nvPr/>
        </p:nvSpPr>
        <p:spPr>
          <a:xfrm>
            <a:off x="271576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12724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gc.collect() between chunks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12724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 before the next chunk starts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19088" y="521284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5" name="Text 63"/>
          <p:cNvSpPr/>
          <p:nvPr/>
        </p:nvSpPr>
        <p:spPr>
          <a:xfrm>
            <a:off x="641908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830568" y="51488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pypdfium2 backend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30568" y="54871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10× faster than the default Docling backend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22408" y="52128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595360" y="5148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595360" y="5486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 : VLM — Making Every Figure Readable to Text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tables carry critical information — but text-search engines cannot see pixels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(Vision Language Model)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AI that looks at an image and writes a text description of what's in it.       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specific open-source VLM (free, runs on your own GPU).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tool that lets you run AI models on your own computer instead of calling a paid cloud API.       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extracted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caption + page number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8498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16" name="Shape 14"/>
          <p:cNvSpPr/>
          <p:nvPr/>
        </p:nvSpPr>
        <p:spPr>
          <a:xfrm>
            <a:off x="341757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17" name="Shape 15"/>
          <p:cNvSpPr/>
          <p:nvPr/>
        </p:nvSpPr>
        <p:spPr>
          <a:xfrm>
            <a:off x="355473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18" name="Text 16"/>
          <p:cNvSpPr/>
          <p:nvPr/>
        </p:nvSpPr>
        <p:spPr>
          <a:xfrm>
            <a:off x="355473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621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473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LLaVA: "here is a figure from page N, caption is X, describe what you see"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5391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2" name="Shape 20"/>
          <p:cNvSpPr/>
          <p:nvPr/>
        </p:nvSpPr>
        <p:spPr>
          <a:xfrm>
            <a:off x="628650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3" name="Shape 21"/>
          <p:cNvSpPr/>
          <p:nvPr/>
        </p:nvSpPr>
        <p:spPr>
          <a:xfrm>
            <a:off x="642366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24" name="Text 22"/>
          <p:cNvSpPr/>
          <p:nvPr/>
        </p:nvSpPr>
        <p:spPr>
          <a:xfrm>
            <a:off x="64236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514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runs LLaVA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366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the local GPU · timeout 120 seconds · never sends data to the cloud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22842" y="347472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fr-TN" sz="1200"/>
          </a:p>
        </p:txBody>
      </p:sp>
      <p:sp>
        <p:nvSpPr>
          <p:cNvPr id="28" name="Shape 26"/>
          <p:cNvSpPr/>
          <p:nvPr/>
        </p:nvSpPr>
        <p:spPr>
          <a:xfrm>
            <a:off x="9155430" y="2880360"/>
            <a:ext cx="273177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 sz="1200"/>
          </a:p>
        </p:txBody>
      </p:sp>
      <p:sp>
        <p:nvSpPr>
          <p:cNvPr id="29" name="Shape 27"/>
          <p:cNvSpPr/>
          <p:nvPr/>
        </p:nvSpPr>
        <p:spPr>
          <a:xfrm>
            <a:off x="9292590" y="30175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 sz="1200"/>
          </a:p>
        </p:txBody>
      </p:sp>
      <p:sp>
        <p:nvSpPr>
          <p:cNvPr id="30" name="Text 28"/>
          <p:cNvSpPr/>
          <p:nvPr/>
        </p:nvSpPr>
        <p:spPr>
          <a:xfrm>
            <a:off x="929259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04070" y="301752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vlm_description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92590" y="3383280"/>
            <a:ext cx="2457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text description that replaces the figure in the document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1828800"/>
          </a:xfrm>
          <a:prstGeom prst="roundRect">
            <a:avLst>
              <a:gd name="adj" fmla="val 4000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the first STM32H7 Reference Manual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1 173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7724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found in one PDF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 s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56616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figure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35508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(kept moving on)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4800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144000" y="5623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processing time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 3 &amp; 4  :  Recombine + Extract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figure descriptions back where they belong, then turning it all into structured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532120" cy="2918075"/>
          </a:xfrm>
          <a:prstGeom prst="roundRect">
            <a:avLst>
              <a:gd name="adj" fmla="val 2807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Recombine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+ figure descriptions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507492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12" name="Text 10"/>
          <p:cNvSpPr/>
          <p:nvPr/>
        </p:nvSpPr>
        <p:spPr>
          <a:xfrm>
            <a:off x="868680" y="242773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marker we put in the text where a figure was, so we can put its description back later. Format: </a:t>
            </a:r>
            <a:r>
              <a:rPr lang="en-US" sz="1200" b="1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[[FIGURE_N]]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[[FIGURE_47]]  connects...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67588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969067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...The AHB bus  [AHB bus diagram — 4 masters, 8 slaves, ...]  connects...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19"/>
            <a:ext cx="5577840" cy="2918071"/>
          </a:xfrm>
          <a:prstGeom prst="roundRect">
            <a:avLst>
              <a:gd name="adj" fmla="val 2807"/>
            </a:avLst>
          </a:prstGeom>
          <a:solidFill>
            <a:srgbClr val="EDF0F3"/>
          </a:solidFill>
          <a:ln w="9525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6537960" y="15544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537960" y="1554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structured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286000"/>
            <a:ext cx="5166360" cy="62293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 sz="2400"/>
          </a:p>
        </p:txBody>
      </p:sp>
      <p:sp>
        <p:nvSpPr>
          <p:cNvPr id="23" name="Text 21"/>
          <p:cNvSpPr/>
          <p:nvPr/>
        </p:nvSpPr>
        <p:spPr>
          <a:xfrm>
            <a:off x="6705600" y="2531754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free open-source LLM, runs locally on your PC.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34290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peripherals[]      list of every peripheral (UART, SPI, etc.)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363016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registers[]        list of every register with its address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83133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tables[]           bit-field tables from the manual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37735"/>
            <a:ext cx="11338560" cy="1407031"/>
          </a:xfrm>
          <a:prstGeom prst="roundRect">
            <a:avLst>
              <a:gd name="adj" fmla="val 3721"/>
            </a:avLst>
          </a:prstGeom>
          <a:solidFill>
            <a:srgbClr val="FEF3E1"/>
          </a:solidFill>
          <a:ln w="9525">
            <a:solidFill>
              <a:srgbClr val="B4530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777240" y="485202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chunking-again problem  ·  and how we solved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39512"/>
            <a:ext cx="10972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maximum amount of text an AI can read at once.  Mistral's context window ≈ 8 000 characters.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produces </a:t>
            </a: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7 629 693 characters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combined text. That's 950× the context window.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combined text into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1 100 chunks of 8 000 characters each, </a:t>
            </a: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JSON from each independently, then merge the results (concat + de-duplicate).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STM32H7 Reference Manuals — processed end-to-end, no crashes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processed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· STM32H7 family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388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37388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37388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figures described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104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running on GPU · 100%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99120" y="141732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199120" y="155448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5 500+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99120" y="238887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chunks extracted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287464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running locally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54864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4864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crashes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timeouts handled gracefully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7388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37388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h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37388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PDF (VLM stage)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1104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seconds average per figure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99120" y="3497580"/>
            <a:ext cx="3688080" cy="19431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8199120" y="3634740"/>
            <a:ext cx="368808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199120" y="4469130"/>
            <a:ext cx="368808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on error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6280" y="4954905"/>
            <a:ext cx="341376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progress.json — resumes after crash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338560" cy="640080"/>
          </a:xfrm>
          <a:prstGeom prst="roundRect">
            <a:avLst>
              <a:gd name="adj" fmla="val 11429"/>
            </a:avLst>
          </a:prstGeom>
          <a:solidFill>
            <a:srgbClr val="1B2A3B"/>
          </a:solidFill>
          <a:ln w="9525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Incremental saving  ·  </a:t>
            </a:r>
            <a:r>
              <a:rPr lang="en-US" sz="1150" dirty="0">
                <a:solidFill>
                  <a:srgbClr val="FFFFFF"/>
                </a:solidFill>
              </a:rPr>
              <a:t>the pipeline writes intermediate results to disk after every PDF.  </a:t>
            </a:r>
            <a:r>
              <a:rPr lang="en-US" sz="1150" i="1" dirty="0">
                <a:solidFill>
                  <a:srgbClr val="FFFFFF"/>
                </a:solidFill>
              </a:rPr>
              <a:t>If the PC shuts down mid-run, we resume from the next PDF — no work lost.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56617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project useful for STMicroelectronics next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2103120"/>
          </a:xfrm>
          <a:prstGeom prst="roundRect">
            <a:avLst>
              <a:gd name="adj" fmla="val 3478"/>
            </a:avLst>
          </a:prstGeom>
          <a:solidFill>
            <a:srgbClr val="E6F4F2"/>
          </a:solidFill>
          <a:ln w="9525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delivered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Complete, robust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PDFs × ~3 000 pages processed end-to-end — no crashes, no lost 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peripherals, registers, bit-fields, and tables extracted as machine-readable JSON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Modular, reusable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swappable Python file — same design works for other document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338560" cy="22479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  ·  three concrete directions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91440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into ST ChatGPT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extracted JSON as RAG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461772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6177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figure AI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moondream (~7 seconds/figure) vs LLaVA (~76 seconds/figure) — potential 10× speedup on the same GPU.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160520"/>
            <a:ext cx="3566160" cy="14497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8321040" y="42976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EF3E1"/>
          </a:solidFill>
          <a:ln w="12700">
            <a:solidFill>
              <a:srgbClr val="FEF3E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benchmark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21040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extractions against real support questions to measure whether structured RM data actually improves answer quality.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" y="6113145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workshop pipeline (GitHub data) to the doc_pipeline (Reference Manuals) — two complementary halves of the same STM32 knowledge story.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2560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problems encountered while building this — and how each was solved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10789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 (std::bad_alloc) on 3 000+ page PDFs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856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50 pages/chunk  +  multiprocessing.Process.kill()  +  gc.collect() between chunks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378440" y="16733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10378440" y="1673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685800" y="2514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6858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hung &gt; 900 seconds on some pages  (cover, TOC)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816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SKIP_FIRST_N_PAGES=6  + faster pypdfium2 backend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78440" y="263347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10378440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685800" y="34747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6858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3429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at ~100 s/figure → 33 h ETA for one PDF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173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91640" y="37764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asyncio.wait_for(timeout=120s)  +  live progress logs  +  real-time ETA display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5935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10378440" y="35935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685800" y="44348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68580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4389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returned empty JSON on 7.6 M characters  (context window too small)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916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8 000-char chunks  +  robust JSON parser with regex fallback  +  merge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78440" y="455371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10378440" y="45537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57800"/>
            <a:ext cx="11338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685800" y="53949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685800" y="5394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417320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691640" y="5349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lost if the PC shut down mid-run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17320" y="5715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91640" y="56967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JSON save after each PDF  +  progress.json  →  automatic resume on the next PDF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378440" y="551383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10378440" y="55138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stm32_refman.py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C05EB5702C6041B8F691A10DF1B24F" ma:contentTypeVersion="9" ma:contentTypeDescription="Create a new document." ma:contentTypeScope="" ma:versionID="96e1826aeedd6b40707d1745bb20c6d7">
  <xsd:schema xmlns:xsd="http://www.w3.org/2001/XMLSchema" xmlns:xs="http://www.w3.org/2001/XMLSchema" xmlns:p="http://schemas.microsoft.com/office/2006/metadata/properties" xmlns:ns3="5366181a-06aa-4807-906e-6a6b06815c74" xmlns:ns4="94afee58-01aa-4ad6-b1bb-5b519a87ae9f" targetNamespace="http://schemas.microsoft.com/office/2006/metadata/properties" ma:root="true" ma:fieldsID="f309ae2d459dfa63c2a2c4ad8a1d4266" ns3:_="" ns4:_="">
    <xsd:import namespace="5366181a-06aa-4807-906e-6a6b06815c74"/>
    <xsd:import namespace="94afee58-01aa-4ad6-b1bb-5b519a87ae9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6181a-06aa-4807-906e-6a6b06815c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afee58-01aa-4ad6-b1bb-5b519a87ae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afee58-01aa-4ad6-b1bb-5b519a87ae9f" xsi:nil="true"/>
  </documentManagement>
</p:properties>
</file>

<file path=customXml/itemProps1.xml><?xml version="1.0" encoding="utf-8"?>
<ds:datastoreItem xmlns:ds="http://schemas.openxmlformats.org/officeDocument/2006/customXml" ds:itemID="{B7872EB9-DE0B-4134-8BB4-AFA519D56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6181a-06aa-4807-906e-6a6b06815c74"/>
    <ds:schemaRef ds:uri="94afee58-01aa-4ad6-b1bb-5b519a87ae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B8446A-891D-4E00-8259-E4025A836D60}">
  <ds:schemaRefs>
    <ds:schemaRef ds:uri="http://purl.org/dc/dcmitype/"/>
    <ds:schemaRef ds:uri="5366181a-06aa-4807-906e-6a6b06815c74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94afee58-01aa-4ad6-b1bb-5b519a87ae9f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26249</TotalTime>
  <Words>9275</Words>
  <Application>Microsoft Office PowerPoint</Application>
  <PresentationFormat>Widescreen</PresentationFormat>
  <Paragraphs>1885</Paragraphs>
  <Slides>72</Slides>
  <Notes>68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Calibri</vt:lpstr>
      <vt:lpstr>Cambria</vt:lpstr>
      <vt:lpstr>Cambria Math</vt:lpstr>
      <vt:lpstr>Consolas</vt:lpstr>
      <vt:lpstr>Courier New</vt:lpstr>
      <vt:lpstr>Times New Roman</vt:lpstr>
      <vt:lpstr>Wingdings</vt:lpstr>
      <vt:lpstr>ST PowerPoint Template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</vt:lpstr>
      <vt:lpstr>Data Sources Used</vt:lpstr>
      <vt:lpstr> The ST ChatGPT Platform</vt:lpstr>
      <vt:lpstr> The ST ChatGPT Platform</vt:lpstr>
      <vt:lpstr>Why RAG , not just standard ChatGPT</vt:lpstr>
      <vt:lpstr>PowerPoint Presentation</vt:lpstr>
      <vt:lpstr>The Data Preprocessing Pipeline</vt:lpstr>
      <vt:lpstr>Quality Index Evolution</vt:lpstr>
      <vt:lpstr>Existing Platform Constraints</vt:lpstr>
      <vt:lpstr>How the Pipeline Adapts to the Existing RAG</vt:lpstr>
      <vt:lpstr>Alfred Vision  ·  Two integration paths</vt:lpstr>
      <vt:lpstr>PowerPoint Presentation</vt:lpstr>
      <vt:lpstr>Alfred Path A  ·  PDF Figure Pipeline</vt:lpstr>
      <vt:lpstr>Alfred Path B  ·  Issue Screenshot Pipeline</vt:lpstr>
      <vt:lpstr>KB-First Agent  ·  Persona, KB Tool, and the NovaX Fallback</vt:lpstr>
      <vt:lpstr>PowerPoint Presentation</vt:lpstr>
      <vt:lpstr>Per-Stage Quality Scores</vt:lpstr>
      <vt:lpstr>Retrieval Strategy Benchmark</vt:lpstr>
      <vt:lpstr>Alfred Vision — Contextual Trust, not just API success</vt:lpstr>
      <vt:lpstr>Comparative Study  ·  Generic LLM vs Persona KB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Data Preprocessing Pipeline</vt:lpstr>
      <vt:lpstr>The Data Preprocessing Pipeline</vt:lpstr>
      <vt:lpstr>The Data Preprocessing Pipeline</vt:lpstr>
      <vt:lpstr>Pipeline: cleaning V1</vt:lpstr>
      <vt:lpstr>Pipeline: cleaning V2  </vt:lpstr>
      <vt:lpstr>The Data Preprocessing Pipeline</vt:lpstr>
      <vt:lpstr>Pipeline: Enrichment (Feature Engineering)    </vt:lpstr>
      <vt:lpstr>Pipeline: Enrichment (Feature Engineering)    </vt:lpstr>
      <vt:lpstr>The Data Preprocessing Pipeline</vt:lpstr>
      <vt:lpstr>Pipeline: Similarity</vt:lpstr>
      <vt:lpstr>Pipeline: Similarity</vt:lpstr>
      <vt:lpstr>The Data Preprocessing Pipeline</vt:lpstr>
      <vt:lpstr>Pipeline: Data Generation</vt:lpstr>
      <vt:lpstr>Pipeline: Data Generation(Resolver cases)</vt:lpstr>
      <vt:lpstr>Resolver Cases : Why they matter</vt:lpstr>
      <vt:lpstr>Pipeline: Data Generation(Diagnostic cards)</vt:lpstr>
      <vt:lpstr>Diagnostic Cards — Why they matter</vt:lpstr>
      <vt:lpstr>The Data Preprocessing Pipeline</vt:lpstr>
      <vt:lpstr>Pipeline: Delivery</vt:lpstr>
      <vt:lpstr>The Data Preprocessing Pipeline</vt:lpstr>
      <vt:lpstr>Evaluation Protocol &amp; Benchmark Results</vt:lpstr>
      <vt:lpstr> The ST ChatGPT Platform</vt:lpstr>
      <vt:lpstr>PowerPoint Presentation</vt:lpstr>
      <vt:lpstr>Pipeline overview </vt:lpstr>
      <vt:lpstr>Pipeline overview . run_full_workflow.py — Internal Steps (Real Code)   </vt:lpstr>
      <vt:lpstr>Pipeline overview . run_full_workflow.py — Internal Steps (Real Code)   </vt:lpstr>
      <vt:lpstr>Pipeline: Delivery</vt:lpstr>
      <vt:lpstr>Pipeline: Similarity</vt:lpstr>
      <vt:lpstr>Resolver Cases — Tracing Bugs to Their Fix</vt:lpstr>
      <vt:lpstr>Diagnostic Cards — Structured Troubleshooting Knowledge</vt:lpstr>
      <vt:lpstr>Pipeline: AI Agents — Two Specialized Assistants in the Project</vt:lpstr>
      <vt:lpstr>Alfred Coverage Across the STM32Cube Family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44</cp:revision>
  <dcterms:created xsi:type="dcterms:W3CDTF">2026-04-28T15:20:14Z</dcterms:created>
  <dcterms:modified xsi:type="dcterms:W3CDTF">2026-08-04T08:56:37Z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0x01010053C05EB5702C6041B8F691A10DF1B24F</vt:lpwstr>
  </property>
</Properties>
</file>