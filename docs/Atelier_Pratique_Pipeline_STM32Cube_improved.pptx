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340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339" r:id="rId36"/>
    <p:sldId id="289" r:id="rId37"/>
    <p:sldId id="338" r:id="rId38"/>
    <p:sldId id="290" r:id="rId39"/>
    <p:sldId id="291" r:id="rId40"/>
    <p:sldId id="292" r:id="rId41"/>
    <p:sldId id="293" r:id="rId42"/>
    <p:sldId id="337" r:id="rId43"/>
    <p:sldId id="294" r:id="rId44"/>
    <p:sldId id="295" r:id="rId45"/>
    <p:sldId id="296" r:id="rId46"/>
    <p:sldId id="336" r:id="rId47"/>
    <p:sldId id="297" r:id="rId48"/>
    <p:sldId id="298" r:id="rId49"/>
    <p:sldId id="299" r:id="rId50"/>
    <p:sldId id="300" r:id="rId51"/>
    <p:sldId id="335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theme" Target="theme/theme1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presProps" Target="presProps.xml"/><Relationship Id="rId9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microsoft.com/office/2016/11/relationships/changesInfo" Target="changesInfos/changesInfo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notesMaster" Target="notesMasters/notesMaster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ir GHARBI" userId="ef92528f-00ab-4d87-966c-386bca485bd0" providerId="ADAL" clId="{F3D16DED-CAA7-4BF5-81E4-89DEDE7057F7}"/>
    <pc:docChg chg="undo custSel modSld">
      <pc:chgData name="Abir GHARBI" userId="ef92528f-00ab-4d87-966c-386bca485bd0" providerId="ADAL" clId="{F3D16DED-CAA7-4BF5-81E4-89DEDE7057F7}" dt="2026-07-03T10:31:52.919" v="132" actId="27636"/>
      <pc:docMkLst>
        <pc:docMk/>
      </pc:docMkLst>
      <pc:sldChg chg="modSp mod">
        <pc:chgData name="Abir GHARBI" userId="ef92528f-00ab-4d87-966c-386bca485bd0" providerId="ADAL" clId="{F3D16DED-CAA7-4BF5-81E4-89DEDE7057F7}" dt="2026-07-01T13:21:58.761" v="1" actId="20577"/>
        <pc:sldMkLst>
          <pc:docMk/>
          <pc:sldMk cId="0" sldId="260"/>
        </pc:sldMkLst>
        <pc:spChg chg="mod">
          <ac:chgData name="Abir GHARBI" userId="ef92528f-00ab-4d87-966c-386bca485bd0" providerId="ADAL" clId="{F3D16DED-CAA7-4BF5-81E4-89DEDE7057F7}" dt="2026-07-01T13:21:58.761" v="1" actId="20577"/>
          <ac:spMkLst>
            <pc:docMk/>
            <pc:sldMk cId="0" sldId="260"/>
            <ac:spMk id="3" creationId="{00000000-0000-0000-0000-000000000000}"/>
          </ac:spMkLst>
        </pc:spChg>
      </pc:sldChg>
      <pc:sldChg chg="modSp mod">
        <pc:chgData name="Abir GHARBI" userId="ef92528f-00ab-4d87-966c-386bca485bd0" providerId="ADAL" clId="{F3D16DED-CAA7-4BF5-81E4-89DEDE7057F7}" dt="2026-07-01T13:28:39.059" v="6" actId="20577"/>
        <pc:sldMkLst>
          <pc:docMk/>
          <pc:sldMk cId="0" sldId="265"/>
        </pc:sldMkLst>
        <pc:spChg chg="mod">
          <ac:chgData name="Abir GHARBI" userId="ef92528f-00ab-4d87-966c-386bca485bd0" providerId="ADAL" clId="{F3D16DED-CAA7-4BF5-81E4-89DEDE7057F7}" dt="2026-07-01T13:28:39.059" v="6" actId="20577"/>
          <ac:spMkLst>
            <pc:docMk/>
            <pc:sldMk cId="0" sldId="265"/>
            <ac:spMk id="3" creationId="{00000000-0000-0000-0000-000000000000}"/>
          </ac:spMkLst>
        </pc:spChg>
      </pc:sldChg>
      <pc:sldChg chg="modSp mod">
        <pc:chgData name="Abir GHARBI" userId="ef92528f-00ab-4d87-966c-386bca485bd0" providerId="ADAL" clId="{F3D16DED-CAA7-4BF5-81E4-89DEDE7057F7}" dt="2026-07-01T13:30:15.331" v="8" actId="20577"/>
        <pc:sldMkLst>
          <pc:docMk/>
          <pc:sldMk cId="0" sldId="266"/>
        </pc:sldMkLst>
        <pc:spChg chg="mod">
          <ac:chgData name="Abir GHARBI" userId="ef92528f-00ab-4d87-966c-386bca485bd0" providerId="ADAL" clId="{F3D16DED-CAA7-4BF5-81E4-89DEDE7057F7}" dt="2026-07-01T13:30:15.331" v="8" actId="20577"/>
          <ac:spMkLst>
            <pc:docMk/>
            <pc:sldMk cId="0" sldId="266"/>
            <ac:spMk id="3" creationId="{00000000-0000-0000-0000-000000000000}"/>
          </ac:spMkLst>
        </pc:spChg>
      </pc:sldChg>
      <pc:sldChg chg="modSp mod">
        <pc:chgData name="Abir GHARBI" userId="ef92528f-00ab-4d87-966c-386bca485bd0" providerId="ADAL" clId="{F3D16DED-CAA7-4BF5-81E4-89DEDE7057F7}" dt="2026-07-03T10:31:52.919" v="132" actId="27636"/>
        <pc:sldMkLst>
          <pc:docMk/>
          <pc:sldMk cId="0" sldId="336"/>
        </pc:sldMkLst>
        <pc:spChg chg="mod">
          <ac:chgData name="Abir GHARBI" userId="ef92528f-00ab-4d87-966c-386bca485bd0" providerId="ADAL" clId="{F3D16DED-CAA7-4BF5-81E4-89DEDE7057F7}" dt="2026-07-03T10:31:52.816" v="125" actId="1076"/>
          <ac:spMkLst>
            <pc:docMk/>
            <pc:sldMk cId="0" sldId="336"/>
            <ac:spMk id="3" creationId="{00000000-0000-0000-0000-000000000000}"/>
          </ac:spMkLst>
        </pc:spChg>
        <pc:spChg chg="mod">
          <ac:chgData name="Abir GHARBI" userId="ef92528f-00ab-4d87-966c-386bca485bd0" providerId="ADAL" clId="{F3D16DED-CAA7-4BF5-81E4-89DEDE7057F7}" dt="2026-07-03T10:31:52.894" v="128" actId="27636"/>
          <ac:spMkLst>
            <pc:docMk/>
            <pc:sldMk cId="0" sldId="336"/>
            <ac:spMk id="4" creationId="{00000000-0000-0000-0000-000000000000}"/>
          </ac:spMkLst>
        </pc:spChg>
        <pc:spChg chg="mod">
          <ac:chgData name="Abir GHARBI" userId="ef92528f-00ab-4d87-966c-386bca485bd0" providerId="ADAL" clId="{F3D16DED-CAA7-4BF5-81E4-89DEDE7057F7}" dt="2026-07-03T10:31:52.909" v="130" actId="27636"/>
          <ac:spMkLst>
            <pc:docMk/>
            <pc:sldMk cId="0" sldId="336"/>
            <ac:spMk id="5" creationId="{00000000-0000-0000-0000-000000000000}"/>
          </ac:spMkLst>
        </pc:spChg>
        <pc:spChg chg="mod">
          <ac:chgData name="Abir GHARBI" userId="ef92528f-00ab-4d87-966c-386bca485bd0" providerId="ADAL" clId="{F3D16DED-CAA7-4BF5-81E4-89DEDE7057F7}" dt="2026-07-03T10:31:52.919" v="132" actId="27636"/>
          <ac:spMkLst>
            <pc:docMk/>
            <pc:sldMk cId="0" sldId="336"/>
            <ac:spMk id="6" creationId="{00000000-0000-0000-0000-000000000000}"/>
          </ac:spMkLst>
        </pc:spChg>
        <pc:spChg chg="mod">
          <ac:chgData name="Abir GHARBI" userId="ef92528f-00ab-4d87-966c-386bca485bd0" providerId="ADAL" clId="{F3D16DED-CAA7-4BF5-81E4-89DEDE7057F7}" dt="2026-07-03T10:31:52.891" v="127" actId="27636"/>
          <ac:spMkLst>
            <pc:docMk/>
            <pc:sldMk cId="0" sldId="336"/>
            <ac:spMk id="7" creationId="{00000000-0000-0000-0000-000000000000}"/>
          </ac:spMkLst>
        </pc:spChg>
        <pc:spChg chg="mod">
          <ac:chgData name="Abir GHARBI" userId="ef92528f-00ab-4d87-966c-386bca485bd0" providerId="ADAL" clId="{F3D16DED-CAA7-4BF5-81E4-89DEDE7057F7}" dt="2026-07-03T10:31:52.914" v="131" actId="27636"/>
          <ac:spMkLst>
            <pc:docMk/>
            <pc:sldMk cId="0" sldId="336"/>
            <ac:spMk id="8" creationId="{00000000-0000-0000-0000-000000000000}"/>
          </ac:spMkLst>
        </pc:spChg>
        <pc:spChg chg="mod">
          <ac:chgData name="Abir GHARBI" userId="ef92528f-00ab-4d87-966c-386bca485bd0" providerId="ADAL" clId="{F3D16DED-CAA7-4BF5-81E4-89DEDE7057F7}" dt="2026-07-03T10:31:52.902" v="129" actId="27636"/>
          <ac:spMkLst>
            <pc:docMk/>
            <pc:sldMk cId="0" sldId="336"/>
            <ac:spMk id="13" creationId="{00000000-0000-0000-0000-000000000000}"/>
          </ac:spMkLst>
        </pc:spChg>
        <pc:spChg chg="mod">
          <ac:chgData name="Abir GHARBI" userId="ef92528f-00ab-4d87-966c-386bca485bd0" providerId="ADAL" clId="{F3D16DED-CAA7-4BF5-81E4-89DEDE7057F7}" dt="2026-07-03T10:31:52.882" v="126" actId="27636"/>
          <ac:spMkLst>
            <pc:docMk/>
            <pc:sldMk cId="0" sldId="336"/>
            <ac:spMk id="14" creationId="{00000000-0000-0000-0000-000000000000}"/>
          </ac:spMkLst>
        </pc:spChg>
        <pc:cxnChg chg="mod">
          <ac:chgData name="Abir GHARBI" userId="ef92528f-00ab-4d87-966c-386bca485bd0" providerId="ADAL" clId="{F3D16DED-CAA7-4BF5-81E4-89DEDE7057F7}" dt="2026-07-03T10:31:52.816" v="125" actId="1076"/>
          <ac:cxnSpMkLst>
            <pc:docMk/>
            <pc:sldMk cId="0" sldId="336"/>
            <ac:cxnSpMk id="10" creationId="{00000000-0000-0000-0000-000000000000}"/>
          </ac:cxnSpMkLst>
        </pc:cxnChg>
        <pc:cxnChg chg="mod">
          <ac:chgData name="Abir GHARBI" userId="ef92528f-00ab-4d87-966c-386bca485bd0" providerId="ADAL" clId="{F3D16DED-CAA7-4BF5-81E4-89DEDE7057F7}" dt="2026-07-03T10:31:52.816" v="125" actId="1076"/>
          <ac:cxnSpMkLst>
            <pc:docMk/>
            <pc:sldMk cId="0" sldId="336"/>
            <ac:cxnSpMk id="11" creationId="{00000000-0000-0000-0000-000000000000}"/>
          </ac:cxnSpMkLst>
        </pc:cxnChg>
      </pc:sldChg>
      <pc:sldChg chg="modSp mod">
        <pc:chgData name="Abir GHARBI" userId="ef92528f-00ab-4d87-966c-386bca485bd0" providerId="ADAL" clId="{F3D16DED-CAA7-4BF5-81E4-89DEDE7057F7}" dt="2026-07-03T10:31:41.008" v="124" actId="27636"/>
        <pc:sldMkLst>
          <pc:docMk/>
          <pc:sldMk cId="0" sldId="337"/>
        </pc:sldMkLst>
        <pc:spChg chg="mod">
          <ac:chgData name="Abir GHARBI" userId="ef92528f-00ab-4d87-966c-386bca485bd0" providerId="ADAL" clId="{F3D16DED-CAA7-4BF5-81E4-89DEDE7057F7}" dt="2026-07-03T10:31:40.968" v="120" actId="27636"/>
          <ac:spMkLst>
            <pc:docMk/>
            <pc:sldMk cId="0" sldId="337"/>
            <ac:spMk id="4" creationId="{00000000-0000-0000-0000-000000000000}"/>
          </ac:spMkLst>
        </pc:spChg>
        <pc:spChg chg="mod">
          <ac:chgData name="Abir GHARBI" userId="ef92528f-00ab-4d87-966c-386bca485bd0" providerId="ADAL" clId="{F3D16DED-CAA7-4BF5-81E4-89DEDE7057F7}" dt="2026-07-03T10:31:40.923" v="115" actId="27636"/>
          <ac:spMkLst>
            <pc:docMk/>
            <pc:sldMk cId="0" sldId="337"/>
            <ac:spMk id="5" creationId="{00000000-0000-0000-0000-000000000000}"/>
          </ac:spMkLst>
        </pc:spChg>
        <pc:spChg chg="mod">
          <ac:chgData name="Abir GHARBI" userId="ef92528f-00ab-4d87-966c-386bca485bd0" providerId="ADAL" clId="{F3D16DED-CAA7-4BF5-81E4-89DEDE7057F7}" dt="2026-07-03T10:31:40.960" v="119" actId="27636"/>
          <ac:spMkLst>
            <pc:docMk/>
            <pc:sldMk cId="0" sldId="337"/>
            <ac:spMk id="7" creationId="{00000000-0000-0000-0000-000000000000}"/>
          </ac:spMkLst>
        </pc:spChg>
        <pc:spChg chg="mod">
          <ac:chgData name="Abir GHARBI" userId="ef92528f-00ab-4d87-966c-386bca485bd0" providerId="ADAL" clId="{F3D16DED-CAA7-4BF5-81E4-89DEDE7057F7}" dt="2026-07-03T10:31:40.997" v="123" actId="27636"/>
          <ac:spMkLst>
            <pc:docMk/>
            <pc:sldMk cId="0" sldId="337"/>
            <ac:spMk id="8" creationId="{00000000-0000-0000-0000-000000000000}"/>
          </ac:spMkLst>
        </pc:spChg>
        <pc:spChg chg="mod">
          <ac:chgData name="Abir GHARBI" userId="ef92528f-00ab-4d87-966c-386bca485bd0" providerId="ADAL" clId="{F3D16DED-CAA7-4BF5-81E4-89DEDE7057F7}" dt="2026-07-03T10:31:41.008" v="124" actId="27636"/>
          <ac:spMkLst>
            <pc:docMk/>
            <pc:sldMk cId="0" sldId="337"/>
            <ac:spMk id="9" creationId="{00000000-0000-0000-0000-000000000000}"/>
          </ac:spMkLst>
        </pc:spChg>
        <pc:spChg chg="mod">
          <ac:chgData name="Abir GHARBI" userId="ef92528f-00ab-4d87-966c-386bca485bd0" providerId="ADAL" clId="{F3D16DED-CAA7-4BF5-81E4-89DEDE7057F7}" dt="2026-07-03T10:31:40.802" v="113" actId="1076"/>
          <ac:spMkLst>
            <pc:docMk/>
            <pc:sldMk cId="0" sldId="337"/>
            <ac:spMk id="10" creationId="{00000000-0000-0000-0000-000000000000}"/>
          </ac:spMkLst>
        </pc:spChg>
        <pc:spChg chg="mod">
          <ac:chgData name="Abir GHARBI" userId="ef92528f-00ab-4d87-966c-386bca485bd0" providerId="ADAL" clId="{F3D16DED-CAA7-4BF5-81E4-89DEDE7057F7}" dt="2026-07-03T10:31:40.802" v="113" actId="1076"/>
          <ac:spMkLst>
            <pc:docMk/>
            <pc:sldMk cId="0" sldId="337"/>
            <ac:spMk id="11" creationId="{00000000-0000-0000-0000-000000000000}"/>
          </ac:spMkLst>
        </pc:spChg>
        <pc:spChg chg="mod">
          <ac:chgData name="Abir GHARBI" userId="ef92528f-00ab-4d87-966c-386bca485bd0" providerId="ADAL" clId="{F3D16DED-CAA7-4BF5-81E4-89DEDE7057F7}" dt="2026-07-03T10:31:40.978" v="121" actId="27636"/>
          <ac:spMkLst>
            <pc:docMk/>
            <pc:sldMk cId="0" sldId="337"/>
            <ac:spMk id="12" creationId="{00000000-0000-0000-0000-000000000000}"/>
          </ac:spMkLst>
        </pc:spChg>
        <pc:spChg chg="mod">
          <ac:chgData name="Abir GHARBI" userId="ef92528f-00ab-4d87-966c-386bca485bd0" providerId="ADAL" clId="{F3D16DED-CAA7-4BF5-81E4-89DEDE7057F7}" dt="2026-07-03T10:31:40.988" v="122" actId="27636"/>
          <ac:spMkLst>
            <pc:docMk/>
            <pc:sldMk cId="0" sldId="337"/>
            <ac:spMk id="13" creationId="{00000000-0000-0000-0000-000000000000}"/>
          </ac:spMkLst>
        </pc:spChg>
        <pc:spChg chg="mod">
          <ac:chgData name="Abir GHARBI" userId="ef92528f-00ab-4d87-966c-386bca485bd0" providerId="ADAL" clId="{F3D16DED-CAA7-4BF5-81E4-89DEDE7057F7}" dt="2026-07-03T10:31:40.802" v="113" actId="1076"/>
          <ac:spMkLst>
            <pc:docMk/>
            <pc:sldMk cId="0" sldId="337"/>
            <ac:spMk id="14" creationId="{00000000-0000-0000-0000-000000000000}"/>
          </ac:spMkLst>
        </pc:spChg>
        <pc:spChg chg="mod">
          <ac:chgData name="Abir GHARBI" userId="ef92528f-00ab-4d87-966c-386bca485bd0" providerId="ADAL" clId="{F3D16DED-CAA7-4BF5-81E4-89DEDE7057F7}" dt="2026-07-03T10:31:40.802" v="113" actId="1076"/>
          <ac:spMkLst>
            <pc:docMk/>
            <pc:sldMk cId="0" sldId="337"/>
            <ac:spMk id="15" creationId="{00000000-0000-0000-0000-000000000000}"/>
          </ac:spMkLst>
        </pc:spChg>
        <pc:spChg chg="mod">
          <ac:chgData name="Abir GHARBI" userId="ef92528f-00ab-4d87-966c-386bca485bd0" providerId="ADAL" clId="{F3D16DED-CAA7-4BF5-81E4-89DEDE7057F7}" dt="2026-07-03T10:31:40.940" v="117" actId="27636"/>
          <ac:spMkLst>
            <pc:docMk/>
            <pc:sldMk cId="0" sldId="337"/>
            <ac:spMk id="16" creationId="{00000000-0000-0000-0000-000000000000}"/>
          </ac:spMkLst>
        </pc:spChg>
        <pc:spChg chg="mod">
          <ac:chgData name="Abir GHARBI" userId="ef92528f-00ab-4d87-966c-386bca485bd0" providerId="ADAL" clId="{F3D16DED-CAA7-4BF5-81E4-89DEDE7057F7}" dt="2026-07-03T10:31:40.905" v="114" actId="27636"/>
          <ac:spMkLst>
            <pc:docMk/>
            <pc:sldMk cId="0" sldId="337"/>
            <ac:spMk id="17" creationId="{00000000-0000-0000-0000-000000000000}"/>
          </ac:spMkLst>
        </pc:spChg>
        <pc:spChg chg="mod">
          <ac:chgData name="Abir GHARBI" userId="ef92528f-00ab-4d87-966c-386bca485bd0" providerId="ADAL" clId="{F3D16DED-CAA7-4BF5-81E4-89DEDE7057F7}" dt="2026-07-03T10:31:40.802" v="113" actId="1076"/>
          <ac:spMkLst>
            <pc:docMk/>
            <pc:sldMk cId="0" sldId="337"/>
            <ac:spMk id="18" creationId="{00000000-0000-0000-0000-000000000000}"/>
          </ac:spMkLst>
        </pc:spChg>
        <pc:spChg chg="mod">
          <ac:chgData name="Abir GHARBI" userId="ef92528f-00ab-4d87-966c-386bca485bd0" providerId="ADAL" clId="{F3D16DED-CAA7-4BF5-81E4-89DEDE7057F7}" dt="2026-07-03T10:31:40.802" v="113" actId="1076"/>
          <ac:spMkLst>
            <pc:docMk/>
            <pc:sldMk cId="0" sldId="337"/>
            <ac:spMk id="19" creationId="{00000000-0000-0000-0000-000000000000}"/>
          </ac:spMkLst>
        </pc:spChg>
        <pc:spChg chg="mod">
          <ac:chgData name="Abir GHARBI" userId="ef92528f-00ab-4d87-966c-386bca485bd0" providerId="ADAL" clId="{F3D16DED-CAA7-4BF5-81E4-89DEDE7057F7}" dt="2026-07-03T10:31:40.948" v="118" actId="27636"/>
          <ac:spMkLst>
            <pc:docMk/>
            <pc:sldMk cId="0" sldId="337"/>
            <ac:spMk id="20" creationId="{00000000-0000-0000-0000-000000000000}"/>
          </ac:spMkLst>
        </pc:spChg>
        <pc:spChg chg="mod">
          <ac:chgData name="Abir GHARBI" userId="ef92528f-00ab-4d87-966c-386bca485bd0" providerId="ADAL" clId="{F3D16DED-CAA7-4BF5-81E4-89DEDE7057F7}" dt="2026-07-03T10:31:40.929" v="116" actId="27636"/>
          <ac:spMkLst>
            <pc:docMk/>
            <pc:sldMk cId="0" sldId="337"/>
            <ac:spMk id="21" creationId="{00000000-0000-0000-0000-000000000000}"/>
          </ac:spMkLst>
        </pc:spChg>
      </pc:sldChg>
      <pc:sldChg chg="modSp mod">
        <pc:chgData name="Abir GHARBI" userId="ef92528f-00ab-4d87-966c-386bca485bd0" providerId="ADAL" clId="{F3D16DED-CAA7-4BF5-81E4-89DEDE7057F7}" dt="2026-07-03T10:30:43.970" v="112" actId="1076"/>
        <pc:sldMkLst>
          <pc:docMk/>
          <pc:sldMk cId="0" sldId="338"/>
        </pc:sldMkLst>
        <pc:spChg chg="mod">
          <ac:chgData name="Abir GHARBI" userId="ef92528f-00ab-4d87-966c-386bca485bd0" providerId="ADAL" clId="{F3D16DED-CAA7-4BF5-81E4-89DEDE7057F7}" dt="2026-07-03T10:30:43.970" v="112" actId="1076"/>
          <ac:spMkLst>
            <pc:docMk/>
            <pc:sldMk cId="0" sldId="338"/>
            <ac:spMk id="3" creationId="{00000000-0000-0000-0000-000000000000}"/>
          </ac:spMkLst>
        </pc:spChg>
        <pc:spChg chg="mod">
          <ac:chgData name="Abir GHARBI" userId="ef92528f-00ab-4d87-966c-386bca485bd0" providerId="ADAL" clId="{F3D16DED-CAA7-4BF5-81E4-89DEDE7057F7}" dt="2026-07-03T10:30:32.112" v="111" actId="1076"/>
          <ac:spMkLst>
            <pc:docMk/>
            <pc:sldMk cId="0" sldId="338"/>
            <ac:spMk id="4" creationId="{00000000-0000-0000-0000-000000000000}"/>
          </ac:spMkLst>
        </pc:spChg>
        <pc:spChg chg="mod">
          <ac:chgData name="Abir GHARBI" userId="ef92528f-00ab-4d87-966c-386bca485bd0" providerId="ADAL" clId="{F3D16DED-CAA7-4BF5-81E4-89DEDE7057F7}" dt="2026-07-03T10:30:32.112" v="111" actId="1076"/>
          <ac:spMkLst>
            <pc:docMk/>
            <pc:sldMk cId="0" sldId="338"/>
            <ac:spMk id="6" creationId="{00000000-0000-0000-0000-000000000000}"/>
          </ac:spMkLst>
        </pc:spChg>
        <pc:spChg chg="mod">
          <ac:chgData name="Abir GHARBI" userId="ef92528f-00ab-4d87-966c-386bca485bd0" providerId="ADAL" clId="{F3D16DED-CAA7-4BF5-81E4-89DEDE7057F7}" dt="2026-07-03T10:30:32.112" v="111" actId="1076"/>
          <ac:spMkLst>
            <pc:docMk/>
            <pc:sldMk cId="0" sldId="338"/>
            <ac:spMk id="8" creationId="{00000000-0000-0000-0000-000000000000}"/>
          </ac:spMkLst>
        </pc:spChg>
        <pc:spChg chg="mod">
          <ac:chgData name="Abir GHARBI" userId="ef92528f-00ab-4d87-966c-386bca485bd0" providerId="ADAL" clId="{F3D16DED-CAA7-4BF5-81E4-89DEDE7057F7}" dt="2026-07-03T10:30:32.112" v="111" actId="1076"/>
          <ac:spMkLst>
            <pc:docMk/>
            <pc:sldMk cId="0" sldId="338"/>
            <ac:spMk id="10" creationId="{00000000-0000-0000-0000-000000000000}"/>
          </ac:spMkLst>
        </pc:spChg>
        <pc:spChg chg="mod">
          <ac:chgData name="Abir GHARBI" userId="ef92528f-00ab-4d87-966c-386bca485bd0" providerId="ADAL" clId="{F3D16DED-CAA7-4BF5-81E4-89DEDE7057F7}" dt="2026-07-03T10:29:57.304" v="98" actId="27636"/>
          <ac:spMkLst>
            <pc:docMk/>
            <pc:sldMk cId="0" sldId="338"/>
            <ac:spMk id="11" creationId="{00000000-0000-0000-0000-000000000000}"/>
          </ac:spMkLst>
        </pc:spChg>
        <pc:spChg chg="mod">
          <ac:chgData name="Abir GHARBI" userId="ef92528f-00ab-4d87-966c-386bca485bd0" providerId="ADAL" clId="{F3D16DED-CAA7-4BF5-81E4-89DEDE7057F7}" dt="2026-07-03T10:29:57.368" v="105" actId="27636"/>
          <ac:spMkLst>
            <pc:docMk/>
            <pc:sldMk cId="0" sldId="338"/>
            <ac:spMk id="12" creationId="{00000000-0000-0000-0000-000000000000}"/>
          </ac:spMkLst>
        </pc:spChg>
        <pc:spChg chg="mod">
          <ac:chgData name="Abir GHARBI" userId="ef92528f-00ab-4d87-966c-386bca485bd0" providerId="ADAL" clId="{F3D16DED-CAA7-4BF5-81E4-89DEDE7057F7}" dt="2026-07-03T10:29:57.281" v="95" actId="27636"/>
          <ac:spMkLst>
            <pc:docMk/>
            <pc:sldMk cId="0" sldId="338"/>
            <ac:spMk id="13" creationId="{00000000-0000-0000-0000-000000000000}"/>
          </ac:spMkLst>
        </pc:spChg>
        <pc:spChg chg="mod">
          <ac:chgData name="Abir GHARBI" userId="ef92528f-00ab-4d87-966c-386bca485bd0" providerId="ADAL" clId="{F3D16DED-CAA7-4BF5-81E4-89DEDE7057F7}" dt="2026-07-03T10:29:57.373" v="106" actId="27636"/>
          <ac:spMkLst>
            <pc:docMk/>
            <pc:sldMk cId="0" sldId="338"/>
            <ac:spMk id="14" creationId="{00000000-0000-0000-0000-000000000000}"/>
          </ac:spMkLst>
        </pc:spChg>
        <pc:spChg chg="mod">
          <ac:chgData name="Abir GHARBI" userId="ef92528f-00ab-4d87-966c-386bca485bd0" providerId="ADAL" clId="{F3D16DED-CAA7-4BF5-81E4-89DEDE7057F7}" dt="2026-07-03T10:29:57.241" v="89" actId="27636"/>
          <ac:spMkLst>
            <pc:docMk/>
            <pc:sldMk cId="0" sldId="338"/>
            <ac:spMk id="15" creationId="{00000000-0000-0000-0000-000000000000}"/>
          </ac:spMkLst>
        </pc:spChg>
        <pc:spChg chg="mod">
          <ac:chgData name="Abir GHARBI" userId="ef92528f-00ab-4d87-966c-386bca485bd0" providerId="ADAL" clId="{F3D16DED-CAA7-4BF5-81E4-89DEDE7057F7}" dt="2026-07-03T10:29:57.390" v="109" actId="27636"/>
          <ac:spMkLst>
            <pc:docMk/>
            <pc:sldMk cId="0" sldId="338"/>
            <ac:spMk id="16" creationId="{00000000-0000-0000-0000-000000000000}"/>
          </ac:spMkLst>
        </pc:spChg>
        <pc:spChg chg="mod">
          <ac:chgData name="Abir GHARBI" userId="ef92528f-00ab-4d87-966c-386bca485bd0" providerId="ADAL" clId="{F3D16DED-CAA7-4BF5-81E4-89DEDE7057F7}" dt="2026-07-03T10:29:57.352" v="103" actId="27636"/>
          <ac:spMkLst>
            <pc:docMk/>
            <pc:sldMk cId="0" sldId="338"/>
            <ac:spMk id="17" creationId="{00000000-0000-0000-0000-000000000000}"/>
          </ac:spMkLst>
        </pc:spChg>
        <pc:spChg chg="mod">
          <ac:chgData name="Abir GHARBI" userId="ef92528f-00ab-4d87-966c-386bca485bd0" providerId="ADAL" clId="{F3D16DED-CAA7-4BF5-81E4-89DEDE7057F7}" dt="2026-07-03T10:29:57.386" v="108" actId="27636"/>
          <ac:spMkLst>
            <pc:docMk/>
            <pc:sldMk cId="0" sldId="338"/>
            <ac:spMk id="18" creationId="{00000000-0000-0000-0000-000000000000}"/>
          </ac:spMkLst>
        </pc:spChg>
        <pc:spChg chg="mod">
          <ac:chgData name="Abir GHARBI" userId="ef92528f-00ab-4d87-966c-386bca485bd0" providerId="ADAL" clId="{F3D16DED-CAA7-4BF5-81E4-89DEDE7057F7}" dt="2026-07-03T10:29:57.361" v="104" actId="27636"/>
          <ac:spMkLst>
            <pc:docMk/>
            <pc:sldMk cId="0" sldId="338"/>
            <ac:spMk id="19" creationId="{00000000-0000-0000-0000-000000000000}"/>
          </ac:spMkLst>
        </pc:spChg>
        <pc:spChg chg="mod">
          <ac:chgData name="Abir GHARBI" userId="ef92528f-00ab-4d87-966c-386bca485bd0" providerId="ADAL" clId="{F3D16DED-CAA7-4BF5-81E4-89DEDE7057F7}" dt="2026-07-03T10:29:57.286" v="96" actId="27636"/>
          <ac:spMkLst>
            <pc:docMk/>
            <pc:sldMk cId="0" sldId="338"/>
            <ac:spMk id="20" creationId="{00000000-0000-0000-0000-000000000000}"/>
          </ac:spMkLst>
        </pc:spChg>
        <pc:spChg chg="mod">
          <ac:chgData name="Abir GHARBI" userId="ef92528f-00ab-4d87-966c-386bca485bd0" providerId="ADAL" clId="{F3D16DED-CAA7-4BF5-81E4-89DEDE7057F7}" dt="2026-07-03T10:29:57.233" v="88" actId="27636"/>
          <ac:spMkLst>
            <pc:docMk/>
            <pc:sldMk cId="0" sldId="338"/>
            <ac:spMk id="21" creationId="{00000000-0000-0000-0000-000000000000}"/>
          </ac:spMkLst>
        </pc:spChg>
        <pc:spChg chg="mod">
          <ac:chgData name="Abir GHARBI" userId="ef92528f-00ab-4d87-966c-386bca485bd0" providerId="ADAL" clId="{F3D16DED-CAA7-4BF5-81E4-89DEDE7057F7}" dt="2026-07-03T10:29:57.221" v="87" actId="27636"/>
          <ac:spMkLst>
            <pc:docMk/>
            <pc:sldMk cId="0" sldId="338"/>
            <ac:spMk id="22" creationId="{00000000-0000-0000-0000-000000000000}"/>
          </ac:spMkLst>
        </pc:spChg>
        <pc:spChg chg="mod">
          <ac:chgData name="Abir GHARBI" userId="ef92528f-00ab-4d87-966c-386bca485bd0" providerId="ADAL" clId="{F3D16DED-CAA7-4BF5-81E4-89DEDE7057F7}" dt="2026-07-03T10:29:57.262" v="92" actId="27636"/>
          <ac:spMkLst>
            <pc:docMk/>
            <pc:sldMk cId="0" sldId="338"/>
            <ac:spMk id="23" creationId="{00000000-0000-0000-0000-000000000000}"/>
          </ac:spMkLst>
        </pc:spChg>
        <pc:spChg chg="mod">
          <ac:chgData name="Abir GHARBI" userId="ef92528f-00ab-4d87-966c-386bca485bd0" providerId="ADAL" clId="{F3D16DED-CAA7-4BF5-81E4-89DEDE7057F7}" dt="2026-07-03T10:29:57.339" v="102" actId="27636"/>
          <ac:spMkLst>
            <pc:docMk/>
            <pc:sldMk cId="0" sldId="338"/>
            <ac:spMk id="26" creationId="{00000000-0000-0000-0000-000000000000}"/>
          </ac:spMkLst>
        </pc:spChg>
        <pc:spChg chg="mod">
          <ac:chgData name="Abir GHARBI" userId="ef92528f-00ab-4d87-966c-386bca485bd0" providerId="ADAL" clId="{F3D16DED-CAA7-4BF5-81E4-89DEDE7057F7}" dt="2026-07-03T10:29:57.193" v="85" actId="27636"/>
          <ac:spMkLst>
            <pc:docMk/>
            <pc:sldMk cId="0" sldId="338"/>
            <ac:spMk id="27" creationId="{00000000-0000-0000-0000-000000000000}"/>
          </ac:spMkLst>
        </pc:spChg>
        <pc:spChg chg="mod">
          <ac:chgData name="Abir GHARBI" userId="ef92528f-00ab-4d87-966c-386bca485bd0" providerId="ADAL" clId="{F3D16DED-CAA7-4BF5-81E4-89DEDE7057F7}" dt="2026-07-03T10:29:46.176" v="21" actId="1076"/>
          <ac:spMkLst>
            <pc:docMk/>
            <pc:sldMk cId="0" sldId="338"/>
            <ac:spMk id="28" creationId="{00000000-0000-0000-0000-000000000000}"/>
          </ac:spMkLst>
        </pc:spChg>
        <pc:spChg chg="mod">
          <ac:chgData name="Abir GHARBI" userId="ef92528f-00ab-4d87-966c-386bca485bd0" providerId="ADAL" clId="{F3D16DED-CAA7-4BF5-81E4-89DEDE7057F7}" dt="2026-07-03T10:29:57.208" v="86" actId="27636"/>
          <ac:spMkLst>
            <pc:docMk/>
            <pc:sldMk cId="0" sldId="338"/>
            <ac:spMk id="30" creationId="{00000000-0000-0000-0000-000000000000}"/>
          </ac:spMkLst>
        </pc:spChg>
        <pc:spChg chg="mod">
          <ac:chgData name="Abir GHARBI" userId="ef92528f-00ab-4d87-966c-386bca485bd0" providerId="ADAL" clId="{F3D16DED-CAA7-4BF5-81E4-89DEDE7057F7}" dt="2026-07-03T10:29:57.248" v="90" actId="27636"/>
          <ac:spMkLst>
            <pc:docMk/>
            <pc:sldMk cId="0" sldId="338"/>
            <ac:spMk id="31" creationId="{00000000-0000-0000-0000-000000000000}"/>
          </ac:spMkLst>
        </pc:spChg>
        <pc:spChg chg="mod">
          <ac:chgData name="Abir GHARBI" userId="ef92528f-00ab-4d87-966c-386bca485bd0" providerId="ADAL" clId="{F3D16DED-CAA7-4BF5-81E4-89DEDE7057F7}" dt="2026-07-03T10:29:49.244" v="47" actId="1076"/>
          <ac:spMkLst>
            <pc:docMk/>
            <pc:sldMk cId="0" sldId="338"/>
            <ac:spMk id="32" creationId="{00000000-0000-0000-0000-000000000000}"/>
          </ac:spMkLst>
        </pc:spChg>
        <pc:spChg chg="mod">
          <ac:chgData name="Abir GHARBI" userId="ef92528f-00ab-4d87-966c-386bca485bd0" providerId="ADAL" clId="{F3D16DED-CAA7-4BF5-81E4-89DEDE7057F7}" dt="2026-07-03T10:29:57.381" v="107" actId="27636"/>
          <ac:spMkLst>
            <pc:docMk/>
            <pc:sldMk cId="0" sldId="338"/>
            <ac:spMk id="34" creationId="{00000000-0000-0000-0000-000000000000}"/>
          </ac:spMkLst>
        </pc:spChg>
        <pc:spChg chg="mod">
          <ac:chgData name="Abir GHARBI" userId="ef92528f-00ab-4d87-966c-386bca485bd0" providerId="ADAL" clId="{F3D16DED-CAA7-4BF5-81E4-89DEDE7057F7}" dt="2026-07-03T10:29:57.268" v="93" actId="27636"/>
          <ac:spMkLst>
            <pc:docMk/>
            <pc:sldMk cId="0" sldId="338"/>
            <ac:spMk id="35" creationId="{00000000-0000-0000-0000-000000000000}"/>
          </ac:spMkLst>
        </pc:spChg>
        <pc:spChg chg="mod">
          <ac:chgData name="Abir GHARBI" userId="ef92528f-00ab-4d87-966c-386bca485bd0" providerId="ADAL" clId="{F3D16DED-CAA7-4BF5-81E4-89DEDE7057F7}" dt="2026-07-03T10:29:57.316" v="99" actId="27636"/>
          <ac:spMkLst>
            <pc:docMk/>
            <pc:sldMk cId="0" sldId="338"/>
            <ac:spMk id="38" creationId="{00000000-0000-0000-0000-000000000000}"/>
          </ac:spMkLst>
        </pc:spChg>
        <pc:spChg chg="mod">
          <ac:chgData name="Abir GHARBI" userId="ef92528f-00ab-4d87-966c-386bca485bd0" providerId="ADAL" clId="{F3D16DED-CAA7-4BF5-81E4-89DEDE7057F7}" dt="2026-07-03T10:29:57.255" v="91" actId="27636"/>
          <ac:spMkLst>
            <pc:docMk/>
            <pc:sldMk cId="0" sldId="338"/>
            <ac:spMk id="39" creationId="{00000000-0000-0000-0000-000000000000}"/>
          </ac:spMkLst>
        </pc:spChg>
        <pc:cxnChg chg="mod">
          <ac:chgData name="Abir GHARBI" userId="ef92528f-00ab-4d87-966c-386bca485bd0" providerId="ADAL" clId="{F3D16DED-CAA7-4BF5-81E4-89DEDE7057F7}" dt="2026-07-03T10:30:32.112" v="111" actId="1076"/>
          <ac:cxnSpMkLst>
            <pc:docMk/>
            <pc:sldMk cId="0" sldId="338"/>
            <ac:cxnSpMk id="5" creationId="{00000000-0000-0000-0000-000000000000}"/>
          </ac:cxnSpMkLst>
        </pc:cxnChg>
        <pc:cxnChg chg="mod">
          <ac:chgData name="Abir GHARBI" userId="ef92528f-00ab-4d87-966c-386bca485bd0" providerId="ADAL" clId="{F3D16DED-CAA7-4BF5-81E4-89DEDE7057F7}" dt="2026-07-03T10:30:32.112" v="111" actId="1076"/>
          <ac:cxnSpMkLst>
            <pc:docMk/>
            <pc:sldMk cId="0" sldId="338"/>
            <ac:cxnSpMk id="7" creationId="{00000000-0000-0000-0000-000000000000}"/>
          </ac:cxnSpMkLst>
        </pc:cxnChg>
        <pc:cxnChg chg="mod">
          <ac:chgData name="Abir GHARBI" userId="ef92528f-00ab-4d87-966c-386bca485bd0" providerId="ADAL" clId="{F3D16DED-CAA7-4BF5-81E4-89DEDE7057F7}" dt="2026-07-03T10:30:32.112" v="111" actId="1076"/>
          <ac:cxnSpMkLst>
            <pc:docMk/>
            <pc:sldMk cId="0" sldId="338"/>
            <ac:cxnSpMk id="9" creationId="{00000000-0000-0000-0000-000000000000}"/>
          </ac:cxnSpMkLst>
        </pc:cxnChg>
      </pc:sldChg>
      <pc:sldChg chg="modSp mod">
        <pc:chgData name="Abir GHARBI" userId="ef92528f-00ab-4d87-966c-386bca485bd0" providerId="ADAL" clId="{F3D16DED-CAA7-4BF5-81E4-89DEDE7057F7}" dt="2026-07-03T10:30:01.289" v="110" actId="1076"/>
        <pc:sldMkLst>
          <pc:docMk/>
          <pc:sldMk cId="0" sldId="339"/>
        </pc:sldMkLst>
        <pc:spChg chg="mod">
          <ac:chgData name="Abir GHARBI" userId="ef92528f-00ab-4d87-966c-386bca485bd0" providerId="ADAL" clId="{F3D16DED-CAA7-4BF5-81E4-89DEDE7057F7}" dt="2026-07-03T10:30:01.289" v="110" actId="1076"/>
          <ac:spMkLst>
            <pc:docMk/>
            <pc:sldMk cId="0" sldId="339"/>
            <ac:spMk id="4" creationId="{00000000-0000-0000-0000-000000000000}"/>
          </ac:spMkLst>
        </pc:spChg>
        <pc:spChg chg="mod">
          <ac:chgData name="Abir GHARBI" userId="ef92528f-00ab-4d87-966c-386bca485bd0" providerId="ADAL" clId="{F3D16DED-CAA7-4BF5-81E4-89DEDE7057F7}" dt="2026-07-03T10:30:01.289" v="110" actId="1076"/>
          <ac:spMkLst>
            <pc:docMk/>
            <pc:sldMk cId="0" sldId="339"/>
            <ac:spMk id="6" creationId="{00000000-0000-0000-0000-000000000000}"/>
          </ac:spMkLst>
        </pc:spChg>
        <pc:spChg chg="mod">
          <ac:chgData name="Abir GHARBI" userId="ef92528f-00ab-4d87-966c-386bca485bd0" providerId="ADAL" clId="{F3D16DED-CAA7-4BF5-81E4-89DEDE7057F7}" dt="2026-07-03T10:30:01.289" v="110" actId="1076"/>
          <ac:spMkLst>
            <pc:docMk/>
            <pc:sldMk cId="0" sldId="339"/>
            <ac:spMk id="8" creationId="{00000000-0000-0000-0000-000000000000}"/>
          </ac:spMkLst>
        </pc:spChg>
        <pc:spChg chg="mod">
          <ac:chgData name="Abir GHARBI" userId="ef92528f-00ab-4d87-966c-386bca485bd0" providerId="ADAL" clId="{F3D16DED-CAA7-4BF5-81E4-89DEDE7057F7}" dt="2026-07-03T10:30:01.289" v="110" actId="1076"/>
          <ac:spMkLst>
            <pc:docMk/>
            <pc:sldMk cId="0" sldId="339"/>
            <ac:spMk id="9" creationId="{00000000-0000-0000-0000-000000000000}"/>
          </ac:spMkLst>
        </pc:spChg>
        <pc:spChg chg="mod">
          <ac:chgData name="Abir GHARBI" userId="ef92528f-00ab-4d87-966c-386bca485bd0" providerId="ADAL" clId="{F3D16DED-CAA7-4BF5-81E4-89DEDE7057F7}" dt="2026-07-03T10:30:01.289" v="110" actId="1076"/>
          <ac:spMkLst>
            <pc:docMk/>
            <pc:sldMk cId="0" sldId="339"/>
            <ac:spMk id="11" creationId="{00000000-0000-0000-0000-000000000000}"/>
          </ac:spMkLst>
        </pc:spChg>
        <pc:spChg chg="mod">
          <ac:chgData name="Abir GHARBI" userId="ef92528f-00ab-4d87-966c-386bca485bd0" providerId="ADAL" clId="{F3D16DED-CAA7-4BF5-81E4-89DEDE7057F7}" dt="2026-07-03T10:30:01.289" v="110" actId="1076"/>
          <ac:spMkLst>
            <pc:docMk/>
            <pc:sldMk cId="0" sldId="339"/>
            <ac:spMk id="12" creationId="{00000000-0000-0000-0000-000000000000}"/>
          </ac:spMkLst>
        </pc:spChg>
        <pc:spChg chg="mod">
          <ac:chgData name="Abir GHARBI" userId="ef92528f-00ab-4d87-966c-386bca485bd0" providerId="ADAL" clId="{F3D16DED-CAA7-4BF5-81E4-89DEDE7057F7}" dt="2026-07-03T10:30:01.289" v="110" actId="1076"/>
          <ac:spMkLst>
            <pc:docMk/>
            <pc:sldMk cId="0" sldId="339"/>
            <ac:spMk id="14" creationId="{00000000-0000-0000-0000-000000000000}"/>
          </ac:spMkLst>
        </pc:spChg>
        <pc:spChg chg="mod">
          <ac:chgData name="Abir GHARBI" userId="ef92528f-00ab-4d87-966c-386bca485bd0" providerId="ADAL" clId="{F3D16DED-CAA7-4BF5-81E4-89DEDE7057F7}" dt="2026-07-03T10:30:01.289" v="110" actId="1076"/>
          <ac:spMkLst>
            <pc:docMk/>
            <pc:sldMk cId="0" sldId="339"/>
            <ac:spMk id="15" creationId="{00000000-0000-0000-0000-000000000000}"/>
          </ac:spMkLst>
        </pc:spChg>
        <pc:spChg chg="mod">
          <ac:chgData name="Abir GHARBI" userId="ef92528f-00ab-4d87-966c-386bca485bd0" providerId="ADAL" clId="{F3D16DED-CAA7-4BF5-81E4-89DEDE7057F7}" dt="2026-07-03T10:29:56.903" v="81" actId="27636"/>
          <ac:spMkLst>
            <pc:docMk/>
            <pc:sldMk cId="0" sldId="339"/>
            <ac:spMk id="17" creationId="{00000000-0000-0000-0000-000000000000}"/>
          </ac:spMkLst>
        </pc:spChg>
        <pc:spChg chg="mod">
          <ac:chgData name="Abir GHARBI" userId="ef92528f-00ab-4d87-966c-386bca485bd0" providerId="ADAL" clId="{F3D16DED-CAA7-4BF5-81E4-89DEDE7057F7}" dt="2026-07-03T10:29:56.888" v="78" actId="27636"/>
          <ac:spMkLst>
            <pc:docMk/>
            <pc:sldMk cId="0" sldId="339"/>
            <ac:spMk id="18" creationId="{00000000-0000-0000-0000-000000000000}"/>
          </ac:spMkLst>
        </pc:spChg>
        <pc:spChg chg="mod">
          <ac:chgData name="Abir GHARBI" userId="ef92528f-00ab-4d87-966c-386bca485bd0" providerId="ADAL" clId="{F3D16DED-CAA7-4BF5-81E4-89DEDE7057F7}" dt="2026-07-03T10:30:01.289" v="110" actId="1076"/>
          <ac:spMkLst>
            <pc:docMk/>
            <pc:sldMk cId="0" sldId="339"/>
            <ac:spMk id="20" creationId="{00000000-0000-0000-0000-000000000000}"/>
          </ac:spMkLst>
        </pc:spChg>
        <pc:spChg chg="mod">
          <ac:chgData name="Abir GHARBI" userId="ef92528f-00ab-4d87-966c-386bca485bd0" providerId="ADAL" clId="{F3D16DED-CAA7-4BF5-81E4-89DEDE7057F7}" dt="2026-07-03T10:30:01.289" v="110" actId="1076"/>
          <ac:spMkLst>
            <pc:docMk/>
            <pc:sldMk cId="0" sldId="339"/>
            <ac:spMk id="21" creationId="{00000000-0000-0000-0000-000000000000}"/>
          </ac:spMkLst>
        </pc:spChg>
        <pc:spChg chg="mod">
          <ac:chgData name="Abir GHARBI" userId="ef92528f-00ab-4d87-966c-386bca485bd0" providerId="ADAL" clId="{F3D16DED-CAA7-4BF5-81E4-89DEDE7057F7}" dt="2026-07-03T10:29:56.865" v="74" actId="27636"/>
          <ac:spMkLst>
            <pc:docMk/>
            <pc:sldMk cId="0" sldId="339"/>
            <ac:spMk id="22" creationId="{00000000-0000-0000-0000-000000000000}"/>
          </ac:spMkLst>
        </pc:spChg>
        <pc:spChg chg="mod">
          <ac:chgData name="Abir GHARBI" userId="ef92528f-00ab-4d87-966c-386bca485bd0" providerId="ADAL" clId="{F3D16DED-CAA7-4BF5-81E4-89DEDE7057F7}" dt="2026-07-03T10:29:56.920" v="84" actId="27636"/>
          <ac:spMkLst>
            <pc:docMk/>
            <pc:sldMk cId="0" sldId="339"/>
            <ac:spMk id="2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722CAA-D3B9-4A8A-912A-C1AE79924BE1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67DF06-B6D1-455F-A1EF-6F825565D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9494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Open the atelier with this slide. The goal is not to start with commands but to put everyone in the same mental model: raw GitHub data becomes KB-ready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Insert after the existing Stage 2 Cleaning slide. This clarifies exactly why V3 exists and where it changes the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 this before the existing ALFRED section. Emphasize that the project distinguishes operational success from contextual confidence.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23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2860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STM32Cube Preprocessing Pipeline</a:t>
            </a:r>
            <a:br/>
            <a:r>
              <a:t>From Raw GitHub Data to AI-Ready Knowledge</a:t>
            </a:r>
          </a:p>
          <a:p>
            <a:pPr algn="l">
              <a:defRPr sz="1800">
                <a:solidFill>
                  <a:srgbClr val="3CB4E6"/>
                </a:solidFill>
              </a:defRPr>
            </a:pPr>
            <a:r>
              <a:t>Practical Workshop — Full End-to-End Workflow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1. Executive Summary</a:t>
            </a:r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2. Context &amp; Business Need</a:t>
            </a:r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3. Architecture Overview (+ Master Diagram)</a:t>
            </a:r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4. End-to-End Pipeline — 23 Steps</a:t>
            </a:r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5. Configuration &amp; Execution</a:t>
            </a:r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6. Preprocessing Deep Dive (Cleaning, Enrichment, Similarity)</a:t>
            </a:r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7. ALFRED Vision Integration (PDF + Images)</a:t>
            </a:r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8. Delivery &amp; Upload to Knowledge Base</a:t>
            </a:r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9. Quality Gates &amp; Validation</a:t>
            </a:r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10. Value Proposition &amp; Impact</a:t>
            </a:r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11. Operational Guide (Troubleshooting, Best Practices)</a:t>
            </a:r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12. Live Demo &amp; Hands-On</a:t>
            </a:r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13. Conclusion &amp;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CB4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1. Executive Summary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What This Workshop Is About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rPr dirty="0"/>
              <a:t>Problem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• STM32 technical knowledge is fragmented across 25+ GitHub repos, 10k+ issues, PDFs, and images.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• Without structured preprocessing, AI assistants produce generic, unsourced, or inaccurate answers.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 dirty="0"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rPr dirty="0"/>
              <a:t>Solution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• A 7-stage automated pipeline that transforms raw GitHub signals into structured,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  traceable, upload-ready Knowledge Base artifacts for ST ChatGPT.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 dirty="0"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rPr dirty="0"/>
              <a:t>What You Will Learn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• How to configure, run, validate, and deploy the full pipeline for any STM32 series.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• How ALFRED Vision enriches images and PDF figures into searchable descriptions.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• How quality gates ensure production-grade reliability before each KB upload.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Key Message — 30 Seconds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4062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rPr dirty="0"/>
              <a:t>One sentence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• This pipeline turns scattered, heterogeneous GitHub data into AI-ready knowledge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  that makes STM32 support answers more relevant, traceable, and actionable.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 dirty="0"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rPr dirty="0"/>
              <a:t>By the numbers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• 25 MCU series configured | </a:t>
            </a:r>
            <a:r>
              <a:rPr lang="fr-FR" dirty="0"/>
              <a:t>25</a:t>
            </a:r>
            <a:r>
              <a:rPr dirty="0"/>
              <a:t> fully processed with PDF enrichment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• 242 PDF figure descriptions generated via ALFRED Vision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• 4 artifact types per series: Issues, Files, Resolver Cases, Diagnostic Cards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• Quality Index: 94/100 on pilot series H7 with Diagnostic Cards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 dirty="0"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rPr dirty="0"/>
              <a:t>Impact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• KB-first answers are +39% more relevant than generic LLM on STM32 technical questions.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• This is not just an ETL — it’s a quality chain for reliable AI-powered support.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CB4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2. Context &amp; Business Need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The Problem Space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Current Challenges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Customer support engineers spend significant time searching fragmented sources.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Raw GitHub issues contain noise: off-topic, duplicates, short questions, images without text.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PDF documentation contains critical figures that are invisible to text-based search.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No automated link between issues, root causes, and resolutions.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Business Need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A single AI-powered support interface (ST ChatGPT) that answers from verified, structured data.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Traceability: every answer must link back to a source (issue, file, commit, figure).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Scalability: the solution must work for all 25 STM32 series, not just one.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Maintainability: adding a new series must be a simple configuration step.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Pain Points vs. Pipeline Solution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05840"/>
          <a:ext cx="85953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65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65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Pain Point</a:t>
                      </a:r>
                    </a:p>
                  </a:txBody>
                  <a:tcPr>
                    <a:solidFill>
                      <a:srgbClr val="0323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Without Pipeline</a:t>
                      </a:r>
                    </a:p>
                  </a:txBody>
                  <a:tcPr>
                    <a:solidFill>
                      <a:srgbClr val="0323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With Pipeline</a:t>
                      </a:r>
                    </a:p>
                  </a:txBody>
                  <a:tcPr>
                    <a:solidFill>
                      <a:srgbClr val="0323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Fragmented knowledge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Manual search across repos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Unified, structured KB artifacts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Images/figures not indexed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Invisible to RAG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ALFRED descriptions make them searchable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No root cause tracing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Generic LLM guess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Resolver Cases + Diagnostic Cards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Manual per-series 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Hours of manual curation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Automated multi-series batch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No quality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Silent failures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Schema validation + placeholder gates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CB4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3. Architecture Overview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8000" y="125999"/>
            <a:ext cx="8640000" cy="39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300" b="1">
                <a:solidFill>
                  <a:srgbClr val="1A237E"/>
                </a:solidFill>
              </a:defRPr>
            </a:pPr>
            <a:r>
              <a:t>Start with the Big Picture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000" y="486000"/>
            <a:ext cx="8460000" cy="251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050" b="0">
                <a:solidFill>
                  <a:srgbClr val="5C6069"/>
                </a:solidFill>
              </a:defRPr>
            </a:pPr>
            <a:r>
              <a:t>Frame the workshop before entering commands: source → pipeline → KB → answer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88000" y="827999"/>
            <a:ext cx="1224000" cy="503999"/>
          </a:xfrm>
          <a:prstGeom prst="roundRect">
            <a:avLst/>
          </a:prstGeom>
          <a:solidFill>
            <a:srgbClr val="E8F0FF"/>
          </a:solidFill>
          <a:ln w="1524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100" b="1">
                <a:solidFill>
                  <a:srgbClr val="141414"/>
                </a:solidFill>
              </a:defRPr>
            </a:pPr>
            <a:r>
              <a:t>GitHub</a:t>
            </a:r>
            <a:br/>
            <a:r>
              <a:t>25 series</a:t>
            </a:r>
            <a:br/>
            <a:r>
              <a:t>200+ repos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00000" y="827999"/>
            <a:ext cx="1224000" cy="503999"/>
          </a:xfrm>
          <a:prstGeom prst="roundRect">
            <a:avLst/>
          </a:prstGeom>
          <a:solidFill>
            <a:srgbClr val="DAE5FF"/>
          </a:solidFill>
          <a:ln w="1524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100" b="1">
                <a:solidFill>
                  <a:srgbClr val="141414"/>
                </a:solidFill>
              </a:defRPr>
            </a:pPr>
            <a:r>
              <a:t>Pipeline</a:t>
            </a:r>
            <a:br/>
            <a:r>
              <a:t>7 stages</a:t>
            </a:r>
            <a:br/>
            <a:r>
              <a:t>23 steps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11999" y="827999"/>
            <a:ext cx="1224000" cy="503999"/>
          </a:xfrm>
          <a:prstGeom prst="roundRect">
            <a:avLst/>
          </a:prstGeom>
          <a:solidFill>
            <a:srgbClr val="E1F5EB"/>
          </a:solidFill>
          <a:ln w="1524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100" b="1">
                <a:solidFill>
                  <a:srgbClr val="141414"/>
                </a:solidFill>
              </a:defRPr>
            </a:pPr>
            <a:r>
              <a:t>ST-ready JSON</a:t>
            </a:r>
            <a:br/>
            <a:r>
              <a:t>4 artifact types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24000" y="827999"/>
            <a:ext cx="1224000" cy="503999"/>
          </a:xfrm>
          <a:prstGeom prst="roundRect">
            <a:avLst/>
          </a:prstGeom>
          <a:solidFill>
            <a:srgbClr val="FFF1DA"/>
          </a:solidFill>
          <a:ln w="1524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100" b="1">
                <a:solidFill>
                  <a:srgbClr val="141414"/>
                </a:solidFill>
              </a:defRPr>
            </a:pPr>
            <a:r>
              <a:t>KB #793</a:t>
            </a:r>
            <a:br/>
            <a:r>
              <a:t>38 datasources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36000" y="827999"/>
            <a:ext cx="1224000" cy="503999"/>
          </a:xfrm>
          <a:prstGeom prst="roundRect">
            <a:avLst/>
          </a:prstGeom>
          <a:solidFill>
            <a:srgbClr val="EBE8FF"/>
          </a:solidFill>
          <a:ln w="15240">
            <a:solidFill>
              <a:srgbClr val="6455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100" b="1">
                <a:solidFill>
                  <a:srgbClr val="141414"/>
                </a:solidFill>
              </a:defRPr>
            </a:pPr>
            <a:r>
              <a:t>ST ChatGPT</a:t>
            </a:r>
            <a:br/>
            <a:r>
              <a:t>GPT-5.1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48000" y="827999"/>
            <a:ext cx="1007999" cy="503999"/>
          </a:xfrm>
          <a:prstGeom prst="roundRect">
            <a:avLst/>
          </a:prstGeom>
          <a:solidFill>
            <a:srgbClr val="E6FAE6"/>
          </a:solidFill>
          <a:ln w="1524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100" b="1">
                <a:solidFill>
                  <a:srgbClr val="141414"/>
                </a:solidFill>
              </a:defRPr>
            </a:pPr>
            <a:r>
              <a:t>Sourced</a:t>
            </a:r>
            <a:br/>
            <a:r>
              <a:t>answer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530000" y="1080000"/>
            <a:ext cx="234000" cy="0"/>
          </a:xfrm>
          <a:prstGeom prst="line">
            <a:avLst/>
          </a:prstGeom>
          <a:ln w="25400">
            <a:solidFill>
              <a:srgbClr val="1A23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041999" y="1080000"/>
            <a:ext cx="234001" cy="0"/>
          </a:xfrm>
          <a:prstGeom prst="line">
            <a:avLst/>
          </a:prstGeom>
          <a:ln w="25400">
            <a:solidFill>
              <a:srgbClr val="1A23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554000" y="1080000"/>
            <a:ext cx="234000" cy="0"/>
          </a:xfrm>
          <a:prstGeom prst="line">
            <a:avLst/>
          </a:prstGeom>
          <a:ln w="25400">
            <a:solidFill>
              <a:srgbClr val="1A23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066000" y="1080000"/>
            <a:ext cx="234000" cy="0"/>
          </a:xfrm>
          <a:prstGeom prst="line">
            <a:avLst/>
          </a:prstGeom>
          <a:ln w="25400">
            <a:solidFill>
              <a:srgbClr val="1A23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578000" y="1080000"/>
            <a:ext cx="234000" cy="0"/>
          </a:xfrm>
          <a:prstGeom prst="line">
            <a:avLst/>
          </a:prstGeom>
          <a:ln w="25400">
            <a:solidFill>
              <a:srgbClr val="1A23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32000" y="1835999"/>
            <a:ext cx="8100000" cy="28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600" b="1">
                <a:solidFill>
                  <a:srgbClr val="1A237E"/>
                </a:solidFill>
              </a:defRPr>
            </a:pPr>
            <a:r>
              <a:t>What the audience must understand first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2000" y="2196000"/>
            <a:ext cx="2376000" cy="75600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5C6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100" b="0">
                <a:solidFill>
                  <a:srgbClr val="141414"/>
                </a:solidFill>
              </a:defRPr>
            </a:pPr>
            <a:r>
              <a:t>Modular</a:t>
            </a:r>
            <a:br/>
            <a:r>
              <a:t>Each stage can be replayed independently</a:t>
            </a:r>
            <a:br/>
            <a:r>
              <a:t>--skip-ingestion, --skip-chunking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11999" y="2196000"/>
            <a:ext cx="2376000" cy="75600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5C6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100" b="0">
                <a:solidFill>
                  <a:srgbClr val="141414"/>
                </a:solidFill>
              </a:defRPr>
            </a:pPr>
            <a:r>
              <a:t>Traceable</a:t>
            </a:r>
            <a:br/>
            <a:r>
              <a:t>Every final card keeps source metadata</a:t>
            </a:r>
            <a:br/>
            <a:r>
              <a:t>repo, issue, file path, URL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2000" y="2196000"/>
            <a:ext cx="2376000" cy="75600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5C6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100" b="0">
                <a:solidFill>
                  <a:srgbClr val="141414"/>
                </a:solidFill>
              </a:defRPr>
            </a:pPr>
            <a:r>
              <a:t>Production-ready</a:t>
            </a:r>
            <a:br/>
            <a:r>
              <a:t>Schema gates, upload IDs, retries,</a:t>
            </a:r>
            <a:br/>
            <a:r>
              <a:t>Alfred/NovaX safeguards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High-Level System Architecture — Three Layers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4062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rPr dirty="0"/>
              <a:t>Layer 1: DATA SOURCES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• GitHub API (issues, PRs, commits, files), local repo clones, PDF documents.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• 25 series configured via shared/config/config_&lt;</a:t>
            </a:r>
            <a:r>
              <a:rPr dirty="0" err="1"/>
              <a:t>serie</a:t>
            </a:r>
            <a:r>
              <a:rPr dirty="0"/>
              <a:t>&gt;.</a:t>
            </a:r>
            <a:r>
              <a:rPr dirty="0" err="1"/>
              <a:t>json</a:t>
            </a:r>
            <a:r>
              <a:rPr dirty="0"/>
              <a:t>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 dirty="0"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rPr dirty="0"/>
              <a:t>Layer 2: PROCESSING ENGINE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• Python pipeline: Ingestion → Cleaning → Enrichment → Similarity → Evaluation → Delivery.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• ALFRED Vision API: PDF figure descriptions + issue image descriptions.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• PowerShell orchestration scripts for batch multi-series workflows.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 dirty="0"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rPr dirty="0"/>
              <a:t>Layer 3: CONSUMPTION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• KB #793: ST ChatGPT Knowledge Base with Hybrid search (semantic + full-text).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• Persona: “ST GitHub Analyzer” — KB-first, </a:t>
            </a:r>
            <a:r>
              <a:rPr lang="fr-FR" dirty="0" err="1"/>
              <a:t>NovaX</a:t>
            </a:r>
            <a:r>
              <a:rPr dirty="0"/>
              <a:t> fallback only when KB has no match.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• End user: support engineer or developer asking STM32 technical questions.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Master Architecture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1031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rPr dirty="0"/>
              <a:t>Single-page view of the entire system: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 dirty="0"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rPr dirty="0"/>
              <a:t>Also available as editable draw.io: docs/diagrams/01_project_architecture.drawio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Architecture Diagram — Visual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" y="1005840"/>
            <a:ext cx="128016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333333"/>
                </a:solidFill>
              </a:defRPr>
            </a:pPr>
            <a:r>
              <a:t>SOURCES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63040" y="1005840"/>
            <a:ext cx="1280160" cy="594360"/>
          </a:xfrm>
          <a:prstGeom prst="roundRect">
            <a:avLst/>
          </a:prstGeom>
          <a:solidFill>
            <a:srgbClr val="3C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GitHub API</a:t>
            </a:r>
            <a:br/>
            <a:r>
              <a:t>Issues/PRs/Commits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743200" y="1229868"/>
            <a:ext cx="137160" cy="146304"/>
          </a:xfrm>
          <a:prstGeom prst="rightArrow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880360" y="1005840"/>
            <a:ext cx="1280160" cy="594360"/>
          </a:xfrm>
          <a:prstGeom prst="roundRect">
            <a:avLst/>
          </a:prstGeom>
          <a:solidFill>
            <a:srgbClr val="3C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Local Clones</a:t>
            </a:r>
            <a:br/>
            <a:r>
              <a:t>GitHub_repos/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160520" y="1229868"/>
            <a:ext cx="137160" cy="146304"/>
          </a:xfrm>
          <a:prstGeom prst="rightArrow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297679" y="1005840"/>
            <a:ext cx="1280160" cy="59436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PDF Documents</a:t>
            </a:r>
            <a:br/>
            <a:r>
              <a:t>User Manuals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577840" y="1229868"/>
            <a:ext cx="137160" cy="146304"/>
          </a:xfrm>
          <a:prstGeom prst="rightArrow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715000" y="1005840"/>
            <a:ext cx="1280160" cy="594360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Config JSON</a:t>
            </a:r>
            <a:br/>
            <a:r>
              <a:t>shared/config/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" y="1828800"/>
            <a:ext cx="128016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333333"/>
                </a:solidFill>
              </a:defRPr>
            </a:pPr>
            <a:r>
              <a:t>PIPELINE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63040" y="1828800"/>
            <a:ext cx="1135379" cy="59436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1. Ingest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598420" y="2052828"/>
            <a:ext cx="137160" cy="146304"/>
          </a:xfrm>
          <a:prstGeom prst="rightArrow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735579" y="1828800"/>
            <a:ext cx="1135379" cy="59436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2. Clean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870959" y="2052828"/>
            <a:ext cx="137160" cy="146304"/>
          </a:xfrm>
          <a:prstGeom prst="rightArrow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008119" y="1828800"/>
            <a:ext cx="1135379" cy="59436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3. Enrich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143499" y="2052828"/>
            <a:ext cx="137160" cy="146304"/>
          </a:xfrm>
          <a:prstGeom prst="rightArrow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280659" y="1828800"/>
            <a:ext cx="1135379" cy="59436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4. Similarity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416039" y="2052828"/>
            <a:ext cx="137160" cy="146304"/>
          </a:xfrm>
          <a:prstGeom prst="rightArrow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553199" y="1828800"/>
            <a:ext cx="1135379" cy="59436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5. Evaluate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688580" y="2052828"/>
            <a:ext cx="137160" cy="146304"/>
          </a:xfrm>
          <a:prstGeom prst="rightArrow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825739" y="1828800"/>
            <a:ext cx="1135379" cy="59436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6. Deliver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" y="2651760"/>
            <a:ext cx="128016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333333"/>
                </a:solidFill>
              </a:defRPr>
            </a:pPr>
            <a:r>
              <a:t>ALFRED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463040" y="2651760"/>
            <a:ext cx="1280160" cy="594360"/>
          </a:xfrm>
          <a:prstGeom prst="round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Path A: PDF</a:t>
            </a:r>
            <a:br/>
            <a:r>
              <a:t>(Step 7)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2743200" y="2875788"/>
            <a:ext cx="137160" cy="146304"/>
          </a:xfrm>
          <a:prstGeom prst="rightArrow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2880360" y="2651760"/>
            <a:ext cx="1280160" cy="594360"/>
          </a:xfrm>
          <a:prstGeom prst="round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Path B: Images</a:t>
            </a:r>
            <a:br/>
            <a:r>
              <a:t>(Step 23)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" y="3474720"/>
            <a:ext cx="128016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333333"/>
                </a:solidFill>
              </a:defRPr>
            </a:pPr>
            <a:r>
              <a:t>DELIVERY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463040" y="3474720"/>
            <a:ext cx="1280160" cy="59436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Issues JSON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2743200" y="3698748"/>
            <a:ext cx="137160" cy="146304"/>
          </a:xfrm>
          <a:prstGeom prst="rightArrow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2880360" y="3474720"/>
            <a:ext cx="1280160" cy="59436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Files JSON v3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4160520" y="3698748"/>
            <a:ext cx="137160" cy="146304"/>
          </a:xfrm>
          <a:prstGeom prst="rightArrow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4297679" y="3474720"/>
            <a:ext cx="1280160" cy="59436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Resolver Cases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5577840" y="3698748"/>
            <a:ext cx="137160" cy="146304"/>
          </a:xfrm>
          <a:prstGeom prst="rightArrow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715000" y="3474720"/>
            <a:ext cx="1280160" cy="59436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Diagnostic Cards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" y="4297680"/>
            <a:ext cx="128016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333333"/>
                </a:solidFill>
              </a:defRPr>
            </a:pPr>
            <a:r>
              <a:t>KB #793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463040" y="4297680"/>
            <a:ext cx="1280160" cy="594360"/>
          </a:xfrm>
          <a:prstGeom prst="round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Hybrid Search</a:t>
            </a:r>
            <a:br/>
            <a:r>
              <a:t>semantic+fulltext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2743200" y="4521708"/>
            <a:ext cx="137160" cy="146304"/>
          </a:xfrm>
          <a:prstGeom prst="rightArrow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2880360" y="4297680"/>
            <a:ext cx="1280160" cy="594360"/>
          </a:xfrm>
          <a:prstGeom prst="round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ST ChatGPT</a:t>
            </a:r>
            <a:br/>
            <a:r>
              <a:t>Persona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4160520" y="4521708"/>
            <a:ext cx="137160" cy="146304"/>
          </a:xfrm>
          <a:prstGeom prst="rightArrow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4297679" y="4297680"/>
            <a:ext cx="1280160" cy="594360"/>
          </a:xfrm>
          <a:prstGeom prst="round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End User</a:t>
            </a:r>
            <a:br/>
            <a:r>
              <a:t>Support Eng.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Architecture — Data Flow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2286000" cy="640080"/>
          </a:xfrm>
          <a:prstGeom prst="roundRect">
            <a:avLst/>
          </a:prstGeom>
          <a:solidFill>
            <a:srgbClr val="3C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GITHUB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1097280"/>
            <a:ext cx="59436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Issues, PRs, Commits, Links → raw JSON per repo</a:t>
            </a:r>
          </a:p>
        </p:txBody>
      </p:sp>
      <p:sp>
        <p:nvSpPr>
          <p:cNvPr id="5" name="Down Arrow 4"/>
          <p:cNvSpPr/>
          <p:nvPr/>
        </p:nvSpPr>
        <p:spPr>
          <a:xfrm>
            <a:off x="1463040" y="1737360"/>
            <a:ext cx="274320" cy="137160"/>
          </a:xfrm>
          <a:prstGeom prst="downArrow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2286000" cy="64008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LOCAL CLONES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874519"/>
            <a:ext cx="59436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Repository files: READMEs, Release Notes, PDFs, source code</a:t>
            </a:r>
          </a:p>
        </p:txBody>
      </p:sp>
      <p:sp>
        <p:nvSpPr>
          <p:cNvPr id="8" name="Down Arrow 7"/>
          <p:cNvSpPr/>
          <p:nvPr/>
        </p:nvSpPr>
        <p:spPr>
          <a:xfrm>
            <a:off x="1463040" y="2514600"/>
            <a:ext cx="274320" cy="137160"/>
          </a:xfrm>
          <a:prstGeom prst="downArrow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57200" y="2651760"/>
            <a:ext cx="2286000" cy="64008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PIPELINE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651760"/>
            <a:ext cx="59436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7 stages: Ingest → Clean → Enrich → Similarity → Eval → Deliver → Upload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1463040" y="3291839"/>
            <a:ext cx="274320" cy="137160"/>
          </a:xfrm>
          <a:prstGeom prst="downArrow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57200" y="3429000"/>
            <a:ext cx="2286000" cy="64008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ALFRED VISION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429000"/>
            <a:ext cx="59436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Image descriptions (screenshots) + PDF figure descriptions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1463040" y="4069080"/>
            <a:ext cx="274320" cy="137160"/>
          </a:xfrm>
          <a:prstGeom prst="downArrow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57200" y="4206240"/>
            <a:ext cx="2286000" cy="640080"/>
          </a:xfrm>
          <a:prstGeom prst="round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ST-READY ARTIFACTS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4206240"/>
            <a:ext cx="59436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Structured JSON: issues, files, resolver_cases, diagnostic_cards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1463040" y="4846320"/>
            <a:ext cx="274320" cy="137160"/>
          </a:xfrm>
          <a:prstGeom prst="downArrow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57200" y="4983480"/>
            <a:ext cx="2286000" cy="64008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KB #793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4983480"/>
            <a:ext cx="59436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ST ChatGPT Knowledge Base — Hybrid semantic + full-text search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1463040" y="5623560"/>
            <a:ext cx="274320" cy="137160"/>
          </a:xfrm>
          <a:prstGeom prst="downArrow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57200" y="5760720"/>
            <a:ext cx="2286000" cy="640080"/>
          </a:xfrm>
          <a:prstGeom prst="round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END USER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5760720"/>
            <a:ext cx="59436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Support engineer asks question → AI answers with source traceability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Project File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PFE_Chatbot_STM32Cube/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├── shared/config/             Config per series (config_h7.json, config_f4.json...)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├── shared/schemas/            JSON schema contracts for validation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├── pipeline/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│   ├── ingestion/             fetch_issues, fetch_prs, fetch_files, repo_sync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│   ├── cleaning/              clean_issues, clean_files (normalize, images)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│   ├── enrichment/            issues_to_docs_v2, files_to_docs_v2 (classify)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│   ├── similarity/            TF-IDF cosine → related_issue_ids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│   ├── chunking/              docs_to_chunks (paragraph-based)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│   ├── delivery/              export_st_ready_* (4 artifact types)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│   └── evaluation/            stats, TF-IDF search, schema validation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├── pipeline_Automation/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│   ├── alfred/                enrich_json_images, enrich_pdf_figures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│   ├── upload/                Add_Data_Source_Files.py, Get_Persona_KBs.py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│   └── workflow/              PowerShell orchestration (batch, single-series)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├── datasets/07_delivery/      Final ST-ready outputs by_series/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├── GitHub_repos/              Auto-cloned repos (by repo_sync_service.py)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├── data/                      Intermediate artifacts (NOT committed to git)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└── docs/                      Documentation, diagrams, this presentation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CB4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4. End-to-End Pipeline — 23 Steps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Pipeline — 7 Phases, 23 Steps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2286000" cy="640080"/>
          </a:xfrm>
          <a:prstGeom prst="roundRect">
            <a:avLst/>
          </a:prstGeom>
          <a:solidFill>
            <a:srgbClr val="3C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1-6. INGESTION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1097280"/>
            <a:ext cx="59436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GitHub API calls + local repo sync + file collection (incl. PDFs)</a:t>
            </a:r>
          </a:p>
        </p:txBody>
      </p:sp>
      <p:sp>
        <p:nvSpPr>
          <p:cNvPr id="5" name="Down Arrow 4"/>
          <p:cNvSpPr/>
          <p:nvPr/>
        </p:nvSpPr>
        <p:spPr>
          <a:xfrm>
            <a:off x="1463040" y="1737360"/>
            <a:ext cx="274320" cy="137160"/>
          </a:xfrm>
          <a:prstGeom prst="downArrow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2286000" cy="64008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7. ALFRED PDF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874519"/>
            <a:ext cx="59436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Extract PDF figures, render pages, crop regions, generate descriptions</a:t>
            </a:r>
          </a:p>
        </p:txBody>
      </p:sp>
      <p:sp>
        <p:nvSpPr>
          <p:cNvPr id="8" name="Down Arrow 7"/>
          <p:cNvSpPr/>
          <p:nvPr/>
        </p:nvSpPr>
        <p:spPr>
          <a:xfrm>
            <a:off x="1463040" y="2514600"/>
            <a:ext cx="274320" cy="137160"/>
          </a:xfrm>
          <a:prstGeom prst="downArrow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57200" y="2651760"/>
            <a:ext cx="2286000" cy="64008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8-9. CLEANING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651760"/>
            <a:ext cx="59436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Normalize text, detect [IMAGE ATTACHED], structure content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1463040" y="3291839"/>
            <a:ext cx="274320" cy="137160"/>
          </a:xfrm>
          <a:prstGeom prst="downArrow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57200" y="3429000"/>
            <a:ext cx="2286000" cy="64008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10-12. ENRICHMENT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429000"/>
            <a:ext cx="59436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Classify: layer, board, component, severity, is_valid + similarity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1463040" y="4069080"/>
            <a:ext cx="274320" cy="137160"/>
          </a:xfrm>
          <a:prstGeom prst="downArrow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57200" y="4206240"/>
            <a:ext cx="2286000" cy="640080"/>
          </a:xfrm>
          <a:prstGeom prst="round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13-17. EVALUATION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4206240"/>
            <a:ext cx="59436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Chunking + stats + TF-IDF search tests + schema validation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1463040" y="4846320"/>
            <a:ext cx="274320" cy="137160"/>
          </a:xfrm>
          <a:prstGeom prst="downArrow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57200" y="4983480"/>
            <a:ext cx="2286000" cy="64008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18-22. DELIVERY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4983480"/>
            <a:ext cx="59436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Export 4 artifact types + issues_with_images variant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1463040" y="5623560"/>
            <a:ext cx="274320" cy="137160"/>
          </a:xfrm>
          <a:prstGeom prst="downArrow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57200" y="5760720"/>
            <a:ext cx="2286000" cy="640080"/>
          </a:xfrm>
          <a:prstGeom prst="round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23. ALFRED IMAGES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5760720"/>
            <a:ext cx="59436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ALFRED Vision on issue screenshots → [IMAGE DESCRIPTION]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run_full_workflow.py — Internal Steps (Real Code)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rPr dirty="0"/>
              <a:t>STEPS list (executed in order):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dirty="0"/>
              <a:t>("Ingestion issues",     </a:t>
            </a:r>
            <a:r>
              <a:rPr dirty="0" err="1"/>
              <a:t>fetch_issues_main</a:t>
            </a:r>
            <a:r>
              <a:rPr dirty="0"/>
              <a:t>)      # 1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dirty="0"/>
              <a:t>("Ingestion PRs",        </a:t>
            </a:r>
            <a:r>
              <a:rPr dirty="0" err="1"/>
              <a:t>fetch_prs_main</a:t>
            </a:r>
            <a:r>
              <a:rPr dirty="0"/>
              <a:t>)         # 2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dirty="0"/>
              <a:t>("Ingestion commits",    </a:t>
            </a:r>
            <a:r>
              <a:rPr dirty="0" err="1"/>
              <a:t>fetch_commits_main</a:t>
            </a:r>
            <a:r>
              <a:rPr dirty="0"/>
              <a:t>)     # 3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dirty="0"/>
              <a:t>("Ingestion links",      </a:t>
            </a:r>
            <a:r>
              <a:rPr dirty="0" err="1"/>
              <a:t>fetch_links_main</a:t>
            </a:r>
            <a:r>
              <a:rPr dirty="0"/>
              <a:t>)       # 4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dirty="0"/>
              <a:t>("Ingestion sync repos", </a:t>
            </a:r>
            <a:r>
              <a:rPr dirty="0" err="1"/>
              <a:t>sync_local_repos_main</a:t>
            </a:r>
            <a:r>
              <a:rPr dirty="0"/>
              <a:t>)  # 5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dirty="0"/>
              <a:t>("Ingestion files",      </a:t>
            </a:r>
            <a:r>
              <a:rPr dirty="0" err="1"/>
              <a:t>fetch_files_main</a:t>
            </a:r>
            <a:r>
              <a:rPr dirty="0"/>
              <a:t>)       # 6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dirty="0"/>
              <a:t>("Alfred PDF figures",   _</a:t>
            </a:r>
            <a:r>
              <a:rPr dirty="0" err="1"/>
              <a:t>enrich_pdf_main</a:t>
            </a:r>
            <a:r>
              <a:rPr dirty="0"/>
              <a:t>)       # 7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dirty="0"/>
              <a:t>("Cleaning issues",      </a:t>
            </a:r>
            <a:r>
              <a:rPr dirty="0" err="1"/>
              <a:t>clean_issues_main</a:t>
            </a:r>
            <a:r>
              <a:rPr dirty="0"/>
              <a:t>)      # 8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dirty="0"/>
              <a:t>("Cleaning files",       </a:t>
            </a:r>
            <a:r>
              <a:rPr dirty="0" err="1"/>
              <a:t>clean_files_main</a:t>
            </a:r>
            <a:r>
              <a:rPr dirty="0"/>
              <a:t>)       # 9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dirty="0"/>
              <a:t>("Enrichment issues V2", issues_to_docs_v2_main) # 10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dirty="0"/>
              <a:t>("Enrichment files V2",  files_to_docs_v2_main)  # 11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dirty="0"/>
              <a:t>("Similarity issues V2", </a:t>
            </a:r>
            <a:r>
              <a:rPr dirty="0" err="1"/>
              <a:t>similarity_main</a:t>
            </a:r>
            <a:r>
              <a:rPr dirty="0"/>
              <a:t>)        # 12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dirty="0"/>
              <a:t>("Chunking issues V2",   </a:t>
            </a:r>
            <a:r>
              <a:rPr dirty="0" err="1"/>
              <a:t>chunks_issues_main</a:t>
            </a:r>
            <a:r>
              <a:rPr dirty="0"/>
              <a:t>)     # 13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dirty="0"/>
              <a:t>("Chunking files V2",    </a:t>
            </a:r>
            <a:r>
              <a:rPr dirty="0" err="1"/>
              <a:t>chunks_files_main</a:t>
            </a:r>
            <a:r>
              <a:rPr dirty="0"/>
              <a:t>)      # 14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dirty="0"/>
              <a:t>("Stats issues V2",      </a:t>
            </a:r>
            <a:r>
              <a:rPr dirty="0" err="1"/>
              <a:t>stats_issues_main</a:t>
            </a:r>
            <a:r>
              <a:rPr dirty="0"/>
              <a:t>)      # 15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dirty="0"/>
              <a:t>("Stats files V2",       </a:t>
            </a:r>
            <a:r>
              <a:rPr dirty="0" err="1"/>
              <a:t>stats_files_main</a:t>
            </a:r>
            <a:r>
              <a:rPr dirty="0"/>
              <a:t>)       # 16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dirty="0"/>
              <a:t>("Schema validation",    </a:t>
            </a:r>
            <a:r>
              <a:rPr dirty="0" err="1"/>
              <a:t>validate_schemas_main</a:t>
            </a:r>
            <a:r>
              <a:rPr dirty="0"/>
              <a:t>)  # 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run_full_workflow.py — Delivery Steps (--export-st-ready)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--export-st-ready adds 6 additional steps: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("Delivery ST-ready issues",           export_issues_all)      # 18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("Delivery ST-ready files",            export_files_all)       # 19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("Delivery ST-ready resolver",         export_resolver_all)    # 20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("Delivery ST-ready diag cards",       export_diag_all)        # 21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("Delivery ST-ready issues with imgs", export_with_images_all) # 22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("Alfred image descriptions",          _enrich_alfred_images)  # 23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How flags filter steps: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--skip-ingestion → removes steps where label starts with “Ingestion”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--skip-chunking → removes steps with label “Chunking”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--no-enrich-pdf → removes “Alfred PDF figures” step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Error handling: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Without --continue-on-error → exception = STOP immediately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With --continue-on-error → print [WARN] + continue to next step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Pipeline Steps — Detail Table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05840"/>
          <a:ext cx="859536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0323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Stage</a:t>
                      </a:r>
                    </a:p>
                  </a:txBody>
                  <a:tcPr>
                    <a:solidFill>
                      <a:srgbClr val="0323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Script</a:t>
                      </a:r>
                    </a:p>
                  </a:txBody>
                  <a:tcPr>
                    <a:solidFill>
                      <a:srgbClr val="0323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Output</a:t>
                      </a:r>
                    </a:p>
                  </a:txBody>
                  <a:tcPr>
                    <a:solidFill>
                      <a:srgbClr val="0323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Fetch Issues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pipeline/ingestion/fetch_issues.py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data/raw_issues_&lt;repo&gt;.json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Fetch PRs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pipeline/ingestion/fetch_prs.py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data/raw_prs_&lt;repo&gt;.json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Fetch Commits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pipeline/ingestion/fetch_commits.py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data/raw_commits_&lt;repo&gt;.json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Fetch Links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fetch_issue_pr_commit_links.py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data/links_&lt;repo&gt;.json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Sync Repos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repo_sync_service.py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GitHub_repos/&lt;repo&gt;/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Fetch Files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pipeline/ingestion/fetch_files.py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data/raw_files_&lt;repo&gt;.json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Alfred PDF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pdf_figure_service.py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data/pdf_image_descriptions.json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Clean Issues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pipeline/cleaning/clean_issues.py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data/clean_issues_&lt;repo&gt;.json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Clean Files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pipeline/cleaning/clean_files.py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data/clean_files_&lt;repo&gt;.json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Enrich Issues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enrichment/issues_to_docs_v2.py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data/docs_issues_&lt;repo&gt;_v2.json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Enrich Files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enrichment/files_to_docs_v2.py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data/docs_files_&lt;repo&gt;_v2.json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Similarity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compute_issue_similarity_v2.py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docs_issues_&lt;repo&gt;_v2_sim.json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CB4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5. Configuration &amp; Execution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Series Configuration — config_&lt;serie&gt;.json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One JSON file per series: shared/config/config_&lt;serie&gt;.json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Actual example (config_g4.json):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{"owner": "STMicroelectronics",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"repos": ["STM32CubeG4", "stm32g4xx-hal-driver", "cmsis_device_g4",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"stm32g4xx-nucleo-bsp", "b-g474e-dpow1-bsp", ...],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"data_dir": "data",  "repos_dir": "GitHub_repos",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"auto_clone_missing_repos": true,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"repo_clone_urls": {"b-g474e-dpow1-bsp": "https://github.com/...git"},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"linked_repo_refs": {"b-g474e-dpow1-bsp": "4e6afe34..."},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"rate_limits": {"issues_sleep": 0.2, "comments_sleep": 0.1}}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Environment variable: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$env:STM32CUBE_CONFIG = "shared/config/config_g4.json"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Sub-repo routing (delivery_paths.py):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Each sub-repo is routed to by_series/&lt;serie&gt;/drivers/&lt;sub-repo&gt;/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Drivers share the parent series datasource in KB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Creating config_&lt;serie&gt;.json — Where Data Comes From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Required fields and their sources: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• "owner": always "STMicroelectronics"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• "repos": parent repo + all drivers/BSPs/CMSIS/middleware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  Source: STM32CubeXX GitHub page → .gitmodules lists all sub-repos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  Or: STM32CubeXX/Release_Notes.html → component list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• "repo_clone_urls": HTTPS clone URL for each sub-repo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  Format: https://github.com/STMicroelectronics/&lt;repo-name&gt;.git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• "linked_repo_refs": commit SHA for each sub-repo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  Source: .gitmodules or auto-detected by audit_config_submodules --fix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• "rate_limits": {"issues_sleep": 0.2, "comments_sleep": 0.1}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  Increase to 0.5 if GitHub rate-limited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Workflow: copy existing config → change repos[] → run: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python -m pipeline.evaluation.audit_config_submodules --fix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Running the Full Pipeline — One Command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Set the target series: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$env:STM32CUBE_CONFIG = "shared/config/config_h7.json"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Launch complete workflow with delivery: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python -m pipeline.run_full_workflow --export-st-ready --continue-on-error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What this executes (in order):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Steps 1-6: Ingestion (issues, PRs, commits, links, repo sync, files)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Step 7: ALFRED PDF figure extraction and task generation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Steps 8-9: Cleaning (issues + files)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Steps 10-12: Enrichment V2 + Similarity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Steps 13-17: Chunking + evaluation + schema validation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Steps 18-22: Delivery exports (4 artifact types + with_images)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Step 23: ALFRED Vision on issue images (final step)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Duration: ~10-30 min per series (depends on issue/file count)</a:t>
            </a:r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Config resolution: $env:STM32CUBE_CONFIG → shared/utils/paths.py → get_config_path()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Pipeline Control Flags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--export-st-ready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Activates delivery steps (18-23): issues, files, resolver, diag, with_images, ALFRED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Without this flag, pipeline stops after evaluation (step 17)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--continue-on-error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If one step fails (e.g., a sub-repo has no issues), continues to the next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Essential for multi-repo series configurations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--skip-ingestion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Skips GitHub API calls; uses existing raw_* files in data/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Saves API rate limit (GitHub: 5000 req/h with token, 60/h without)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Tip: increase issues_sleep in config (0.2 → 0.5) if rate-limited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--skip-chunking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Skips local chunking (steps 13-14) — ST platform does its own at upload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--no-enrich-pdf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Skips ALFRED Vision on PDF figures (step 7)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Use when PDFs are already enriched or proxy/network is unavailable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Script Comparison — Python vs PowerShell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05840"/>
          <a:ext cx="8595360" cy="4785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Aspect</a:t>
                      </a:r>
                    </a:p>
                  </a:txBody>
                  <a:tcPr>
                    <a:solidFill>
                      <a:srgbClr val="0323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run_full_workflow.py</a:t>
                      </a:r>
                    </a:p>
                  </a:txBody>
                  <a:tcPr>
                    <a:solidFill>
                      <a:srgbClr val="0323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Run_Single_Series_*.ps1</a:t>
                      </a:r>
                    </a:p>
                  </a:txBody>
                  <a:tcPr>
                    <a:solidFill>
                      <a:srgbClr val="0323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Run_Issues_Pipeline.ps1</a:t>
                      </a:r>
                    </a:p>
                  </a:txBody>
                  <a:tcPr>
                    <a:solidFill>
                      <a:srgbClr val="0323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Language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Python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PowerShell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PowerShell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Scope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 series (current config)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 series (-Series H7)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ALL repos in config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Steps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17 base + 6 delivery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sync + audit + workflow + delivery + Alfred + patch + validate + upload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3-5 steps only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What it processes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Issues + Files + 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Issues + Files + Drivers + Upload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Issues ONLY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Ingestion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✓ (steps 1-6)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✓ (via repo_sync + workflow)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✗ (assumes raw data exists)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ALFRED PDF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✓ (step 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✓ (inside workflow)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ALFRED Images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✓ (step 23)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✓ (dedicated step)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Drivers/Sub-repos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Only parent repo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✓ Parent + all drivers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All repos in config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KB Upload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✓ (create+add DS)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Schema 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✓ (step 17)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✓ + Placeholder gate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Flags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Full / Prepare / Upload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Flags: -WithSimilarity -WithChunking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Use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Dev / debug / from scratch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Production: one-click series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Quick issues-only reprocess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Run_Single_Series Modes — Full vs Prepare vs Upload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Mode=Full (default): End-to-end in one command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Sync repos → Audit configs → run_full_workflow → Export parent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→ Export drivers → ALFRED images → Export V3 files → Patch PDF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→ Schema validation → Placeholder gate → Create DS → Upload all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Mode=Prepare: Pipeline + export only (NO upload)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Sync repos → Audit → workflow → Export → ALFRED → Patch → Validate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Use this to inspect delivery JSON before sending to KB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Combine with -PlaceholderPolicy Warn for dry-run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Mode=Upload: Upload ONLY (pipeline already done)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Read saved DS IDs → Upload parent → Upload drivers → Save IDs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Requires Mode=Prepare or Mode=Full to have run first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Reuses upload_datasource_ids_&lt;slug&gt;.json for idempotent reruns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Parameters: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-Series H7 | -SkipDrivers | -PlaceholderPolicy Fail/Warn/Off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-IssuesDatasourceId 24406 (override saved ID)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Step-by-Step: What Each Script Actually Runs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run_full_workflow.py (Python, 17+6 steps):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fetch_issues → fetch_prs → fetch_commits → fetch_links → repo_sync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→ fetch_files → ALFRED_PDF → clean_issues → clean_files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→ issues_to_docs → files_to_docs → similarity → chunk_issues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→ chunk_files → stats_issues → stats_files → validate_schemas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[+export] → issues → files → resolver → diag → with_images → ALFRED_IMG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Run_Single_Series (PowerShell, 12 macro-steps):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repo_sync → audit_config_submodules --fix → audit_config_submodules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→ run_full_workflow(--skip-chunking) → export_parent(issues/resolver/diag/with_images)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→ export_drivers(same 4 types) → ALFRED_images(all with_images files)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→ export_files_v3(all repos) → files_coverage_gate → patch_pdf_descriptions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→ validate_schemas → placeholder_gate → [upload parent + drivers]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Run_Issues_Pipeline (PowerShell, 3-5 steps):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clean_issues → issues_to_docs_v2 [→ similarity] [→ chunking]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→ export_st_ready_issues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Run_Full_Auto_Update_KB.ps1 — Batch Automation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Purpose: Process ALL series + upload to KB in one command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.\Run_Full_Auto_Update_KB.ps1 -RemoteUser "abir.gharbi@st.com"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What it does: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Step 1: Run full pipeline for all series (f4, h5, h7, u5, wl by default)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Step 2: Schema validation gate (blocks upload if fails)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Step 3: Upload each artifact type to its registered datasource ID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Built-in datasource registry: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f4: issues=28099, files=28103, resolver=28118, diagnostic=28122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h5: issues=28158, files=28163, resolver=28164, diagnostic=28165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h7: issues=19896, files=21824, resolver=20403, diagnostic=23768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Options: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-Series f4,h5 (subset) | -SkipIngestion | -SkipUpload | -ContinueOnError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Logs to: logs/auto_update_kb_&lt;timestamp&gt;.log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Run weekly via Task Scheduler or on-demand after firmware releases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Batch Processing — All Series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PowerShell batch script: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$series = @("config_c0", "config_f0", "config_f1", "config_f2",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"config_f3", "config_f7", "config_g0", "config_h7rs")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foreach ($s in $series) {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Write-Host "=== Processing $s ===" -ForegroundColor Cyan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$env:STM32CUBE_CONFIG = "shared/config/$s.json"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python -m pipeline.run_full_workflow --export-st-ready --continue-on-error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}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Key points: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Each iteration is INDEPENDENT (own config, own data/)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If one series fails, the others continue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Data files are named per repo → no collision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Duration: ~10-30 min per series (depends on issue/file count)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See also: pipeline_Automation/workflow/Run_Full_Auto_Update_KB.ps1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Each Step Can Be Run Individually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Ingestion: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python -m pipeline.ingestion.fetch_issues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python -m pipeline.ingestion.fetch_files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Cleaning: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python -m pipeline.cleaning.clean_issues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python -m pipeline.cleaning.clean_files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Enrichment: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python -m pipeline.enrichment.issues_to_docs_v2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python -m pipeline.enrichment.files_to_docs_v2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Delivery (by type):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python -m pipeline.delivery.export_st_ready_issues --repo STM32CubeH7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python -m pipeline.delivery.export_st_ready_files --repo STM32CubeH7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python -m pipeline.delivery.export_st_ready_diagnostic_cards --repo STM32CubeH7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python -m pipeline.delivery.export_st_ready_resolver_cases --repo STM32CubeH7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CB4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6. Preprocessing Deep Dive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Stage 1: Ingestion — What Gets Collected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GitHub API (token required, 5000 req/h):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Issues: title, body, labels, comments, timeline events, state.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PRs: links to commits, merge status, review status.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Commits: sha, message, files changed.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Links: issue → PR → commit chain for traceability.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Local clone (repo_sync_service):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Auto-clones missing repos from config repo_clone_urls.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Provides access to: README.md, Release_Notes.html, source code, PDFs.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File collection (file_collect_service):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README.md at root and key subdirectories.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Release Notes (HTML/MD) for changelog tracking.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PDFs from Documentation/ folder (is_documentation_pdf filter).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19 series have PDF documentation → 242 figures extracted.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Stage 2: Cleaning — Normalization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What cleaning does: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Normalizes text (line breaks, backticks, whitespace).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Detects embedded images → marks them as [IMAGE ATTACHED].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Collects image URLs into image_urls array.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Structures content: Title + Body + Comments → clean_text field.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Preserves raw metadata (labels, dates, state).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What cleaning does NOT do: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✘ No classification (layer, board, component).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✘ No validity detection (is_valid).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→ Those tasks are done by ENRICHMENT.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Output format: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{ repo, issue_number, title, state, labels, clean_text, image_urls, images_count }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8000" y="125999"/>
            <a:ext cx="8640000" cy="39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300" b="1">
                <a:solidFill>
                  <a:srgbClr val="1A237E"/>
                </a:solidFill>
              </a:defRPr>
            </a:pPr>
            <a:r>
              <a:t>Cleaning V3: Type-Aware Cleaning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000" y="486000"/>
            <a:ext cx="8460000" cy="251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050" b="0">
                <a:solidFill>
                  <a:srgbClr val="5C6069"/>
                </a:solidFill>
              </a:defRPr>
            </a:pPr>
            <a:r>
              <a:t>The key improvement between raw files and usable documents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3272" y="1140191"/>
            <a:ext cx="1440000" cy="36000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5C6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200" b="1">
                <a:solidFill>
                  <a:srgbClr val="141414"/>
                </a:solidFill>
              </a:defRPr>
            </a:pPr>
            <a:r>
              <a:t>raw_files_*.json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915272" y="1320191"/>
            <a:ext cx="432000" cy="0"/>
          </a:xfrm>
          <a:prstGeom prst="line">
            <a:avLst/>
          </a:prstGeom>
          <a:ln w="25400">
            <a:solidFill>
              <a:srgbClr val="1A23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383272" y="1086191"/>
            <a:ext cx="1512000" cy="468000"/>
          </a:xfrm>
          <a:prstGeom prst="roundRect">
            <a:avLst/>
          </a:prstGeom>
          <a:solidFill>
            <a:srgbClr val="DAE5FF"/>
          </a:solidFill>
          <a:ln w="1524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200" b="1">
                <a:solidFill>
                  <a:srgbClr val="141414"/>
                </a:solidFill>
              </a:defRPr>
            </a:pPr>
            <a:r>
              <a:t>detect_file_type()</a:t>
            </a:r>
          </a:p>
        </p:txBody>
      </p:sp>
      <p:cxnSp>
        <p:nvCxnSpPr>
          <p:cNvPr id="7" name="Connector 6"/>
          <p:cNvCxnSpPr/>
          <p:nvPr/>
        </p:nvCxnSpPr>
        <p:spPr>
          <a:xfrm flipH="1">
            <a:off x="1051271" y="1572191"/>
            <a:ext cx="2088001" cy="593999"/>
          </a:xfrm>
          <a:prstGeom prst="line">
            <a:avLst/>
          </a:prstGeom>
          <a:ln w="25400">
            <a:solidFill>
              <a:srgbClr val="1A23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03272" y="2220191"/>
            <a:ext cx="1404000" cy="468000"/>
          </a:xfrm>
          <a:prstGeom prst="roundRect">
            <a:avLst/>
          </a:prstGeom>
          <a:solidFill>
            <a:srgbClr val="EBF0FC"/>
          </a:solidFill>
          <a:ln w="1524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lnSpcReduction="10000"/>
          </a:bodyPr>
          <a:lstStyle/>
          <a:p>
            <a:pPr algn="ctr">
              <a:defRPr sz="1100" b="1">
                <a:solidFill>
                  <a:srgbClr val="141414"/>
                </a:solidFill>
              </a:defRPr>
            </a:pPr>
            <a:r>
              <a:t>Release Notes</a:t>
            </a:r>
            <a:br/>
            <a:r>
              <a:t>HTML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3272" y="2868191"/>
            <a:ext cx="1404000" cy="41399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>
              <a:defRPr sz="1100" b="1">
                <a:solidFill>
                  <a:srgbClr val="141414"/>
                </a:solidFill>
              </a:defRPr>
            </a:pPr>
            <a:r>
              <a:t>strip_html()</a:t>
            </a:r>
            <a:br/>
            <a:r>
              <a:t>-33%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2779272" y="1572191"/>
            <a:ext cx="360000" cy="593999"/>
          </a:xfrm>
          <a:prstGeom prst="line">
            <a:avLst/>
          </a:prstGeom>
          <a:ln w="25400">
            <a:solidFill>
              <a:srgbClr val="1A23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131272" y="2220191"/>
            <a:ext cx="1404000" cy="468000"/>
          </a:xfrm>
          <a:prstGeom prst="roundRect">
            <a:avLst/>
          </a:prstGeom>
          <a:solidFill>
            <a:srgbClr val="EBF0FC"/>
          </a:solidFill>
          <a:ln w="1524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lnSpcReduction="10000"/>
          </a:bodyPr>
          <a:lstStyle/>
          <a:p>
            <a:pPr algn="ctr">
              <a:defRPr sz="1100" b="1">
                <a:solidFill>
                  <a:srgbClr val="141414"/>
                </a:solidFill>
              </a:defRPr>
            </a:pPr>
            <a:r>
              <a:t>README</a:t>
            </a:r>
            <a:br/>
            <a:r>
              <a:t>Markdown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31272" y="2868191"/>
            <a:ext cx="1404000" cy="41399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>
              <a:defRPr sz="1100" b="1">
                <a:solidFill>
                  <a:srgbClr val="141414"/>
                </a:solidFill>
              </a:defRPr>
            </a:pPr>
            <a:r>
              <a:t>clean_markdown()</a:t>
            </a:r>
            <a:br/>
            <a:r>
              <a:t>-15%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139272" y="1572191"/>
            <a:ext cx="1368000" cy="593999"/>
          </a:xfrm>
          <a:prstGeom prst="line">
            <a:avLst/>
          </a:prstGeom>
          <a:ln w="25400">
            <a:solidFill>
              <a:srgbClr val="1A23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859272" y="2220191"/>
            <a:ext cx="1404000" cy="468000"/>
          </a:xfrm>
          <a:prstGeom prst="roundRect">
            <a:avLst/>
          </a:prstGeom>
          <a:solidFill>
            <a:srgbClr val="EBF0FC"/>
          </a:solidFill>
          <a:ln w="1524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lnSpcReduction="10000"/>
          </a:bodyPr>
          <a:lstStyle/>
          <a:p>
            <a:pPr algn="ctr">
              <a:defRPr sz="1100" b="1">
                <a:solidFill>
                  <a:srgbClr val="141414"/>
                </a:solidFill>
              </a:defRPr>
            </a:pPr>
            <a:r>
              <a:t>Source code</a:t>
            </a:r>
            <a:br/>
            <a:r>
              <a:t>.c / .h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59272" y="2868191"/>
            <a:ext cx="1404000" cy="41399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>
              <a:defRPr sz="1100" b="1">
                <a:solidFill>
                  <a:srgbClr val="141414"/>
                </a:solidFill>
              </a:defRPr>
            </a:pPr>
            <a:r>
              <a:t>strip_license()</a:t>
            </a:r>
            <a:br/>
            <a:r>
              <a:t>-10%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139272" y="1572191"/>
            <a:ext cx="3096000" cy="593999"/>
          </a:xfrm>
          <a:prstGeom prst="line">
            <a:avLst/>
          </a:prstGeom>
          <a:ln w="25400">
            <a:solidFill>
              <a:srgbClr val="FF98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587272" y="2220191"/>
            <a:ext cx="1404000" cy="468000"/>
          </a:xfrm>
          <a:prstGeom prst="roundRect">
            <a:avLst/>
          </a:prstGeom>
          <a:solidFill>
            <a:srgbClr val="EBF0FC"/>
          </a:solidFill>
          <a:ln w="1524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lnSpcReduction="10000"/>
          </a:bodyPr>
          <a:lstStyle/>
          <a:p>
            <a:pPr algn="ctr">
              <a:defRPr sz="1100" b="1">
                <a:solidFill>
                  <a:srgbClr val="141414"/>
                </a:solidFill>
              </a:defRPr>
            </a:pPr>
            <a:r>
              <a:t>CMSIS header</a:t>
            </a:r>
            <a:br/>
            <a:r>
              <a:t>&gt;100 Ko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87272" y="2868191"/>
            <a:ext cx="1404000" cy="41399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>
              <a:defRPr sz="1100" b="1">
                <a:solidFill>
                  <a:srgbClr val="141414"/>
                </a:solidFill>
              </a:defRPr>
            </a:pPr>
            <a:r>
              <a:t>filter_cmsis()</a:t>
            </a:r>
            <a:br/>
            <a:r>
              <a:t>-96%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139272" y="1572191"/>
            <a:ext cx="4824000" cy="593999"/>
          </a:xfrm>
          <a:prstGeom prst="line">
            <a:avLst/>
          </a:prstGeom>
          <a:ln w="25400">
            <a:solidFill>
              <a:srgbClr val="5C60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315272" y="2220191"/>
            <a:ext cx="1404000" cy="468000"/>
          </a:xfrm>
          <a:prstGeom prst="roundRect">
            <a:avLst/>
          </a:prstGeom>
          <a:solidFill>
            <a:srgbClr val="EBF0FC"/>
          </a:solidFill>
          <a:ln w="15240">
            <a:solidFill>
              <a:srgbClr val="5C6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100" b="1">
                <a:solidFill>
                  <a:srgbClr val="141414"/>
                </a:solidFill>
              </a:defRPr>
            </a:pPr>
            <a:r>
              <a:t>Other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72" y="2868191"/>
            <a:ext cx="1404000" cy="41399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C6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>
              <a:defRPr sz="1100" b="1">
                <a:solidFill>
                  <a:srgbClr val="141414"/>
                </a:solidFill>
              </a:defRPr>
            </a:pPr>
            <a:r>
              <a:t>passthrough</a:t>
            </a:r>
            <a:br/>
            <a:r>
              <a:t>0%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3272" y="4020191"/>
            <a:ext cx="3851999" cy="486000"/>
          </a:xfrm>
          <a:prstGeom prst="roundRect">
            <a:avLst/>
          </a:prstGeom>
          <a:solidFill>
            <a:srgbClr val="FFF5E1"/>
          </a:solidFill>
          <a:ln w="1524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lnSpcReduction="10000"/>
          </a:bodyPr>
          <a:lstStyle/>
          <a:p>
            <a:pPr algn="ctr">
              <a:defRPr sz="1200" b="1">
                <a:solidFill>
                  <a:srgbClr val="141414"/>
                </a:solidFill>
              </a:defRPr>
            </a:pPr>
            <a:r>
              <a:t>Concrete example: stm32h743xx.h</a:t>
            </a:r>
            <a:br/>
            <a:r>
              <a:t>1,458,301 chars → 52,140 chars (-96.4%)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23272" y="4020191"/>
            <a:ext cx="3851999" cy="486000"/>
          </a:xfrm>
          <a:prstGeom prst="roundRect">
            <a:avLst/>
          </a:prstGeom>
          <a:solidFill>
            <a:srgbClr val="E6F8EB"/>
          </a:solidFill>
          <a:ln w="1524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lnSpcReduction="10000"/>
          </a:bodyPr>
          <a:lstStyle/>
          <a:p>
            <a:pPr algn="ctr">
              <a:defRPr sz="1200" b="1">
                <a:solidFill>
                  <a:srgbClr val="141414"/>
                </a:solidFill>
              </a:defRPr>
            </a:pPr>
            <a:r>
              <a:t>Result: clean_files_&lt;repo&gt;_v3.json</a:t>
            </a:r>
            <a:br/>
            <a:r>
              <a:t>+31% estimated signal density per chunk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Stage 3: Enrichment V2 — Classification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Heuristics applied by issues_to_docs_v2.py: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layer: HAL, BSP, Middleware, Application, CMSIS (labels + text patterns)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component: SPI, I2C, USB, CRYP... (regex on title + body)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board: NUCLEO-H743ZI, STM32H750B-DK... (board name patterns)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severity: critical, normal, low (labels + keywords)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issue_kind: bug, question, feature_request (labels)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is_valid: true if text &gt; 100 chars + not bot/spam/duplicate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rescue: recovers technical false negatives from is_valid=false pool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Coverage targets: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layer ≥ 85% | component ≥ 70% | board ≥ 60% | validity ≥ 85%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8000" y="125999"/>
            <a:ext cx="8640000" cy="39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300" b="1">
                <a:solidFill>
                  <a:srgbClr val="1A237E"/>
                </a:solidFill>
              </a:defRPr>
            </a:pPr>
            <a:r>
              <a:t>Cleaning → Enrichment: Where the docs_* Files Come From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5120" y="675504"/>
            <a:ext cx="8460000" cy="251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050" b="0">
                <a:solidFill>
                  <a:srgbClr val="5C6069"/>
                </a:solidFill>
              </a:defRPr>
            </a:pPr>
            <a:r>
              <a:rPr dirty="0"/>
              <a:t>This is the missing bridge between cleaned data and ST-ready delivery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75120" y="873791"/>
            <a:ext cx="1620000" cy="43200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5C6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>
              <a:defRPr sz="1100" b="1">
                <a:solidFill>
                  <a:srgbClr val="141414"/>
                </a:solidFill>
              </a:defRPr>
            </a:pPr>
            <a:r>
              <a:t>clean_issues_*.json</a:t>
            </a:r>
            <a:br/>
            <a:r>
              <a:t>clean_files_*_v3.json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067120" y="1089791"/>
            <a:ext cx="468000" cy="0"/>
          </a:xfrm>
          <a:prstGeom prst="line">
            <a:avLst/>
          </a:prstGeom>
          <a:ln w="25400">
            <a:solidFill>
              <a:srgbClr val="1A23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571120" y="621791"/>
            <a:ext cx="1872000" cy="936000"/>
          </a:xfrm>
          <a:prstGeom prst="roundRect">
            <a:avLst/>
          </a:prstGeom>
          <a:solidFill>
            <a:srgbClr val="DAE5FF"/>
          </a:solidFill>
          <a:ln w="1524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20000"/>
          </a:bodyPr>
          <a:lstStyle/>
          <a:p>
            <a:pPr algn="ctr">
              <a:defRPr sz="1200" b="1">
                <a:solidFill>
                  <a:srgbClr val="141414"/>
                </a:solidFill>
              </a:defRPr>
            </a:pPr>
            <a:r>
              <a:rPr dirty="0"/>
              <a:t>issues_to_docs_v2.py</a:t>
            </a:r>
            <a:br>
              <a:rPr dirty="0"/>
            </a:br>
            <a:r>
              <a:rPr dirty="0"/>
              <a:t>files_to_docs_v2.py</a:t>
            </a:r>
            <a:br>
              <a:rPr dirty="0"/>
            </a:br>
            <a:br>
              <a:rPr dirty="0"/>
            </a:br>
            <a:r>
              <a:rPr dirty="0"/>
              <a:t>Adds structure and domain metadata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15120" y="1089791"/>
            <a:ext cx="540000" cy="0"/>
          </a:xfrm>
          <a:prstGeom prst="line">
            <a:avLst/>
          </a:prstGeom>
          <a:ln w="25400">
            <a:solidFill>
              <a:srgbClr val="1A23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091120" y="873791"/>
            <a:ext cx="1692000" cy="432000"/>
          </a:xfrm>
          <a:prstGeom prst="roundRect">
            <a:avLst/>
          </a:prstGeom>
          <a:solidFill>
            <a:srgbClr val="E1F5EB"/>
          </a:solidFill>
          <a:ln w="1524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>
              <a:defRPr sz="1100" b="1">
                <a:solidFill>
                  <a:srgbClr val="141414"/>
                </a:solidFill>
              </a:defRPr>
            </a:pPr>
            <a:r>
              <a:t>docs_issues_*_v2.json</a:t>
            </a:r>
            <a:br/>
            <a:r>
              <a:t>docs_files_*_v3.json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819119" y="1089791"/>
            <a:ext cx="432001" cy="0"/>
          </a:xfrm>
          <a:prstGeom prst="line">
            <a:avLst/>
          </a:prstGeom>
          <a:ln w="25400">
            <a:solidFill>
              <a:srgbClr val="1A23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287120" y="873791"/>
            <a:ext cx="1368000" cy="432000"/>
          </a:xfrm>
          <a:prstGeom prst="roundRect">
            <a:avLst/>
          </a:prstGeom>
          <a:solidFill>
            <a:srgbClr val="FFF1DA"/>
          </a:solidFill>
          <a:ln w="1524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>
              <a:defRPr sz="1100" b="1">
                <a:solidFill>
                  <a:srgbClr val="141414"/>
                </a:solidFill>
              </a:defRPr>
            </a:pPr>
            <a:r>
              <a:t>Delivery</a:t>
            </a:r>
            <a:br/>
            <a:r>
              <a:t>st_ready_*.json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6000" y="1800000"/>
            <a:ext cx="3851999" cy="180000"/>
          </a:xfrm>
          <a:prstGeom prst="rect">
            <a:avLst/>
          </a:prstGeom>
          <a:noFill/>
        </p:spPr>
        <p:txBody>
          <a:bodyPr wrap="square">
            <a:normAutofit fontScale="47500" lnSpcReduction="20000"/>
          </a:bodyPr>
          <a:lstStyle/>
          <a:p>
            <a:pPr algn="l">
              <a:defRPr sz="1400" b="1">
                <a:solidFill>
                  <a:srgbClr val="1A237E"/>
                </a:solidFill>
              </a:defRPr>
            </a:pPr>
            <a:r>
              <a:t>Issue enrichment metadata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000" y="2088000"/>
            <a:ext cx="1080000" cy="234000"/>
          </a:xfrm>
          <a:prstGeom prst="roundRect">
            <a:avLst/>
          </a:prstGeom>
          <a:solidFill>
            <a:srgbClr val="E8F0FF"/>
          </a:solidFill>
          <a:ln w="1524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20000"/>
          </a:bodyPr>
          <a:lstStyle/>
          <a:p>
            <a:pPr algn="ctr">
              <a:defRPr sz="1000" b="1">
                <a:solidFill>
                  <a:srgbClr val="141414"/>
                </a:solidFill>
              </a:defRPr>
            </a:pPr>
            <a:r>
              <a:t>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20000" y="2116800"/>
            <a:ext cx="3060000" cy="162000"/>
          </a:xfrm>
          <a:prstGeom prst="rect">
            <a:avLst/>
          </a:prstGeom>
          <a:noFill/>
        </p:spPr>
        <p:txBody>
          <a:bodyPr wrap="square">
            <a:normAutofit fontScale="47500" lnSpcReduction="20000"/>
          </a:bodyPr>
          <a:lstStyle/>
          <a:p>
            <a:pPr algn="l">
              <a:defRPr sz="1050" b="0">
                <a:solidFill>
                  <a:srgbClr val="141414"/>
                </a:solidFill>
              </a:defRPr>
            </a:pPr>
            <a:r>
              <a:t>HAL / BSP / CMSIS / MW / APP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000" y="2358000"/>
            <a:ext cx="1080000" cy="234000"/>
          </a:xfrm>
          <a:prstGeom prst="roundRect">
            <a:avLst/>
          </a:prstGeom>
          <a:solidFill>
            <a:srgbClr val="E8F0FF"/>
          </a:solidFill>
          <a:ln w="1524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20000"/>
          </a:bodyPr>
          <a:lstStyle/>
          <a:p>
            <a:pPr algn="ctr">
              <a:defRPr sz="1000" b="1">
                <a:solidFill>
                  <a:srgbClr val="141414"/>
                </a:solidFill>
              </a:defRPr>
            </a:pPr>
            <a:r>
              <a:t>component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20000" y="2386800"/>
            <a:ext cx="3060000" cy="162000"/>
          </a:xfrm>
          <a:prstGeom prst="rect">
            <a:avLst/>
          </a:prstGeom>
          <a:noFill/>
        </p:spPr>
        <p:txBody>
          <a:bodyPr wrap="square">
            <a:normAutofit fontScale="47500" lnSpcReduction="20000"/>
          </a:bodyPr>
          <a:lstStyle/>
          <a:p>
            <a:pPr algn="l">
              <a:defRPr sz="1050" b="0">
                <a:solidFill>
                  <a:srgbClr val="141414"/>
                </a:solidFill>
              </a:defRPr>
            </a:pPr>
            <a:r>
              <a:t>SPI / I2C / UART / DMA / USB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2000" y="2628000"/>
            <a:ext cx="1080000" cy="234000"/>
          </a:xfrm>
          <a:prstGeom prst="roundRect">
            <a:avLst/>
          </a:prstGeom>
          <a:solidFill>
            <a:srgbClr val="E8F0FF"/>
          </a:solidFill>
          <a:ln w="1524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20000"/>
          </a:bodyPr>
          <a:lstStyle/>
          <a:p>
            <a:pPr algn="ctr">
              <a:defRPr sz="1000" b="1">
                <a:solidFill>
                  <a:srgbClr val="141414"/>
                </a:solidFill>
              </a:defRPr>
            </a:pPr>
            <a:r>
              <a:t>severity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2656800"/>
            <a:ext cx="3060000" cy="162000"/>
          </a:xfrm>
          <a:prstGeom prst="rect">
            <a:avLst/>
          </a:prstGeom>
          <a:noFill/>
        </p:spPr>
        <p:txBody>
          <a:bodyPr wrap="square">
            <a:normAutofit fontScale="47500" lnSpcReduction="20000"/>
          </a:bodyPr>
          <a:lstStyle/>
          <a:p>
            <a:pPr algn="l">
              <a:defRPr sz="1050" b="0">
                <a:solidFill>
                  <a:srgbClr val="141414"/>
                </a:solidFill>
              </a:defRPr>
            </a:pPr>
            <a:r>
              <a:t>high / medium / low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2000" y="2898000"/>
            <a:ext cx="1080000" cy="234000"/>
          </a:xfrm>
          <a:prstGeom prst="roundRect">
            <a:avLst/>
          </a:prstGeom>
          <a:solidFill>
            <a:srgbClr val="E8F0FF"/>
          </a:solidFill>
          <a:ln w="1524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20000"/>
          </a:bodyPr>
          <a:lstStyle/>
          <a:p>
            <a:pPr algn="ctr">
              <a:defRPr sz="1000" b="1">
                <a:solidFill>
                  <a:srgbClr val="141414"/>
                </a:solidFill>
              </a:defRPr>
            </a:pPr>
            <a:r>
              <a:t>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0000" y="2926800"/>
            <a:ext cx="3060000" cy="162000"/>
          </a:xfrm>
          <a:prstGeom prst="rect">
            <a:avLst/>
          </a:prstGeom>
          <a:noFill/>
        </p:spPr>
        <p:txBody>
          <a:bodyPr wrap="square">
            <a:normAutofit fontScale="47500" lnSpcReduction="20000"/>
          </a:bodyPr>
          <a:lstStyle/>
          <a:p>
            <a:pPr algn="l">
              <a:defRPr sz="1050" b="0">
                <a:solidFill>
                  <a:srgbClr val="141414"/>
                </a:solidFill>
              </a:defRPr>
            </a:pPr>
            <a:r>
              <a:t>NUCLEO-H743ZI / STM32H750B-DK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2000" y="3168000"/>
            <a:ext cx="1080000" cy="234000"/>
          </a:xfrm>
          <a:prstGeom prst="roundRect">
            <a:avLst/>
          </a:prstGeom>
          <a:solidFill>
            <a:srgbClr val="E8F0FF"/>
          </a:solidFill>
          <a:ln w="1524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20000"/>
          </a:bodyPr>
          <a:lstStyle/>
          <a:p>
            <a:pPr algn="ctr">
              <a:defRPr sz="1000" b="1">
                <a:solidFill>
                  <a:srgbClr val="141414"/>
                </a:solidFill>
              </a:defRPr>
            </a:pPr>
            <a:r>
              <a:t>issue_kind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20000" y="3196800"/>
            <a:ext cx="3060000" cy="162000"/>
          </a:xfrm>
          <a:prstGeom prst="rect">
            <a:avLst/>
          </a:prstGeom>
          <a:noFill/>
        </p:spPr>
        <p:txBody>
          <a:bodyPr wrap="square">
            <a:normAutofit fontScale="47500" lnSpcReduction="20000"/>
          </a:bodyPr>
          <a:lstStyle/>
          <a:p>
            <a:pPr algn="l">
              <a:defRPr sz="1050" b="0">
                <a:solidFill>
                  <a:srgbClr val="141414"/>
                </a:solidFill>
              </a:defRPr>
            </a:pPr>
            <a:r>
              <a:t>bug_report / question / feature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40000" y="1800000"/>
            <a:ext cx="3420000" cy="180000"/>
          </a:xfrm>
          <a:prstGeom prst="rect">
            <a:avLst/>
          </a:prstGeom>
          <a:noFill/>
        </p:spPr>
        <p:txBody>
          <a:bodyPr wrap="square">
            <a:normAutofit fontScale="47500" lnSpcReduction="20000"/>
          </a:bodyPr>
          <a:lstStyle/>
          <a:p>
            <a:pPr algn="l">
              <a:defRPr sz="1400" b="1">
                <a:solidFill>
                  <a:srgbClr val="1A237E"/>
                </a:solidFill>
              </a:defRPr>
            </a:pPr>
            <a:r>
              <a:t>Measured H7 coverage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40000" y="2070000"/>
            <a:ext cx="1728000" cy="162000"/>
          </a:xfrm>
          <a:prstGeom prst="rect">
            <a:avLst/>
          </a:prstGeom>
          <a:noFill/>
        </p:spPr>
        <p:txBody>
          <a:bodyPr wrap="square">
            <a:normAutofit fontScale="47500" lnSpcReduction="20000"/>
          </a:bodyPr>
          <a:lstStyle/>
          <a:p>
            <a:pPr algn="l">
              <a:defRPr sz="1050" b="1">
                <a:solidFill>
                  <a:srgbClr val="141414"/>
                </a:solidFill>
              </a:defRPr>
            </a:pPr>
            <a:r>
              <a:t>Layer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76000" y="2088000"/>
            <a:ext cx="2160000" cy="162000"/>
          </a:xfrm>
          <a:prstGeom prst="rect">
            <a:avLst/>
          </a:prstGeom>
          <a:solidFill>
            <a:srgbClr val="E8ECF2"/>
          </a:solidFill>
          <a:ln>
            <a:solidFill>
              <a:srgbClr val="E8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876000" y="2088000"/>
            <a:ext cx="1905120" cy="162000"/>
          </a:xfrm>
          <a:prstGeom prst="rect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08000" y="2070000"/>
            <a:ext cx="792000" cy="162000"/>
          </a:xfrm>
          <a:prstGeom prst="rect">
            <a:avLst/>
          </a:prstGeom>
          <a:noFill/>
        </p:spPr>
        <p:txBody>
          <a:bodyPr wrap="square">
            <a:normAutofit fontScale="47500" lnSpcReduction="20000"/>
          </a:bodyPr>
          <a:lstStyle/>
          <a:p>
            <a:pPr algn="l">
              <a:defRPr sz="1050" b="1">
                <a:solidFill>
                  <a:srgbClr val="4CAF50"/>
                </a:solidFill>
              </a:defRPr>
            </a:pPr>
            <a:r>
              <a:t>88.2%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40000" y="2394000"/>
            <a:ext cx="1728000" cy="162000"/>
          </a:xfrm>
          <a:prstGeom prst="rect">
            <a:avLst/>
          </a:prstGeom>
          <a:noFill/>
        </p:spPr>
        <p:txBody>
          <a:bodyPr wrap="square">
            <a:normAutofit fontScale="47500" lnSpcReduction="20000"/>
          </a:bodyPr>
          <a:lstStyle/>
          <a:p>
            <a:pPr algn="l">
              <a:defRPr sz="1050" b="1">
                <a:solidFill>
                  <a:srgbClr val="141414"/>
                </a:solidFill>
              </a:defRPr>
            </a:pPr>
            <a:r>
              <a:t>Severity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76000" y="2412000"/>
            <a:ext cx="2160000" cy="162000"/>
          </a:xfrm>
          <a:prstGeom prst="rect">
            <a:avLst/>
          </a:prstGeom>
          <a:solidFill>
            <a:srgbClr val="E8ECF2"/>
          </a:solidFill>
          <a:ln>
            <a:solidFill>
              <a:srgbClr val="E8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876000" y="2412000"/>
            <a:ext cx="2160000" cy="162000"/>
          </a:xfrm>
          <a:prstGeom prst="rect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08000" y="2394000"/>
            <a:ext cx="792000" cy="162000"/>
          </a:xfrm>
          <a:prstGeom prst="rect">
            <a:avLst/>
          </a:prstGeom>
          <a:noFill/>
        </p:spPr>
        <p:txBody>
          <a:bodyPr wrap="square">
            <a:normAutofit fontScale="47500" lnSpcReduction="20000"/>
          </a:bodyPr>
          <a:lstStyle/>
          <a:p>
            <a:pPr algn="l">
              <a:defRPr sz="1050" b="1">
                <a:solidFill>
                  <a:srgbClr val="4CAF50"/>
                </a:solidFill>
              </a:defRPr>
            </a:pPr>
            <a:r>
              <a:t>100.0%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40000" y="2718000"/>
            <a:ext cx="1728000" cy="162000"/>
          </a:xfrm>
          <a:prstGeom prst="rect">
            <a:avLst/>
          </a:prstGeom>
          <a:noFill/>
        </p:spPr>
        <p:txBody>
          <a:bodyPr wrap="square">
            <a:normAutofit fontScale="47500" lnSpcReduction="20000"/>
          </a:bodyPr>
          <a:lstStyle/>
          <a:p>
            <a:pPr algn="l">
              <a:defRPr sz="1050" b="1">
                <a:solidFill>
                  <a:srgbClr val="141414"/>
                </a:solidFill>
              </a:defRPr>
            </a:pPr>
            <a:r>
              <a:t>Component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76000" y="2736000"/>
            <a:ext cx="2160000" cy="162000"/>
          </a:xfrm>
          <a:prstGeom prst="rect">
            <a:avLst/>
          </a:prstGeom>
          <a:solidFill>
            <a:srgbClr val="E8ECF2"/>
          </a:solidFill>
          <a:ln>
            <a:solidFill>
              <a:srgbClr val="E8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876000" y="2736000"/>
            <a:ext cx="1568160" cy="162000"/>
          </a:xfrm>
          <a:prstGeom prst="rect">
            <a:avLst/>
          </a:prstGeom>
          <a:solidFill>
            <a:srgbClr val="FF9800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108000" y="2718000"/>
            <a:ext cx="792000" cy="162000"/>
          </a:xfrm>
          <a:prstGeom prst="rect">
            <a:avLst/>
          </a:prstGeom>
          <a:noFill/>
        </p:spPr>
        <p:txBody>
          <a:bodyPr wrap="square">
            <a:normAutofit fontScale="47500" lnSpcReduction="20000"/>
          </a:bodyPr>
          <a:lstStyle/>
          <a:p>
            <a:pPr algn="l">
              <a:defRPr sz="1050" b="1">
                <a:solidFill>
                  <a:srgbClr val="FF9800"/>
                </a:solidFill>
              </a:defRPr>
            </a:pPr>
            <a:r>
              <a:t>72.6%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40000" y="3041999"/>
            <a:ext cx="1728000" cy="162000"/>
          </a:xfrm>
          <a:prstGeom prst="rect">
            <a:avLst/>
          </a:prstGeom>
          <a:noFill/>
        </p:spPr>
        <p:txBody>
          <a:bodyPr wrap="square">
            <a:normAutofit fontScale="47500" lnSpcReduction="20000"/>
          </a:bodyPr>
          <a:lstStyle/>
          <a:p>
            <a:pPr algn="l">
              <a:defRPr sz="1050" b="1">
                <a:solidFill>
                  <a:srgbClr val="141414"/>
                </a:solidFill>
              </a:defRPr>
            </a:pPr>
            <a:r>
              <a:t>Board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76000" y="3060000"/>
            <a:ext cx="2160000" cy="162000"/>
          </a:xfrm>
          <a:prstGeom prst="rect">
            <a:avLst/>
          </a:prstGeom>
          <a:solidFill>
            <a:srgbClr val="E8ECF2"/>
          </a:solidFill>
          <a:ln>
            <a:solidFill>
              <a:srgbClr val="E8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876000" y="3060000"/>
            <a:ext cx="978479" cy="162000"/>
          </a:xfrm>
          <a:prstGeom prst="rect">
            <a:avLst/>
          </a:prstGeom>
          <a:solidFill>
            <a:srgbClr val="D23C3C"/>
          </a:solidFill>
          <a:ln>
            <a:solidFill>
              <a:srgbClr val="D2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108000" y="3041999"/>
            <a:ext cx="792000" cy="162000"/>
          </a:xfrm>
          <a:prstGeom prst="rect">
            <a:avLst/>
          </a:prstGeom>
          <a:noFill/>
        </p:spPr>
        <p:txBody>
          <a:bodyPr wrap="square">
            <a:normAutofit fontScale="47500" lnSpcReduction="20000"/>
          </a:bodyPr>
          <a:lstStyle/>
          <a:p>
            <a:pPr algn="l">
              <a:defRPr sz="1050" b="1">
                <a:solidFill>
                  <a:srgbClr val="D23C3C"/>
                </a:solidFill>
              </a:defRPr>
            </a:pPr>
            <a:r>
              <a:t>45.3%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40000" y="3456000"/>
            <a:ext cx="3420000" cy="324000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algn="l">
              <a:defRPr sz="1050" b="0">
                <a:solidFill>
                  <a:srgbClr val="5C6069"/>
                </a:solidFill>
              </a:defRPr>
            </a:pPr>
            <a:r>
              <a:t>Board is low because many issues simply do not mention a board; this is a source-data limitation, not only a heuristic failure.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Stage 4: Similarity — Linking Related Issues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rPr dirty="0"/>
              <a:t>How it works: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• Build TF-IDF vectors from enriched issue documents.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• Compute pairwise cosine similarity between all issues in a repo.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• Threshold &gt; 0.3 → add to </a:t>
            </a:r>
            <a:r>
              <a:rPr dirty="0" err="1"/>
              <a:t>related_issue_ids</a:t>
            </a:r>
            <a:r>
              <a:rPr dirty="0"/>
              <a:t> field.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 dirty="0"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rPr dirty="0"/>
              <a:t>Why it matters: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• Enables retrieval system to surface connected problems.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• User asks about issue A → system can propose related issues B, C.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• Diagnostic cards reference related issues for context.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 dirty="0"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rPr dirty="0"/>
              <a:t>Output: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dirty="0" err="1"/>
              <a:t>docs_issues</a:t>
            </a:r>
            <a:r>
              <a:rPr dirty="0"/>
              <a:t>_&lt;repo&gt;_v2_sim.json (same as _v2 + </a:t>
            </a:r>
            <a:r>
              <a:rPr dirty="0" err="1"/>
              <a:t>related_issue_ids</a:t>
            </a:r>
            <a:r>
              <a:rPr dirty="0"/>
              <a:t> field)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Issue Preprocessing Chain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2286000" cy="640080"/>
          </a:xfrm>
          <a:prstGeom prst="roundRect">
            <a:avLst/>
          </a:prstGeom>
          <a:solidFill>
            <a:srgbClr val="3C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RAW ISSUES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1097280"/>
            <a:ext cx="59436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GitHub JSON: title, body, labels, comments, timeline events</a:t>
            </a:r>
          </a:p>
        </p:txBody>
      </p:sp>
      <p:sp>
        <p:nvSpPr>
          <p:cNvPr id="5" name="Down Arrow 4"/>
          <p:cNvSpPr/>
          <p:nvPr/>
        </p:nvSpPr>
        <p:spPr>
          <a:xfrm>
            <a:off x="1463040" y="1737360"/>
            <a:ext cx="274320" cy="137160"/>
          </a:xfrm>
          <a:prstGeom prst="downArrow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2286000" cy="64008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CLEANED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874519"/>
            <a:ext cx="59436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Normalized text, [IMAGE ATTACHED] tags, structured fields, image_urls</a:t>
            </a:r>
          </a:p>
        </p:txBody>
      </p:sp>
      <p:sp>
        <p:nvSpPr>
          <p:cNvPr id="8" name="Down Arrow 7"/>
          <p:cNvSpPr/>
          <p:nvPr/>
        </p:nvSpPr>
        <p:spPr>
          <a:xfrm>
            <a:off x="1463040" y="2514600"/>
            <a:ext cx="274320" cy="137160"/>
          </a:xfrm>
          <a:prstGeom prst="downArrow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57200" y="2651760"/>
            <a:ext cx="2286000" cy="64008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ENRICHED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651760"/>
            <a:ext cx="59436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layer, board, component, severity, is_valid, issue_kind, keywords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1463040" y="3291839"/>
            <a:ext cx="274320" cy="137160"/>
          </a:xfrm>
          <a:prstGeom prst="downArrow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57200" y="3429000"/>
            <a:ext cx="2286000" cy="64008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SIMILARITY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429000"/>
            <a:ext cx="59436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related_issue_ids added (TF-IDF cosine links)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1463040" y="4069080"/>
            <a:ext cx="274320" cy="137160"/>
          </a:xfrm>
          <a:prstGeom prst="downArrow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57200" y="4206240"/>
            <a:ext cx="2286000" cy="640080"/>
          </a:xfrm>
          <a:prstGeom prst="round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DELIVERY-READY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4206240"/>
            <a:ext cx="59436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st_ready_text, metadata, image_urls, resolver links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File Preprocessing Chain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2286000" cy="640080"/>
          </a:xfrm>
          <a:prstGeom prst="roundRect">
            <a:avLst/>
          </a:prstGeom>
          <a:solidFill>
            <a:srgbClr val="3C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RAW 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1097280"/>
            <a:ext cx="59436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Collected from repo: README.md, Release_Notes.html, PDFs</a:t>
            </a:r>
          </a:p>
        </p:txBody>
      </p:sp>
      <p:sp>
        <p:nvSpPr>
          <p:cNvPr id="5" name="Down Arrow 4"/>
          <p:cNvSpPr/>
          <p:nvPr/>
        </p:nvSpPr>
        <p:spPr>
          <a:xfrm>
            <a:off x="1463040" y="1737360"/>
            <a:ext cx="274320" cy="137160"/>
          </a:xfrm>
          <a:prstGeom prst="downArrow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2286000" cy="64008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PDF EXTRACTION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874519"/>
            <a:ext cx="59436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PyPDF text + PyMuPDF render + OpenCV figure detection</a:t>
            </a:r>
          </a:p>
        </p:txBody>
      </p:sp>
      <p:sp>
        <p:nvSpPr>
          <p:cNvPr id="8" name="Down Arrow 7"/>
          <p:cNvSpPr/>
          <p:nvPr/>
        </p:nvSpPr>
        <p:spPr>
          <a:xfrm>
            <a:off x="1463040" y="2514600"/>
            <a:ext cx="274320" cy="137160"/>
          </a:xfrm>
          <a:prstGeom prst="downArrow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57200" y="2651760"/>
            <a:ext cx="2286000" cy="64008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CLEANED FILES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651760"/>
            <a:ext cx="59436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Normalized content, figure crops stored, task files generated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1463040" y="3291839"/>
            <a:ext cx="274320" cy="137160"/>
          </a:xfrm>
          <a:prstGeom prst="downArrow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57200" y="3429000"/>
            <a:ext cx="2286000" cy="64008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ENRICHED FILES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429000"/>
            <a:ext cx="59436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file_type, board, component, category tagged + PDF descriptions injected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1463040" y="4069080"/>
            <a:ext cx="274320" cy="137160"/>
          </a:xfrm>
          <a:prstGeom prst="downArrow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57200" y="4206240"/>
            <a:ext cx="2286000" cy="640080"/>
          </a:xfrm>
          <a:prstGeom prst="round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DELIVERY-READY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4206240"/>
            <a:ext cx="59436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st_ready_text with [FIGURE_DESCRIPTIONS] blocks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CB4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7. ALFRED Vision Integration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8000" y="125999"/>
            <a:ext cx="8640000" cy="39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300" b="1">
                <a:solidFill>
                  <a:srgbClr val="1A237E"/>
                </a:solidFill>
              </a:defRPr>
            </a:pPr>
            <a:r>
              <a:t>Why Images Needed a Dedicated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000" y="486000"/>
            <a:ext cx="8460000" cy="251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050" b="0">
                <a:solidFill>
                  <a:srgbClr val="5C6069"/>
                </a:solidFill>
              </a:defRPr>
            </a:pPr>
            <a:r>
              <a:t>Screenshots and PDF figures carry diagnostic signal, but text search cannot see pixels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0000" y="1332000"/>
            <a:ext cx="3780000" cy="1224000"/>
          </a:xfrm>
          <a:prstGeom prst="roundRect">
            <a:avLst/>
          </a:prstGeom>
          <a:solidFill>
            <a:srgbClr val="FFEBEB"/>
          </a:solidFill>
          <a:ln w="15240">
            <a:solidFill>
              <a:srgbClr val="D2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>
              <a:defRPr sz="1300" b="1">
                <a:solidFill>
                  <a:srgbClr val="141414"/>
                </a:solidFill>
              </a:defRPr>
            </a:pPr>
            <a:r>
              <a:rPr dirty="0"/>
              <a:t>Before Alfred</a:t>
            </a:r>
            <a:br>
              <a:rPr dirty="0"/>
            </a:br>
            <a:br>
              <a:rPr dirty="0"/>
            </a:br>
            <a:r>
              <a:rPr dirty="0"/>
              <a:t>Issue text says: "see screenshot below"</a:t>
            </a:r>
            <a:br>
              <a:rPr dirty="0"/>
            </a:br>
            <a:r>
              <a:rPr dirty="0"/>
              <a:t>[IMAGE ATTACHED]</a:t>
            </a:r>
            <a:br>
              <a:rPr dirty="0"/>
            </a:br>
            <a:br>
              <a:rPr dirty="0"/>
            </a:br>
            <a:r>
              <a:rPr dirty="0"/>
              <a:t>Problem: retrieval sees only a placeholder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04000" y="1332000"/>
            <a:ext cx="3780000" cy="1224000"/>
          </a:xfrm>
          <a:prstGeom prst="roundRect">
            <a:avLst/>
          </a:prstGeom>
          <a:solidFill>
            <a:srgbClr val="E6F8EB"/>
          </a:solidFill>
          <a:ln w="1524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20000"/>
          </a:bodyPr>
          <a:lstStyle/>
          <a:p>
            <a:pPr algn="ctr">
              <a:defRPr sz="1200" b="1">
                <a:solidFill>
                  <a:srgbClr val="141414"/>
                </a:solidFill>
              </a:defRPr>
            </a:pPr>
            <a:r>
              <a:t>After Alfred</a:t>
            </a:r>
            <a:br/>
            <a:br/>
            <a:r>
              <a:t>[IMAGE DESCRIPTION] The screenshot shows STM32CubeIDE build warnings, GCC flags, tool settings, and version context.</a:t>
            </a:r>
            <a:br/>
            <a:br/>
            <a:r>
              <a:t>Result: visual content becomes searchable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212000" y="1944000"/>
            <a:ext cx="684000" cy="0"/>
          </a:xfrm>
          <a:prstGeom prst="line">
            <a:avLst/>
          </a:prstGeom>
          <a:ln w="25400">
            <a:solidFill>
              <a:srgbClr val="FF98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76000" y="1674000"/>
            <a:ext cx="827999" cy="216000"/>
          </a:xfrm>
          <a:prstGeom prst="rect">
            <a:avLst/>
          </a:prstGeom>
          <a:noFill/>
        </p:spPr>
        <p:txBody>
          <a:bodyPr wrap="square">
            <a:normAutofit fontScale="40000" lnSpcReduction="20000"/>
          </a:bodyPr>
          <a:lstStyle/>
          <a:p>
            <a:pPr algn="ctr">
              <a:defRPr sz="1200" b="1">
                <a:solidFill>
                  <a:srgbClr val="FF9800"/>
                </a:solidFill>
              </a:defRPr>
            </a:pPr>
            <a:r>
              <a:t>Alfred</a:t>
            </a:r>
            <a:br/>
            <a:r>
              <a:t>Vision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3096000"/>
            <a:ext cx="8100000" cy="234000"/>
          </a:xfrm>
          <a:prstGeom prst="rect">
            <a:avLst/>
          </a:prstGeom>
          <a:noFill/>
        </p:spPr>
        <p:txBody>
          <a:bodyPr wrap="square">
            <a:normAutofit fontScale="70000" lnSpcReduction="20000"/>
          </a:bodyPr>
          <a:lstStyle/>
          <a:p>
            <a:pPr algn="l">
              <a:defRPr sz="1600" b="1">
                <a:solidFill>
                  <a:srgbClr val="1A237E"/>
                </a:solidFill>
              </a:defRPr>
            </a:pPr>
            <a:r>
              <a:t>Measured confidence, not just API success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000" y="3473999"/>
            <a:ext cx="1728000" cy="162000"/>
          </a:xfrm>
          <a:prstGeom prst="rect">
            <a:avLst/>
          </a:prstGeom>
          <a:noFill/>
        </p:spPr>
        <p:txBody>
          <a:bodyPr wrap="square">
            <a:normAutofit fontScale="47500" lnSpcReduction="20000"/>
          </a:bodyPr>
          <a:lstStyle/>
          <a:p>
            <a:pPr algn="l">
              <a:defRPr sz="1050" b="1">
                <a:solidFill>
                  <a:srgbClr val="141414"/>
                </a:solidFill>
              </a:defRPr>
            </a:pPr>
            <a:r>
              <a:t>Issue images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68000" y="3491999"/>
            <a:ext cx="4860000" cy="162000"/>
          </a:xfrm>
          <a:prstGeom prst="rect">
            <a:avLst/>
          </a:prstGeom>
          <a:solidFill>
            <a:srgbClr val="E8ECF2"/>
          </a:solidFill>
          <a:ln>
            <a:solidFill>
              <a:srgbClr val="E8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268000" y="3491999"/>
            <a:ext cx="4787100" cy="162000"/>
          </a:xfrm>
          <a:prstGeom prst="rect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200000" y="3473999"/>
            <a:ext cx="792000" cy="162000"/>
          </a:xfrm>
          <a:prstGeom prst="rect">
            <a:avLst/>
          </a:prstGeom>
          <a:noFill/>
        </p:spPr>
        <p:txBody>
          <a:bodyPr wrap="square">
            <a:normAutofit fontScale="47500" lnSpcReduction="20000"/>
          </a:bodyPr>
          <a:lstStyle/>
          <a:p>
            <a:pPr algn="l">
              <a:defRPr sz="1050" b="1">
                <a:solidFill>
                  <a:srgbClr val="4CAF50"/>
                </a:solidFill>
              </a:defRPr>
            </a:pPr>
            <a:r>
              <a:t>98.5%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000" y="3833999"/>
            <a:ext cx="1728000" cy="162000"/>
          </a:xfrm>
          <a:prstGeom prst="rect">
            <a:avLst/>
          </a:prstGeom>
          <a:noFill/>
        </p:spPr>
        <p:txBody>
          <a:bodyPr wrap="square">
            <a:normAutofit fontScale="47500" lnSpcReduction="20000"/>
          </a:bodyPr>
          <a:lstStyle/>
          <a:p>
            <a:pPr algn="l">
              <a:defRPr sz="1050" b="1">
                <a:solidFill>
                  <a:srgbClr val="141414"/>
                </a:solidFill>
              </a:defRPr>
            </a:pPr>
            <a:r>
              <a:t>PDF figures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68000" y="3851999"/>
            <a:ext cx="4860000" cy="162000"/>
          </a:xfrm>
          <a:prstGeom prst="rect">
            <a:avLst/>
          </a:prstGeom>
          <a:solidFill>
            <a:srgbClr val="E8ECF2"/>
          </a:solidFill>
          <a:ln>
            <a:solidFill>
              <a:srgbClr val="E8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268000" y="3851999"/>
            <a:ext cx="2026620" cy="162000"/>
          </a:xfrm>
          <a:prstGeom prst="rect">
            <a:avLst/>
          </a:prstGeom>
          <a:solidFill>
            <a:srgbClr val="FF9800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200000" y="3833999"/>
            <a:ext cx="792000" cy="162000"/>
          </a:xfrm>
          <a:prstGeom prst="rect">
            <a:avLst/>
          </a:prstGeom>
          <a:noFill/>
        </p:spPr>
        <p:txBody>
          <a:bodyPr wrap="square">
            <a:normAutofit fontScale="47500" lnSpcReduction="20000"/>
          </a:bodyPr>
          <a:lstStyle/>
          <a:p>
            <a:pPr algn="l">
              <a:defRPr sz="1050" b="1">
                <a:solidFill>
                  <a:srgbClr val="FF9800"/>
                </a:solidFill>
              </a:defRPr>
            </a:pPr>
            <a:r>
              <a:t>41.7%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2000" y="4193999"/>
            <a:ext cx="1728000" cy="162000"/>
          </a:xfrm>
          <a:prstGeom prst="rect">
            <a:avLst/>
          </a:prstGeom>
          <a:noFill/>
        </p:spPr>
        <p:txBody>
          <a:bodyPr wrap="square">
            <a:normAutofit fontScale="47500" lnSpcReduction="20000"/>
          </a:bodyPr>
          <a:lstStyle/>
          <a:p>
            <a:pPr algn="l">
              <a:defRPr sz="1050" b="1">
                <a:solidFill>
                  <a:srgbClr val="141414"/>
                </a:solidFill>
              </a:defRPr>
            </a:pPr>
            <a:r>
              <a:t>Total Alfred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68000" y="4211999"/>
            <a:ext cx="4860000" cy="162000"/>
          </a:xfrm>
          <a:prstGeom prst="rect">
            <a:avLst/>
          </a:prstGeom>
          <a:solidFill>
            <a:srgbClr val="E8ECF2"/>
          </a:solidFill>
          <a:ln>
            <a:solidFill>
              <a:srgbClr val="E8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268000" y="4211999"/>
            <a:ext cx="3275640" cy="162000"/>
          </a:xfrm>
          <a:prstGeom prst="rect">
            <a:avLst/>
          </a:prstGeom>
          <a:solidFill>
            <a:srgbClr val="4678D2"/>
          </a:solidFill>
          <a:ln>
            <a:solidFill>
              <a:srgbClr val="467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200000" y="4193999"/>
            <a:ext cx="792000" cy="162000"/>
          </a:xfrm>
          <a:prstGeom prst="rect">
            <a:avLst/>
          </a:prstGeom>
          <a:noFill/>
        </p:spPr>
        <p:txBody>
          <a:bodyPr wrap="square">
            <a:normAutofit fontScale="47500" lnSpcReduction="20000"/>
          </a:bodyPr>
          <a:lstStyle/>
          <a:p>
            <a:pPr algn="l">
              <a:defRPr sz="1050" b="1">
                <a:solidFill>
                  <a:srgbClr val="4678D2"/>
                </a:solidFill>
              </a:defRPr>
            </a:pPr>
            <a:r>
              <a:t>67.4%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2000" y="4644000"/>
            <a:ext cx="8100000" cy="43200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l">
              <a:defRPr sz="1200" b="0">
                <a:solidFill>
                  <a:srgbClr val="5C6069"/>
                </a:solidFill>
              </a:defRPr>
            </a:pPr>
            <a:r>
              <a:t>Interpretation: issue screenshots are strongly grounded in issue text; PDF figures are useful but harder to validate automatically because page context is often weak.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⚠️ ALFRED Is Now INTEGRATED in the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Key point: ALFRED is NOT a separate manual step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--export-st-ready adds 6 steps (not just 4):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  → issues, files, resolver, diag, issues_with_images, ALFRED Vision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ALFRED images is the LAST automatic step of the workflow (step 23)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Complete sequence: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Pipeline (17 steps) → Delivery (4 exports) → with_images → ALFRED Vision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What ALFRED images does automatically: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Scans by_series/*/issues_json/st_ready_issues_with_images_*.json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For each issue with images: downloads, sends to ALFRED, replaces text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[IMAGE ATTACHED] → [IMAGE DESCRIPTION] descriptive text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Modifies the file IN-PLACE (no separate output file)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❗ It’s the with_images ENRICHED file that gets uploaded to KB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NOT the plain st_ready_issues file (that one has no image context)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ALFRED — What It Is and Its Two Roles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What is ALFRED?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ST’s internal Vision AI API (api-ai-bridge.st.com).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Client: mdrf_stgithub_analyzer_client.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Analyzes images and generates structured textual descriptions.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Role A: PDF Figure Enrichment (Step 7 — BEFORE cleaning)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Input: Cropped figure PNGs from data/pdf_figures/&lt;repo&gt;/.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Process: ALFRED describes each diagram/figure in technical context.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Output: data/pdf_image_descriptions.json (242 descriptions, 19 series).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Impact: PDF figures become searchable via [FIGURE_DESCRIPTIONS] blocks.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Role B: Issue Image Enrichment (Step 23 — AFTER delivery)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Input: st_ready_issues_with_images_*.json containing image_urls.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Process: ALFRED analyzes each screenshot from GitHub issues.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Output: [IMAGE ATTACHED] → [IMAGE DESCRIPTION] &lt;text&gt;. In-place modification.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Impact: screenshots become searchable by the RAG system.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ALFRED — Integration Timing (Key Insight)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ALFRED operates at TWO different points in the pipeline: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Path A (PDF figures — Step 7, BEFORE cleaning):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[Ingestion] → [PDF render+crop] → ALFRED → pdf_image_descriptions.json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↓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[Cleaning → Enrichment] → files_to_docs_v2 → inject descriptions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↓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[Delivery] → st_ready_files_v3.json (with FIGURE_DESCRIPTIONS)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Path B (Issue images — Step 23, AFTER delivery):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[Delivery] → export_issues_with_images → download screenshots → ALFRED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↓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[IMAGE ATTACHED] → [IMAGE DESCRIPTION] (in-place modification)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Why two different timings?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Path A: descriptions needed BEFORE enrichment can inject them into docs.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Path B: operates on FINAL delivery JSON (needs structured metadata first).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Same API, same client, different integration patterns.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8000" y="125999"/>
            <a:ext cx="8640000" cy="39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300" b="1">
                <a:solidFill>
                  <a:srgbClr val="1A237E"/>
                </a:solidFill>
              </a:defRPr>
            </a:pPr>
            <a:r>
              <a:t>KB-First Agent Architecture: Alfred, KB and NovaX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000" y="1188000"/>
            <a:ext cx="8460000" cy="251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050" b="0">
                <a:solidFill>
                  <a:srgbClr val="5C6069"/>
                </a:solidFill>
              </a:defRPr>
            </a:pPr>
            <a:r>
              <a:t>The fallback must never short-circuit the knowledge base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8000" y="1494000"/>
            <a:ext cx="1584000" cy="43200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5C6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20000"/>
          </a:bodyPr>
          <a:lstStyle/>
          <a:p>
            <a:pPr algn="ctr">
              <a:defRPr sz="1200" b="1">
                <a:solidFill>
                  <a:srgbClr val="141414"/>
                </a:solidFill>
              </a:defRPr>
            </a:pPr>
            <a:r>
              <a:t>Engineer</a:t>
            </a:r>
            <a:br/>
            <a:r>
              <a:t>question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08000" y="1422000"/>
            <a:ext cx="1872000" cy="576000"/>
          </a:xfrm>
          <a:prstGeom prst="roundRect">
            <a:avLst/>
          </a:prstGeom>
          <a:solidFill>
            <a:srgbClr val="DAE5FF"/>
          </a:solidFill>
          <a:ln w="1524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20000"/>
          </a:bodyPr>
          <a:lstStyle/>
          <a:p>
            <a:pPr algn="ctr">
              <a:defRPr sz="1200" b="1">
                <a:solidFill>
                  <a:srgbClr val="141414"/>
                </a:solidFill>
              </a:defRPr>
            </a:pPr>
            <a:r>
              <a:t>ST GitHub Analyzer</a:t>
            </a:r>
            <a:br/>
            <a:r>
              <a:t>Persona</a:t>
            </a:r>
            <a:br/>
            <a:r>
              <a:t>GPT-5.1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88000" y="1098000"/>
            <a:ext cx="1872000" cy="558000"/>
          </a:xfrm>
          <a:prstGeom prst="roundRect">
            <a:avLst/>
          </a:prstGeom>
          <a:solidFill>
            <a:srgbClr val="E1F5EB"/>
          </a:solidFill>
          <a:ln w="1524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20000"/>
          </a:bodyPr>
          <a:lstStyle/>
          <a:p>
            <a:pPr algn="ctr">
              <a:defRPr sz="1200" b="1">
                <a:solidFill>
                  <a:srgbClr val="141414"/>
                </a:solidFill>
              </a:defRPr>
            </a:pPr>
            <a:r>
              <a:t>KB Tool #793</a:t>
            </a:r>
            <a:br/>
            <a:r>
              <a:t>ALWAYS FIRST</a:t>
            </a:r>
            <a:br/>
            <a:r>
              <a:t>Hybrid Search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88000" y="2142000"/>
            <a:ext cx="1872000" cy="558000"/>
          </a:xfrm>
          <a:prstGeom prst="roundRect">
            <a:avLst/>
          </a:prstGeom>
          <a:solidFill>
            <a:srgbClr val="FFF1DA"/>
          </a:solidFill>
          <a:ln w="1524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20000"/>
          </a:bodyPr>
          <a:lstStyle/>
          <a:p>
            <a:pPr algn="ctr">
              <a:defRPr sz="1200" b="1">
                <a:solidFill>
                  <a:srgbClr val="141414"/>
                </a:solidFill>
              </a:defRPr>
            </a:pPr>
            <a:r>
              <a:t>NovaX Tool</a:t>
            </a:r>
            <a:br/>
            <a:r>
              <a:t>ONLY IF KB EMPTY</a:t>
            </a:r>
            <a:br/>
            <a:r>
              <a:t>Bugzilla + Community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08000" y="3114000"/>
            <a:ext cx="1872000" cy="486000"/>
          </a:xfrm>
          <a:prstGeom prst="roundRect">
            <a:avLst/>
          </a:prstGeom>
          <a:solidFill>
            <a:srgbClr val="E8F0FF"/>
          </a:solidFill>
          <a:ln w="1524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lnSpcReduction="10000"/>
          </a:bodyPr>
          <a:lstStyle/>
          <a:p>
            <a:pPr algn="ctr">
              <a:defRPr sz="1200" b="1">
                <a:solidFill>
                  <a:srgbClr val="141414"/>
                </a:solidFill>
              </a:defRPr>
            </a:pPr>
            <a:r>
              <a:t>Pipeline</a:t>
            </a:r>
            <a:br/>
            <a:r>
              <a:t>7 stages + upload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68000" y="1709999"/>
            <a:ext cx="504000" cy="0"/>
          </a:xfrm>
          <a:prstGeom prst="line">
            <a:avLst/>
          </a:prstGeom>
          <a:ln w="25400">
            <a:solidFill>
              <a:srgbClr val="1A23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4716000" y="1386000"/>
            <a:ext cx="900000" cy="288000"/>
          </a:xfrm>
          <a:prstGeom prst="line">
            <a:avLst/>
          </a:prstGeom>
          <a:ln w="25400">
            <a:solidFill>
              <a:srgbClr val="4CAF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716000" y="1782000"/>
            <a:ext cx="900000" cy="648000"/>
          </a:xfrm>
          <a:prstGeom prst="line">
            <a:avLst/>
          </a:prstGeom>
          <a:ln w="25400">
            <a:solidFill>
              <a:srgbClr val="FF98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3744000" y="1692000"/>
            <a:ext cx="2844000" cy="1404000"/>
          </a:xfrm>
          <a:prstGeom prst="line">
            <a:avLst/>
          </a:prstGeom>
          <a:ln w="25400">
            <a:solidFill>
              <a:srgbClr val="1A23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84000" y="3942000"/>
            <a:ext cx="3780000" cy="720000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algn="l">
              <a:defRPr sz="1200" b="0">
                <a:solidFill>
                  <a:srgbClr val="141414"/>
                </a:solidFill>
              </a:defRPr>
            </a:pPr>
            <a:r>
              <a:t>Why this matters:</a:t>
            </a:r>
            <a:br/>
            <a:r>
              <a:t>• If fallback is too permissive, the persona calls NovaX instead of the KB</a:t>
            </a:r>
            <a:br/>
            <a:r>
              <a:t>• This loses GitHub issue citations and reduces Quality Index</a:t>
            </a:r>
            <a:br/>
            <a:r>
              <a:t>• The restrictive tool description protects source-grounded answers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68000" y="3942000"/>
            <a:ext cx="3780000" cy="720000"/>
          </a:xfrm>
          <a:prstGeom prst="rect">
            <a:avLst/>
          </a:prstGeom>
          <a:noFill/>
        </p:spPr>
        <p:txBody>
          <a:bodyPr wrap="square">
            <a:normAutofit fontScale="70000" lnSpcReduction="20000"/>
          </a:bodyPr>
          <a:lstStyle/>
          <a:p>
            <a:pPr algn="l">
              <a:defRPr sz="1200" b="0">
                <a:solidFill>
                  <a:srgbClr val="141414"/>
                </a:solidFill>
              </a:defRPr>
            </a:pPr>
            <a:r>
              <a:t>Current KB setup:</a:t>
            </a:r>
            <a:br/>
            <a:r>
              <a:t>• Search type: Hybrid</a:t>
            </a:r>
            <a:br/>
            <a:r>
              <a:t>• Semantic threshold: 0.55</a:t>
            </a:r>
            <a:br/>
            <a:r>
              <a:t>• Semantic docs: 25</a:t>
            </a:r>
            <a:br/>
            <a:r>
              <a:t>• Full-text docs: 12</a:t>
            </a:r>
            <a:br/>
            <a:r>
              <a:t>• Datasources: series × artifact type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ALFRED — PDF Figure Extraction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Step-by-step (pdf_figure_service.py):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┌─────────┐   ┌─────────┐   ┌─────────┐   ┌─────────┐   ┌──────────┐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│  PDF    │─▶│ PyMuPDF │─▶│ OpenCV  │─▶│ ALFRED  │─▶│ Inject   │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│  docs   │   │ render  │   │ crop    │   │ Vision  │   │ into docs│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└─────────┘   └─────────┘   └─────────┘   └─────────┘   └──────────┘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Functions called: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extract_pdf_multimodal() — entry point for a repo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render_pdf_pages() — PyMuPDF converts each page to 150 DPI PNG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detect_candidate_figure_regions() — OpenCV contour + area filter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crop_figures_from_page() — isolate individual figures as PNG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build_pdf_figure_tasks() — generate JSONL task file for ALFRED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inject_figure_descriptions_into_pages() — merge into docs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Storage: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data/pdf_pages/&lt;repo&gt;/*.png | data/pdf_figures/&lt;repo&gt;/*.png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data/pdf_image_tasks_&lt;repo&gt;.jsonl | data/pdf_image_descriptions.json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ALFRED — Concrete Examples (H7)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Example 1 — Issue #335 (STM32CubeH7)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Topic: Warning observed with -Wcast-align flag during compilation.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Before: Screenshot attached but invisible to text search.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After: ALFRED describes Eclipse Tool Settings panel → flags searchable.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Example 2 — Issue #333 (STM32CubeH7)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Topic: Fix compile-time warnings without removing compiler flags.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After: ALFRED extracts ‘About STM32CubeIDE’ dialog → version traceable.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Example 3 — PDF Figure (H7 GettingStarted.pdf, page 3)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Before: Figure 1 is a raster image in a PDF, invisible to retrieval.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After: ALFRED describes the firmware component stack diagram.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st_ready_text now contains the architecture description as searchable text.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Key message: ALFRED enriches for retrieval AND for audit metadata.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ALFRED — Manual Commands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Issue image enrichment (automatic with --export-st-ready):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python pipeline_Automation/alfred/enrich_json_images_with_alfred.py \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--input &lt;st_ready_issues_with_images_*.json&gt; --inplace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PDF figure enrichment: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python pipeline_Automation/alfred/enrich_pdf_figures_with_alfred.py \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--repo STM32CubeH7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Options: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--use-proxy: route through proxy (NOT needed on ST network)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--max-records N: limit number of records processed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--strip-analyses: remove image_analyses array (smaller file)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--no-replace-text: keep [IMAGE ATTACHED] alongside description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After PDF enrichment, re-run to propagate: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python -m pipeline.enrichment.files_to_docs_v2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python -m pipeline.delivery.export_st_ready_files --repo &lt;Repo&gt;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ALFRED Coverage Across Series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05840"/>
          <a:ext cx="859536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90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9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90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190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Series</a:t>
                      </a:r>
                    </a:p>
                  </a:txBody>
                  <a:tcPr>
                    <a:solidFill>
                      <a:srgbClr val="0323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Issues w/ Images</a:t>
                      </a:r>
                    </a:p>
                  </a:txBody>
                  <a:tcPr>
                    <a:solidFill>
                      <a:srgbClr val="0323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Total Images</a:t>
                      </a:r>
                    </a:p>
                  </a:txBody>
                  <a:tcPr>
                    <a:solidFill>
                      <a:srgbClr val="0323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ALFRED Success</a:t>
                      </a:r>
                    </a:p>
                  </a:txBody>
                  <a:tcPr>
                    <a:solidFill>
                      <a:srgbClr val="0323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PDF Figures</a:t>
                      </a:r>
                    </a:p>
                  </a:txBody>
                  <a:tcPr>
                    <a:solidFill>
                      <a:srgbClr val="0323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H7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97/98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F4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61/62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WL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48/48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F7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26/26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5/5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U5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H5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WB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G0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H7RS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N6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F0/F1/F2/F3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few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varies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TOTAL (19 series)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&gt;99%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242 figures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8000" y="125999"/>
            <a:ext cx="8640000" cy="39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300" b="1">
                <a:solidFill>
                  <a:srgbClr val="1A237E"/>
                </a:solidFill>
              </a:defRPr>
            </a:pPr>
            <a:r>
              <a:t>ALFRED Evaluation: Real Results and 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000" y="486000"/>
            <a:ext cx="8460000" cy="251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050" b="0">
                <a:solidFill>
                  <a:srgbClr val="5C6069"/>
                </a:solidFill>
              </a:defRPr>
            </a:pPr>
            <a:r>
              <a:t>Contextual trust separates mature issue screenshots from harder PDF figures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1062000"/>
            <a:ext cx="1728000" cy="16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050" b="1">
                <a:solidFill>
                  <a:srgbClr val="141414"/>
                </a:solidFill>
              </a:defRPr>
            </a:pPr>
            <a:r>
              <a:t>Issue images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556000" y="1080000"/>
            <a:ext cx="4320000" cy="162000"/>
          </a:xfrm>
          <a:prstGeom prst="rect">
            <a:avLst/>
          </a:prstGeom>
          <a:solidFill>
            <a:srgbClr val="E8ECF2"/>
          </a:solidFill>
          <a:ln>
            <a:solidFill>
              <a:srgbClr val="E8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556000" y="1080000"/>
            <a:ext cx="4255200" cy="162000"/>
          </a:xfrm>
          <a:prstGeom prst="rect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948000" y="1062000"/>
            <a:ext cx="792000" cy="16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050" b="1">
                <a:solidFill>
                  <a:srgbClr val="4CAF50"/>
                </a:solidFill>
              </a:defRPr>
            </a:pPr>
            <a:r>
              <a:t>98.5%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" y="1530000"/>
            <a:ext cx="1728000" cy="16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050" b="1">
                <a:solidFill>
                  <a:srgbClr val="141414"/>
                </a:solidFill>
              </a:defRPr>
            </a:pPr>
            <a:r>
              <a:t>PDF figures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556000" y="1548000"/>
            <a:ext cx="4320000" cy="162000"/>
          </a:xfrm>
          <a:prstGeom prst="rect">
            <a:avLst/>
          </a:prstGeom>
          <a:solidFill>
            <a:srgbClr val="E8ECF2"/>
          </a:solidFill>
          <a:ln>
            <a:solidFill>
              <a:srgbClr val="E8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556000" y="1548000"/>
            <a:ext cx="1801440" cy="162000"/>
          </a:xfrm>
          <a:prstGeom prst="rect">
            <a:avLst/>
          </a:prstGeom>
          <a:solidFill>
            <a:srgbClr val="FF9800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948000" y="1530000"/>
            <a:ext cx="792000" cy="16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050" b="1">
                <a:solidFill>
                  <a:srgbClr val="FF9800"/>
                </a:solidFill>
              </a:defRPr>
            </a:pPr>
            <a:r>
              <a:t>41.7%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000" y="1998000"/>
            <a:ext cx="1728000" cy="16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050" b="1">
                <a:solidFill>
                  <a:srgbClr val="141414"/>
                </a:solidFill>
              </a:defRPr>
            </a:pPr>
            <a:r>
              <a:t>Total Alfred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56000" y="2015999"/>
            <a:ext cx="4320000" cy="162000"/>
          </a:xfrm>
          <a:prstGeom prst="rect">
            <a:avLst/>
          </a:prstGeom>
          <a:solidFill>
            <a:srgbClr val="E8ECF2"/>
          </a:solidFill>
          <a:ln>
            <a:solidFill>
              <a:srgbClr val="E8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556000" y="2015999"/>
            <a:ext cx="2911680" cy="162000"/>
          </a:xfrm>
          <a:prstGeom prst="rect">
            <a:avLst/>
          </a:prstGeom>
          <a:solidFill>
            <a:srgbClr val="4678D2"/>
          </a:solidFill>
          <a:ln>
            <a:solidFill>
              <a:srgbClr val="467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948000" y="1998000"/>
            <a:ext cx="792000" cy="16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050" b="1">
                <a:solidFill>
                  <a:srgbClr val="4678D2"/>
                </a:solidFill>
              </a:defRPr>
            </a:pPr>
            <a:r>
              <a:t>67.4%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0000" y="2736000"/>
            <a:ext cx="3420000" cy="720000"/>
          </a:xfrm>
          <a:prstGeom prst="roundRect">
            <a:avLst/>
          </a:prstGeom>
          <a:solidFill>
            <a:srgbClr val="E6F8EB"/>
          </a:solidFill>
          <a:ln w="1524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200" b="1">
                <a:solidFill>
                  <a:srgbClr val="141414"/>
                </a:solidFill>
              </a:defRPr>
            </a:pPr>
            <a:r>
              <a:t>Issue images</a:t>
            </a:r>
            <a:br/>
            <a:r>
              <a:t>200 evaluated, 3 low coherence</a:t>
            </a:r>
            <a:br/>
            <a:r>
              <a:t>Strongly grounded in issue context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2000" y="2736000"/>
            <a:ext cx="3420000" cy="720000"/>
          </a:xfrm>
          <a:prstGeom prst="roundRect">
            <a:avLst/>
          </a:prstGeom>
          <a:solidFill>
            <a:srgbClr val="FFF1DA"/>
          </a:solidFill>
          <a:ln w="1524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200" b="1">
                <a:solidFill>
                  <a:srgbClr val="141414"/>
                </a:solidFill>
              </a:defRPr>
            </a:pPr>
            <a:r>
              <a:t>PDF figures</a:t>
            </a:r>
            <a:br/>
            <a:r>
              <a:t>242 evaluated, 141 low coherence</a:t>
            </a:r>
            <a:br/>
            <a:r>
              <a:t>Useful, but page context is weak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0000" y="3851999"/>
            <a:ext cx="7560000" cy="324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200" b="1">
                <a:solidFill>
                  <a:srgbClr val="5C6069"/>
                </a:solidFill>
              </a:defRPr>
            </a:pPr>
            <a:r>
              <a:t>Do not call this accuracy. It is contextual trust: percentage of descriptions above the coherence alert threshold S_coh ≥ 0.12.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ALFRED Vision — Two Paths (Visual Diagram)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" y="1005840"/>
            <a:ext cx="128016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333333"/>
                </a:solidFill>
              </a:defRPr>
            </a:pPr>
            <a:r>
              <a:t>PATH A</a:t>
            </a:r>
            <a:br/>
            <a:r>
              <a:t>PDF Figures</a:t>
            </a:r>
            <a:br/>
            <a:r>
              <a:t>(Step 7)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63040" y="1005840"/>
            <a:ext cx="1280160" cy="594360"/>
          </a:xfrm>
          <a:prstGeom prst="roundRect">
            <a:avLst/>
          </a:prstGeom>
          <a:solidFill>
            <a:srgbClr val="3C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PDF docs</a:t>
            </a:r>
            <a:br/>
            <a:r>
              <a:t>in GitHub_repos/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743200" y="1229868"/>
            <a:ext cx="137160" cy="146304"/>
          </a:xfrm>
          <a:prstGeom prst="rightArrow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880360" y="1005840"/>
            <a:ext cx="1280160" cy="59436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PyMuPDF</a:t>
            </a:r>
            <a:br/>
            <a:r>
              <a:t>render pages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160520" y="1229868"/>
            <a:ext cx="137160" cy="146304"/>
          </a:xfrm>
          <a:prstGeom prst="rightArrow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297679" y="1005840"/>
            <a:ext cx="1280160" cy="59436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OpenCV</a:t>
            </a:r>
            <a:br/>
            <a:r>
              <a:t>crop figures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577840" y="1229868"/>
            <a:ext cx="137160" cy="146304"/>
          </a:xfrm>
          <a:prstGeom prst="rightArrow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715000" y="1005840"/>
            <a:ext cx="1280160" cy="594360"/>
          </a:xfrm>
          <a:prstGeom prst="round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ALFRED API</a:t>
            </a:r>
            <a:br/>
            <a:r>
              <a:t>describe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995160" y="1229868"/>
            <a:ext cx="137160" cy="146304"/>
          </a:xfrm>
          <a:prstGeom prst="rightArrow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132319" y="1005840"/>
            <a:ext cx="1280160" cy="59436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Inject into</a:t>
            </a:r>
            <a:br/>
            <a:r>
              <a:t>files_to_docs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" y="1828800"/>
            <a:ext cx="128016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333333"/>
                </a:solidFill>
              </a:defRPr>
            </a:pPr>
            <a:r>
              <a:t>PATH B</a:t>
            </a:r>
            <a:br/>
            <a:r>
              <a:t>Issue Images</a:t>
            </a:r>
            <a:br/>
            <a:r>
              <a:t>(Step 23)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63040" y="1828800"/>
            <a:ext cx="1280160" cy="594360"/>
          </a:xfrm>
          <a:prstGeom prst="roundRect">
            <a:avLst/>
          </a:prstGeom>
          <a:solidFill>
            <a:srgbClr val="3C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with_images</a:t>
            </a:r>
            <a:br/>
            <a:r>
              <a:t>JSON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743200" y="2052828"/>
            <a:ext cx="137160" cy="146304"/>
          </a:xfrm>
          <a:prstGeom prst="rightArrow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880360" y="1828800"/>
            <a:ext cx="1280160" cy="59436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Download</a:t>
            </a:r>
            <a:br/>
            <a:r>
              <a:t>screenshots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160520" y="2052828"/>
            <a:ext cx="137160" cy="146304"/>
          </a:xfrm>
          <a:prstGeom prst="rightArrow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297679" y="1828800"/>
            <a:ext cx="1280160" cy="594360"/>
          </a:xfrm>
          <a:prstGeom prst="round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ALFRED API</a:t>
            </a:r>
            <a:br/>
            <a:r>
              <a:t>describe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577840" y="2052828"/>
            <a:ext cx="137160" cy="146304"/>
          </a:xfrm>
          <a:prstGeom prst="rightArrow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715000" y="1828800"/>
            <a:ext cx="1280160" cy="59436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In-place</a:t>
            </a:r>
            <a:br/>
            <a:r>
              <a:t>replace 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" y="2651760"/>
            <a:ext cx="128016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333333"/>
                </a:solidFill>
              </a:defRPr>
            </a:pPr>
            <a:r>
              <a:t>SHARED</a:t>
            </a:r>
            <a:br/>
            <a:r>
              <a:t>INFRA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463040" y="2651760"/>
            <a:ext cx="1280160" cy="59436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api-ai-bridge</a:t>
            </a:r>
            <a:br/>
            <a:r>
              <a:t>.st.com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2743200" y="2875788"/>
            <a:ext cx="137160" cy="146304"/>
          </a:xfrm>
          <a:prstGeom prst="rightArrow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2880360" y="2651760"/>
            <a:ext cx="1280160" cy="59436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Client:</a:t>
            </a:r>
            <a:br/>
            <a:r>
              <a:t>mdrf_stgithub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4160520" y="2875788"/>
            <a:ext cx="137160" cy="146304"/>
          </a:xfrm>
          <a:prstGeom prst="rightArrow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4297679" y="2651760"/>
            <a:ext cx="1280160" cy="59436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Rate: ~20 req</a:t>
            </a:r>
            <a:br/>
            <a:r>
              <a:t>before throttle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5577840" y="2875788"/>
            <a:ext cx="137160" cy="146304"/>
          </a:xfrm>
          <a:prstGeom prst="rightArrow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5715000" y="2651760"/>
            <a:ext cx="1280160" cy="59436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Retry: 5s</a:t>
            </a:r>
            <a:br/>
            <a:r>
              <a:t>Backoff: 30s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" y="3474720"/>
            <a:ext cx="128016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333333"/>
                </a:solidFill>
              </a:defRPr>
            </a:pPr>
            <a:r>
              <a:t>OUTPUT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63040" y="3474720"/>
            <a:ext cx="1280160" cy="594360"/>
          </a:xfrm>
          <a:prstGeom prst="round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pdf_image</a:t>
            </a:r>
            <a:br/>
            <a:r>
              <a:t>_descriptions.json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2743200" y="3698748"/>
            <a:ext cx="137160" cy="146304"/>
          </a:xfrm>
          <a:prstGeom prst="rightArrow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2880360" y="3474720"/>
            <a:ext cx="1280160" cy="594360"/>
          </a:xfrm>
          <a:prstGeom prst="round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st_ready_files</a:t>
            </a:r>
            <a:br/>
            <a:r>
              <a:t>_v3.json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4160520" y="3698748"/>
            <a:ext cx="137160" cy="146304"/>
          </a:xfrm>
          <a:prstGeom prst="rightArrow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4297679" y="3474720"/>
            <a:ext cx="1280160" cy="594360"/>
          </a:xfrm>
          <a:prstGeom prst="round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st_ready_issues</a:t>
            </a:r>
            <a:br/>
            <a:r>
              <a:t>_with_images.json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Full Pipeline Flow — 23 Steps (Visual Diagram)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" y="1005840"/>
            <a:ext cx="128016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333333"/>
                </a:solidFill>
              </a:defRPr>
            </a:pPr>
            <a:r>
              <a:t>INGESTION</a:t>
            </a:r>
            <a:br/>
            <a:r>
              <a:t>Steps 1-6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63040" y="1005840"/>
            <a:ext cx="1135379" cy="594360"/>
          </a:xfrm>
          <a:prstGeom prst="roundRect">
            <a:avLst/>
          </a:prstGeom>
          <a:solidFill>
            <a:srgbClr val="3C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fetch</a:t>
            </a:r>
            <a:br/>
            <a:r>
              <a:t>issues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598420" y="1229868"/>
            <a:ext cx="137160" cy="146304"/>
          </a:xfrm>
          <a:prstGeom prst="rightArrow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735579" y="1005840"/>
            <a:ext cx="1135379" cy="594360"/>
          </a:xfrm>
          <a:prstGeom prst="roundRect">
            <a:avLst/>
          </a:prstGeom>
          <a:solidFill>
            <a:srgbClr val="3C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fetch</a:t>
            </a:r>
            <a:br/>
            <a:r>
              <a:t>PRs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870959" y="1229868"/>
            <a:ext cx="137160" cy="146304"/>
          </a:xfrm>
          <a:prstGeom prst="rightArrow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008119" y="1005840"/>
            <a:ext cx="1135379" cy="594360"/>
          </a:xfrm>
          <a:prstGeom prst="roundRect">
            <a:avLst/>
          </a:prstGeom>
          <a:solidFill>
            <a:srgbClr val="3C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fetch</a:t>
            </a:r>
            <a:br/>
            <a:r>
              <a:t>commits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143499" y="1229868"/>
            <a:ext cx="137160" cy="146304"/>
          </a:xfrm>
          <a:prstGeom prst="rightArrow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280659" y="1005840"/>
            <a:ext cx="1135379" cy="594360"/>
          </a:xfrm>
          <a:prstGeom prst="roundRect">
            <a:avLst/>
          </a:prstGeom>
          <a:solidFill>
            <a:srgbClr val="3C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fetch</a:t>
            </a:r>
            <a:br/>
            <a:r>
              <a:t>links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416039" y="1229868"/>
            <a:ext cx="137160" cy="146304"/>
          </a:xfrm>
          <a:prstGeom prst="rightArrow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553199" y="1005840"/>
            <a:ext cx="1135379" cy="594360"/>
          </a:xfrm>
          <a:prstGeom prst="roundRect">
            <a:avLst/>
          </a:prstGeom>
          <a:solidFill>
            <a:srgbClr val="3C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repo</a:t>
            </a:r>
            <a:br/>
            <a:r>
              <a:t>sync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688580" y="1229868"/>
            <a:ext cx="137160" cy="146304"/>
          </a:xfrm>
          <a:prstGeom prst="rightArrow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825739" y="1005840"/>
            <a:ext cx="1135379" cy="594360"/>
          </a:xfrm>
          <a:prstGeom prst="roundRect">
            <a:avLst/>
          </a:prstGeom>
          <a:solidFill>
            <a:srgbClr val="3C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fetch</a:t>
            </a:r>
            <a:br/>
            <a:r>
              <a:t>files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" y="1828800"/>
            <a:ext cx="128016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333333"/>
                </a:solidFill>
              </a:defRPr>
            </a:pPr>
            <a:r>
              <a:t>ALFRED PDF</a:t>
            </a:r>
            <a:br/>
            <a:r>
              <a:t>Step 7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63040" y="1828800"/>
            <a:ext cx="1280160" cy="594360"/>
          </a:xfrm>
          <a:prstGeom prst="round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render</a:t>
            </a:r>
            <a:br/>
            <a:r>
              <a:t>pages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2743200" y="2052828"/>
            <a:ext cx="137160" cy="146304"/>
          </a:xfrm>
          <a:prstGeom prst="rightArrow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2880360" y="1828800"/>
            <a:ext cx="1280160" cy="594360"/>
          </a:xfrm>
          <a:prstGeom prst="round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crop</a:t>
            </a:r>
            <a:br/>
            <a:r>
              <a:t>figures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160520" y="2052828"/>
            <a:ext cx="137160" cy="146304"/>
          </a:xfrm>
          <a:prstGeom prst="rightArrow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297679" y="1828800"/>
            <a:ext cx="1280160" cy="594360"/>
          </a:xfrm>
          <a:prstGeom prst="round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ALFRED</a:t>
            </a:r>
            <a:br/>
            <a:r>
              <a:t>describe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" y="2651760"/>
            <a:ext cx="128016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333333"/>
                </a:solidFill>
              </a:defRPr>
            </a:pPr>
            <a:r>
              <a:t>CLEANING</a:t>
            </a:r>
            <a:br/>
            <a:r>
              <a:t>Steps 8-10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463040" y="2651760"/>
            <a:ext cx="1280160" cy="59436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clean</a:t>
            </a:r>
            <a:br/>
            <a:r>
              <a:t>issues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2743200" y="2875788"/>
            <a:ext cx="137160" cy="146304"/>
          </a:xfrm>
          <a:prstGeom prst="rightArrow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2880360" y="2651760"/>
            <a:ext cx="1280160" cy="59436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clean</a:t>
            </a:r>
            <a:br/>
            <a:r>
              <a:t>files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4160520" y="2875788"/>
            <a:ext cx="137160" cy="146304"/>
          </a:xfrm>
          <a:prstGeom prst="rightArrow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4297679" y="2651760"/>
            <a:ext cx="1280160" cy="59436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clean</a:t>
            </a:r>
            <a:br/>
            <a:r>
              <a:t>files v3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" y="3474720"/>
            <a:ext cx="128016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333333"/>
                </a:solidFill>
              </a:defRPr>
            </a:pPr>
            <a:r>
              <a:t>ENRICHMENT</a:t>
            </a:r>
            <a:br/>
            <a:r>
              <a:t>Steps 11-13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463040" y="3474720"/>
            <a:ext cx="1280160" cy="59436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issues_to</a:t>
            </a:r>
            <a:br/>
            <a:r>
              <a:t>_docs_v2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2743200" y="3698748"/>
            <a:ext cx="137160" cy="146304"/>
          </a:xfrm>
          <a:prstGeom prst="rightArrow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2880360" y="3474720"/>
            <a:ext cx="1280160" cy="59436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files_to</a:t>
            </a:r>
            <a:br/>
            <a:r>
              <a:t>_docs_v2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4160520" y="3698748"/>
            <a:ext cx="137160" cy="146304"/>
          </a:xfrm>
          <a:prstGeom prst="rightArrow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4297679" y="3474720"/>
            <a:ext cx="1280160" cy="59436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similarity</a:t>
            </a:r>
            <a:br/>
            <a:r>
              <a:t>TF-IDF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" y="4297680"/>
            <a:ext cx="128016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333333"/>
                </a:solidFill>
              </a:defRPr>
            </a:pPr>
            <a:r>
              <a:t>EVAL</a:t>
            </a:r>
            <a:br/>
            <a:r>
              <a:t>Steps 14-18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463040" y="4297680"/>
            <a:ext cx="1280160" cy="59436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chunk</a:t>
            </a:r>
            <a:br/>
            <a:r>
              <a:t>issues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2743200" y="4521708"/>
            <a:ext cx="137160" cy="146304"/>
          </a:xfrm>
          <a:prstGeom prst="rightArrow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2880360" y="4297680"/>
            <a:ext cx="1280160" cy="59436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chunk</a:t>
            </a:r>
            <a:br/>
            <a:r>
              <a:t>files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4160520" y="4521708"/>
            <a:ext cx="137160" cy="146304"/>
          </a:xfrm>
          <a:prstGeom prst="rightArrow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4297679" y="4297680"/>
            <a:ext cx="1280160" cy="59436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stats</a:t>
            </a:r>
            <a:br/>
            <a:r>
              <a:t>issues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5577840" y="4521708"/>
            <a:ext cx="137160" cy="146304"/>
          </a:xfrm>
          <a:prstGeom prst="rightArrow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5715000" y="4297680"/>
            <a:ext cx="1280160" cy="59436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stats</a:t>
            </a:r>
            <a:br/>
            <a:r>
              <a:t>files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6995160" y="4521708"/>
            <a:ext cx="137160" cy="146304"/>
          </a:xfrm>
          <a:prstGeom prst="rightArrow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7132319" y="4297680"/>
            <a:ext cx="1280160" cy="59436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validate</a:t>
            </a:r>
            <a:br/>
            <a:r>
              <a:t>schemas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" y="5120640"/>
            <a:ext cx="128016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333333"/>
                </a:solidFill>
              </a:defRPr>
            </a:pPr>
            <a:r>
              <a:t>DELIVERY</a:t>
            </a:r>
            <a:br/>
            <a:r>
              <a:t>Steps 19-23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463040" y="5120640"/>
            <a:ext cx="1280160" cy="594360"/>
          </a:xfrm>
          <a:prstGeom prst="round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issues</a:t>
            </a:r>
          </a:p>
        </p:txBody>
      </p:sp>
      <p:sp>
        <p:nvSpPr>
          <p:cNvPr id="45" name="Right Arrow 44"/>
          <p:cNvSpPr/>
          <p:nvPr/>
        </p:nvSpPr>
        <p:spPr>
          <a:xfrm>
            <a:off x="2743200" y="5344668"/>
            <a:ext cx="137160" cy="146304"/>
          </a:xfrm>
          <a:prstGeom prst="rightArrow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2880360" y="5120640"/>
            <a:ext cx="1280160" cy="594360"/>
          </a:xfrm>
          <a:prstGeom prst="round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files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4160520" y="5344668"/>
            <a:ext cx="137160" cy="146304"/>
          </a:xfrm>
          <a:prstGeom prst="rightArrow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4297679" y="5120640"/>
            <a:ext cx="1280160" cy="594360"/>
          </a:xfrm>
          <a:prstGeom prst="round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resolver</a:t>
            </a:r>
          </a:p>
        </p:txBody>
      </p:sp>
      <p:sp>
        <p:nvSpPr>
          <p:cNvPr id="49" name="Right Arrow 48"/>
          <p:cNvSpPr/>
          <p:nvPr/>
        </p:nvSpPr>
        <p:spPr>
          <a:xfrm>
            <a:off x="5577840" y="5344668"/>
            <a:ext cx="137160" cy="146304"/>
          </a:xfrm>
          <a:prstGeom prst="rightArrow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5715000" y="5120640"/>
            <a:ext cx="1280160" cy="594360"/>
          </a:xfrm>
          <a:prstGeom prst="round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diag</a:t>
            </a:r>
          </a:p>
        </p:txBody>
      </p:sp>
      <p:sp>
        <p:nvSpPr>
          <p:cNvPr id="51" name="Right Arrow 50"/>
          <p:cNvSpPr/>
          <p:nvPr/>
        </p:nvSpPr>
        <p:spPr>
          <a:xfrm>
            <a:off x="6995160" y="5344668"/>
            <a:ext cx="137160" cy="146304"/>
          </a:xfrm>
          <a:prstGeom prst="rightArrow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7132319" y="5120640"/>
            <a:ext cx="1280160" cy="594360"/>
          </a:xfrm>
          <a:prstGeom prst="round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with_imgs</a:t>
            </a:r>
            <a:br/>
            <a:r>
              <a:t>+ALFRED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CB4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8. Delivery &amp; Upload to KB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Four Artifact Types — ST-Ready JSON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1. Issues (st_ready_issues_*.json)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Structured support cards: title, body, context, layer, severity, related issues.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2. Files (st_ready_files_*_v3.json)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Documentation cards: README, Release Notes, PDFs with [FIGURE_DESCRIPTIONS].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3. Resolver Cases (st_ready_resolver_cases_*.json)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Cause → Action pairs from closed issues with CONFIRMED fixes.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Links: Issue → PR → Commit chain for full traceability.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⚠️ May be empty ([]) for series with no documented fix — this is NORMAL.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4. Diagnostic Cards (st_ready_diagnostic_cards_*.json)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Structured troubleshooting: symptoms, root cause, resolution.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Includes query_aliases, keywords, and evidence_refs for retrieval.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≠ Resolver Cases: diag describes the PROBLEM, resolver describes the FIX.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Delivery Output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datasets/07_delivery/st_ready/by_series/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├── stm32cubeh7/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│   ├── issues_json/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│   │   ├── st_ready_issues_stm32cubeh7.json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│   │   └── st_ready_issues_with_images_stm32cubeh7.json  (+ALFRED)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│   ├── files_json/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│   │   └── st_ready_files_stm32cubeh7_v3.json  (with PDF figures)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│   ├── resolver_cases_json/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│   │   └── st_ready_resolver_cases_stm32cubeh7.json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│   ├── diagnostic_cards_json/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│   │   └── st_ready_diagnostic_cards_stm32cubeh7.json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│   ├── drivers/  (10+ sub-repo artifacts)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│   └── upload_datasource_ids_stm32cubeh7.json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Upload to KB #793 — Commands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Script: pipeline_Automation/upload/Add_Data_Source_Files.py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Create new datasource: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python Add_Data_Source_Files.py --kb 793 --operation new \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--datasource-name "STM32H7 Issues" --remote-user "x@st.com" \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--processor JSON --processor-params "base64:$b64" --json-split-size 1000 \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--files &lt;path.json&gt;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Add to existing datasource: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python Add_Data_Source_Files.py --kb 793 --operation add \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--datasource-id 24406 --json-split-size 1000 --files &lt;path.json&gt;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Upload all drivers (batch):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.\pipeline_Automation\upload\Upload_All_Drivers.ps1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  → Traverses by_series/*/drivers/, uploads each artifact, throttle 5s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Verify KB: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python pipeline_Automation/upload/Get_Persona_KBs.py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❗ Workshop Recommended Command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One-liner for a full series (pipeline + upload):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.\pipeline_Automation\workflow\Run_Single_Series_Full_Pipeline_And_Upload.ps1 -Series H7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What it orchestrates: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Prepares parent + drivers artifacts (full pipeline)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Local schema validation before upload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Upload ALL artifact types (issues, files, drivers, diag, resolver)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Automatic datasource ID saving for idempotent reruns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Key output file: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datasets/07_delivery/st_ready/by_series/stm32cubeh7/upload_datasource_ids_stm32cubeh7.json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⚠️ CRITICAL: upload the with_images ALFRED-ENRICHED file, NOT plain issues!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The enriched file is what gives the KB image context for retrieval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Upload script already does this automatically — do NOT override manually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KB Organization — 1 Datasource per Series × 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Structure in KB #793: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STM32H7 Issues (#24406) — 8 files, 359 docs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STM32H7 Files (#29041) — 16 files, 5327 docs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STM32H7 Diagnostic Cards (#24408)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STM32H7 Resolver Cases (#24410)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STM32F4 Issues (#28099) — 7 files, 1917 docs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STM32F4 Files (#29042) — 21 files, 5948 docs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... (same pattern for each series)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Rule: drivers go into the SAME datasource as parent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st_ready_issues_stm32h7xx-hal-driver.json → DS "STM32H7 Issues"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st_ready_files_cmsis_device_h7.json → DS "STM32H7 Files"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Saved for idempotent uploads: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upload_datasource_ids_&lt;serie&gt;.json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Processor Params — Upload Configuration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05840"/>
          <a:ext cx="8595360" cy="195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Artifact Type</a:t>
                      </a:r>
                    </a:p>
                  </a:txBody>
                  <a:tcPr>
                    <a:solidFill>
                      <a:srgbClr val="0323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rootTagPath</a:t>
                      </a:r>
                    </a:p>
                  </a:txBody>
                  <a:tcPr>
                    <a:solidFill>
                      <a:srgbClr val="0323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Label Template</a:t>
                      </a:r>
                    </a:p>
                  </a:txBody>
                  <a:tcPr>
                    <a:solidFill>
                      <a:srgbClr val="0323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ExternalURL Pattern</a:t>
                      </a:r>
                    </a:p>
                  </a:txBody>
                  <a:tcPr>
                    <a:solidFill>
                      <a:srgbClr val="0323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Issues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issues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{{repo}} issue #{{issue_number}} - {{issue_title}}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github.com/.../issues/{{issue_number}}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Files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files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{{repo}} {{file_type}} - {{path}}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github.com/.../{{root_ref}}/{{path_url}}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Resolver Cases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resolver_cases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{{label}}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github.com/.../issues/{{issue_number}}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Diagnostic Cards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{{label}}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github.com/.../issues/{{evidence_refs[0].id}}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CB4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9. Quality Gates &amp; Validation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Quality Gates — Before Upload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Gate 1: Schema Validation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python -m pipeline.evaluation.validate_schemas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Verifies all JSON outputs conform to shared/schemas/*.json contracts.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Gate 2: Placeholder Check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Scans for unresolved [IMAGE ATTACHED] or [FIGURE... markers.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PlaceholderPolicy=Fail blocks upload; =Warn allows with report.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Gate 3: Summary Coherence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summary_*.json files report counts; must match payload size.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Gate 4: Smoke Test (post-upload)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Ask 3 representative questions → verify answers cite correct sources.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KB-first behavior validated (ALFRED fallback only when KB has no match).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Evaluation Commands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Stats issues: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python -m pipeline.evaluation.test_stats_issues_v2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  → Issue count, layer/board/component coverage, distribution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Stats files: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python -m pipeline.evaluation.test_stats_files_v2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  → File count, types, sizes, coverage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Schema validation: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python -m pipeline.evaluation.validate_schemas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  → Checks JSON against shared/schemas/ contracts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Full evaluation report (charts + Excel):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python -m pipeline.evaluation.generate_evaluation_report --all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  → PNG + XLSX in evaluation_report/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TF-IDF retrieval test: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python -m pipeline.evaluation.test_tfidf_search_issues_v2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Go / No-Go Decision Matrix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05840"/>
          <a:ext cx="85953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65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65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Gate</a:t>
                      </a:r>
                    </a:p>
                  </a:txBody>
                  <a:tcPr>
                    <a:solidFill>
                      <a:srgbClr val="0323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Go Criterion</a:t>
                      </a:r>
                    </a:p>
                  </a:txBody>
                  <a:tcPr>
                    <a:solidFill>
                      <a:srgbClr val="0323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Action if No-Go</a:t>
                      </a:r>
                    </a:p>
                  </a:txBody>
                  <a:tcPr>
                    <a:solidFill>
                      <a:srgbClr val="0323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Schema 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100% JSON valid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Fix export or schema definition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Placeholder gate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 unresolved in strict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Re-run ALFRED or targeted patch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Upload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No blocking errors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Retry with reused datasource IDs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Smoke 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3 coherent, sourced answers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Fix KB or tool 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Fallback behavior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KB-first, then ALFRED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Make tool description more restrictive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KPIs to Monitor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05840"/>
          <a:ext cx="85953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65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65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KPI</a:t>
                      </a:r>
                    </a:p>
                  </a:txBody>
                  <a:tcPr>
                    <a:solidFill>
                      <a:srgbClr val="0323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Measurement</a:t>
                      </a:r>
                    </a:p>
                  </a:txBody>
                  <a:tcPr>
                    <a:solidFill>
                      <a:srgbClr val="0323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Decision</a:t>
                      </a:r>
                    </a:p>
                  </a:txBody>
                  <a:tcPr>
                    <a:solidFill>
                      <a:srgbClr val="0323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Ingestion completeness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% non-empty issues/files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Is input material sufficient?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Enrichment coverage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% docs with layer/component/board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Does preprocessing add signal?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ALFRED success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described / detected images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Is visual content exploitable?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Placeholder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unresolved / total figures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Can we upload in strict mode?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Quality Index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Score on test questions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Is final answer quality acceptable?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CB4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10. Value Proposition &amp; Impact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Before vs. After — Tangible Value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05840"/>
          <a:ext cx="85953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65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65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Before (without pipeline)</a:t>
                      </a:r>
                    </a:p>
                  </a:txBody>
                  <a:tcPr>
                    <a:solidFill>
                      <a:srgbClr val="0323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After (with pipeline)</a:t>
                      </a:r>
                    </a:p>
                  </a:txBody>
                  <a:tcPr>
                    <a:solidFill>
                      <a:srgbClr val="0323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Impact</a:t>
                      </a:r>
                    </a:p>
                  </a:txBody>
                  <a:tcPr>
                    <a:solidFill>
                      <a:srgbClr val="0323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Raw long issue 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Structured st_ready_text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More targeted answers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Image attached, not interpreted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[IMAGE DESCRIPTION] indexed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Screenshots exploitable by RAG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Isolated source 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Context: repo/path/type enriched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Technical traceability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Scattered comments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Diagnostic card + resolver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Cause/action extractable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Data organized per repo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by_series/ + drivers/ routed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Maintainable KB uploads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Value Dimensions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05840"/>
          <a:ext cx="85953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65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65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Dimension</a:t>
                      </a:r>
                    </a:p>
                  </a:txBody>
                  <a:tcPr>
                    <a:solidFill>
                      <a:srgbClr val="0323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0323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Evidence</a:t>
                      </a:r>
                    </a:p>
                  </a:txBody>
                  <a:tcPr>
                    <a:solidFill>
                      <a:srgbClr val="0323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Efficiency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One-command processing for entire series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23 steps automated, batch multi-series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Traceability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Every answer links to a 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github_url, evidence_refs in cards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Robustness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Quality gates prevent bad data reaching KB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Schema validation + placeholder gate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Scalability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Config-driven, no code changes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25 series configured, 200+ sub-repos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Maintainability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Modular stages, clear interfaces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Each stage independently testable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Explainability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Diagnostic cards explain cause+resolution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QI = 94/100 on H7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Why This Matters for STMicroelectronics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rPr dirty="0"/>
              <a:t>Business Impact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• Reduces time-to-answer for technical support queries.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• Enables non-expert users to get expert-level guidance from AI.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• Makes visual information (screenshots, PDF figures) exploitable.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 dirty="0"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rPr dirty="0"/>
              <a:t>Competitive Advantages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• End-to-end automation: no manual curation bottleneck.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• Multi-modal: text + images + PDF figures all enriched and indexed.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• Production-hardened: gates, retry logic, idempotent uploads.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• Open architecture: modular Python, PowerShell, standard JSON.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 dirty="0"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rPr dirty="0"/>
              <a:t>Measured Results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• +39% relevance improvement over generic LLM.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• Quality Index: 94/100 on pilot H7 with Diagnostic Cards.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CB4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11. Operational Guide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Execution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Always use --continue-on-error (one empty sub-repo shouldn’t block).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Use --skip-ingestion to reprocess without re-downloading.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Verify summary_*.json before upload (coherence of counts).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Upload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Do NOT upload empty files (resolver_cases = [] is normal).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1 datasource = 1 series + 1 artifact type.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Drivers go into the same datasource as the parent repo.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Git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NEVER commit data/*.json (&gt; 100 MB → push rejected).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datasets/07_delivery/ IS committed (&lt; 50 MB, the deliverable).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ALFRED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No --use-proxy needed (direct access from ST network).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Verify 0 [IMAGE DESCRIPTION UNAVAILABLE] after enrichment.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Troubleshooting — Common Errors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05840"/>
          <a:ext cx="85953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65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65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Error</a:t>
                      </a:r>
                    </a:p>
                  </a:txBody>
                  <a:tcPr>
                    <a:solidFill>
                      <a:srgbClr val="0323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Cause</a:t>
                      </a:r>
                    </a:p>
                  </a:txBody>
                  <a:tcPr>
                    <a:solidFill>
                      <a:srgbClr val="0323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Solution</a:t>
                      </a:r>
                    </a:p>
                  </a:txBody>
                  <a:tcPr>
                    <a:solidFill>
                      <a:srgbClr val="0323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FileNotFoundError: with_images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Series has no images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Normal — skip Alfred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empty JSON arrays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Resolver cases empty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Normal — no confirmed fixes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skipped_existing_files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File already in 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Delete old or --operation new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GitHub file size &gt; 100MB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data/*.json in git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Check .gitignore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rate limit GitHub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Too many API calls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Wait 1h or --skip-ingestion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Enrichment 0% for BSP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Sub-repo has few issues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Normal — aggregated in parent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Auth precheck 404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API rate-limited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throttle 5s + retry 2×30s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Troubleshooting — Detailed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"FileNotFoundError: st_ready_issues_with_images_*.json"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The with_images file is ONLY generated if issues have [IMAGE ATTACHED].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Sub-repos BSP/CMSIS often have ZERO images.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→ The workflow automatically skips series without images. This is NORMAL.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"All selected files are empty JSON arrays"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resolver_cases.json contains [] because no issue has a documented fix.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Diagnostic cards ≠ Resolver cases: diag = problem, resolver = fix.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→ Normal. Do NOT force upload of empty arrays.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"skipped_existing_files: [file.json]"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File already uploaded to this datasource (API refuses duplicates by name).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Fix 1: Delete old file in KB Management, then re-upload.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Fix 2: Rename with suffix _pdf_enriched before upload.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Copy-Item st_ready_files_*.json st_ready_files_*_pdf_enriched.json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Troubleshooting — Detailed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"File exceeds GitHub file size limit of 100.00 MB"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data/ files are VERY large (chunks_files_stm32cubec0_v2.json = 114 MB!).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Fix: .gitignore must contain: data/raw_*, data/clean_*, data/docs_*, data/chunks_*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If already committed: git rm --cached data/&lt;file&gt;.json + amend commit.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"rate limit" GitHub API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GitHub: 5000 req/h WITH token, only 60/h WITHOUT.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Pipeline makes many calls (issues + all comments + PRs per repo).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Fix: Verify $env:GITHUB_TOKEN is set.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Fix: Increase issues_sleep in config (0.2 → 0.5).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Fix: Use --skip-ingestion if raw files already exist.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"Auth precheck failed. HTTP status=404" (nginx 404)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api-ai-bridge.st.com rate-limits after ~20 fast requests.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Fix already in Upload_All_Drivers.ps1: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  $uploadDelaySec=5, $retryCount=2, $retryDelaySec=30.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"Proxy 502 Bad Gateway"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The proxy 185.46.212.88 is sometimes down.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Fix: Run WITHOUT --use-proxy (direct access from ST network).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"Enrichment 0% for a BSP sub-repo"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BSP/CMSIS sub-repos have very few issues (often 0-5). Normal.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Content is aggregated in the parent series repo.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"argparse error / sys.argv pollution"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When calling individual modules from PowerShell, sys.argv may carry stale args.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Fix: pipeline modules use parse_known_args() not parse_args().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Incidents → Systematic Improvements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05840"/>
          <a:ext cx="85953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Incident</a:t>
                      </a:r>
                    </a:p>
                  </a:txBody>
                  <a:tcPr>
                    <a:solidFill>
                      <a:srgbClr val="0323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Root Cause</a:t>
                      </a:r>
                    </a:p>
                  </a:txBody>
                  <a:tcPr>
                    <a:solidFill>
                      <a:srgbClr val="0323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Fix</a:t>
                      </a:r>
                    </a:p>
                  </a:txBody>
                  <a:tcPr>
                    <a:solidFill>
                      <a:srgbClr val="0323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Generalized</a:t>
                      </a:r>
                    </a:p>
                  </a:txBody>
                  <a:tcPr>
                    <a:solidFill>
                      <a:srgbClr val="0323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ALFRED placeholders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Truncated figure IDs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PlaceholderPolicy gate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Gate before every upload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PDF figures not resolved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Timing: after delivery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Patch + re-injection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Step 7 + patch script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Chart crash (pie=0)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Zero values in plot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_safe_pie() wrapper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All reports handle empty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Upload blocked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API rejects duplicates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Reuse saved DS IDs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Idempotent batch workflows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API timeouts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Rate limiting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Warning + separate 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Demo-safe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Risks &amp; Mitigations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API timeout → Retries + targeted re-run (--skip-ingestion).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Image/PDF not described → ALFRED re-run + PlaceholderPolicy gate.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Datasource exists → Reuse saved IDs or targeted deletion.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Series with few issues → Restrictive ALFRED fallback in persona.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Retrieval noise → Calibrate Hybrid threshold/doc count.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Design philosophy: Fail Forward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Every incident becomes a permanent, generalized improvement.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New series automatically benefits from all historical fixes.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PlaceholderPolicy (Fail/Warn/Off) available in every workflow script.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--continue-on-error ensures one failure doesn’t block the series.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Checklist — Adding a New Series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□ 1. Create shared/config/config_&lt;serie&gt;.json (repos + clone_urls)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□ 2. Add mapping in pipeline/delivery/delivery_paths.py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□ 3. Run full pipeline: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$env:STM32CUBE_CONFIG = "shared/config/config_xx.json"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python -m pipeline.run_full_workflow --export-st-ready --continue-on-error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□ 4. Verify by_series/&lt;serie&gt;/: issues, files, diag, resolver, drivers/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□ 5. ALFRED PDF figures (if pdf_image_tasks non-empty):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python pipeline_Automation/alfred/enrich_pdf_figures_with_alfred.py --repo &lt;Repo&gt;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□ 6. Upload parent repo (new datasource × 4 types)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□ 7. Upload issues with_images enriched by ALFRED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□ 8. Upload PDF-enriched files (suffix _pdf_enriched if needed)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□ 9. Update Upload_All_Drivers.ps1 + upload_alfred_issues_all_series.py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□ 10. Run Upload_All_Drivers.ps1 for driver sub-repos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□ 11. Verify: python pipeline_Automation/upload/Get_Persona_KBs.py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CB4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12. Live Demo &amp; Hands-On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Demo Script — 5 Minutes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Step 1: Prepare a series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.\pipeline_Automation\workflow\Run_Single_Series_Full_Pipeline_And_Upload.ps1 -Series WB -Mode Prepare -PlaceholderPolicy Warn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Step 2: Show generated artifacts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by_series/stm32cubewb/issues_json/, files_json/, diagnostic_cards_json/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Step 3: Show a quality gate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validate_schemas output, placeholder report, summary_*.json counts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Step 4: Upload (or show saved datasource IDs)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upload_datasource_ids_stm32cubewb.json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Step 5: Ask a technical question in ST ChatGPT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Show the answer + source citation from the Knowledge Base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High-Stakes Presentation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Preparation (day before):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Run full Prepare on the target series — artifacts must be ready.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Generate summary_*.json and validate schemas.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Prepare 3 before/after examples (raw issue → st_ready card).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Prepare 1 failure case with mitigation (shows transparency).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During the demo: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Start with the single-command workflow.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Show file structure and explain what each artifact contains.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Ask a real question in ST ChatGPT and show the sourced answer.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Show a quality gate catching a problem (placeholder report).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Safety net: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Use -PlaceholderPolicy Warn for known non-critical series.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Have upload_datasource_ids pre-saved to avoid live API dependency.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Automation Scripts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Full pipeline (single series):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python -m pipeline.run_full_workflow --export-st-ready --continue-on-error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Full pipeline + upload (orchestrated):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.\pipeline_Automation\workflow\Run_Single_Series_Full_Pipeline_And_Upload.ps1 -Series H7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Upload drivers (all series):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.\pipeline_Automation\upload\Upload_All_Drivers.ps1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Upload ALFRED-enriched issues (all series):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python pipeline_Automation/upload/upload_alfred_issues_all_series.py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Batch all series: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.\pipeline_Automation\workflow\Run_Full_Auto_Update_KB.ps1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Verify KB: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python pipeline_Automation/upload/Get_Persona_KBs.py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CB4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13. Conclusion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Technical Value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Industrialized transformation of heterogeneous GitHub data into structured KB artifacts.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Multi-modal: text, images, and PDF figures all made searchable.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Quality Value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Every artifact passes through validation, gates, and reports.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Production-grade: strict mode ensures no garbage reaches the KB.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Operational Value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Incidents were not patched ad-hoc — they became permanent controls.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Adding a new series = 1 config + 1 command. No code changes.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Business Value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+39% relevance improvement over generic LLM.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Quality Index: 94/100 on pilot H7 with Diagnostic Cards.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Closing Message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This pipeline makes STM32 knowledge: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  MORE SEARCHABLE — text, images, and figures all indexed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  MORE TRACEABLE — every answer links to a verified source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  MORE MAINTAINABLE — config-driven, modular, self-hardening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For ST ChatGPT and the engineers who depend on it.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Config → Pipeline (23 steps) → ALFRED → Upload → Verification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23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2860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Thank You</a:t>
            </a:r>
          </a:p>
          <a:p>
            <a:pPr algn="l">
              <a:defRPr sz="1800">
                <a:solidFill>
                  <a:srgbClr val="3CB4E6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cf8c7287-838c-46dd-b281-b1140229e67a}" enabled="1" method="Privileged" siteId="{75e027c9-20d5-47d5-b82f-77d7cd041e8f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263</TotalTime>
  <Words>10126</Words>
  <Application>Microsoft Office PowerPoint</Application>
  <PresentationFormat>On-screen Show (4:3)</PresentationFormat>
  <Paragraphs>1339</Paragraphs>
  <Slides>85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85</vt:i4>
      </vt:variant>
    </vt:vector>
  </HeadingPairs>
  <TitlesOfParts>
    <vt:vector size="89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Abir GHARBI</cp:lastModifiedBy>
  <cp:revision>1</cp:revision>
  <dcterms:created xsi:type="dcterms:W3CDTF">2013-01-27T09:14:16Z</dcterms:created>
  <dcterms:modified xsi:type="dcterms:W3CDTF">2026-07-03T10:33:47Z</dcterms:modified>
  <cp:category/>
</cp:coreProperties>
</file>